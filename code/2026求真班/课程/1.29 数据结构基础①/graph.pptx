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79" r:id="rId3"/>
    <p:sldId id="275" r:id="rId4"/>
    <p:sldId id="282" r:id="rId5"/>
    <p:sldId id="292" r:id="rId6"/>
    <p:sldId id="283" r:id="rId7"/>
    <p:sldId id="284" r:id="rId8"/>
    <p:sldId id="293" r:id="rId9"/>
    <p:sldId id="286" r:id="rId10"/>
    <p:sldId id="300" r:id="rId11"/>
    <p:sldId id="298" r:id="rId12"/>
    <p:sldId id="285" r:id="rId13"/>
    <p:sldId id="287" r:id="rId14"/>
    <p:sldId id="290" r:id="rId15"/>
    <p:sldId id="294" r:id="rId16"/>
    <p:sldId id="295" r:id="rId17"/>
    <p:sldId id="296" r:id="rId18"/>
    <p:sldId id="297" r:id="rId19"/>
    <p:sldId id="291" r:id="rId20"/>
    <p:sldId id="301" r:id="rId21"/>
    <p:sldId id="302" r:id="rId22"/>
    <p:sldId id="303" r:id="rId23"/>
    <p:sldId id="305" r:id="rId24"/>
    <p:sldId id="306" r:id="rId25"/>
    <p:sldId id="307" r:id="rId26"/>
    <p:sldId id="308" r:id="rId27"/>
    <p:sldId id="309" r:id="rId28"/>
    <p:sldId id="310" r:id="rId29"/>
    <p:sldId id="311" r:id="rId30"/>
    <p:sldId id="314" r:id="rId31"/>
    <p:sldId id="313" r:id="rId32"/>
    <p:sldId id="315"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9EE"/>
    <a:srgbClr val="33E98A"/>
    <a:srgbClr val="ACF6CF"/>
    <a:srgbClr val="70F0AD"/>
    <a:srgbClr val="55F7F7"/>
    <a:srgbClr val="4AF80C"/>
    <a:srgbClr val="FC28D4"/>
    <a:srgbClr val="60EEA4"/>
    <a:srgbClr val="41EB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67" autoAdjust="0"/>
    <p:restoredTop sz="93778" autoAdjust="0"/>
  </p:normalViewPr>
  <p:slideViewPr>
    <p:cSldViewPr snapToGrid="0" showGuides="1">
      <p:cViewPr>
        <p:scale>
          <a:sx n="91" d="100"/>
          <a:sy n="91" d="100"/>
        </p:scale>
        <p:origin x="-14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61"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2237E-A286-49FD-9984-05DBA88D6692}" type="datetimeFigureOut">
              <a:rPr lang="zh-CN" altLang="en-US" smtClean="0"/>
              <a:t>2022/1/25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D9CF8-F7EC-4A95-888B-BB5C40F63F2F}" type="slidenum">
              <a:rPr lang="zh-CN" altLang="en-US" smtClean="0"/>
              <a:t>‹#›</a:t>
            </a:fld>
            <a:endParaRPr lang="zh-CN" altLang="en-US"/>
          </a:p>
        </p:txBody>
      </p:sp>
    </p:spTree>
    <p:extLst>
      <p:ext uri="{BB962C8B-B14F-4D97-AF65-F5344CB8AC3E}">
        <p14:creationId xmlns:p14="http://schemas.microsoft.com/office/powerpoint/2010/main" val="4182095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a:t>
            </a:fld>
            <a:endParaRPr lang="zh-CN" altLang="en-US"/>
          </a:p>
        </p:txBody>
      </p:sp>
    </p:spTree>
    <p:extLst>
      <p:ext uri="{BB962C8B-B14F-4D97-AF65-F5344CB8AC3E}">
        <p14:creationId xmlns:p14="http://schemas.microsoft.com/office/powerpoint/2010/main" val="2777882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2</a:t>
            </a:fld>
            <a:endParaRPr lang="zh-CN" altLang="en-US"/>
          </a:p>
        </p:txBody>
      </p:sp>
    </p:spTree>
    <p:extLst>
      <p:ext uri="{BB962C8B-B14F-4D97-AF65-F5344CB8AC3E}">
        <p14:creationId xmlns:p14="http://schemas.microsoft.com/office/powerpoint/2010/main" val="422716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3</a:t>
            </a:fld>
            <a:endParaRPr lang="zh-CN" altLang="en-US"/>
          </a:p>
        </p:txBody>
      </p:sp>
    </p:spTree>
    <p:extLst>
      <p:ext uri="{BB962C8B-B14F-4D97-AF65-F5344CB8AC3E}">
        <p14:creationId xmlns:p14="http://schemas.microsoft.com/office/powerpoint/2010/main" val="3043582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交通运输、社交网络、互联网、相似关系、工作安排、程序状态执行</a:t>
            </a:r>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4</a:t>
            </a:fld>
            <a:endParaRPr lang="zh-CN" altLang="en-US"/>
          </a:p>
        </p:txBody>
      </p:sp>
    </p:spTree>
    <p:extLst>
      <p:ext uri="{BB962C8B-B14F-4D97-AF65-F5344CB8AC3E}">
        <p14:creationId xmlns:p14="http://schemas.microsoft.com/office/powerpoint/2010/main" val="2477327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5</a:t>
            </a:fld>
            <a:endParaRPr lang="zh-CN" altLang="en-US"/>
          </a:p>
        </p:txBody>
      </p:sp>
    </p:spTree>
    <p:extLst>
      <p:ext uri="{BB962C8B-B14F-4D97-AF65-F5344CB8AC3E}">
        <p14:creationId xmlns:p14="http://schemas.microsoft.com/office/powerpoint/2010/main" val="2470085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无向边</a:t>
            </a:r>
            <a:r>
              <a:rPr lang="en-US" altLang="zh-CN" dirty="0" smtClean="0"/>
              <a:t>(v</a:t>
            </a:r>
            <a:r>
              <a:rPr lang="en-US" altLang="zh-CN" baseline="-25000" dirty="0" smtClean="0"/>
              <a:t>i</a:t>
            </a:r>
            <a:r>
              <a:rPr lang="en-US" altLang="zh-CN" dirty="0" smtClean="0"/>
              <a:t>,v</a:t>
            </a:r>
            <a:r>
              <a:rPr lang="en-US" altLang="zh-CN" baseline="-25000" dirty="0" smtClean="0"/>
              <a:t>j</a:t>
            </a:r>
            <a:r>
              <a:rPr lang="en-US" altLang="zh-CN" dirty="0" smtClean="0"/>
              <a:t>)</a:t>
            </a:r>
            <a:r>
              <a:rPr lang="zh-CN" altLang="en-US" dirty="0" smtClean="0"/>
              <a:t>表示无向图连接</a:t>
            </a:r>
            <a:r>
              <a:rPr lang="en-US" altLang="zh-CN" dirty="0" smtClean="0"/>
              <a:t>v</a:t>
            </a:r>
            <a:r>
              <a:rPr lang="en-US" altLang="zh-CN" baseline="-25000" dirty="0" smtClean="0"/>
              <a:t>i</a:t>
            </a:r>
            <a:r>
              <a:rPr lang="zh-CN" altLang="en-US" dirty="0" smtClean="0"/>
              <a:t>和</a:t>
            </a:r>
            <a:r>
              <a:rPr lang="en-US" altLang="zh-CN" dirty="0" smtClean="0"/>
              <a:t>v</a:t>
            </a:r>
            <a:r>
              <a:rPr lang="en-US" altLang="zh-CN" baseline="-25000" dirty="0" smtClean="0"/>
              <a:t>j</a:t>
            </a:r>
            <a:r>
              <a:rPr lang="zh-CN" altLang="en-US" dirty="0" smtClean="0"/>
              <a:t>的线，又称为边；</a:t>
            </a:r>
            <a:endParaRPr lang="en-US" altLang="zh-CN" dirty="0" smtClean="0"/>
          </a:p>
          <a:p>
            <a:r>
              <a:rPr lang="zh-CN" altLang="en-US" dirty="0" smtClean="0"/>
              <a:t>有向边</a:t>
            </a:r>
            <a:r>
              <a:rPr lang="en-US" altLang="zh-CN" dirty="0" smtClean="0"/>
              <a:t>&lt;v</a:t>
            </a:r>
            <a:r>
              <a:rPr lang="en-US" altLang="zh-CN" baseline="-25000" dirty="0" smtClean="0"/>
              <a:t>i</a:t>
            </a:r>
            <a:r>
              <a:rPr lang="en-US" altLang="zh-CN" dirty="0" smtClean="0"/>
              <a:t>,v</a:t>
            </a:r>
            <a:r>
              <a:rPr lang="en-US" altLang="zh-CN" baseline="-25000" dirty="0" smtClean="0"/>
              <a:t>j</a:t>
            </a:r>
            <a:r>
              <a:rPr lang="en-US" altLang="zh-CN" dirty="0" smtClean="0"/>
              <a:t>&gt;</a:t>
            </a:r>
            <a:r>
              <a:rPr lang="zh-CN" altLang="en-US" dirty="0" smtClean="0"/>
              <a:t>表示有向图</a:t>
            </a:r>
            <a:r>
              <a:rPr lang="en-US" altLang="zh-CN" dirty="0" smtClean="0"/>
              <a:t>v</a:t>
            </a:r>
            <a:r>
              <a:rPr lang="en-US" altLang="zh-CN" baseline="-25000" dirty="0" smtClean="0"/>
              <a:t>i</a:t>
            </a:r>
            <a:r>
              <a:rPr lang="zh-CN" altLang="en-US" dirty="0" smtClean="0"/>
              <a:t>到</a:t>
            </a:r>
            <a:r>
              <a:rPr lang="en-US" altLang="zh-CN" dirty="0" smtClean="0"/>
              <a:t>v</a:t>
            </a:r>
            <a:r>
              <a:rPr lang="en-US" altLang="zh-CN" baseline="-25000" dirty="0" smtClean="0"/>
              <a:t>j</a:t>
            </a:r>
            <a:r>
              <a:rPr lang="zh-CN" altLang="en-US" dirty="0" smtClean="0"/>
              <a:t>有方向的线，又称为弧。</a:t>
            </a:r>
            <a:endParaRPr lang="en-US" altLang="zh-CN" dirty="0" smtClean="0"/>
          </a:p>
        </p:txBody>
      </p:sp>
      <p:sp>
        <p:nvSpPr>
          <p:cNvPr id="4" name="灯片编号占位符 3"/>
          <p:cNvSpPr>
            <a:spLocks noGrp="1"/>
          </p:cNvSpPr>
          <p:nvPr>
            <p:ph type="sldNum" sz="quarter" idx="10"/>
          </p:nvPr>
        </p:nvSpPr>
        <p:spPr/>
        <p:txBody>
          <a:bodyPr/>
          <a:lstStyle/>
          <a:p>
            <a:fld id="{C85D9CF8-F7EC-4A95-888B-BB5C40F63F2F}" type="slidenum">
              <a:rPr lang="zh-CN" altLang="en-US" smtClean="0"/>
              <a:t>6</a:t>
            </a:fld>
            <a:endParaRPr lang="zh-CN" altLang="en-US"/>
          </a:p>
        </p:txBody>
      </p:sp>
    </p:spTree>
    <p:extLst>
      <p:ext uri="{BB962C8B-B14F-4D97-AF65-F5344CB8AC3E}">
        <p14:creationId xmlns:p14="http://schemas.microsoft.com/office/powerpoint/2010/main" val="1045218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7</a:t>
            </a:fld>
            <a:endParaRPr lang="zh-CN" altLang="en-US"/>
          </a:p>
        </p:txBody>
      </p:sp>
    </p:spTree>
    <p:extLst>
      <p:ext uri="{BB962C8B-B14F-4D97-AF65-F5344CB8AC3E}">
        <p14:creationId xmlns:p14="http://schemas.microsoft.com/office/powerpoint/2010/main" val="1045218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8</a:t>
            </a:fld>
            <a:endParaRPr lang="zh-CN" altLang="en-US"/>
          </a:p>
        </p:txBody>
      </p:sp>
    </p:spTree>
    <p:extLst>
      <p:ext uri="{BB962C8B-B14F-4D97-AF65-F5344CB8AC3E}">
        <p14:creationId xmlns:p14="http://schemas.microsoft.com/office/powerpoint/2010/main" val="1742284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9</a:t>
            </a:fld>
            <a:endParaRPr lang="zh-CN" altLang="en-US"/>
          </a:p>
        </p:txBody>
      </p:sp>
    </p:spTree>
    <p:extLst>
      <p:ext uri="{BB962C8B-B14F-4D97-AF65-F5344CB8AC3E}">
        <p14:creationId xmlns:p14="http://schemas.microsoft.com/office/powerpoint/2010/main" val="1578007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10</a:t>
            </a:fld>
            <a:endParaRPr lang="zh-CN" altLang="en-US"/>
          </a:p>
        </p:txBody>
      </p:sp>
    </p:spTree>
    <p:extLst>
      <p:ext uri="{BB962C8B-B14F-4D97-AF65-F5344CB8AC3E}">
        <p14:creationId xmlns:p14="http://schemas.microsoft.com/office/powerpoint/2010/main" val="1796837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无论是自环边还是平行边，在很多时候也是有意义的。最典型的，如：对于交通运输来说，从 </a:t>
            </a:r>
            <a:r>
              <a:rPr lang="en-US" altLang="zh-CN" sz="1200" b="0" i="0" kern="1200" dirty="0" smtClean="0">
                <a:solidFill>
                  <a:schemeClr val="tx1"/>
                </a:solidFill>
                <a:effectLst/>
                <a:latin typeface="+mn-lt"/>
                <a:ea typeface="+mn-ea"/>
                <a:cs typeface="+mn-cs"/>
              </a:rPr>
              <a:t>A </a:t>
            </a:r>
            <a:r>
              <a:rPr lang="zh-CN" altLang="en-US" sz="1200" b="0" i="0" kern="1200" dirty="0" smtClean="0">
                <a:solidFill>
                  <a:schemeClr val="tx1"/>
                </a:solidFill>
                <a:effectLst/>
                <a:latin typeface="+mn-lt"/>
                <a:ea typeface="+mn-ea"/>
                <a:cs typeface="+mn-cs"/>
              </a:rPr>
              <a:t>城市到 </a:t>
            </a:r>
            <a:r>
              <a:rPr lang="en-US" altLang="zh-CN" sz="1200" b="0" i="0" kern="1200" dirty="0" smtClean="0">
                <a:solidFill>
                  <a:schemeClr val="tx1"/>
                </a:solidFill>
                <a:effectLst/>
                <a:latin typeface="+mn-lt"/>
                <a:ea typeface="+mn-ea"/>
                <a:cs typeface="+mn-cs"/>
              </a:rPr>
              <a:t>B </a:t>
            </a:r>
            <a:r>
              <a:rPr lang="zh-CN" altLang="en-US" sz="1200" b="0" i="0" kern="1200" dirty="0" smtClean="0">
                <a:solidFill>
                  <a:schemeClr val="tx1"/>
                </a:solidFill>
                <a:effectLst/>
                <a:latin typeface="+mn-lt"/>
                <a:ea typeface="+mn-ea"/>
                <a:cs typeface="+mn-cs"/>
              </a:rPr>
              <a:t>城市可能有不止一条路，可能有三条路，在这种情况下，平行边就非常有意义 但与此同时，自环边和平行边，会加大算法设计的难度，而且在很多情况下，我们真正关心的问题，其实是和自环边 或 平行边是无关的。最典型的，如：要考察一张图的连通性，那么自环边和平行边都不会改变这张图的连通性。</a:t>
            </a:r>
          </a:p>
        </p:txBody>
      </p:sp>
      <p:sp>
        <p:nvSpPr>
          <p:cNvPr id="4" name="灯片编号占位符 3"/>
          <p:cNvSpPr>
            <a:spLocks noGrp="1"/>
          </p:cNvSpPr>
          <p:nvPr>
            <p:ph type="sldNum" sz="quarter" idx="10"/>
          </p:nvPr>
        </p:nvSpPr>
        <p:spPr/>
        <p:txBody>
          <a:bodyPr/>
          <a:lstStyle/>
          <a:p>
            <a:fld id="{C85D9CF8-F7EC-4A95-888B-BB5C40F63F2F}" type="slidenum">
              <a:rPr lang="zh-CN" altLang="en-US" smtClean="0"/>
              <a:t>11</a:t>
            </a:fld>
            <a:endParaRPr lang="zh-CN" altLang="en-US"/>
          </a:p>
        </p:txBody>
      </p:sp>
    </p:spTree>
    <p:extLst>
      <p:ext uri="{BB962C8B-B14F-4D97-AF65-F5344CB8AC3E}">
        <p14:creationId xmlns:p14="http://schemas.microsoft.com/office/powerpoint/2010/main" val="1578007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12</a:t>
            </a:fld>
            <a:endParaRPr lang="zh-CN" altLang="en-US"/>
          </a:p>
        </p:txBody>
      </p:sp>
    </p:spTree>
    <p:extLst>
      <p:ext uri="{BB962C8B-B14F-4D97-AF65-F5344CB8AC3E}">
        <p14:creationId xmlns:p14="http://schemas.microsoft.com/office/powerpoint/2010/main" val="1796837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13</a:t>
            </a:fld>
            <a:endParaRPr lang="zh-CN" altLang="en-US"/>
          </a:p>
        </p:txBody>
      </p:sp>
    </p:spTree>
    <p:extLst>
      <p:ext uri="{BB962C8B-B14F-4D97-AF65-F5344CB8AC3E}">
        <p14:creationId xmlns:p14="http://schemas.microsoft.com/office/powerpoint/2010/main" val="1796837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14</a:t>
            </a:fld>
            <a:endParaRPr lang="zh-CN" altLang="en-US"/>
          </a:p>
        </p:txBody>
      </p:sp>
    </p:spTree>
    <p:extLst>
      <p:ext uri="{BB962C8B-B14F-4D97-AF65-F5344CB8AC3E}">
        <p14:creationId xmlns:p14="http://schemas.microsoft.com/office/powerpoint/2010/main" val="1796837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15</a:t>
            </a:fld>
            <a:endParaRPr lang="zh-CN" altLang="en-US"/>
          </a:p>
        </p:txBody>
      </p:sp>
    </p:spTree>
    <p:extLst>
      <p:ext uri="{BB962C8B-B14F-4D97-AF65-F5344CB8AC3E}">
        <p14:creationId xmlns:p14="http://schemas.microsoft.com/office/powerpoint/2010/main" val="2385717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两个定理的正确性是显而易见的，既然每条边都要经过一次，那么对于欧拉路，除了起点和终点外，每个点如果进入了一次，显然一定要出去一次，显然是偶点。对于欧拉回路，每个点进入和出去次数一定都是相等的，显然没有奇点。</a:t>
            </a:r>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16</a:t>
            </a:fld>
            <a:endParaRPr lang="zh-CN" altLang="en-US"/>
          </a:p>
        </p:txBody>
      </p:sp>
    </p:spTree>
    <p:extLst>
      <p:ext uri="{BB962C8B-B14F-4D97-AF65-F5344CB8AC3E}">
        <p14:creationId xmlns:p14="http://schemas.microsoft.com/office/powerpoint/2010/main" val="1578007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17</a:t>
            </a:fld>
            <a:endParaRPr lang="zh-CN" altLang="en-US"/>
          </a:p>
        </p:txBody>
      </p:sp>
    </p:spTree>
    <p:extLst>
      <p:ext uri="{BB962C8B-B14F-4D97-AF65-F5344CB8AC3E}">
        <p14:creationId xmlns:p14="http://schemas.microsoft.com/office/powerpoint/2010/main" val="1796837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18</a:t>
            </a:fld>
            <a:endParaRPr lang="zh-CN" altLang="en-US"/>
          </a:p>
        </p:txBody>
      </p:sp>
    </p:spTree>
    <p:extLst>
      <p:ext uri="{BB962C8B-B14F-4D97-AF65-F5344CB8AC3E}">
        <p14:creationId xmlns:p14="http://schemas.microsoft.com/office/powerpoint/2010/main" val="15780074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19</a:t>
            </a:fld>
            <a:endParaRPr lang="zh-CN" altLang="en-US"/>
          </a:p>
        </p:txBody>
      </p:sp>
    </p:spTree>
    <p:extLst>
      <p:ext uri="{BB962C8B-B14F-4D97-AF65-F5344CB8AC3E}">
        <p14:creationId xmlns:p14="http://schemas.microsoft.com/office/powerpoint/2010/main" val="1503059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20</a:t>
            </a:fld>
            <a:endParaRPr lang="zh-CN" altLang="en-US"/>
          </a:p>
        </p:txBody>
      </p:sp>
    </p:spTree>
    <p:extLst>
      <p:ext uri="{BB962C8B-B14F-4D97-AF65-F5344CB8AC3E}">
        <p14:creationId xmlns:p14="http://schemas.microsoft.com/office/powerpoint/2010/main" val="276822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21</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22</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23</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24</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25</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26</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27</a:t>
            </a:fld>
            <a:endParaRPr lang="zh-CN" altLang="en-US"/>
          </a:p>
        </p:txBody>
      </p:sp>
    </p:spTree>
    <p:extLst>
      <p:ext uri="{BB962C8B-B14F-4D97-AF65-F5344CB8AC3E}">
        <p14:creationId xmlns:p14="http://schemas.microsoft.com/office/powerpoint/2010/main" val="276822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28</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29</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30</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85D9CF8-F7EC-4A95-888B-BB5C40F63F2F}" type="slidenum">
              <a:rPr lang="zh-CN" altLang="en-US" smtClean="0"/>
              <a:t>31</a:t>
            </a:fld>
            <a:endParaRPr lang="zh-CN" altLang="en-US"/>
          </a:p>
        </p:txBody>
      </p:sp>
    </p:spTree>
    <p:extLst>
      <p:ext uri="{BB962C8B-B14F-4D97-AF65-F5344CB8AC3E}">
        <p14:creationId xmlns:p14="http://schemas.microsoft.com/office/powerpoint/2010/main" val="2065684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85D9CF8-F7EC-4A95-888B-BB5C40F63F2F}" type="slidenum">
              <a:rPr lang="zh-CN" altLang="en-US" smtClean="0"/>
              <a:t>32</a:t>
            </a:fld>
            <a:endParaRPr lang="zh-CN" altLang="en-US"/>
          </a:p>
        </p:txBody>
      </p:sp>
    </p:spTree>
    <p:extLst>
      <p:ext uri="{BB962C8B-B14F-4D97-AF65-F5344CB8AC3E}">
        <p14:creationId xmlns:p14="http://schemas.microsoft.com/office/powerpoint/2010/main" val="1710800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618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073043"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758186" y="1960358"/>
            <a:ext cx="2111018" cy="2111018"/>
          </a:xfrm>
          <a:custGeom>
            <a:avLst/>
            <a:gdLst>
              <a:gd name="connsiteX0" fmla="*/ 1055509 w 2111018"/>
              <a:gd name="connsiteY0" fmla="*/ 0 h 2111018"/>
              <a:gd name="connsiteX1" fmla="*/ 2111018 w 2111018"/>
              <a:gd name="connsiteY1" fmla="*/ 1055509 h 2111018"/>
              <a:gd name="connsiteX2" fmla="*/ 1055509 w 2111018"/>
              <a:gd name="connsiteY2" fmla="*/ 2111018 h 2111018"/>
              <a:gd name="connsiteX3" fmla="*/ 0 w 2111018"/>
              <a:gd name="connsiteY3" fmla="*/ 1055509 h 2111018"/>
              <a:gd name="connsiteX4" fmla="*/ 1055509 w 2111018"/>
              <a:gd name="connsiteY4" fmla="*/ 0 h 2111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1018" h="2111018">
                <a:moveTo>
                  <a:pt x="1055509" y="0"/>
                </a:moveTo>
                <a:cubicBezTo>
                  <a:pt x="1638451" y="0"/>
                  <a:pt x="2111018" y="472567"/>
                  <a:pt x="2111018" y="1055509"/>
                </a:cubicBezTo>
                <a:cubicBezTo>
                  <a:pt x="2111018" y="1638451"/>
                  <a:pt x="1638451" y="2111018"/>
                  <a:pt x="1055509" y="2111018"/>
                </a:cubicBezTo>
                <a:cubicBezTo>
                  <a:pt x="472567" y="2111018"/>
                  <a:pt x="0" y="1638451"/>
                  <a:pt x="0" y="1055509"/>
                </a:cubicBezTo>
                <a:cubicBezTo>
                  <a:pt x="0" y="472567"/>
                  <a:pt x="472567" y="0"/>
                  <a:pt x="1055509"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3814280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172539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17" name="图片占位符 16"/>
          <p:cNvSpPr>
            <a:spLocks noGrp="1"/>
          </p:cNvSpPr>
          <p:nvPr>
            <p:ph type="pic" sz="quarter" idx="10"/>
          </p:nvPr>
        </p:nvSpPr>
        <p:spPr>
          <a:xfrm>
            <a:off x="1" y="2441574"/>
            <a:ext cx="6013449" cy="3438524"/>
          </a:xfrm>
          <a:custGeom>
            <a:avLst/>
            <a:gdLst>
              <a:gd name="connsiteX0" fmla="*/ 0 w 6013449"/>
              <a:gd name="connsiteY0" fmla="*/ 0 h 3438524"/>
              <a:gd name="connsiteX1" fmla="*/ 6013449 w 6013449"/>
              <a:gd name="connsiteY1" fmla="*/ 0 h 3438524"/>
              <a:gd name="connsiteX2" fmla="*/ 6013449 w 6013449"/>
              <a:gd name="connsiteY2" fmla="*/ 3438524 h 3438524"/>
              <a:gd name="connsiteX3" fmla="*/ 0 w 6013449"/>
              <a:gd name="connsiteY3" fmla="*/ 3438524 h 3438524"/>
            </a:gdLst>
            <a:ahLst/>
            <a:cxnLst>
              <a:cxn ang="0">
                <a:pos x="connsiteX0" y="connsiteY0"/>
              </a:cxn>
              <a:cxn ang="0">
                <a:pos x="connsiteX1" y="connsiteY1"/>
              </a:cxn>
              <a:cxn ang="0">
                <a:pos x="connsiteX2" y="connsiteY2"/>
              </a:cxn>
              <a:cxn ang="0">
                <a:pos x="connsiteX3" y="connsiteY3"/>
              </a:cxn>
            </a:cxnLst>
            <a:rect l="l" t="t" r="r" b="b"/>
            <a:pathLst>
              <a:path w="6013449" h="3438524">
                <a:moveTo>
                  <a:pt x="0" y="0"/>
                </a:moveTo>
                <a:lnTo>
                  <a:pt x="6013449" y="0"/>
                </a:lnTo>
                <a:lnTo>
                  <a:pt x="6013449" y="3438524"/>
                </a:lnTo>
                <a:lnTo>
                  <a:pt x="0" y="3438524"/>
                </a:lnTo>
                <a:close/>
              </a:path>
            </a:pathLst>
          </a:custGeom>
        </p:spPr>
        <p:txBody>
          <a:bodyPr wrap="square">
            <a:noAutofit/>
          </a:bodyPr>
          <a:lstStyle/>
          <a:p>
            <a:endParaRPr lang="zh-CN" altLang="en-US"/>
          </a:p>
        </p:txBody>
      </p:sp>
      <p:sp>
        <p:nvSpPr>
          <p:cNvPr id="18" name="图片占位符 17"/>
          <p:cNvSpPr>
            <a:spLocks noGrp="1"/>
          </p:cNvSpPr>
          <p:nvPr>
            <p:ph type="pic" sz="quarter" idx="11"/>
          </p:nvPr>
        </p:nvSpPr>
        <p:spPr>
          <a:xfrm>
            <a:off x="6207127" y="2441575"/>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19" name="图片占位符 18"/>
          <p:cNvSpPr>
            <a:spLocks noGrp="1"/>
          </p:cNvSpPr>
          <p:nvPr>
            <p:ph type="pic" sz="quarter" idx="12"/>
          </p:nvPr>
        </p:nvSpPr>
        <p:spPr>
          <a:xfrm>
            <a:off x="9296400" y="2441575"/>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1" name="图片占位符 20"/>
          <p:cNvSpPr>
            <a:spLocks noGrp="1"/>
          </p:cNvSpPr>
          <p:nvPr>
            <p:ph type="pic" sz="quarter" idx="13"/>
          </p:nvPr>
        </p:nvSpPr>
        <p:spPr>
          <a:xfrm>
            <a:off x="9296400" y="4248151"/>
            <a:ext cx="2895600" cy="1631951"/>
          </a:xfrm>
          <a:custGeom>
            <a:avLst/>
            <a:gdLst>
              <a:gd name="connsiteX0" fmla="*/ 0 w 2895600"/>
              <a:gd name="connsiteY0" fmla="*/ 0 h 1631951"/>
              <a:gd name="connsiteX1" fmla="*/ 2895600 w 2895600"/>
              <a:gd name="connsiteY1" fmla="*/ 0 h 1631951"/>
              <a:gd name="connsiteX2" fmla="*/ 2895600 w 2895600"/>
              <a:gd name="connsiteY2" fmla="*/ 1631951 h 1631951"/>
              <a:gd name="connsiteX3" fmla="*/ 0 w 2895600"/>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0" h="1631951">
                <a:moveTo>
                  <a:pt x="0" y="0"/>
                </a:moveTo>
                <a:lnTo>
                  <a:pt x="2895600" y="0"/>
                </a:lnTo>
                <a:lnTo>
                  <a:pt x="2895600" y="1631951"/>
                </a:lnTo>
                <a:lnTo>
                  <a:pt x="0" y="1631951"/>
                </a:lnTo>
                <a:close/>
              </a:path>
            </a:pathLst>
          </a:custGeom>
        </p:spPr>
        <p:txBody>
          <a:bodyPr wrap="square">
            <a:noAutofit/>
          </a:bodyPr>
          <a:lstStyle/>
          <a:p>
            <a:endParaRPr lang="zh-CN" altLang="en-US"/>
          </a:p>
        </p:txBody>
      </p:sp>
      <p:sp>
        <p:nvSpPr>
          <p:cNvPr id="20" name="图片占位符 19"/>
          <p:cNvSpPr>
            <a:spLocks noGrp="1"/>
          </p:cNvSpPr>
          <p:nvPr>
            <p:ph type="pic" sz="quarter" idx="14"/>
          </p:nvPr>
        </p:nvSpPr>
        <p:spPr>
          <a:xfrm>
            <a:off x="6207127" y="4248151"/>
            <a:ext cx="2895601" cy="1631951"/>
          </a:xfrm>
          <a:custGeom>
            <a:avLst/>
            <a:gdLst>
              <a:gd name="connsiteX0" fmla="*/ 0 w 2895601"/>
              <a:gd name="connsiteY0" fmla="*/ 0 h 1631951"/>
              <a:gd name="connsiteX1" fmla="*/ 2895601 w 2895601"/>
              <a:gd name="connsiteY1" fmla="*/ 0 h 1631951"/>
              <a:gd name="connsiteX2" fmla="*/ 2895601 w 2895601"/>
              <a:gd name="connsiteY2" fmla="*/ 1631951 h 1631951"/>
              <a:gd name="connsiteX3" fmla="*/ 0 w 2895601"/>
              <a:gd name="connsiteY3" fmla="*/ 1631951 h 1631951"/>
            </a:gdLst>
            <a:ahLst/>
            <a:cxnLst>
              <a:cxn ang="0">
                <a:pos x="connsiteX0" y="connsiteY0"/>
              </a:cxn>
              <a:cxn ang="0">
                <a:pos x="connsiteX1" y="connsiteY1"/>
              </a:cxn>
              <a:cxn ang="0">
                <a:pos x="connsiteX2" y="connsiteY2"/>
              </a:cxn>
              <a:cxn ang="0">
                <a:pos x="connsiteX3" y="connsiteY3"/>
              </a:cxn>
            </a:cxnLst>
            <a:rect l="l" t="t" r="r" b="b"/>
            <a:pathLst>
              <a:path w="2895601" h="1631951">
                <a:moveTo>
                  <a:pt x="0" y="0"/>
                </a:moveTo>
                <a:lnTo>
                  <a:pt x="2895601" y="0"/>
                </a:lnTo>
                <a:lnTo>
                  <a:pt x="2895601" y="1631951"/>
                </a:lnTo>
                <a:lnTo>
                  <a:pt x="0" y="1631951"/>
                </a:lnTo>
                <a:close/>
              </a:path>
            </a:pathLst>
          </a:custGeom>
        </p:spPr>
        <p:txBody>
          <a:bodyPr wrap="square">
            <a:noAutofit/>
          </a:bodyPr>
          <a:lstStyle/>
          <a:p>
            <a:endParaRPr lang="zh-CN" altLang="en-US"/>
          </a:p>
        </p:txBody>
      </p:sp>
      <p:sp>
        <p:nvSpPr>
          <p:cNvPr id="8" name="矩形 7"/>
          <p:cNvSpPr/>
          <p:nvPr userDrawn="1"/>
        </p:nvSpPr>
        <p:spPr>
          <a:xfrm>
            <a:off x="8325228" y="6545425"/>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extLst>
      <p:ext uri="{BB962C8B-B14F-4D97-AF65-F5344CB8AC3E}">
        <p14:creationId xmlns:p14="http://schemas.microsoft.com/office/powerpoint/2010/main" val="420059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1592798"/>
            <a:ext cx="12192000" cy="4523843"/>
          </a:xfrm>
          <a:custGeom>
            <a:avLst/>
            <a:gdLst>
              <a:gd name="connsiteX0" fmla="*/ 0 w 12192000"/>
              <a:gd name="connsiteY0" fmla="*/ 0 h 4523843"/>
              <a:gd name="connsiteX1" fmla="*/ 12192000 w 12192000"/>
              <a:gd name="connsiteY1" fmla="*/ 0 h 4523843"/>
              <a:gd name="connsiteX2" fmla="*/ 12192000 w 12192000"/>
              <a:gd name="connsiteY2" fmla="*/ 4523843 h 4523843"/>
              <a:gd name="connsiteX3" fmla="*/ 0 w 12192000"/>
              <a:gd name="connsiteY3" fmla="*/ 4523843 h 4523843"/>
            </a:gdLst>
            <a:ahLst/>
            <a:cxnLst>
              <a:cxn ang="0">
                <a:pos x="connsiteX0" y="connsiteY0"/>
              </a:cxn>
              <a:cxn ang="0">
                <a:pos x="connsiteX1" y="connsiteY1"/>
              </a:cxn>
              <a:cxn ang="0">
                <a:pos x="connsiteX2" y="connsiteY2"/>
              </a:cxn>
              <a:cxn ang="0">
                <a:pos x="connsiteX3" y="connsiteY3"/>
              </a:cxn>
            </a:cxnLst>
            <a:rect l="l" t="t" r="r" b="b"/>
            <a:pathLst>
              <a:path w="12192000" h="4523843">
                <a:moveTo>
                  <a:pt x="0" y="0"/>
                </a:moveTo>
                <a:lnTo>
                  <a:pt x="12192000" y="0"/>
                </a:lnTo>
                <a:lnTo>
                  <a:pt x="12192000" y="4523843"/>
                </a:lnTo>
                <a:lnTo>
                  <a:pt x="0" y="452384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294146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 y="1370014"/>
            <a:ext cx="12192002" cy="4829175"/>
          </a:xfrm>
          <a:custGeom>
            <a:avLst/>
            <a:gdLst>
              <a:gd name="connsiteX0" fmla="*/ 7747119 w 12192002"/>
              <a:gd name="connsiteY0" fmla="*/ 0 h 4829175"/>
              <a:gd name="connsiteX1" fmla="*/ 12192002 w 12192002"/>
              <a:gd name="connsiteY1" fmla="*/ 0 h 4829175"/>
              <a:gd name="connsiteX2" fmla="*/ 12192002 w 12192002"/>
              <a:gd name="connsiteY2" fmla="*/ 4829175 h 4829175"/>
              <a:gd name="connsiteX3" fmla="*/ 7747119 w 12192002"/>
              <a:gd name="connsiteY3" fmla="*/ 4829175 h 4829175"/>
              <a:gd name="connsiteX4" fmla="*/ 0 w 12192002"/>
              <a:gd name="connsiteY4" fmla="*/ 0 h 4829175"/>
              <a:gd name="connsiteX5" fmla="*/ 6095999 w 12192002"/>
              <a:gd name="connsiteY5" fmla="*/ 0 h 4829175"/>
              <a:gd name="connsiteX6" fmla="*/ 6095999 w 12192002"/>
              <a:gd name="connsiteY6" fmla="*/ 4829175 h 4829175"/>
              <a:gd name="connsiteX7" fmla="*/ 0 w 12192002"/>
              <a:gd name="connsiteY7" fmla="*/ 4829175 h 482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4829175">
                <a:moveTo>
                  <a:pt x="7747119" y="0"/>
                </a:moveTo>
                <a:lnTo>
                  <a:pt x="12192002" y="0"/>
                </a:lnTo>
                <a:lnTo>
                  <a:pt x="12192002" y="4829175"/>
                </a:lnTo>
                <a:lnTo>
                  <a:pt x="7747119" y="4829175"/>
                </a:lnTo>
                <a:close/>
                <a:moveTo>
                  <a:pt x="0" y="0"/>
                </a:moveTo>
                <a:lnTo>
                  <a:pt x="6095999" y="0"/>
                </a:lnTo>
                <a:lnTo>
                  <a:pt x="6095999" y="4829175"/>
                </a:lnTo>
                <a:lnTo>
                  <a:pt x="0" y="482917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991660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3091419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719137" y="1357274"/>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6234071" y="1357278"/>
            <a:ext cx="5238792" cy="2683795"/>
          </a:xfrm>
          <a:custGeom>
            <a:avLst/>
            <a:gdLst>
              <a:gd name="connsiteX0" fmla="*/ 0 w 5238792"/>
              <a:gd name="connsiteY0" fmla="*/ 0 h 2683795"/>
              <a:gd name="connsiteX1" fmla="*/ 5238792 w 5238792"/>
              <a:gd name="connsiteY1" fmla="*/ 0 h 2683795"/>
              <a:gd name="connsiteX2" fmla="*/ 5238792 w 5238792"/>
              <a:gd name="connsiteY2" fmla="*/ 2683795 h 2683795"/>
              <a:gd name="connsiteX3" fmla="*/ 0 w 5238792"/>
              <a:gd name="connsiteY3" fmla="*/ 2683795 h 2683795"/>
            </a:gdLst>
            <a:ahLst/>
            <a:cxnLst>
              <a:cxn ang="0">
                <a:pos x="connsiteX0" y="connsiteY0"/>
              </a:cxn>
              <a:cxn ang="0">
                <a:pos x="connsiteX1" y="connsiteY1"/>
              </a:cxn>
              <a:cxn ang="0">
                <a:pos x="connsiteX2" y="connsiteY2"/>
              </a:cxn>
              <a:cxn ang="0">
                <a:pos x="connsiteX3" y="connsiteY3"/>
              </a:cxn>
            </a:cxnLst>
            <a:rect l="l" t="t" r="r" b="b"/>
            <a:pathLst>
              <a:path w="5238792" h="2683795">
                <a:moveTo>
                  <a:pt x="0" y="0"/>
                </a:moveTo>
                <a:lnTo>
                  <a:pt x="5238792" y="0"/>
                </a:lnTo>
                <a:lnTo>
                  <a:pt x="5238792" y="2683795"/>
                </a:lnTo>
                <a:lnTo>
                  <a:pt x="0" y="2683795"/>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20005655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9" name="图片占位符 8"/>
          <p:cNvSpPr>
            <a:spLocks noGrp="1"/>
          </p:cNvSpPr>
          <p:nvPr>
            <p:ph type="pic" sz="quarter" idx="10"/>
          </p:nvPr>
        </p:nvSpPr>
        <p:spPr>
          <a:xfrm>
            <a:off x="4106" y="0"/>
            <a:ext cx="12187894" cy="3571540"/>
          </a:xfrm>
          <a:custGeom>
            <a:avLst/>
            <a:gdLst>
              <a:gd name="connsiteX0" fmla="*/ 0 w 12187894"/>
              <a:gd name="connsiteY0" fmla="*/ 0 h 3571540"/>
              <a:gd name="connsiteX1" fmla="*/ 12187894 w 12187894"/>
              <a:gd name="connsiteY1" fmla="*/ 0 h 3571540"/>
              <a:gd name="connsiteX2" fmla="*/ 12187894 w 12187894"/>
              <a:gd name="connsiteY2" fmla="*/ 3571540 h 3571540"/>
              <a:gd name="connsiteX3" fmla="*/ 0 w 12187894"/>
              <a:gd name="connsiteY3" fmla="*/ 3571540 h 3571540"/>
            </a:gdLst>
            <a:ahLst/>
            <a:cxnLst>
              <a:cxn ang="0">
                <a:pos x="connsiteX0" y="connsiteY0"/>
              </a:cxn>
              <a:cxn ang="0">
                <a:pos x="connsiteX1" y="connsiteY1"/>
              </a:cxn>
              <a:cxn ang="0">
                <a:pos x="connsiteX2" y="connsiteY2"/>
              </a:cxn>
              <a:cxn ang="0">
                <a:pos x="connsiteX3" y="connsiteY3"/>
              </a:cxn>
            </a:cxnLst>
            <a:rect l="l" t="t" r="r" b="b"/>
            <a:pathLst>
              <a:path w="12187894" h="3571540">
                <a:moveTo>
                  <a:pt x="0" y="0"/>
                </a:moveTo>
                <a:lnTo>
                  <a:pt x="12187894" y="0"/>
                </a:lnTo>
                <a:lnTo>
                  <a:pt x="12187894" y="3571540"/>
                </a:lnTo>
                <a:lnTo>
                  <a:pt x="0" y="357154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416881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 name="图片占位符 14"/>
          <p:cNvSpPr>
            <a:spLocks noGrp="1"/>
          </p:cNvSpPr>
          <p:nvPr>
            <p:ph type="pic" sz="quarter" idx="10"/>
          </p:nvPr>
        </p:nvSpPr>
        <p:spPr>
          <a:xfrm>
            <a:off x="1234798"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
        <p:nvSpPr>
          <p:cNvPr id="16" name="图片占位符 15"/>
          <p:cNvSpPr>
            <a:spLocks noGrp="1"/>
          </p:cNvSpPr>
          <p:nvPr>
            <p:ph type="pic" sz="quarter" idx="11"/>
          </p:nvPr>
        </p:nvSpPr>
        <p:spPr>
          <a:xfrm>
            <a:off x="3720984"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7" name="图片占位符 16"/>
          <p:cNvSpPr>
            <a:spLocks noGrp="1"/>
          </p:cNvSpPr>
          <p:nvPr>
            <p:ph type="pic" sz="quarter" idx="12"/>
          </p:nvPr>
        </p:nvSpPr>
        <p:spPr>
          <a:xfrm>
            <a:off x="6198835" y="2528900"/>
            <a:ext cx="2272185" cy="3264506"/>
          </a:xfrm>
          <a:custGeom>
            <a:avLst/>
            <a:gdLst>
              <a:gd name="connsiteX0" fmla="*/ 0 w 2272185"/>
              <a:gd name="connsiteY0" fmla="*/ 0 h 3264506"/>
              <a:gd name="connsiteX1" fmla="*/ 2272185 w 2272185"/>
              <a:gd name="connsiteY1" fmla="*/ 0 h 3264506"/>
              <a:gd name="connsiteX2" fmla="*/ 2272185 w 2272185"/>
              <a:gd name="connsiteY2" fmla="*/ 3264506 h 3264506"/>
              <a:gd name="connsiteX3" fmla="*/ 0 w 2272185"/>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72185" h="3264506">
                <a:moveTo>
                  <a:pt x="0" y="0"/>
                </a:moveTo>
                <a:lnTo>
                  <a:pt x="2272185" y="0"/>
                </a:lnTo>
                <a:lnTo>
                  <a:pt x="2272185" y="3264506"/>
                </a:lnTo>
                <a:lnTo>
                  <a:pt x="0" y="3264506"/>
                </a:lnTo>
                <a:close/>
              </a:path>
            </a:pathLst>
          </a:custGeom>
        </p:spPr>
        <p:txBody>
          <a:bodyPr wrap="square">
            <a:noAutofit/>
          </a:bodyPr>
          <a:lstStyle/>
          <a:p>
            <a:endParaRPr lang="zh-CN" altLang="en-US"/>
          </a:p>
        </p:txBody>
      </p:sp>
      <p:sp>
        <p:nvSpPr>
          <p:cNvPr id="18" name="图片占位符 17"/>
          <p:cNvSpPr>
            <a:spLocks noGrp="1"/>
          </p:cNvSpPr>
          <p:nvPr>
            <p:ph type="pic" sz="quarter" idx="13"/>
          </p:nvPr>
        </p:nvSpPr>
        <p:spPr>
          <a:xfrm>
            <a:off x="8693352" y="2528900"/>
            <a:ext cx="2263853" cy="3264506"/>
          </a:xfrm>
          <a:custGeom>
            <a:avLst/>
            <a:gdLst>
              <a:gd name="connsiteX0" fmla="*/ 0 w 2263853"/>
              <a:gd name="connsiteY0" fmla="*/ 0 h 3264506"/>
              <a:gd name="connsiteX1" fmla="*/ 2263853 w 2263853"/>
              <a:gd name="connsiteY1" fmla="*/ 0 h 3264506"/>
              <a:gd name="connsiteX2" fmla="*/ 2263853 w 2263853"/>
              <a:gd name="connsiteY2" fmla="*/ 3264506 h 3264506"/>
              <a:gd name="connsiteX3" fmla="*/ 0 w 2263853"/>
              <a:gd name="connsiteY3" fmla="*/ 3264506 h 3264506"/>
            </a:gdLst>
            <a:ahLst/>
            <a:cxnLst>
              <a:cxn ang="0">
                <a:pos x="connsiteX0" y="connsiteY0"/>
              </a:cxn>
              <a:cxn ang="0">
                <a:pos x="connsiteX1" y="connsiteY1"/>
              </a:cxn>
              <a:cxn ang="0">
                <a:pos x="connsiteX2" y="connsiteY2"/>
              </a:cxn>
              <a:cxn ang="0">
                <a:pos x="connsiteX3" y="connsiteY3"/>
              </a:cxn>
            </a:cxnLst>
            <a:rect l="l" t="t" r="r" b="b"/>
            <a:pathLst>
              <a:path w="2263853" h="3264506">
                <a:moveTo>
                  <a:pt x="0" y="0"/>
                </a:moveTo>
                <a:lnTo>
                  <a:pt x="2263853" y="0"/>
                </a:lnTo>
                <a:lnTo>
                  <a:pt x="2263853" y="3264506"/>
                </a:lnTo>
                <a:lnTo>
                  <a:pt x="0" y="3264506"/>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820438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67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1CE03-90C0-4E22-B7FA-3A1ECBAF6F4F}" type="datetimeFigureOut">
              <a:rPr lang="zh-CN" altLang="en-US" smtClean="0"/>
              <a:t>2022/1/25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1176E6-63FA-43A7-8DE8-B4DDEC857A29}" type="slidenum">
              <a:rPr lang="zh-CN" altLang="en-US" smtClean="0"/>
              <a:t>‹#›</a:t>
            </a:fld>
            <a:endParaRPr lang="zh-CN" altLang="en-US"/>
          </a:p>
        </p:txBody>
      </p:sp>
    </p:spTree>
    <p:extLst>
      <p:ext uri="{BB962C8B-B14F-4D97-AF65-F5344CB8AC3E}">
        <p14:creationId xmlns:p14="http://schemas.microsoft.com/office/powerpoint/2010/main" val="1008591366"/>
      </p:ext>
    </p:extLst>
  </p:cSld>
  <p:clrMap bg1="lt1" tx1="dk1" bg2="lt2" tx2="dk2" accent1="accent1" accent2="accent2" accent3="accent3" accent4="accent4" accent5="accent5" accent6="accent6" hlink="hlink" folHlink="folHlink"/>
  <p:sldLayoutIdLst>
    <p:sldLayoutId id="2147483655" r:id="rId1"/>
    <p:sldLayoutId id="2147483664" r:id="rId2"/>
    <p:sldLayoutId id="2147483663" r:id="rId3"/>
    <p:sldLayoutId id="2147483665" r:id="rId4"/>
    <p:sldLayoutId id="2147483662" r:id="rId5"/>
    <p:sldLayoutId id="2147483661" r:id="rId6"/>
    <p:sldLayoutId id="2147483660" r:id="rId7"/>
    <p:sldLayoutId id="2147483659" r:id="rId8"/>
    <p:sldLayoutId id="2147483658" r:id="rId9"/>
    <p:sldLayoutId id="2147483657" r:id="rId10"/>
    <p:sldLayoutId id="21474836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0.jpg"/><Relationship Id="rId5" Type="http://schemas.openxmlformats.org/officeDocument/2006/relationships/image" Target="../media/image6.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6.png"/><Relationship Id="rId7"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6.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image" Target="../media/image41.png"/><Relationship Id="rId11" Type="http://schemas.openxmlformats.org/officeDocument/2006/relationships/image" Target="../media/image43.png"/><Relationship Id="rId5" Type="http://schemas.openxmlformats.org/officeDocument/2006/relationships/image" Target="../media/image40.png"/><Relationship Id="rId10" Type="http://schemas.openxmlformats.org/officeDocument/2006/relationships/image" Target="../media/image4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6.png"/><Relationship Id="rId7"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48.png"/><Relationship Id="rId5" Type="http://schemas.openxmlformats.org/officeDocument/2006/relationships/image" Target="../media/image40.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2919" name="图片 2918"/>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964923" y="2006600"/>
            <a:ext cx="2262159" cy="923330"/>
          </a:xfrm>
          <a:prstGeom prst="rect">
            <a:avLst/>
          </a:prstGeom>
          <a:noFill/>
        </p:spPr>
        <p:txBody>
          <a:bodyPr wrap="none" rtlCol="0">
            <a:spAutoFit/>
            <a:scene3d>
              <a:camera prst="orthographicFront"/>
              <a:lightRig rig="threePt" dir="t"/>
            </a:scene3d>
            <a:sp3d extrusionH="12700"/>
          </a:bodyPr>
          <a:lstStyle/>
          <a:p>
            <a:pPr algn="ctr"/>
            <a:r>
              <a:rPr lang="zh-CN" altLang="en-US" sz="5400" dirty="0">
                <a:solidFill>
                  <a:schemeClr val="bg1"/>
                </a:solidFill>
                <a:effectLst>
                  <a:outerShdw blurRad="203200" dist="38100" dir="5400000" algn="t" rotWithShape="0">
                    <a:prstClr val="black">
                      <a:alpha val="83000"/>
                    </a:prstClr>
                  </a:outerShdw>
                </a:effectLst>
                <a:cs typeface="+mn-ea"/>
                <a:sym typeface="+mn-lt"/>
              </a:rPr>
              <a:t>第四章</a:t>
            </a:r>
          </a:p>
        </p:txBody>
      </p:sp>
      <p:sp>
        <p:nvSpPr>
          <p:cNvPr id="2921" name="文本框 2920"/>
          <p:cNvSpPr txBox="1"/>
          <p:nvPr/>
        </p:nvSpPr>
        <p:spPr>
          <a:xfrm>
            <a:off x="5148465" y="3019922"/>
            <a:ext cx="1895071" cy="707886"/>
          </a:xfrm>
          <a:prstGeom prst="rect">
            <a:avLst/>
          </a:prstGeom>
          <a:noFill/>
        </p:spPr>
        <p:txBody>
          <a:bodyPr wrap="none" rtlCol="0">
            <a:spAutoFit/>
            <a:scene3d>
              <a:camera prst="orthographicFront"/>
              <a:lightRig rig="threePt" dir="t"/>
            </a:scene3d>
            <a:sp3d extrusionH="12700"/>
          </a:bodyPr>
          <a:lstStyle/>
          <a:p>
            <a:pPr algn="ctr"/>
            <a:r>
              <a:rPr lang="zh-CN" altLang="en-US" sz="4000" dirty="0" smtClean="0">
                <a:solidFill>
                  <a:schemeClr val="bg1"/>
                </a:solidFill>
                <a:effectLst>
                  <a:outerShdw blurRad="203200" dist="38100" dir="5400000" algn="t" rotWithShape="0">
                    <a:prstClr val="black">
                      <a:alpha val="83000"/>
                    </a:prstClr>
                  </a:outerShdw>
                </a:effectLst>
                <a:cs typeface="+mn-ea"/>
                <a:sym typeface="+mn-lt"/>
              </a:rPr>
              <a:t>图</a:t>
            </a:r>
            <a:r>
              <a:rPr lang="en-US" altLang="zh-CN" sz="4000" dirty="0" smtClean="0">
                <a:solidFill>
                  <a:schemeClr val="bg1"/>
                </a:solidFill>
                <a:effectLst>
                  <a:outerShdw blurRad="203200" dist="38100" dir="5400000" algn="t" rotWithShape="0">
                    <a:prstClr val="black">
                      <a:alpha val="83000"/>
                    </a:prstClr>
                  </a:outerShdw>
                </a:effectLst>
                <a:cs typeface="+mn-ea"/>
                <a:sym typeface="+mn-lt"/>
              </a:rPr>
              <a:t>·</a:t>
            </a:r>
            <a:r>
              <a:rPr lang="zh-CN" altLang="en-US" sz="4000" dirty="0">
                <a:solidFill>
                  <a:schemeClr val="bg1"/>
                </a:solidFill>
                <a:effectLst>
                  <a:outerShdw blurRad="203200" dist="38100" dir="5400000" algn="t" rotWithShape="0">
                    <a:prstClr val="black">
                      <a:alpha val="83000"/>
                    </a:prstClr>
                  </a:outerShdw>
                </a:effectLst>
                <a:cs typeface="+mn-ea"/>
                <a:sym typeface="+mn-lt"/>
              </a:rPr>
              <a:t>基础</a:t>
            </a: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cs typeface="+mn-ea"/>
                <a:sym typeface="+mn-lt"/>
              </a:rPr>
              <a:t>2020.05.23</a:t>
            </a:r>
            <a:endParaRPr lang="zh-CN" altLang="en-US" sz="1400" dirty="0">
              <a:cs typeface="+mn-ea"/>
              <a:sym typeface="+mn-lt"/>
            </a:endParaRPr>
          </a:p>
        </p:txBody>
      </p:sp>
      <p:sp>
        <p:nvSpPr>
          <p:cNvPr id="9" name="文本框 2919"/>
          <p:cNvSpPr txBox="1"/>
          <p:nvPr/>
        </p:nvSpPr>
        <p:spPr>
          <a:xfrm>
            <a:off x="10013198" y="0"/>
            <a:ext cx="2095445"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第三部分 数据结构</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Tree>
    <p:extLst>
      <p:ext uri="{BB962C8B-B14F-4D97-AF65-F5344CB8AC3E}">
        <p14:creationId xmlns:p14="http://schemas.microsoft.com/office/powerpoint/2010/main" val="242272367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500"/>
                            </p:stCondLst>
                            <p:childTnLst>
                              <p:par>
                                <p:cTn id="14" presetID="23" presetClass="entr" presetSubtype="288" fill="hold" nodeType="afterEffect">
                                  <p:stCondLst>
                                    <p:cond delay="0"/>
                                  </p:stCondLst>
                                  <p:childTnLst>
                                    <p:set>
                                      <p:cBhvr>
                                        <p:cTn id="15" dur="1" fill="hold">
                                          <p:stCondLst>
                                            <p:cond delay="0"/>
                                          </p:stCondLst>
                                        </p:cTn>
                                        <p:tgtEl>
                                          <p:spTgt spid="2919"/>
                                        </p:tgtEl>
                                        <p:attrNameLst>
                                          <p:attrName>style.visibility</p:attrName>
                                        </p:attrNameLst>
                                      </p:cBhvr>
                                      <p:to>
                                        <p:strVal val="visible"/>
                                      </p:to>
                                    </p:set>
                                    <p:anim calcmode="lin" valueType="num">
                                      <p:cBhvr>
                                        <p:cTn id="16" dur="500" fill="hold"/>
                                        <p:tgtEl>
                                          <p:spTgt spid="2919"/>
                                        </p:tgtEl>
                                        <p:attrNameLst>
                                          <p:attrName>ppt_w</p:attrName>
                                        </p:attrNameLst>
                                      </p:cBhvr>
                                      <p:tavLst>
                                        <p:tav tm="0">
                                          <p:val>
                                            <p:strVal val="4/3*#ppt_w"/>
                                          </p:val>
                                        </p:tav>
                                        <p:tav tm="100000">
                                          <p:val>
                                            <p:strVal val="#ppt_w"/>
                                          </p:val>
                                        </p:tav>
                                      </p:tavLst>
                                    </p:anim>
                                    <p:anim calcmode="lin" valueType="num">
                                      <p:cBhvr>
                                        <p:cTn id="17" dur="500" fill="hold"/>
                                        <p:tgtEl>
                                          <p:spTgt spid="2919"/>
                                        </p:tgtEl>
                                        <p:attrNameLst>
                                          <p:attrName>ppt_h</p:attrName>
                                        </p:attrNameLst>
                                      </p:cBhvr>
                                      <p:tavLst>
                                        <p:tav tm="0">
                                          <p:val>
                                            <p:strVal val="4/3*#ppt_h"/>
                                          </p:val>
                                        </p:tav>
                                        <p:tav tm="100000">
                                          <p:val>
                                            <p:strVal val="#ppt_h"/>
                                          </p:val>
                                        </p:tav>
                                      </p:tavLst>
                                    </p:anim>
                                  </p:childTnLst>
                                </p:cTn>
                              </p:par>
                            </p:childTnLst>
                          </p:cTn>
                        </p:par>
                        <p:par>
                          <p:cTn id="18" fill="hold">
                            <p:stCondLst>
                              <p:cond delay="1000"/>
                            </p:stCondLst>
                            <p:childTnLst>
                              <p:par>
                                <p:cTn id="19" presetID="53" presetClass="entr" presetSubtype="16" fill="hold" grpId="0" nodeType="afterEffect">
                                  <p:stCondLst>
                                    <p:cond delay="0"/>
                                  </p:stCondLst>
                                  <p:childTnLst>
                                    <p:set>
                                      <p:cBhvr>
                                        <p:cTn id="20" dur="1" fill="hold">
                                          <p:stCondLst>
                                            <p:cond delay="0"/>
                                          </p:stCondLst>
                                        </p:cTn>
                                        <p:tgtEl>
                                          <p:spTgt spid="2920"/>
                                        </p:tgtEl>
                                        <p:attrNameLst>
                                          <p:attrName>style.visibility</p:attrName>
                                        </p:attrNameLst>
                                      </p:cBhvr>
                                      <p:to>
                                        <p:strVal val="visible"/>
                                      </p:to>
                                    </p:set>
                                    <p:anim calcmode="lin" valueType="num">
                                      <p:cBhvr>
                                        <p:cTn id="21" dur="500" fill="hold"/>
                                        <p:tgtEl>
                                          <p:spTgt spid="2920"/>
                                        </p:tgtEl>
                                        <p:attrNameLst>
                                          <p:attrName>ppt_w</p:attrName>
                                        </p:attrNameLst>
                                      </p:cBhvr>
                                      <p:tavLst>
                                        <p:tav tm="0">
                                          <p:val>
                                            <p:fltVal val="0"/>
                                          </p:val>
                                        </p:tav>
                                        <p:tav tm="100000">
                                          <p:val>
                                            <p:strVal val="#ppt_w"/>
                                          </p:val>
                                        </p:tav>
                                      </p:tavLst>
                                    </p:anim>
                                    <p:anim calcmode="lin" valueType="num">
                                      <p:cBhvr>
                                        <p:cTn id="22" dur="500" fill="hold"/>
                                        <p:tgtEl>
                                          <p:spTgt spid="2920"/>
                                        </p:tgtEl>
                                        <p:attrNameLst>
                                          <p:attrName>ppt_h</p:attrName>
                                        </p:attrNameLst>
                                      </p:cBhvr>
                                      <p:tavLst>
                                        <p:tav tm="0">
                                          <p:val>
                                            <p:fltVal val="0"/>
                                          </p:val>
                                        </p:tav>
                                        <p:tav tm="100000">
                                          <p:val>
                                            <p:strVal val="#ppt_h"/>
                                          </p:val>
                                        </p:tav>
                                      </p:tavLst>
                                    </p:anim>
                                    <p:animEffect transition="in" filter="fade">
                                      <p:cBhvr>
                                        <p:cTn id="23" dur="500"/>
                                        <p:tgtEl>
                                          <p:spTgt spid="2920"/>
                                        </p:tgtEl>
                                      </p:cBhvr>
                                    </p:animEffect>
                                  </p:childTnLst>
                                </p:cTn>
                              </p:par>
                            </p:childTnLst>
                          </p:cTn>
                        </p:par>
                        <p:par>
                          <p:cTn id="24" fill="hold">
                            <p:stCondLst>
                              <p:cond delay="1500"/>
                            </p:stCondLst>
                            <p:childTnLst>
                              <p:par>
                                <p:cTn id="25" presetID="42" presetClass="entr" presetSubtype="0" fill="hold" grpId="0" nodeType="afterEffect">
                                  <p:stCondLst>
                                    <p:cond delay="0"/>
                                  </p:stCondLst>
                                  <p:childTnLst>
                                    <p:set>
                                      <p:cBhvr>
                                        <p:cTn id="26" dur="1" fill="hold">
                                          <p:stCondLst>
                                            <p:cond delay="0"/>
                                          </p:stCondLst>
                                        </p:cTn>
                                        <p:tgtEl>
                                          <p:spTgt spid="2921"/>
                                        </p:tgtEl>
                                        <p:attrNameLst>
                                          <p:attrName>style.visibility</p:attrName>
                                        </p:attrNameLst>
                                      </p:cBhvr>
                                      <p:to>
                                        <p:strVal val="visible"/>
                                      </p:to>
                                    </p:set>
                                    <p:animEffect transition="in" filter="fade">
                                      <p:cBhvr>
                                        <p:cTn id="27" dur="1000"/>
                                        <p:tgtEl>
                                          <p:spTgt spid="2921"/>
                                        </p:tgtEl>
                                      </p:cBhvr>
                                    </p:animEffect>
                                    <p:anim calcmode="lin" valueType="num">
                                      <p:cBhvr>
                                        <p:cTn id="28" dur="1000" fill="hold"/>
                                        <p:tgtEl>
                                          <p:spTgt spid="2921"/>
                                        </p:tgtEl>
                                        <p:attrNameLst>
                                          <p:attrName>ppt_x</p:attrName>
                                        </p:attrNameLst>
                                      </p:cBhvr>
                                      <p:tavLst>
                                        <p:tav tm="0">
                                          <p:val>
                                            <p:strVal val="#ppt_x"/>
                                          </p:val>
                                        </p:tav>
                                        <p:tav tm="100000">
                                          <p:val>
                                            <p:strVal val="#ppt_x"/>
                                          </p:val>
                                        </p:tav>
                                      </p:tavLst>
                                    </p:anim>
                                    <p:anim calcmode="lin" valueType="num">
                                      <p:cBhvr>
                                        <p:cTn id="29" dur="1000" fill="hold"/>
                                        <p:tgtEl>
                                          <p:spTgt spid="2921"/>
                                        </p:tgtEl>
                                        <p:attrNameLst>
                                          <p:attrName>ppt_y</p:attrName>
                                        </p:attrNameLst>
                                      </p:cBhvr>
                                      <p:tavLst>
                                        <p:tav tm="0">
                                          <p:val>
                                            <p:strVal val="#ppt_y+.1"/>
                                          </p:val>
                                        </p:tav>
                                        <p:tav tm="100000">
                                          <p:val>
                                            <p:strVal val="#ppt_y"/>
                                          </p:val>
                                        </p:tav>
                                      </p:tavLst>
                                    </p:anim>
                                  </p:childTnLst>
                                </p:cTn>
                              </p:par>
                            </p:childTnLst>
                          </p:cTn>
                        </p:par>
                        <p:par>
                          <p:cTn id="30" fill="hold">
                            <p:stCondLst>
                              <p:cond delay="2500"/>
                            </p:stCondLst>
                            <p:childTnLst>
                              <p:par>
                                <p:cTn id="31" presetID="16" presetClass="entr" presetSubtype="21" fill="hold" nodeType="afterEffect">
                                  <p:stCondLst>
                                    <p:cond delay="0"/>
                                  </p:stCondLst>
                                  <p:childTnLst>
                                    <p:set>
                                      <p:cBhvr>
                                        <p:cTn id="32" dur="1" fill="hold">
                                          <p:stCondLst>
                                            <p:cond delay="0"/>
                                          </p:stCondLst>
                                        </p:cTn>
                                        <p:tgtEl>
                                          <p:spTgt spid="2923"/>
                                        </p:tgtEl>
                                        <p:attrNameLst>
                                          <p:attrName>style.visibility</p:attrName>
                                        </p:attrNameLst>
                                      </p:cBhvr>
                                      <p:to>
                                        <p:strVal val="visible"/>
                                      </p:to>
                                    </p:set>
                                    <p:animEffect transition="in" filter="barn(inVertical)">
                                      <p:cBhvr>
                                        <p:cTn id="33" dur="500"/>
                                        <p:tgtEl>
                                          <p:spTgt spid="2923"/>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924"/>
                                        </p:tgtEl>
                                        <p:attrNameLst>
                                          <p:attrName>style.visibility</p:attrName>
                                        </p:attrNameLst>
                                      </p:cBhvr>
                                      <p:to>
                                        <p:strVal val="visible"/>
                                      </p:to>
                                    </p:set>
                                    <p:animEffect transition="in" filter="fade">
                                      <p:cBhvr>
                                        <p:cTn id="37" dur="500"/>
                                        <p:tgtEl>
                                          <p:spTgt spid="2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0" grpId="0"/>
      <p:bldP spid="2921" grpId="0"/>
      <p:bldP spid="2924"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图片 2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1"/>
            <a:ext cx="12192000" cy="6858001"/>
          </a:xfrm>
          <a:prstGeom prst="rect">
            <a:avLst/>
          </a:prstGeom>
        </p:spPr>
      </p:pic>
      <p:pic>
        <p:nvPicPr>
          <p:cNvPr id="7" name="图片 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664542" y="-3431458"/>
            <a:ext cx="6862916" cy="6862916"/>
          </a:xfrm>
          <a:prstGeom prst="ellipse">
            <a:avLst/>
          </a:prstGeom>
          <a:effectLst>
            <a:outerShdw blurRad="482600" sx="102000" sy="102000" algn="ctr" rotWithShape="0">
              <a:prstClr val="black">
                <a:alpha val="61000"/>
              </a:prstClr>
            </a:outerShdw>
          </a:effectLst>
        </p:spPr>
      </p:pic>
      <p:grpSp>
        <p:nvGrpSpPr>
          <p:cNvPr id="23" name="组合 22"/>
          <p:cNvGrpSpPr/>
          <p:nvPr/>
        </p:nvGrpSpPr>
        <p:grpSpPr>
          <a:xfrm>
            <a:off x="1422091" y="2143433"/>
            <a:ext cx="1826142" cy="2230705"/>
            <a:chOff x="1422091" y="2143433"/>
            <a:chExt cx="1826142" cy="2230705"/>
          </a:xfrm>
        </p:grpSpPr>
        <p:sp>
          <p:nvSpPr>
            <p:cNvPr id="8" name="椭圆 7"/>
            <p:cNvSpPr/>
            <p:nvPr/>
          </p:nvSpPr>
          <p:spPr>
            <a:xfrm>
              <a:off x="1676401" y="2143433"/>
              <a:ext cx="1317522" cy="13175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1422091" y="3789363"/>
              <a:ext cx="1826142" cy="584775"/>
            </a:xfrm>
            <a:prstGeom prst="rect">
              <a:avLst/>
            </a:prstGeom>
            <a:noFill/>
          </p:spPr>
          <p:txBody>
            <a:bodyPr wrap="none" rtlCol="0">
              <a:spAutoFit/>
              <a:scene3d>
                <a:camera prst="orthographicFront"/>
                <a:lightRig rig="threePt" dir="t"/>
              </a:scene3d>
              <a:sp3d extrusionH="12700"/>
            </a:bodyPr>
            <a:lstStyle/>
            <a:p>
              <a:pPr algn="ctr"/>
              <a:r>
                <a:rPr lang="zh-CN" altLang="en-US" sz="3200" dirty="0" smtClean="0">
                  <a:solidFill>
                    <a:schemeClr val="accent3">
                      <a:lumMod val="75000"/>
                    </a:schemeClr>
                  </a:solidFill>
                  <a:cs typeface="+mn-ea"/>
                  <a:sym typeface="+mn-lt"/>
                </a:rPr>
                <a:t>基本概念</a:t>
              </a:r>
              <a:endParaRPr lang="zh-CN" altLang="en-US" sz="3200" dirty="0">
                <a:solidFill>
                  <a:schemeClr val="accent3">
                    <a:lumMod val="75000"/>
                  </a:schemeClr>
                </a:solidFill>
                <a:cs typeface="+mn-ea"/>
                <a:sym typeface="+mn-lt"/>
              </a:endParaRPr>
            </a:p>
          </p:txBody>
        </p:sp>
        <p:sp>
          <p:nvSpPr>
            <p:cNvPr id="17" name="文本框 16"/>
            <p:cNvSpPr txBox="1"/>
            <p:nvPr/>
          </p:nvSpPr>
          <p:spPr>
            <a:xfrm>
              <a:off x="1986349" y="2509806"/>
              <a:ext cx="697627" cy="646331"/>
            </a:xfrm>
            <a:prstGeom prst="rect">
              <a:avLst/>
            </a:prstGeom>
            <a:noFill/>
          </p:spPr>
          <p:txBody>
            <a:bodyPr wrap="none" rtlCol="0">
              <a:spAutoFit/>
              <a:scene3d>
                <a:camera prst="orthographicFront"/>
                <a:lightRig rig="threePt" dir="t"/>
              </a:scene3d>
              <a:sp3d contourW="12700"/>
            </a:bodyPr>
            <a:lstStyle/>
            <a:p>
              <a:pPr algn="ctr"/>
              <a:r>
                <a:rPr lang="en-US" altLang="zh-CN" sz="3600" b="1" dirty="0">
                  <a:solidFill>
                    <a:schemeClr val="bg1"/>
                  </a:solidFill>
                  <a:effectLst>
                    <a:outerShdw blurRad="38100" dist="38100" dir="2700000" algn="tl">
                      <a:srgbClr val="000000">
                        <a:alpha val="43137"/>
                      </a:srgbClr>
                    </a:outerShdw>
                  </a:effectLst>
                  <a:cs typeface="+mn-ea"/>
                  <a:sym typeface="+mn-lt"/>
                </a:rPr>
                <a:t>01</a:t>
              </a:r>
              <a:endParaRPr lang="zh-CN" altLang="en-US" sz="3600" b="1" dirty="0">
                <a:solidFill>
                  <a:schemeClr val="bg1"/>
                </a:solidFill>
                <a:effectLst>
                  <a:outerShdw blurRad="38100" dist="38100" dir="2700000" algn="tl">
                    <a:srgbClr val="000000">
                      <a:alpha val="43137"/>
                    </a:srgbClr>
                  </a:outerShdw>
                </a:effectLst>
                <a:cs typeface="+mn-ea"/>
                <a:sym typeface="+mn-lt"/>
              </a:endParaRPr>
            </a:p>
          </p:txBody>
        </p:sp>
      </p:grpSp>
      <p:grpSp>
        <p:nvGrpSpPr>
          <p:cNvPr id="24" name="组合 23"/>
          <p:cNvGrpSpPr/>
          <p:nvPr/>
        </p:nvGrpSpPr>
        <p:grpSpPr>
          <a:xfrm>
            <a:off x="3947753" y="3431458"/>
            <a:ext cx="1826142" cy="2123780"/>
            <a:chOff x="3947753" y="3431458"/>
            <a:chExt cx="1826142" cy="2123780"/>
          </a:xfrm>
        </p:grpSpPr>
        <p:sp>
          <p:nvSpPr>
            <p:cNvPr id="11" name="椭圆 10"/>
            <p:cNvSpPr/>
            <p:nvPr/>
          </p:nvSpPr>
          <p:spPr>
            <a:xfrm>
              <a:off x="4202063" y="3431458"/>
              <a:ext cx="1317522" cy="13175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3947753" y="4970463"/>
              <a:ext cx="1826142" cy="584775"/>
            </a:xfrm>
            <a:prstGeom prst="rect">
              <a:avLst/>
            </a:prstGeom>
            <a:noFill/>
          </p:spPr>
          <p:txBody>
            <a:bodyPr wrap="none" rtlCol="0">
              <a:spAutoFit/>
              <a:scene3d>
                <a:camera prst="orthographicFront"/>
                <a:lightRig rig="threePt" dir="t"/>
              </a:scene3d>
              <a:sp3d extrusionH="12700"/>
            </a:bodyPr>
            <a:lstStyle/>
            <a:p>
              <a:pPr algn="ctr"/>
              <a:r>
                <a:rPr lang="zh-CN" altLang="en-US" sz="3200" dirty="0" smtClean="0">
                  <a:solidFill>
                    <a:schemeClr val="accent3">
                      <a:lumMod val="75000"/>
                    </a:schemeClr>
                  </a:solidFill>
                  <a:cs typeface="+mn-ea"/>
                  <a:sym typeface="+mn-lt"/>
                </a:rPr>
                <a:t>存储结构</a:t>
              </a:r>
              <a:endParaRPr lang="zh-CN" altLang="en-US" sz="3200" dirty="0">
                <a:solidFill>
                  <a:schemeClr val="accent3">
                    <a:lumMod val="75000"/>
                  </a:schemeClr>
                </a:solidFill>
                <a:cs typeface="+mn-ea"/>
                <a:sym typeface="+mn-lt"/>
              </a:endParaRPr>
            </a:p>
          </p:txBody>
        </p:sp>
        <p:sp>
          <p:nvSpPr>
            <p:cNvPr id="18" name="文本框 17"/>
            <p:cNvSpPr txBox="1"/>
            <p:nvPr/>
          </p:nvSpPr>
          <p:spPr>
            <a:xfrm>
              <a:off x="4512008" y="3767053"/>
              <a:ext cx="697628" cy="646331"/>
            </a:xfrm>
            <a:prstGeom prst="rect">
              <a:avLst/>
            </a:prstGeom>
            <a:noFill/>
          </p:spPr>
          <p:txBody>
            <a:bodyPr wrap="none" rtlCol="0">
              <a:spAutoFit/>
              <a:scene3d>
                <a:camera prst="orthographicFront"/>
                <a:lightRig rig="threePt" dir="t"/>
              </a:scene3d>
              <a:sp3d contourW="12700"/>
            </a:bodyPr>
            <a:lstStyle/>
            <a:p>
              <a:pPr algn="ctr"/>
              <a:r>
                <a:rPr lang="en-US" altLang="zh-CN" sz="3600" b="1" dirty="0">
                  <a:solidFill>
                    <a:schemeClr val="bg1"/>
                  </a:solidFill>
                  <a:effectLst>
                    <a:outerShdw blurRad="38100" dist="38100" dir="2700000" algn="tl">
                      <a:srgbClr val="000000">
                        <a:alpha val="43137"/>
                      </a:srgbClr>
                    </a:outerShdw>
                  </a:effectLst>
                  <a:cs typeface="+mn-ea"/>
                  <a:sym typeface="+mn-lt"/>
                </a:rPr>
                <a:t>02</a:t>
              </a:r>
              <a:endParaRPr lang="zh-CN" altLang="en-US" sz="3600" b="1" dirty="0">
                <a:solidFill>
                  <a:schemeClr val="bg1"/>
                </a:solidFill>
                <a:effectLst>
                  <a:outerShdw blurRad="38100" dist="38100" dir="2700000" algn="tl">
                    <a:srgbClr val="000000">
                      <a:alpha val="43137"/>
                    </a:srgbClr>
                  </a:outerShdw>
                </a:effectLst>
                <a:cs typeface="+mn-ea"/>
                <a:sym typeface="+mn-lt"/>
              </a:endParaRPr>
            </a:p>
          </p:txBody>
        </p:sp>
      </p:grpSp>
      <p:grpSp>
        <p:nvGrpSpPr>
          <p:cNvPr id="25" name="组合 24"/>
          <p:cNvGrpSpPr/>
          <p:nvPr/>
        </p:nvGrpSpPr>
        <p:grpSpPr>
          <a:xfrm>
            <a:off x="6063046" y="3431458"/>
            <a:ext cx="2646879" cy="2123780"/>
            <a:chOff x="6063046" y="3431458"/>
            <a:chExt cx="2646879" cy="2123780"/>
          </a:xfrm>
        </p:grpSpPr>
        <p:sp>
          <p:nvSpPr>
            <p:cNvPr id="12" name="椭圆 11"/>
            <p:cNvSpPr/>
            <p:nvPr/>
          </p:nvSpPr>
          <p:spPr>
            <a:xfrm>
              <a:off x="6727725" y="3431458"/>
              <a:ext cx="1317522" cy="13175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文本框 15"/>
            <p:cNvSpPr txBox="1"/>
            <p:nvPr/>
          </p:nvSpPr>
          <p:spPr>
            <a:xfrm>
              <a:off x="6063046" y="4970463"/>
              <a:ext cx="2646879" cy="584775"/>
            </a:xfrm>
            <a:prstGeom prst="rect">
              <a:avLst/>
            </a:prstGeom>
            <a:noFill/>
          </p:spPr>
          <p:txBody>
            <a:bodyPr wrap="none" rtlCol="0">
              <a:spAutoFit/>
              <a:scene3d>
                <a:camera prst="orthographicFront"/>
                <a:lightRig rig="threePt" dir="t"/>
              </a:scene3d>
              <a:sp3d extrusionH="12700"/>
            </a:bodyPr>
            <a:lstStyle/>
            <a:p>
              <a:pPr algn="ctr"/>
              <a:r>
                <a:rPr lang="zh-CN" altLang="en-US" sz="3200" dirty="0" smtClean="0">
                  <a:solidFill>
                    <a:schemeClr val="accent3">
                      <a:lumMod val="75000"/>
                    </a:schemeClr>
                  </a:solidFill>
                  <a:cs typeface="+mn-ea"/>
                  <a:sym typeface="+mn-lt"/>
                </a:rPr>
                <a:t>深度优先遍历</a:t>
              </a:r>
              <a:endParaRPr lang="zh-CN" altLang="en-US" sz="3200" dirty="0">
                <a:solidFill>
                  <a:schemeClr val="accent3">
                    <a:lumMod val="75000"/>
                  </a:schemeClr>
                </a:solidFill>
                <a:cs typeface="+mn-ea"/>
                <a:sym typeface="+mn-lt"/>
              </a:endParaRPr>
            </a:p>
          </p:txBody>
        </p:sp>
        <p:sp>
          <p:nvSpPr>
            <p:cNvPr id="20" name="文本框 19"/>
            <p:cNvSpPr txBox="1"/>
            <p:nvPr/>
          </p:nvSpPr>
          <p:spPr>
            <a:xfrm>
              <a:off x="7037668" y="3767053"/>
              <a:ext cx="697628" cy="646331"/>
            </a:xfrm>
            <a:prstGeom prst="rect">
              <a:avLst/>
            </a:prstGeom>
            <a:noFill/>
          </p:spPr>
          <p:txBody>
            <a:bodyPr wrap="none" rtlCol="0">
              <a:spAutoFit/>
              <a:scene3d>
                <a:camera prst="orthographicFront"/>
                <a:lightRig rig="threePt" dir="t"/>
              </a:scene3d>
              <a:sp3d contourW="12700"/>
            </a:bodyPr>
            <a:lstStyle/>
            <a:p>
              <a:pPr algn="ctr"/>
              <a:r>
                <a:rPr lang="en-US" altLang="zh-CN" sz="3600" b="1" dirty="0">
                  <a:solidFill>
                    <a:schemeClr val="bg1"/>
                  </a:solidFill>
                  <a:effectLst>
                    <a:outerShdw blurRad="38100" dist="38100" dir="2700000" algn="tl">
                      <a:srgbClr val="000000">
                        <a:alpha val="43137"/>
                      </a:srgbClr>
                    </a:outerShdw>
                  </a:effectLst>
                  <a:cs typeface="+mn-ea"/>
                  <a:sym typeface="+mn-lt"/>
                </a:rPr>
                <a:t>03</a:t>
              </a:r>
              <a:endParaRPr lang="zh-CN" altLang="en-US" sz="3600" b="1" dirty="0">
                <a:solidFill>
                  <a:schemeClr val="bg1"/>
                </a:solidFill>
                <a:effectLst>
                  <a:outerShdw blurRad="38100" dist="38100" dir="2700000" algn="tl">
                    <a:srgbClr val="000000">
                      <a:alpha val="43137"/>
                    </a:srgbClr>
                  </a:outerShdw>
                </a:effectLst>
                <a:cs typeface="+mn-ea"/>
                <a:sym typeface="+mn-lt"/>
              </a:endParaRPr>
            </a:p>
          </p:txBody>
        </p:sp>
      </p:grpSp>
      <p:grpSp>
        <p:nvGrpSpPr>
          <p:cNvPr id="26" name="组合 25"/>
          <p:cNvGrpSpPr/>
          <p:nvPr/>
        </p:nvGrpSpPr>
        <p:grpSpPr>
          <a:xfrm>
            <a:off x="8533399" y="2143433"/>
            <a:ext cx="2646879" cy="2230705"/>
            <a:chOff x="8533399" y="2143433"/>
            <a:chExt cx="2646879" cy="2230705"/>
          </a:xfrm>
        </p:grpSpPr>
        <p:sp>
          <p:nvSpPr>
            <p:cNvPr id="9" name="椭圆 8"/>
            <p:cNvSpPr/>
            <p:nvPr/>
          </p:nvSpPr>
          <p:spPr>
            <a:xfrm>
              <a:off x="9198078" y="2143433"/>
              <a:ext cx="1317522" cy="13175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p:cNvSpPr txBox="1"/>
            <p:nvPr/>
          </p:nvSpPr>
          <p:spPr>
            <a:xfrm>
              <a:off x="8533399" y="3789363"/>
              <a:ext cx="2646879" cy="584775"/>
            </a:xfrm>
            <a:prstGeom prst="rect">
              <a:avLst/>
            </a:prstGeom>
            <a:noFill/>
          </p:spPr>
          <p:txBody>
            <a:bodyPr wrap="none" rtlCol="0">
              <a:spAutoFit/>
              <a:scene3d>
                <a:camera prst="orthographicFront"/>
                <a:lightRig rig="threePt" dir="t"/>
              </a:scene3d>
              <a:sp3d extrusionH="12700"/>
            </a:bodyPr>
            <a:lstStyle/>
            <a:p>
              <a:pPr algn="ctr"/>
              <a:r>
                <a:rPr lang="zh-CN" altLang="en-US" sz="3200" dirty="0" smtClean="0">
                  <a:solidFill>
                    <a:schemeClr val="accent3">
                      <a:lumMod val="75000"/>
                    </a:schemeClr>
                  </a:solidFill>
                  <a:cs typeface="+mn-ea"/>
                  <a:sym typeface="+mn-lt"/>
                </a:rPr>
                <a:t>广度优先遍历</a:t>
              </a:r>
              <a:endParaRPr lang="zh-CN" altLang="en-US" sz="3200" dirty="0">
                <a:solidFill>
                  <a:schemeClr val="accent3">
                    <a:lumMod val="75000"/>
                  </a:schemeClr>
                </a:solidFill>
                <a:cs typeface="+mn-ea"/>
                <a:sym typeface="+mn-lt"/>
              </a:endParaRPr>
            </a:p>
          </p:txBody>
        </p:sp>
        <p:sp>
          <p:nvSpPr>
            <p:cNvPr id="21" name="文本框 20"/>
            <p:cNvSpPr txBox="1"/>
            <p:nvPr/>
          </p:nvSpPr>
          <p:spPr>
            <a:xfrm>
              <a:off x="9508023" y="2509806"/>
              <a:ext cx="697628" cy="646331"/>
            </a:xfrm>
            <a:prstGeom prst="rect">
              <a:avLst/>
            </a:prstGeom>
            <a:noFill/>
          </p:spPr>
          <p:txBody>
            <a:bodyPr wrap="none" rtlCol="0">
              <a:spAutoFit/>
              <a:scene3d>
                <a:camera prst="orthographicFront"/>
                <a:lightRig rig="threePt" dir="t"/>
              </a:scene3d>
              <a:sp3d contourW="12700"/>
            </a:bodyPr>
            <a:lstStyle/>
            <a:p>
              <a:pPr algn="ctr"/>
              <a:r>
                <a:rPr lang="en-US" altLang="zh-CN" sz="3600" b="1" dirty="0">
                  <a:solidFill>
                    <a:schemeClr val="bg1"/>
                  </a:solidFill>
                  <a:effectLst>
                    <a:outerShdw blurRad="38100" dist="38100" dir="2700000" algn="tl">
                      <a:srgbClr val="000000">
                        <a:alpha val="43137"/>
                      </a:srgbClr>
                    </a:outerShdw>
                  </a:effectLst>
                  <a:cs typeface="+mn-ea"/>
                  <a:sym typeface="+mn-lt"/>
                </a:rPr>
                <a:t>04</a:t>
              </a:r>
              <a:endParaRPr lang="zh-CN" altLang="en-US" sz="3600" b="1" dirty="0">
                <a:solidFill>
                  <a:schemeClr val="bg1"/>
                </a:solidFill>
                <a:effectLst>
                  <a:outerShdw blurRad="38100" dist="38100" dir="2700000" algn="tl">
                    <a:srgbClr val="000000">
                      <a:alpha val="43137"/>
                    </a:srgbClr>
                  </a:outerShdw>
                </a:effectLst>
                <a:cs typeface="+mn-ea"/>
                <a:sym typeface="+mn-lt"/>
              </a:endParaRPr>
            </a:p>
          </p:txBody>
        </p:sp>
      </p:grpSp>
      <p:sp>
        <p:nvSpPr>
          <p:cNvPr id="22" name="文本框 21"/>
          <p:cNvSpPr txBox="1"/>
          <p:nvPr/>
        </p:nvSpPr>
        <p:spPr>
          <a:xfrm>
            <a:off x="4310896" y="765859"/>
            <a:ext cx="3570208" cy="830997"/>
          </a:xfrm>
          <a:prstGeom prst="rect">
            <a:avLst/>
          </a:prstGeom>
          <a:noFill/>
        </p:spPr>
        <p:txBody>
          <a:bodyPr wrap="none" rtlCol="0">
            <a:spAutoFit/>
            <a:scene3d>
              <a:camera prst="orthographicFront"/>
              <a:lightRig rig="threePt" dir="t"/>
            </a:scene3d>
            <a:sp3d contourW="12700"/>
          </a:bodyPr>
          <a:lstStyle/>
          <a:p>
            <a:pPr algn="ctr"/>
            <a:r>
              <a:rPr lang="en-US" altLang="zh-CN" sz="4800" b="1" dirty="0">
                <a:solidFill>
                  <a:schemeClr val="bg1"/>
                </a:solidFill>
                <a:effectLst>
                  <a:outerShdw blurRad="38100" dist="38100" dir="2700000" algn="tl">
                    <a:srgbClr val="000000">
                      <a:alpha val="43137"/>
                    </a:srgbClr>
                  </a:outerShdw>
                </a:effectLst>
                <a:cs typeface="+mn-ea"/>
                <a:sym typeface="+mn-lt"/>
              </a:rPr>
              <a:t>CONTENTS</a:t>
            </a:r>
            <a:endParaRPr lang="zh-CN" altLang="en-US" sz="4800" b="1" dirty="0">
              <a:solidFill>
                <a:schemeClr val="bg1"/>
              </a:solidFill>
              <a:effectLst>
                <a:outerShdw blurRad="38100" dist="38100" dir="2700000" algn="tl">
                  <a:srgbClr val="000000">
                    <a:alpha val="43137"/>
                  </a:srgbClr>
                </a:outerShdw>
              </a:effectLst>
              <a:cs typeface="+mn-ea"/>
              <a:sym typeface="+mn-lt"/>
            </a:endParaRPr>
          </a:p>
        </p:txBody>
      </p:sp>
    </p:spTree>
    <p:extLst>
      <p:ext uri="{BB962C8B-B14F-4D97-AF65-F5344CB8AC3E}">
        <p14:creationId xmlns:p14="http://schemas.microsoft.com/office/powerpoint/2010/main" val="406187813"/>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par>
                          <p:cTn id="14" fill="hold">
                            <p:stCondLst>
                              <p:cond delay="1500"/>
                            </p:stCondLst>
                            <p:childTnLst>
                              <p:par>
                                <p:cTn id="15" presetID="2" presetClass="entr" presetSubtype="4"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25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50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75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fill="hold"/>
                                        <p:tgtEl>
                                          <p:spTgt spid="26"/>
                                        </p:tgtEl>
                                        <p:attrNameLst>
                                          <p:attrName>ppt_x</p:attrName>
                                        </p:attrNameLst>
                                      </p:cBhvr>
                                      <p:tavLst>
                                        <p:tav tm="0">
                                          <p:val>
                                            <p:strVal val="#ppt_x"/>
                                          </p:val>
                                        </p:tav>
                                        <p:tav tm="100000">
                                          <p:val>
                                            <p:strVal val="#ppt_x"/>
                                          </p:val>
                                        </p:tav>
                                      </p:tavLst>
                                    </p:anim>
                                    <p:anim calcmode="lin" valueType="num">
                                      <p:cBhvr additive="base">
                                        <p:cTn id="30" dur="500" fill="hold"/>
                                        <p:tgtEl>
                                          <p:spTgt spid="26"/>
                                        </p:tgtEl>
                                        <p:attrNameLst>
                                          <p:attrName>ppt_y</p:attrName>
                                        </p:attrNameLst>
                                      </p:cBhvr>
                                      <p:tavLst>
                                        <p:tav tm="0">
                                          <p:val>
                                            <p:strVal val="1+#ppt_h/2"/>
                                          </p:val>
                                        </p:tav>
                                        <p:tav tm="100000">
                                          <p:val>
                                            <p:strVal val="#ppt_y"/>
                                          </p:val>
                                        </p:tav>
                                      </p:tavLst>
                                    </p:anim>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10" name="组合 9"/>
          <p:cNvGrpSpPr/>
          <p:nvPr/>
        </p:nvGrpSpPr>
        <p:grpSpPr>
          <a:xfrm>
            <a:off x="2292553" y="2016125"/>
            <a:ext cx="2514600" cy="2514600"/>
            <a:chOff x="4838700" y="1089025"/>
            <a:chExt cx="2514600" cy="2514600"/>
          </a:xfrm>
          <a:effectLst>
            <a:outerShdw blurRad="279400" sx="102000" sy="102000" algn="ctr" rotWithShape="0">
              <a:prstClr val="black">
                <a:alpha val="40000"/>
              </a:prstClr>
            </a:outerShdw>
          </a:effectLst>
        </p:grpSpPr>
        <p:sp>
          <p:nvSpPr>
            <p:cNvPr id="9" name="椭圆 8"/>
            <p:cNvSpPr/>
            <p:nvPr/>
          </p:nvSpPr>
          <p:spPr>
            <a:xfrm>
              <a:off x="4838700" y="1089025"/>
              <a:ext cx="2514600" cy="2514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5067300" y="1317625"/>
              <a:ext cx="2057400" cy="2057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p:cNvSpPr txBox="1"/>
          <p:nvPr/>
        </p:nvSpPr>
        <p:spPr>
          <a:xfrm>
            <a:off x="3029520" y="2765593"/>
            <a:ext cx="1040670" cy="1015663"/>
          </a:xfrm>
          <a:prstGeom prst="rect">
            <a:avLst/>
          </a:prstGeom>
          <a:noFill/>
        </p:spPr>
        <p:txBody>
          <a:bodyPr wrap="none" rtlCol="0">
            <a:spAutoFit/>
          </a:bodyPr>
          <a:lstStyle/>
          <a:p>
            <a:pPr algn="ctr"/>
            <a:r>
              <a:rPr lang="en-US" altLang="zh-CN" sz="6000" b="1" dirty="0">
                <a:solidFill>
                  <a:schemeClr val="accent3"/>
                </a:solidFill>
                <a:cs typeface="+mn-ea"/>
                <a:sym typeface="+mn-lt"/>
              </a:rPr>
              <a:t>01</a:t>
            </a:r>
            <a:endParaRPr lang="zh-CN" altLang="en-US" sz="6000" b="1" dirty="0">
              <a:solidFill>
                <a:schemeClr val="accent3"/>
              </a:solidFill>
              <a:cs typeface="+mn-ea"/>
              <a:sym typeface="+mn-lt"/>
            </a:endParaRPr>
          </a:p>
        </p:txBody>
      </p:sp>
      <p:sp>
        <p:nvSpPr>
          <p:cNvPr id="12" name="文本框 11"/>
          <p:cNvSpPr txBox="1"/>
          <p:nvPr/>
        </p:nvSpPr>
        <p:spPr>
          <a:xfrm>
            <a:off x="5998174" y="2533875"/>
            <a:ext cx="2236511" cy="707886"/>
          </a:xfrm>
          <a:prstGeom prst="rect">
            <a:avLst/>
          </a:prstGeom>
          <a:noFill/>
        </p:spPr>
        <p:txBody>
          <a:bodyPr wrap="none" rtlCol="0">
            <a:spAutoFit/>
            <a:scene3d>
              <a:camera prst="orthographicFront"/>
              <a:lightRig rig="threePt" dir="t"/>
            </a:scene3d>
            <a:sp3d extrusionH="12700"/>
          </a:bodyPr>
          <a:lstStyle/>
          <a:p>
            <a:pPr algn="ctr"/>
            <a:r>
              <a:rPr lang="zh-CN" altLang="en-US" sz="4000" dirty="0" smtClean="0">
                <a:solidFill>
                  <a:schemeClr val="bg1"/>
                </a:solidFill>
                <a:effectLst>
                  <a:outerShdw blurRad="203200" dist="38100" dir="5400000" algn="t" rotWithShape="0">
                    <a:prstClr val="black">
                      <a:alpha val="83000"/>
                    </a:prstClr>
                  </a:outerShdw>
                </a:effectLst>
                <a:cs typeface="+mn-ea"/>
                <a:sym typeface="+mn-lt"/>
              </a:rPr>
              <a:t>基本概念</a:t>
            </a:r>
            <a:endParaRPr lang="zh-CN" altLang="en-US" sz="4000" dirty="0">
              <a:solidFill>
                <a:schemeClr val="bg1"/>
              </a:solidFill>
              <a:effectLst>
                <a:outerShdw blurRad="203200" dist="38100" dir="5400000" algn="t" rotWithShape="0">
                  <a:prstClr val="black">
                    <a:alpha val="83000"/>
                  </a:prstClr>
                </a:outerShdw>
              </a:effectLst>
              <a:cs typeface="+mn-ea"/>
              <a:sym typeface="+mn-lt"/>
            </a:endParaRPr>
          </a:p>
        </p:txBody>
      </p:sp>
      <p:sp>
        <p:nvSpPr>
          <p:cNvPr id="13" name="矩形 12"/>
          <p:cNvSpPr/>
          <p:nvPr/>
        </p:nvSpPr>
        <p:spPr>
          <a:xfrm>
            <a:off x="5023420" y="3254461"/>
            <a:ext cx="4626465" cy="535531"/>
          </a:xfrm>
          <a:prstGeom prst="rect">
            <a:avLst/>
          </a:prstGeom>
          <a:noFill/>
        </p:spPr>
        <p:txBody>
          <a:bodyPr wrap="square" rtlCol="0">
            <a:spAutoFit/>
            <a:scene3d>
              <a:camera prst="orthographicFront"/>
              <a:lightRig rig="threePt" dir="t"/>
            </a:scene3d>
            <a:sp3d extrusionH="12700"/>
          </a:bodyPr>
          <a:lstStyle/>
          <a:p>
            <a:pPr>
              <a:lnSpc>
                <a:spcPct val="120000"/>
              </a:lnSpc>
            </a:pPr>
            <a:r>
              <a:rPr lang="zh-CN" altLang="en-US" sz="1200" dirty="0" smtClean="0">
                <a:solidFill>
                  <a:schemeClr val="bg1"/>
                </a:solidFill>
                <a:effectLst>
                  <a:outerShdw blurRad="203200" dist="38100" dir="5400000" algn="t" rotWithShape="0">
                    <a:prstClr val="black">
                      <a:alpha val="83000"/>
                    </a:prstClr>
                  </a:outerShdw>
                </a:effectLst>
                <a:cs typeface="+mn-ea"/>
                <a:sym typeface="+mn-lt"/>
              </a:rPr>
              <a:t>图</a:t>
            </a:r>
            <a:r>
              <a:rPr lang="en-US" altLang="zh-CN" sz="1200" dirty="0" smtClean="0">
                <a:solidFill>
                  <a:schemeClr val="bg1"/>
                </a:solidFill>
                <a:effectLst>
                  <a:outerShdw blurRad="203200" dist="38100" dir="5400000" algn="t" rotWithShape="0">
                    <a:prstClr val="black">
                      <a:alpha val="83000"/>
                    </a:prstClr>
                  </a:outerShdw>
                </a:effectLst>
                <a:cs typeface="+mn-ea"/>
                <a:sym typeface="+mn-lt"/>
              </a:rPr>
              <a:t>(Graph)</a:t>
            </a:r>
            <a:r>
              <a:rPr lang="zh-CN" altLang="en-US" sz="1200" dirty="0" smtClean="0">
                <a:solidFill>
                  <a:schemeClr val="bg1"/>
                </a:solidFill>
                <a:effectLst>
                  <a:outerShdw blurRad="203200" dist="38100" dir="5400000" algn="t" rotWithShape="0">
                    <a:prstClr val="black">
                      <a:alpha val="83000"/>
                    </a:prstClr>
                  </a:outerShdw>
                </a:effectLst>
                <a:cs typeface="+mn-ea"/>
                <a:sym typeface="+mn-lt"/>
              </a:rPr>
              <a:t>是表示物件与物件之间关系的数学对象，是</a:t>
            </a:r>
            <a:r>
              <a:rPr lang="zh-CN" altLang="en-US" sz="1200" dirty="0" smtClean="0">
                <a:effectLst>
                  <a:outerShdw blurRad="203200" dist="38100" dir="5400000" algn="t" rotWithShape="0">
                    <a:prstClr val="black">
                      <a:alpha val="83000"/>
                    </a:prstClr>
                  </a:outerShdw>
                </a:effectLst>
                <a:cs typeface="+mn-ea"/>
                <a:sym typeface="+mn-lt"/>
              </a:rPr>
              <a:t>图论</a:t>
            </a:r>
            <a:r>
              <a:rPr lang="zh-CN" altLang="en-US" sz="1200" dirty="0" smtClean="0">
                <a:solidFill>
                  <a:schemeClr val="bg1"/>
                </a:solidFill>
                <a:effectLst>
                  <a:outerShdw blurRad="203200" dist="38100" dir="5400000" algn="t" rotWithShape="0">
                    <a:prstClr val="black">
                      <a:alpha val="83000"/>
                    </a:prstClr>
                  </a:outerShdw>
                </a:effectLst>
                <a:cs typeface="+mn-ea"/>
                <a:sym typeface="+mn-lt"/>
              </a:rPr>
              <a:t>的基本研究对象。</a:t>
            </a:r>
            <a:endParaRPr lang="zh-CN" altLang="en-US" sz="1200" dirty="0">
              <a:solidFill>
                <a:schemeClr val="bg1"/>
              </a:solidFill>
              <a:effectLst>
                <a:outerShdw blurRad="203200" dist="38100" dir="5400000" algn="t" rotWithShape="0">
                  <a:prstClr val="black">
                    <a:alpha val="83000"/>
                  </a:prstClr>
                </a:outerShdw>
              </a:effectLst>
              <a:cs typeface="+mn-ea"/>
              <a:sym typeface="+mn-lt"/>
            </a:endParaRPr>
          </a:p>
        </p:txBody>
      </p:sp>
    </p:spTree>
    <p:extLst>
      <p:ext uri="{BB962C8B-B14F-4D97-AF65-F5344CB8AC3E}">
        <p14:creationId xmlns:p14="http://schemas.microsoft.com/office/powerpoint/2010/main" val="202862406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32" name="图片 3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33" name="文本框 32"/>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34" name="矩形 3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Basic Concepts</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35" name="直接连接符 34"/>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0" name="图片占位符 29"/>
          <p:cNvPicPr>
            <a:picLocks noGrp="1" noChangeAspect="1"/>
          </p:cNvPicPr>
          <p:nvPr>
            <p:ph type="pic" sz="quarter" idx="10"/>
          </p:nvPr>
        </p:nvPicPr>
        <p:blipFill>
          <a:blip r:embed="rId5" cstate="email">
            <a:extLst>
              <a:ext uri="{28A0092B-C50C-407E-A947-70E740481C1C}">
                <a14:useLocalDpi xmlns:a14="http://schemas.microsoft.com/office/drawing/2010/main"/>
              </a:ext>
            </a:extLst>
          </a:blip>
          <a:srcRect/>
          <a:stretch>
            <a:fillRect/>
          </a:stretch>
        </p:blipFill>
        <p:spPr>
          <a:xfrm>
            <a:off x="0" y="1592263"/>
            <a:ext cx="12192000" cy="4524375"/>
          </a:xfrm>
        </p:spPr>
      </p:pic>
      <p:sp>
        <p:nvSpPr>
          <p:cNvPr id="5" name="Rectangle 2"/>
          <p:cNvSpPr/>
          <p:nvPr/>
        </p:nvSpPr>
        <p:spPr>
          <a:xfrm>
            <a:off x="6888088" y="1592801"/>
            <a:ext cx="5303912" cy="4523843"/>
          </a:xfrm>
          <a:prstGeom prst="rect">
            <a:avLst/>
          </a:prstGeom>
          <a:solidFill>
            <a:schemeClr val="accent3">
              <a:alpha val="6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36" name="组合 35"/>
          <p:cNvGrpSpPr/>
          <p:nvPr/>
        </p:nvGrpSpPr>
        <p:grpSpPr>
          <a:xfrm>
            <a:off x="7248131" y="4769457"/>
            <a:ext cx="4293988" cy="609398"/>
            <a:chOff x="7248131" y="1915161"/>
            <a:chExt cx="4293988" cy="609398"/>
          </a:xfrm>
        </p:grpSpPr>
        <p:sp>
          <p:nvSpPr>
            <p:cNvPr id="6" name="Oval 4"/>
            <p:cNvSpPr/>
            <p:nvPr/>
          </p:nvSpPr>
          <p:spPr>
            <a:xfrm>
              <a:off x="7248131" y="1916835"/>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7" name="Freeform: Shape 5"/>
            <p:cNvSpPr>
              <a:spLocks/>
            </p:cNvSpPr>
            <p:nvPr/>
          </p:nvSpPr>
          <p:spPr bwMode="auto">
            <a:xfrm>
              <a:off x="7423748" y="2078674"/>
              <a:ext cx="256488" cy="284045"/>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24" name="矩形 23"/>
            <p:cNvSpPr/>
            <p:nvPr/>
          </p:nvSpPr>
          <p:spPr>
            <a:xfrm>
              <a:off x="8031472" y="1915161"/>
              <a:ext cx="3510647"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rgbClr val="92D050"/>
                  </a:solidFill>
                  <a:cs typeface="+mn-ea"/>
                  <a:sym typeface="+mn-lt"/>
                </a:rPr>
                <a:t>点</a:t>
              </a:r>
              <a:r>
                <a:rPr lang="en-US" altLang="zh-CN" b="1" dirty="0">
                  <a:solidFill>
                    <a:srgbClr val="92D050"/>
                  </a:solidFill>
                  <a:cs typeface="+mn-ea"/>
                  <a:sym typeface="+mn-lt"/>
                </a:rPr>
                <a:t>(</a:t>
              </a:r>
              <a:r>
                <a:rPr lang="en-US" altLang="zh-CN" b="1" dirty="0" smtClean="0">
                  <a:solidFill>
                    <a:srgbClr val="92D050"/>
                  </a:solidFill>
                  <a:cs typeface="+mn-ea"/>
                  <a:sym typeface="+mn-lt"/>
                </a:rPr>
                <a:t>Vertex/Node)</a:t>
              </a:r>
              <a:endParaRPr lang="en-US" altLang="zh-CN" b="1" dirty="0">
                <a:solidFill>
                  <a:srgbClr val="92D050"/>
                </a:solidFill>
                <a:cs typeface="+mn-ea"/>
                <a:sym typeface="+mn-lt"/>
              </a:endParaRPr>
            </a:p>
          </p:txBody>
        </p:sp>
      </p:grpSp>
      <p:grpSp>
        <p:nvGrpSpPr>
          <p:cNvPr id="38" name="组合 37"/>
          <p:cNvGrpSpPr/>
          <p:nvPr/>
        </p:nvGrpSpPr>
        <p:grpSpPr>
          <a:xfrm>
            <a:off x="7248131" y="1980384"/>
            <a:ext cx="4293988" cy="2603790"/>
            <a:chOff x="7248131" y="4027393"/>
            <a:chExt cx="4293988" cy="2603790"/>
          </a:xfrm>
        </p:grpSpPr>
        <p:sp>
          <p:nvSpPr>
            <p:cNvPr id="1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27" name="矩形 26"/>
            <p:cNvSpPr/>
            <p:nvPr/>
          </p:nvSpPr>
          <p:spPr>
            <a:xfrm>
              <a:off x="8031472" y="4027393"/>
              <a:ext cx="3510647" cy="260379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smtClean="0">
                  <a:solidFill>
                    <a:srgbClr val="002060"/>
                  </a:solidFill>
                  <a:cs typeface="+mn-ea"/>
                  <a:sym typeface="+mn-lt"/>
                </a:rPr>
                <a:t>什么是图</a:t>
              </a:r>
              <a:r>
                <a:rPr lang="en-US" altLang="zh-CN" sz="2400" b="1" dirty="0" smtClean="0">
                  <a:solidFill>
                    <a:srgbClr val="002060"/>
                  </a:solidFill>
                  <a:cs typeface="+mn-ea"/>
                  <a:sym typeface="+mn-lt"/>
                </a:rPr>
                <a:t>(Graph)</a:t>
              </a:r>
              <a:r>
                <a:rPr lang="zh-CN" altLang="en-US" sz="2400" b="1" dirty="0" smtClean="0">
                  <a:solidFill>
                    <a:srgbClr val="002060"/>
                  </a:solidFill>
                  <a:cs typeface="+mn-ea"/>
                  <a:sym typeface="+mn-lt"/>
                </a:rPr>
                <a:t>？</a:t>
              </a:r>
              <a:endParaRPr lang="en-US" altLang="zh-CN" sz="2400" b="1" dirty="0" smtClean="0">
                <a:solidFill>
                  <a:srgbClr val="002060"/>
                </a:solidFill>
                <a:cs typeface="+mn-ea"/>
                <a:sym typeface="+mn-lt"/>
              </a:endParaRPr>
            </a:p>
            <a:p>
              <a:pPr algn="just">
                <a:lnSpc>
                  <a:spcPct val="120000"/>
                </a:lnSpc>
              </a:pPr>
              <a:endParaRPr lang="en-US" altLang="zh-CN" sz="1400" dirty="0">
                <a:solidFill>
                  <a:schemeClr val="bg1"/>
                </a:solidFill>
                <a:cs typeface="+mn-ea"/>
                <a:sym typeface="+mn-lt"/>
              </a:endParaRPr>
            </a:p>
            <a:p>
              <a:pPr algn="just">
                <a:lnSpc>
                  <a:spcPct val="120000"/>
                </a:lnSpc>
              </a:pPr>
              <a:r>
                <a:rPr lang="zh-CN" altLang="zh-CN" sz="1400" dirty="0" smtClean="0">
                  <a:solidFill>
                    <a:schemeClr val="bg1"/>
                  </a:solidFill>
                  <a:cs typeface="+mn-ea"/>
                </a:rPr>
                <a:t>很</a:t>
              </a:r>
              <a:r>
                <a:rPr lang="zh-CN" altLang="zh-CN" sz="1400" dirty="0">
                  <a:solidFill>
                    <a:schemeClr val="bg1"/>
                  </a:solidFill>
                  <a:cs typeface="+mn-ea"/>
                </a:rPr>
                <a:t>简单，点用边连起来就叫做图，严格意义上讲，图是一种数据结构，定义为：</a:t>
              </a:r>
              <a:r>
                <a:rPr lang="en-US" altLang="zh-CN" sz="1400" dirty="0">
                  <a:solidFill>
                    <a:schemeClr val="bg1"/>
                  </a:solidFill>
                  <a:cs typeface="+mn-ea"/>
                </a:rPr>
                <a:t>graph</a:t>
              </a:r>
              <a:r>
                <a:rPr lang="en-US" altLang="zh-CN" sz="1400" dirty="0" smtClean="0">
                  <a:solidFill>
                    <a:schemeClr val="bg1"/>
                  </a:solidFill>
                  <a:cs typeface="+mn-ea"/>
                </a:rPr>
                <a:t>=</a:t>
              </a:r>
              <a:r>
                <a:rPr lang="zh-CN" altLang="zh-CN" sz="1400" dirty="0" smtClean="0">
                  <a:solidFill>
                    <a:schemeClr val="bg1"/>
                  </a:solidFill>
                  <a:cs typeface="+mn-ea"/>
                </a:rPr>
                <a:t>（</a:t>
              </a:r>
              <a:r>
                <a:rPr lang="en-US" altLang="zh-CN" sz="1400" dirty="0" smtClean="0">
                  <a:solidFill>
                    <a:schemeClr val="bg1"/>
                  </a:solidFill>
                  <a:cs typeface="+mn-ea"/>
                </a:rPr>
                <a:t>V,E</a:t>
              </a:r>
              <a:r>
                <a:rPr lang="zh-CN" altLang="zh-CN" sz="1400" dirty="0" smtClean="0">
                  <a:solidFill>
                    <a:schemeClr val="bg1"/>
                  </a:solidFill>
                  <a:cs typeface="+mn-ea"/>
                </a:rPr>
                <a:t>）。</a:t>
              </a:r>
              <a:endParaRPr lang="en-US" altLang="zh-CN" sz="1400" dirty="0" smtClean="0">
                <a:solidFill>
                  <a:schemeClr val="bg1"/>
                </a:solidFill>
                <a:cs typeface="+mn-ea"/>
              </a:endParaRPr>
            </a:p>
            <a:p>
              <a:pPr algn="just">
                <a:lnSpc>
                  <a:spcPct val="120000"/>
                </a:lnSpc>
              </a:pPr>
              <a:r>
                <a:rPr lang="en-US" altLang="zh-CN" sz="1400" dirty="0" smtClean="0">
                  <a:solidFill>
                    <a:schemeClr val="bg1"/>
                  </a:solidFill>
                  <a:cs typeface="+mn-ea"/>
                </a:rPr>
                <a:t>V</a:t>
              </a:r>
              <a:r>
                <a:rPr lang="zh-CN" altLang="zh-CN" sz="1400" dirty="0">
                  <a:solidFill>
                    <a:schemeClr val="bg1"/>
                  </a:solidFill>
                  <a:cs typeface="+mn-ea"/>
                </a:rPr>
                <a:t>是一个非空有限集合，代表</a:t>
              </a:r>
              <a:r>
                <a:rPr lang="zh-CN" altLang="zh-CN" sz="1400" dirty="0" smtClean="0">
                  <a:solidFill>
                    <a:schemeClr val="bg1"/>
                  </a:solidFill>
                  <a:cs typeface="+mn-ea"/>
                </a:rPr>
                <a:t>顶点（结点），</a:t>
              </a:r>
              <a:r>
                <a:rPr lang="en-US" altLang="zh-CN" sz="1400" dirty="0">
                  <a:solidFill>
                    <a:schemeClr val="bg1"/>
                  </a:solidFill>
                  <a:cs typeface="+mn-ea"/>
                </a:rPr>
                <a:t>E</a:t>
              </a:r>
              <a:r>
                <a:rPr lang="zh-CN" altLang="zh-CN" sz="1400" dirty="0">
                  <a:solidFill>
                    <a:schemeClr val="bg1"/>
                  </a:solidFill>
                  <a:cs typeface="+mn-ea"/>
                </a:rPr>
                <a:t>代表边的集合。</a:t>
              </a:r>
              <a:endParaRPr lang="zh-CN" altLang="en-US" sz="1400" dirty="0">
                <a:solidFill>
                  <a:schemeClr val="bg1"/>
                </a:solidFill>
                <a:cs typeface="+mn-ea"/>
              </a:endParaRPr>
            </a:p>
            <a:p>
              <a:pPr algn="just">
                <a:lnSpc>
                  <a:spcPct val="120000"/>
                </a:lnSpc>
              </a:pPr>
              <a:endParaRPr lang="en-US" altLang="zh-CN" sz="1400" dirty="0">
                <a:solidFill>
                  <a:schemeClr val="bg1"/>
                </a:solidFill>
                <a:cs typeface="+mn-ea"/>
                <a:sym typeface="+mn-lt"/>
              </a:endParaRPr>
            </a:p>
            <a:p>
              <a:pPr algn="just">
                <a:lnSpc>
                  <a:spcPct val="120000"/>
                </a:lnSpc>
              </a:pPr>
              <a:endParaRPr lang="zh-CN" altLang="en-US" sz="1400" dirty="0">
                <a:solidFill>
                  <a:schemeClr val="bg1"/>
                </a:solidFill>
                <a:cs typeface="+mn-ea"/>
                <a:sym typeface="+mn-lt"/>
              </a:endParaRPr>
            </a:p>
          </p:txBody>
        </p:sp>
      </p:grpSp>
      <p:pic>
        <p:nvPicPr>
          <p:cNvPr id="15" name="图片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675" y="1592800"/>
            <a:ext cx="5047994" cy="4523843"/>
          </a:xfrm>
          <a:prstGeom prst="rect">
            <a:avLst/>
          </a:prstGeom>
        </p:spPr>
      </p:pic>
      <p:grpSp>
        <p:nvGrpSpPr>
          <p:cNvPr id="40" name="组合 39"/>
          <p:cNvGrpSpPr/>
          <p:nvPr/>
        </p:nvGrpSpPr>
        <p:grpSpPr>
          <a:xfrm>
            <a:off x="7248131" y="4769457"/>
            <a:ext cx="4293988" cy="609398"/>
            <a:chOff x="7248131" y="1915161"/>
            <a:chExt cx="4293988" cy="609398"/>
          </a:xfrm>
        </p:grpSpPr>
        <p:sp>
          <p:nvSpPr>
            <p:cNvPr id="41" name="Oval 4"/>
            <p:cNvSpPr/>
            <p:nvPr/>
          </p:nvSpPr>
          <p:spPr>
            <a:xfrm>
              <a:off x="7248131" y="1916835"/>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42" name="Freeform: Shape 5"/>
            <p:cNvSpPr>
              <a:spLocks/>
            </p:cNvSpPr>
            <p:nvPr/>
          </p:nvSpPr>
          <p:spPr bwMode="auto">
            <a:xfrm>
              <a:off x="7423748" y="2078674"/>
              <a:ext cx="256488" cy="284045"/>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43" name="矩形 42"/>
            <p:cNvSpPr/>
            <p:nvPr/>
          </p:nvSpPr>
          <p:spPr>
            <a:xfrm>
              <a:off x="8031472" y="1915161"/>
              <a:ext cx="3510647"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rgbClr val="92D050"/>
                  </a:solidFill>
                  <a:cs typeface="+mn-ea"/>
                  <a:sym typeface="+mn-lt"/>
                </a:rPr>
                <a:t>边</a:t>
              </a:r>
              <a:r>
                <a:rPr lang="en-US" altLang="zh-CN" b="1" dirty="0" smtClean="0">
                  <a:solidFill>
                    <a:srgbClr val="92D050"/>
                  </a:solidFill>
                  <a:cs typeface="+mn-ea"/>
                  <a:sym typeface="+mn-lt"/>
                </a:rPr>
                <a:t>(Edge)</a:t>
              </a:r>
              <a:endParaRPr lang="en-US" altLang="zh-CN" b="1" dirty="0">
                <a:solidFill>
                  <a:srgbClr val="92D050"/>
                </a:solidFill>
                <a:cs typeface="+mn-ea"/>
                <a:sym typeface="+mn-lt"/>
              </a:endParaRPr>
            </a:p>
          </p:txBody>
        </p:sp>
      </p:grpSp>
      <p:grpSp>
        <p:nvGrpSpPr>
          <p:cNvPr id="48" name="组合 47"/>
          <p:cNvGrpSpPr/>
          <p:nvPr/>
        </p:nvGrpSpPr>
        <p:grpSpPr>
          <a:xfrm>
            <a:off x="7248131" y="4782345"/>
            <a:ext cx="4293988" cy="1200329"/>
            <a:chOff x="7248131" y="1915161"/>
            <a:chExt cx="4293988" cy="1200329"/>
          </a:xfrm>
        </p:grpSpPr>
        <p:sp>
          <p:nvSpPr>
            <p:cNvPr id="49" name="Oval 4"/>
            <p:cNvSpPr/>
            <p:nvPr/>
          </p:nvSpPr>
          <p:spPr>
            <a:xfrm>
              <a:off x="7248131" y="1916835"/>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50" name="Freeform: Shape 5"/>
            <p:cNvSpPr>
              <a:spLocks/>
            </p:cNvSpPr>
            <p:nvPr/>
          </p:nvSpPr>
          <p:spPr bwMode="auto">
            <a:xfrm>
              <a:off x="7423748" y="2078674"/>
              <a:ext cx="256488" cy="284045"/>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51" name="矩形 50"/>
            <p:cNvSpPr/>
            <p:nvPr/>
          </p:nvSpPr>
          <p:spPr>
            <a:xfrm>
              <a:off x="8031472" y="1915161"/>
              <a:ext cx="3510647" cy="120032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rgbClr val="92D050"/>
                  </a:solidFill>
                  <a:cs typeface="+mn-ea"/>
                  <a:sym typeface="+mn-lt"/>
                </a:rPr>
                <a:t>子图</a:t>
              </a:r>
              <a:r>
                <a:rPr lang="en-US" altLang="zh-CN" b="1" dirty="0" smtClean="0">
                  <a:solidFill>
                    <a:srgbClr val="92D050"/>
                  </a:solidFill>
                  <a:cs typeface="+mn-ea"/>
                  <a:sym typeface="+mn-lt"/>
                </a:rPr>
                <a:t>(Sub-Graph)</a:t>
              </a:r>
            </a:p>
            <a:p>
              <a:pPr algn="just">
                <a:lnSpc>
                  <a:spcPct val="120000"/>
                </a:lnSpc>
              </a:pPr>
              <a:r>
                <a:rPr lang="zh-CN" altLang="zh-CN" sz="1400" dirty="0" smtClean="0">
                  <a:solidFill>
                    <a:schemeClr val="bg1"/>
                  </a:solidFill>
                  <a:cs typeface="+mn-ea"/>
                </a:rPr>
                <a:t>当</a:t>
              </a:r>
              <a:r>
                <a:rPr lang="zh-CN" altLang="zh-CN" sz="1400" dirty="0">
                  <a:solidFill>
                    <a:schemeClr val="bg1"/>
                  </a:solidFill>
                  <a:cs typeface="+mn-ea"/>
                </a:rPr>
                <a:t>图</a:t>
              </a:r>
              <a:r>
                <a:rPr lang="en-US" altLang="zh-CN" sz="1400" dirty="0">
                  <a:solidFill>
                    <a:schemeClr val="bg1"/>
                  </a:solidFill>
                  <a:cs typeface="+mn-ea"/>
                </a:rPr>
                <a:t>G’=(V’,E’)</a:t>
              </a:r>
              <a:r>
                <a:rPr lang="zh-CN" altLang="zh-CN" sz="1400" dirty="0">
                  <a:solidFill>
                    <a:schemeClr val="bg1"/>
                  </a:solidFill>
                  <a:cs typeface="+mn-ea"/>
                </a:rPr>
                <a:t>其中</a:t>
              </a:r>
              <a:r>
                <a:rPr lang="en-US" altLang="zh-CN" sz="1400" dirty="0">
                  <a:solidFill>
                    <a:schemeClr val="bg1"/>
                  </a:solidFill>
                  <a:cs typeface="+mn-ea"/>
                </a:rPr>
                <a:t>V’</a:t>
              </a:r>
              <a:r>
                <a:rPr lang="zh-CN" altLang="zh-CN" sz="1400" dirty="0">
                  <a:solidFill>
                    <a:schemeClr val="bg1"/>
                  </a:solidFill>
                  <a:cs typeface="+mn-ea"/>
                </a:rPr>
                <a:t>包含于</a:t>
              </a:r>
              <a:r>
                <a:rPr lang="en-US" altLang="zh-CN" sz="1400" dirty="0">
                  <a:solidFill>
                    <a:schemeClr val="bg1"/>
                  </a:solidFill>
                  <a:cs typeface="+mn-ea"/>
                </a:rPr>
                <a:t>V</a:t>
              </a:r>
              <a:r>
                <a:rPr lang="zh-CN" altLang="zh-CN" sz="1400" dirty="0">
                  <a:solidFill>
                    <a:schemeClr val="bg1"/>
                  </a:solidFill>
                  <a:cs typeface="+mn-ea"/>
                </a:rPr>
                <a:t>，</a:t>
              </a:r>
              <a:r>
                <a:rPr lang="en-US" altLang="zh-CN" sz="1400" dirty="0">
                  <a:solidFill>
                    <a:schemeClr val="bg1"/>
                  </a:solidFill>
                  <a:cs typeface="+mn-ea"/>
                </a:rPr>
                <a:t>E’</a:t>
              </a:r>
              <a:r>
                <a:rPr lang="zh-CN" altLang="zh-CN" sz="1400" dirty="0">
                  <a:solidFill>
                    <a:schemeClr val="bg1"/>
                  </a:solidFill>
                  <a:cs typeface="+mn-ea"/>
                </a:rPr>
                <a:t>包含于</a:t>
              </a:r>
              <a:r>
                <a:rPr lang="en-US" altLang="zh-CN" sz="1400" dirty="0">
                  <a:solidFill>
                    <a:schemeClr val="bg1"/>
                  </a:solidFill>
                  <a:cs typeface="+mn-ea"/>
                </a:rPr>
                <a:t>E</a:t>
              </a:r>
              <a:r>
                <a:rPr lang="zh-CN" altLang="zh-CN" sz="1400" dirty="0">
                  <a:solidFill>
                    <a:schemeClr val="bg1"/>
                  </a:solidFill>
                  <a:cs typeface="+mn-ea"/>
                </a:rPr>
                <a:t>，则</a:t>
              </a:r>
              <a:r>
                <a:rPr lang="en-US" altLang="zh-CN" sz="1400" dirty="0">
                  <a:solidFill>
                    <a:schemeClr val="bg1"/>
                  </a:solidFill>
                  <a:cs typeface="+mn-ea"/>
                </a:rPr>
                <a:t>G’</a:t>
              </a:r>
              <a:r>
                <a:rPr lang="zh-CN" altLang="zh-CN" sz="1400" dirty="0">
                  <a:solidFill>
                    <a:schemeClr val="bg1"/>
                  </a:solidFill>
                  <a:cs typeface="+mn-ea"/>
                </a:rPr>
                <a:t>称作图</a:t>
              </a:r>
              <a:r>
                <a:rPr lang="en-US" altLang="zh-CN" sz="1400" dirty="0">
                  <a:solidFill>
                    <a:schemeClr val="bg1"/>
                  </a:solidFill>
                  <a:cs typeface="+mn-ea"/>
                </a:rPr>
                <a:t>G=(V,E)</a:t>
              </a:r>
              <a:r>
                <a:rPr lang="zh-CN" altLang="zh-CN" sz="1400" dirty="0">
                  <a:solidFill>
                    <a:schemeClr val="bg1"/>
                  </a:solidFill>
                  <a:cs typeface="+mn-ea"/>
                </a:rPr>
                <a:t>的子图。每个图都是本身的子图</a:t>
              </a:r>
              <a:r>
                <a:rPr lang="zh-CN" altLang="zh-CN" sz="1400" dirty="0" smtClean="0">
                  <a:solidFill>
                    <a:schemeClr val="bg1"/>
                  </a:solidFill>
                  <a:cs typeface="+mn-ea"/>
                </a:rPr>
                <a:t>。</a:t>
              </a:r>
              <a:endParaRPr lang="en-US" altLang="zh-CN" b="1" dirty="0">
                <a:solidFill>
                  <a:srgbClr val="92D050"/>
                </a:solidFill>
                <a:cs typeface="+mn-ea"/>
                <a:sym typeface="+mn-lt"/>
              </a:endParaRPr>
            </a:p>
          </p:txBody>
        </p:sp>
      </p:grpSp>
      <p:grpSp>
        <p:nvGrpSpPr>
          <p:cNvPr id="52" name="组合 51"/>
          <p:cNvGrpSpPr/>
          <p:nvPr/>
        </p:nvGrpSpPr>
        <p:grpSpPr>
          <a:xfrm>
            <a:off x="7248131" y="4769457"/>
            <a:ext cx="4293988" cy="1015663"/>
            <a:chOff x="7248131" y="1915161"/>
            <a:chExt cx="4293988" cy="1015663"/>
          </a:xfrm>
        </p:grpSpPr>
        <p:sp>
          <p:nvSpPr>
            <p:cNvPr id="53" name="Oval 4"/>
            <p:cNvSpPr/>
            <p:nvPr/>
          </p:nvSpPr>
          <p:spPr>
            <a:xfrm>
              <a:off x="7248131" y="1916835"/>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54" name="Freeform: Shape 5"/>
            <p:cNvSpPr>
              <a:spLocks/>
            </p:cNvSpPr>
            <p:nvPr/>
          </p:nvSpPr>
          <p:spPr bwMode="auto">
            <a:xfrm>
              <a:off x="7423748" y="2078674"/>
              <a:ext cx="256488" cy="284045"/>
            </a:xfrm>
            <a:custGeom>
              <a:avLst/>
              <a:gdLst/>
              <a:ahLst/>
              <a:cxnLst>
                <a:cxn ang="0">
                  <a:pos x="46" y="62"/>
                </a:cxn>
                <a:cxn ang="0">
                  <a:pos x="10" y="62"/>
                </a:cxn>
                <a:cxn ang="0">
                  <a:pos x="0" y="52"/>
                </a:cxn>
                <a:cxn ang="0">
                  <a:pos x="14" y="29"/>
                </a:cxn>
                <a:cxn ang="0">
                  <a:pos x="28" y="34"/>
                </a:cxn>
                <a:cxn ang="0">
                  <a:pos x="42" y="29"/>
                </a:cxn>
                <a:cxn ang="0">
                  <a:pos x="56" y="52"/>
                </a:cxn>
                <a:cxn ang="0">
                  <a:pos x="46" y="62"/>
                </a:cxn>
                <a:cxn ang="0">
                  <a:pos x="28" y="31"/>
                </a:cxn>
                <a:cxn ang="0">
                  <a:pos x="13" y="16"/>
                </a:cxn>
                <a:cxn ang="0">
                  <a:pos x="28" y="0"/>
                </a:cxn>
                <a:cxn ang="0">
                  <a:pos x="43" y="16"/>
                </a:cxn>
                <a:cxn ang="0">
                  <a:pos x="28" y="31"/>
                </a:cxn>
              </a:cxnLst>
              <a:rect l="0" t="0" r="r" b="b"/>
              <a:pathLst>
                <a:path w="56" h="62">
                  <a:moveTo>
                    <a:pt x="46" y="62"/>
                  </a:moveTo>
                  <a:cubicBezTo>
                    <a:pt x="10" y="62"/>
                    <a:pt x="10" y="62"/>
                    <a:pt x="10" y="62"/>
                  </a:cubicBezTo>
                  <a:cubicBezTo>
                    <a:pt x="4" y="62"/>
                    <a:pt x="0" y="58"/>
                    <a:pt x="0" y="52"/>
                  </a:cubicBezTo>
                  <a:cubicBezTo>
                    <a:pt x="0" y="43"/>
                    <a:pt x="2" y="29"/>
                    <a:pt x="14" y="29"/>
                  </a:cubicBezTo>
                  <a:cubicBezTo>
                    <a:pt x="15" y="29"/>
                    <a:pt x="20" y="34"/>
                    <a:pt x="28" y="34"/>
                  </a:cubicBezTo>
                  <a:cubicBezTo>
                    <a:pt x="36" y="34"/>
                    <a:pt x="41" y="29"/>
                    <a:pt x="42" y="29"/>
                  </a:cubicBezTo>
                  <a:cubicBezTo>
                    <a:pt x="54" y="29"/>
                    <a:pt x="56" y="43"/>
                    <a:pt x="56" y="52"/>
                  </a:cubicBezTo>
                  <a:cubicBezTo>
                    <a:pt x="56" y="58"/>
                    <a:pt x="52" y="62"/>
                    <a:pt x="46" y="62"/>
                  </a:cubicBezTo>
                  <a:close/>
                  <a:moveTo>
                    <a:pt x="28" y="31"/>
                  </a:moveTo>
                  <a:cubicBezTo>
                    <a:pt x="20" y="31"/>
                    <a:pt x="13" y="24"/>
                    <a:pt x="13" y="16"/>
                  </a:cubicBezTo>
                  <a:cubicBezTo>
                    <a:pt x="13" y="7"/>
                    <a:pt x="20" y="0"/>
                    <a:pt x="28" y="0"/>
                  </a:cubicBezTo>
                  <a:cubicBezTo>
                    <a:pt x="37" y="0"/>
                    <a:pt x="43" y="7"/>
                    <a:pt x="43" y="16"/>
                  </a:cubicBezTo>
                  <a:cubicBezTo>
                    <a:pt x="43" y="24"/>
                    <a:pt x="37" y="31"/>
                    <a:pt x="28" y="31"/>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55" name="矩形 54"/>
            <p:cNvSpPr/>
            <p:nvPr/>
          </p:nvSpPr>
          <p:spPr>
            <a:xfrm>
              <a:off x="8031472" y="1915161"/>
              <a:ext cx="3510647" cy="101566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rgbClr val="92D050"/>
                  </a:solidFill>
                  <a:cs typeface="+mn-ea"/>
                  <a:sym typeface="+mn-lt"/>
                </a:rPr>
                <a:t>阶</a:t>
              </a:r>
              <a:r>
                <a:rPr lang="en-US" altLang="zh-CN" b="1" dirty="0" smtClean="0">
                  <a:solidFill>
                    <a:srgbClr val="92D050"/>
                  </a:solidFill>
                  <a:cs typeface="+mn-ea"/>
                  <a:sym typeface="+mn-lt"/>
                </a:rPr>
                <a:t>(Order)</a:t>
              </a:r>
            </a:p>
            <a:p>
              <a:pPr algn="just">
                <a:lnSpc>
                  <a:spcPct val="120000"/>
                </a:lnSpc>
              </a:pPr>
              <a:r>
                <a:rPr lang="zh-CN" altLang="zh-CN" sz="1400" dirty="0" smtClean="0">
                  <a:solidFill>
                    <a:schemeClr val="bg1"/>
                  </a:solidFill>
                  <a:cs typeface="+mn-ea"/>
                </a:rPr>
                <a:t>图</a:t>
              </a:r>
              <a:r>
                <a:rPr lang="en-US" altLang="zh-CN" sz="1400" dirty="0">
                  <a:solidFill>
                    <a:schemeClr val="bg1"/>
                  </a:solidFill>
                  <a:cs typeface="+mn-ea"/>
                </a:rPr>
                <a:t>G</a:t>
              </a:r>
              <a:r>
                <a:rPr lang="zh-CN" altLang="zh-CN" sz="1400" dirty="0">
                  <a:solidFill>
                    <a:schemeClr val="bg1"/>
                  </a:solidFill>
                  <a:cs typeface="+mn-ea"/>
                </a:rPr>
                <a:t>中点集</a:t>
              </a:r>
              <a:r>
                <a:rPr lang="en-US" altLang="zh-CN" sz="1400" dirty="0">
                  <a:solidFill>
                    <a:schemeClr val="bg1"/>
                  </a:solidFill>
                  <a:cs typeface="+mn-ea"/>
                </a:rPr>
                <a:t>V</a:t>
              </a:r>
              <a:r>
                <a:rPr lang="zh-CN" altLang="zh-CN" sz="1400" dirty="0">
                  <a:solidFill>
                    <a:schemeClr val="bg1"/>
                  </a:solidFill>
                  <a:cs typeface="+mn-ea"/>
                </a:rPr>
                <a:t>的大小称作图</a:t>
              </a:r>
              <a:r>
                <a:rPr lang="en-US" altLang="zh-CN" sz="1400" dirty="0">
                  <a:solidFill>
                    <a:schemeClr val="bg1"/>
                  </a:solidFill>
                  <a:cs typeface="+mn-ea"/>
                </a:rPr>
                <a:t>G</a:t>
              </a:r>
              <a:r>
                <a:rPr lang="zh-CN" altLang="zh-CN" sz="1400" dirty="0">
                  <a:solidFill>
                    <a:schemeClr val="bg1"/>
                  </a:solidFill>
                  <a:cs typeface="+mn-ea"/>
                </a:rPr>
                <a:t>的阶。</a:t>
              </a:r>
              <a:endParaRPr lang="zh-CN" altLang="en-US" sz="1400" dirty="0">
                <a:solidFill>
                  <a:schemeClr val="bg1"/>
                </a:solidFill>
                <a:cs typeface="+mn-ea"/>
              </a:endParaRPr>
            </a:p>
            <a:p>
              <a:pPr algn="just">
                <a:lnSpc>
                  <a:spcPct val="120000"/>
                </a:lnSpc>
              </a:pPr>
              <a:endParaRPr lang="en-US" altLang="zh-CN" b="1" dirty="0">
                <a:solidFill>
                  <a:srgbClr val="92D050"/>
                </a:solidFill>
                <a:cs typeface="+mn-ea"/>
                <a:sym typeface="+mn-lt"/>
              </a:endParaRPr>
            </a:p>
          </p:txBody>
        </p:sp>
      </p:grpSp>
      <p:sp>
        <p:nvSpPr>
          <p:cNvPr id="56" name="文本框 2919"/>
          <p:cNvSpPr txBox="1"/>
          <p:nvPr/>
        </p:nvSpPr>
        <p:spPr>
          <a:xfrm>
            <a:off x="9588024" y="177223"/>
            <a:ext cx="249299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图、点、边、子图、阶</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Tree>
    <p:extLst>
      <p:ext uri="{BB962C8B-B14F-4D97-AF65-F5344CB8AC3E}">
        <p14:creationId xmlns:p14="http://schemas.microsoft.com/office/powerpoint/2010/main" val="220729900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left)">
                                      <p:cBhvr>
                                        <p:cTn id="18" dur="500"/>
                                        <p:tgtEl>
                                          <p:spTgt spid="38"/>
                                        </p:tgtEl>
                                      </p:cBhvr>
                                    </p:animEffect>
                                  </p:childTnLst>
                                </p:cTn>
                              </p:par>
                              <p:par>
                                <p:cTn id="19" presetID="16" presetClass="entr" presetSubtype="21"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wipe(left)">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4" fill="hold" nodeType="clickEffect">
                                  <p:stCondLst>
                                    <p:cond delay="0"/>
                                  </p:stCondLst>
                                  <p:childTnLst>
                                    <p:animEffect transition="out" filter="wipe(down)">
                                      <p:cBhvr>
                                        <p:cTn id="30" dur="500"/>
                                        <p:tgtEl>
                                          <p:spTgt spid="36"/>
                                        </p:tgtEl>
                                      </p:cBhvr>
                                    </p:animEffect>
                                    <p:set>
                                      <p:cBhvr>
                                        <p:cTn id="31" dur="1" fill="hold">
                                          <p:stCondLst>
                                            <p:cond delay="499"/>
                                          </p:stCondLst>
                                        </p:cTn>
                                        <p:tgtEl>
                                          <p:spTgt spid="36"/>
                                        </p:tgtEl>
                                        <p:attrNameLst>
                                          <p:attrName>style.visibility</p:attrName>
                                        </p:attrNameLst>
                                      </p:cBhvr>
                                      <p:to>
                                        <p:strVal val="hidden"/>
                                      </p:to>
                                    </p:set>
                                  </p:childTnLst>
                                </p:cTn>
                              </p:par>
                              <p:par>
                                <p:cTn id="32" presetID="22" presetClass="entr" presetSubtype="8" fill="hold" nodeType="withEffect">
                                  <p:stCondLst>
                                    <p:cond delay="500"/>
                                  </p:stCondLst>
                                  <p:childTnLst>
                                    <p:set>
                                      <p:cBhvr>
                                        <p:cTn id="33" dur="1" fill="hold">
                                          <p:stCondLst>
                                            <p:cond delay="0"/>
                                          </p:stCondLst>
                                        </p:cTn>
                                        <p:tgtEl>
                                          <p:spTgt spid="40"/>
                                        </p:tgtEl>
                                        <p:attrNameLst>
                                          <p:attrName>style.visibility</p:attrName>
                                        </p:attrNameLst>
                                      </p:cBhvr>
                                      <p:to>
                                        <p:strVal val="visible"/>
                                      </p:to>
                                    </p:set>
                                    <p:animEffect transition="in" filter="wipe(left)">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4" fill="hold" nodeType="clickEffect">
                                  <p:stCondLst>
                                    <p:cond delay="0"/>
                                  </p:stCondLst>
                                  <p:childTnLst>
                                    <p:animEffect transition="out" filter="wipe(down)">
                                      <p:cBhvr>
                                        <p:cTn id="38" dur="500"/>
                                        <p:tgtEl>
                                          <p:spTgt spid="40"/>
                                        </p:tgtEl>
                                      </p:cBhvr>
                                    </p:animEffect>
                                    <p:set>
                                      <p:cBhvr>
                                        <p:cTn id="39" dur="1" fill="hold">
                                          <p:stCondLst>
                                            <p:cond delay="499"/>
                                          </p:stCondLst>
                                        </p:cTn>
                                        <p:tgtEl>
                                          <p:spTgt spid="40"/>
                                        </p:tgtEl>
                                        <p:attrNameLst>
                                          <p:attrName>style.visibility</p:attrName>
                                        </p:attrNameLst>
                                      </p:cBhvr>
                                      <p:to>
                                        <p:strVal val="hidden"/>
                                      </p:to>
                                    </p:set>
                                  </p:childTnLst>
                                </p:cTn>
                              </p:par>
                              <p:par>
                                <p:cTn id="40" presetID="22" presetClass="entr" presetSubtype="8" fill="hold" nodeType="withEffect">
                                  <p:stCondLst>
                                    <p:cond delay="500"/>
                                  </p:stCondLst>
                                  <p:childTnLst>
                                    <p:set>
                                      <p:cBhvr>
                                        <p:cTn id="41" dur="1" fill="hold">
                                          <p:stCondLst>
                                            <p:cond delay="0"/>
                                          </p:stCondLst>
                                        </p:cTn>
                                        <p:tgtEl>
                                          <p:spTgt spid="48"/>
                                        </p:tgtEl>
                                        <p:attrNameLst>
                                          <p:attrName>style.visibility</p:attrName>
                                        </p:attrNameLst>
                                      </p:cBhvr>
                                      <p:to>
                                        <p:strVal val="visible"/>
                                      </p:to>
                                    </p:set>
                                    <p:animEffect transition="in" filter="wipe(left)">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xit" presetSubtype="4" fill="hold" nodeType="clickEffect">
                                  <p:stCondLst>
                                    <p:cond delay="0"/>
                                  </p:stCondLst>
                                  <p:childTnLst>
                                    <p:animEffect transition="out" filter="wipe(down)">
                                      <p:cBhvr>
                                        <p:cTn id="46" dur="500"/>
                                        <p:tgtEl>
                                          <p:spTgt spid="48"/>
                                        </p:tgtEl>
                                      </p:cBhvr>
                                    </p:animEffect>
                                    <p:set>
                                      <p:cBhvr>
                                        <p:cTn id="47" dur="1" fill="hold">
                                          <p:stCondLst>
                                            <p:cond delay="499"/>
                                          </p:stCondLst>
                                        </p:cTn>
                                        <p:tgtEl>
                                          <p:spTgt spid="48"/>
                                        </p:tgtEl>
                                        <p:attrNameLst>
                                          <p:attrName>style.visibility</p:attrName>
                                        </p:attrNameLst>
                                      </p:cBhvr>
                                      <p:to>
                                        <p:strVal val="hidden"/>
                                      </p:to>
                                    </p:set>
                                  </p:childTnLst>
                                </p:cTn>
                              </p:par>
                              <p:par>
                                <p:cTn id="48" presetID="22" presetClass="entr" presetSubtype="8" fill="hold" nodeType="withEffect">
                                  <p:stCondLst>
                                    <p:cond delay="500"/>
                                  </p:stCondLst>
                                  <p:childTnLst>
                                    <p:set>
                                      <p:cBhvr>
                                        <p:cTn id="49" dur="1" fill="hold">
                                          <p:stCondLst>
                                            <p:cond delay="0"/>
                                          </p:stCondLst>
                                        </p:cTn>
                                        <p:tgtEl>
                                          <p:spTgt spid="52"/>
                                        </p:tgtEl>
                                        <p:attrNameLst>
                                          <p:attrName>style.visibility</p:attrName>
                                        </p:attrNameLst>
                                      </p:cBhvr>
                                      <p:to>
                                        <p:strVal val="visible"/>
                                      </p:to>
                                    </p:set>
                                    <p:animEffect transition="in" filter="wipe(left)">
                                      <p:cBhvr>
                                        <p:cTn id="5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lvl="0">
              <a:defRPr/>
            </a:pPr>
            <a:r>
              <a:rPr lang="en-US" altLang="zh-CN" sz="1200" dirty="0">
                <a:solidFill>
                  <a:schemeClr val="accent3"/>
                </a:solidFill>
                <a:cs typeface="+mn-ea"/>
                <a:sym typeface="+mn-lt"/>
              </a:rPr>
              <a:t>Basic Concepts</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98" name="组合 97"/>
          <p:cNvGrpSpPr/>
          <p:nvPr/>
        </p:nvGrpSpPr>
        <p:grpSpPr>
          <a:xfrm>
            <a:off x="3485480" y="2043100"/>
            <a:ext cx="5234761" cy="4814901"/>
            <a:chOff x="3485480" y="2043100"/>
            <a:chExt cx="5234761" cy="4814901"/>
          </a:xfrm>
        </p:grpSpPr>
        <p:grpSp>
          <p:nvGrpSpPr>
            <p:cNvPr id="4" name="Group 35"/>
            <p:cNvGrpSpPr/>
            <p:nvPr/>
          </p:nvGrpSpPr>
          <p:grpSpPr>
            <a:xfrm>
              <a:off x="5317178" y="2745685"/>
              <a:ext cx="3403063" cy="4112315"/>
              <a:chOff x="4037013" y="2519363"/>
              <a:chExt cx="2303463" cy="2633662"/>
            </a:xfrm>
          </p:grpSpPr>
          <p:sp>
            <p:nvSpPr>
              <p:cNvPr id="66" name="Freeform: Shape 104"/>
              <p:cNvSpPr>
                <a:spLocks/>
              </p:cNvSpPr>
              <p:nvPr/>
            </p:nvSpPr>
            <p:spPr bwMode="auto">
              <a:xfrm>
                <a:off x="4037013" y="2647950"/>
                <a:ext cx="2047875" cy="2505075"/>
              </a:xfrm>
              <a:custGeom>
                <a:avLst/>
                <a:gdLst/>
                <a:ahLst/>
                <a:cxnLst>
                  <a:cxn ang="0">
                    <a:pos x="403" y="0"/>
                  </a:cxn>
                  <a:cxn ang="0">
                    <a:pos x="403" y="0"/>
                  </a:cxn>
                  <a:cxn ang="0">
                    <a:pos x="0" y="404"/>
                  </a:cxn>
                  <a:cxn ang="0">
                    <a:pos x="0" y="666"/>
                  </a:cxn>
                  <a:cxn ang="0">
                    <a:pos x="74" y="666"/>
                  </a:cxn>
                  <a:cxn ang="0">
                    <a:pos x="74" y="404"/>
                  </a:cxn>
                  <a:cxn ang="0">
                    <a:pos x="405" y="74"/>
                  </a:cxn>
                  <a:cxn ang="0">
                    <a:pos x="544" y="74"/>
                  </a:cxn>
                  <a:cxn ang="0">
                    <a:pos x="544" y="0"/>
                  </a:cxn>
                  <a:cxn ang="0">
                    <a:pos x="403" y="0"/>
                  </a:cxn>
                </a:cxnLst>
                <a:rect l="0" t="0" r="r" b="b"/>
                <a:pathLst>
                  <a:path w="544" h="666">
                    <a:moveTo>
                      <a:pt x="403" y="0"/>
                    </a:moveTo>
                    <a:cubicBezTo>
                      <a:pt x="403" y="0"/>
                      <a:pt x="403" y="0"/>
                      <a:pt x="403" y="0"/>
                    </a:cubicBezTo>
                    <a:cubicBezTo>
                      <a:pt x="180" y="1"/>
                      <a:pt x="0" y="182"/>
                      <a:pt x="0" y="404"/>
                    </a:cubicBezTo>
                    <a:cubicBezTo>
                      <a:pt x="0" y="666"/>
                      <a:pt x="0" y="666"/>
                      <a:pt x="0" y="666"/>
                    </a:cubicBezTo>
                    <a:cubicBezTo>
                      <a:pt x="74" y="666"/>
                      <a:pt x="74" y="666"/>
                      <a:pt x="74" y="666"/>
                    </a:cubicBezTo>
                    <a:cubicBezTo>
                      <a:pt x="74" y="404"/>
                      <a:pt x="74" y="404"/>
                      <a:pt x="74" y="404"/>
                    </a:cubicBezTo>
                    <a:cubicBezTo>
                      <a:pt x="74" y="222"/>
                      <a:pt x="223" y="74"/>
                      <a:pt x="405" y="74"/>
                    </a:cubicBezTo>
                    <a:cubicBezTo>
                      <a:pt x="544" y="74"/>
                      <a:pt x="544" y="74"/>
                      <a:pt x="544" y="74"/>
                    </a:cubicBezTo>
                    <a:cubicBezTo>
                      <a:pt x="544" y="0"/>
                      <a:pt x="544" y="0"/>
                      <a:pt x="544" y="0"/>
                    </a:cubicBezTo>
                    <a:lnTo>
                      <a:pt x="403" y="0"/>
                    </a:ln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67" name="Freeform: Shape 105"/>
              <p:cNvSpPr>
                <a:spLocks/>
              </p:cNvSpPr>
              <p:nvPr/>
            </p:nvSpPr>
            <p:spPr bwMode="auto">
              <a:xfrm>
                <a:off x="6084888" y="2519363"/>
                <a:ext cx="255588" cy="508000"/>
              </a:xfrm>
              <a:custGeom>
                <a:avLst/>
                <a:gdLst/>
                <a:ahLst/>
                <a:cxnLst>
                  <a:cxn ang="0">
                    <a:pos x="0" y="320"/>
                  </a:cxn>
                  <a:cxn ang="0">
                    <a:pos x="161" y="159"/>
                  </a:cxn>
                  <a:cxn ang="0">
                    <a:pos x="0" y="0"/>
                  </a:cxn>
                  <a:cxn ang="0">
                    <a:pos x="0" y="320"/>
                  </a:cxn>
                </a:cxnLst>
                <a:rect l="0" t="0" r="r" b="b"/>
                <a:pathLst>
                  <a:path w="161" h="320">
                    <a:moveTo>
                      <a:pt x="0" y="320"/>
                    </a:moveTo>
                    <a:lnTo>
                      <a:pt x="161" y="159"/>
                    </a:lnTo>
                    <a:lnTo>
                      <a:pt x="0" y="0"/>
                    </a:lnTo>
                    <a:lnTo>
                      <a:pt x="0" y="320"/>
                    </a:ln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68" name="Freeform: Shape 106"/>
              <p:cNvSpPr>
                <a:spLocks/>
              </p:cNvSpPr>
              <p:nvPr/>
            </p:nvSpPr>
            <p:spPr bwMode="auto">
              <a:xfrm>
                <a:off x="4830763" y="2895600"/>
                <a:ext cx="161925" cy="109538"/>
              </a:xfrm>
              <a:custGeom>
                <a:avLst/>
                <a:gdLst/>
                <a:ahLst/>
                <a:cxnLst>
                  <a:cxn ang="0">
                    <a:pos x="5" y="29"/>
                  </a:cxn>
                  <a:cxn ang="0">
                    <a:pos x="43" y="10"/>
                  </a:cxn>
                  <a:cxn ang="0">
                    <a:pos x="37" y="0"/>
                  </a:cxn>
                  <a:cxn ang="0">
                    <a:pos x="0" y="20"/>
                  </a:cxn>
                  <a:cxn ang="0">
                    <a:pos x="5" y="29"/>
                  </a:cxn>
                </a:cxnLst>
                <a:rect l="0" t="0" r="r" b="b"/>
                <a:pathLst>
                  <a:path w="43" h="29">
                    <a:moveTo>
                      <a:pt x="5" y="29"/>
                    </a:moveTo>
                    <a:cubicBezTo>
                      <a:pt x="17" y="22"/>
                      <a:pt x="30" y="16"/>
                      <a:pt x="43" y="10"/>
                    </a:cubicBezTo>
                    <a:cubicBezTo>
                      <a:pt x="37" y="0"/>
                      <a:pt x="37" y="0"/>
                      <a:pt x="37" y="0"/>
                    </a:cubicBezTo>
                    <a:cubicBezTo>
                      <a:pt x="25" y="6"/>
                      <a:pt x="12" y="12"/>
                      <a:pt x="0" y="20"/>
                    </a:cubicBezTo>
                    <a:lnTo>
                      <a:pt x="5" y="29"/>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69" name="Freeform: Shape 107"/>
              <p:cNvSpPr>
                <a:spLocks/>
              </p:cNvSpPr>
              <p:nvPr/>
            </p:nvSpPr>
            <p:spPr bwMode="auto">
              <a:xfrm>
                <a:off x="5203825" y="2779713"/>
                <a:ext cx="161925" cy="74613"/>
              </a:xfrm>
              <a:custGeom>
                <a:avLst/>
                <a:gdLst/>
                <a:ahLst/>
                <a:cxnLst>
                  <a:cxn ang="0">
                    <a:pos x="2" y="20"/>
                  </a:cxn>
                  <a:cxn ang="0">
                    <a:pos x="43" y="11"/>
                  </a:cxn>
                  <a:cxn ang="0">
                    <a:pos x="41" y="0"/>
                  </a:cxn>
                  <a:cxn ang="0">
                    <a:pos x="0" y="9"/>
                  </a:cxn>
                  <a:cxn ang="0">
                    <a:pos x="2" y="20"/>
                  </a:cxn>
                </a:cxnLst>
                <a:rect l="0" t="0" r="r" b="b"/>
                <a:pathLst>
                  <a:path w="43" h="20">
                    <a:moveTo>
                      <a:pt x="2" y="20"/>
                    </a:moveTo>
                    <a:cubicBezTo>
                      <a:pt x="15" y="16"/>
                      <a:pt x="29" y="13"/>
                      <a:pt x="43" y="11"/>
                    </a:cubicBezTo>
                    <a:cubicBezTo>
                      <a:pt x="41" y="0"/>
                      <a:pt x="41" y="0"/>
                      <a:pt x="41" y="0"/>
                    </a:cubicBezTo>
                    <a:cubicBezTo>
                      <a:pt x="27" y="2"/>
                      <a:pt x="13" y="5"/>
                      <a:pt x="0" y="9"/>
                    </a:cubicBezTo>
                    <a:lnTo>
                      <a:pt x="2" y="20"/>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70" name="Rectangle 108"/>
              <p:cNvSpPr>
                <a:spLocks/>
              </p:cNvSpPr>
              <p:nvPr/>
            </p:nvSpPr>
            <p:spPr bwMode="auto">
              <a:xfrm>
                <a:off x="5583238" y="2763838"/>
                <a:ext cx="161925" cy="4127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71" name="Rectangle 109"/>
              <p:cNvSpPr>
                <a:spLocks/>
              </p:cNvSpPr>
              <p:nvPr/>
            </p:nvSpPr>
            <p:spPr bwMode="auto">
              <a:xfrm>
                <a:off x="5964238" y="2763838"/>
                <a:ext cx="120650" cy="4127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72" name="Freeform: Shape 110"/>
              <p:cNvSpPr>
                <a:spLocks/>
              </p:cNvSpPr>
              <p:nvPr/>
            </p:nvSpPr>
            <p:spPr bwMode="auto">
              <a:xfrm>
                <a:off x="4527550" y="3109913"/>
                <a:ext cx="142875" cy="139700"/>
              </a:xfrm>
              <a:custGeom>
                <a:avLst/>
                <a:gdLst/>
                <a:ahLst/>
                <a:cxnLst>
                  <a:cxn ang="0">
                    <a:pos x="8" y="37"/>
                  </a:cxn>
                  <a:cxn ang="0">
                    <a:pos x="38" y="8"/>
                  </a:cxn>
                  <a:cxn ang="0">
                    <a:pos x="30" y="0"/>
                  </a:cxn>
                  <a:cxn ang="0">
                    <a:pos x="0" y="29"/>
                  </a:cxn>
                  <a:cxn ang="0">
                    <a:pos x="8" y="37"/>
                  </a:cxn>
                </a:cxnLst>
                <a:rect l="0" t="0" r="r" b="b"/>
                <a:pathLst>
                  <a:path w="38" h="37">
                    <a:moveTo>
                      <a:pt x="8" y="37"/>
                    </a:moveTo>
                    <a:cubicBezTo>
                      <a:pt x="17" y="27"/>
                      <a:pt x="27" y="17"/>
                      <a:pt x="38" y="8"/>
                    </a:cubicBezTo>
                    <a:cubicBezTo>
                      <a:pt x="30" y="0"/>
                      <a:pt x="30" y="0"/>
                      <a:pt x="30" y="0"/>
                    </a:cubicBezTo>
                    <a:cubicBezTo>
                      <a:pt x="20" y="9"/>
                      <a:pt x="10" y="19"/>
                      <a:pt x="0" y="29"/>
                    </a:cubicBezTo>
                    <a:lnTo>
                      <a:pt x="8" y="37"/>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73" name="Freeform: Shape 111"/>
              <p:cNvSpPr>
                <a:spLocks/>
              </p:cNvSpPr>
              <p:nvPr/>
            </p:nvSpPr>
            <p:spPr bwMode="auto">
              <a:xfrm>
                <a:off x="4297363" y="3422650"/>
                <a:ext cx="112713" cy="157163"/>
              </a:xfrm>
              <a:custGeom>
                <a:avLst/>
                <a:gdLst/>
                <a:ahLst/>
                <a:cxnLst>
                  <a:cxn ang="0">
                    <a:pos x="10" y="42"/>
                  </a:cxn>
                  <a:cxn ang="0">
                    <a:pos x="30" y="5"/>
                  </a:cxn>
                  <a:cxn ang="0">
                    <a:pos x="20" y="0"/>
                  </a:cxn>
                  <a:cxn ang="0">
                    <a:pos x="0" y="37"/>
                  </a:cxn>
                  <a:cxn ang="0">
                    <a:pos x="10" y="42"/>
                  </a:cxn>
                </a:cxnLst>
                <a:rect l="0" t="0" r="r" b="b"/>
                <a:pathLst>
                  <a:path w="30" h="42">
                    <a:moveTo>
                      <a:pt x="10" y="42"/>
                    </a:moveTo>
                    <a:cubicBezTo>
                      <a:pt x="16" y="29"/>
                      <a:pt x="23" y="17"/>
                      <a:pt x="30" y="5"/>
                    </a:cubicBezTo>
                    <a:cubicBezTo>
                      <a:pt x="20" y="0"/>
                      <a:pt x="20" y="0"/>
                      <a:pt x="20" y="0"/>
                    </a:cubicBezTo>
                    <a:cubicBezTo>
                      <a:pt x="13" y="12"/>
                      <a:pt x="6" y="24"/>
                      <a:pt x="0" y="37"/>
                    </a:cubicBezTo>
                    <a:lnTo>
                      <a:pt x="10" y="42"/>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74" name="Freeform: Shape 112"/>
              <p:cNvSpPr>
                <a:spLocks/>
              </p:cNvSpPr>
              <p:nvPr/>
            </p:nvSpPr>
            <p:spPr bwMode="auto">
              <a:xfrm>
                <a:off x="4176713" y="3787775"/>
                <a:ext cx="76200" cy="165100"/>
              </a:xfrm>
              <a:custGeom>
                <a:avLst/>
                <a:gdLst/>
                <a:ahLst/>
                <a:cxnLst>
                  <a:cxn ang="0">
                    <a:pos x="11" y="44"/>
                  </a:cxn>
                  <a:cxn ang="0">
                    <a:pos x="20" y="3"/>
                  </a:cxn>
                  <a:cxn ang="0">
                    <a:pos x="9" y="0"/>
                  </a:cxn>
                  <a:cxn ang="0">
                    <a:pos x="0" y="41"/>
                  </a:cxn>
                  <a:cxn ang="0">
                    <a:pos x="11" y="44"/>
                  </a:cxn>
                </a:cxnLst>
                <a:rect l="0" t="0" r="r" b="b"/>
                <a:pathLst>
                  <a:path w="20" h="44">
                    <a:moveTo>
                      <a:pt x="11" y="44"/>
                    </a:moveTo>
                    <a:cubicBezTo>
                      <a:pt x="13" y="30"/>
                      <a:pt x="16" y="16"/>
                      <a:pt x="20" y="3"/>
                    </a:cubicBezTo>
                    <a:cubicBezTo>
                      <a:pt x="9" y="0"/>
                      <a:pt x="9" y="0"/>
                      <a:pt x="9" y="0"/>
                    </a:cubicBezTo>
                    <a:cubicBezTo>
                      <a:pt x="5" y="14"/>
                      <a:pt x="2" y="27"/>
                      <a:pt x="0" y="41"/>
                    </a:cubicBezTo>
                    <a:lnTo>
                      <a:pt x="11" y="44"/>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75" name="Rectangle 113"/>
              <p:cNvSpPr>
                <a:spLocks/>
              </p:cNvSpPr>
              <p:nvPr/>
            </p:nvSpPr>
            <p:spPr bwMode="auto">
              <a:xfrm>
                <a:off x="4157663" y="4156075"/>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76" name="Rectangle 114"/>
              <p:cNvSpPr>
                <a:spLocks/>
              </p:cNvSpPr>
              <p:nvPr/>
            </p:nvSpPr>
            <p:spPr bwMode="auto">
              <a:xfrm>
                <a:off x="4157663" y="4911725"/>
                <a:ext cx="41275" cy="158750"/>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77" name="Rectangle 115"/>
              <p:cNvSpPr>
                <a:spLocks/>
              </p:cNvSpPr>
              <p:nvPr/>
            </p:nvSpPr>
            <p:spPr bwMode="auto">
              <a:xfrm>
                <a:off x="4157663" y="4532313"/>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grpSp>
        <p:grpSp>
          <p:nvGrpSpPr>
            <p:cNvPr id="5" name="Group 36"/>
            <p:cNvGrpSpPr/>
            <p:nvPr/>
          </p:nvGrpSpPr>
          <p:grpSpPr>
            <a:xfrm>
              <a:off x="5737219" y="2043100"/>
              <a:ext cx="755195" cy="4814897"/>
              <a:chOff x="4252913" y="1631950"/>
              <a:chExt cx="511175" cy="3521075"/>
            </a:xfrm>
          </p:grpSpPr>
          <p:sp>
            <p:nvSpPr>
              <p:cNvPr id="54" name="Freeform: Shape 92"/>
              <p:cNvSpPr>
                <a:spLocks/>
              </p:cNvSpPr>
              <p:nvPr/>
            </p:nvSpPr>
            <p:spPr bwMode="auto">
              <a:xfrm>
                <a:off x="4252913" y="1631950"/>
                <a:ext cx="511175" cy="255588"/>
              </a:xfrm>
              <a:custGeom>
                <a:avLst/>
                <a:gdLst/>
                <a:ahLst/>
                <a:cxnLst>
                  <a:cxn ang="0">
                    <a:pos x="322" y="161"/>
                  </a:cxn>
                  <a:cxn ang="0">
                    <a:pos x="161" y="0"/>
                  </a:cxn>
                  <a:cxn ang="0">
                    <a:pos x="0" y="161"/>
                  </a:cxn>
                  <a:cxn ang="0">
                    <a:pos x="322" y="161"/>
                  </a:cxn>
                </a:cxnLst>
                <a:rect l="0" t="0" r="r" b="b"/>
                <a:pathLst>
                  <a:path w="322" h="161">
                    <a:moveTo>
                      <a:pt x="322" y="161"/>
                    </a:moveTo>
                    <a:lnTo>
                      <a:pt x="161" y="0"/>
                    </a:lnTo>
                    <a:lnTo>
                      <a:pt x="0" y="161"/>
                    </a:lnTo>
                    <a:lnTo>
                      <a:pt x="322" y="161"/>
                    </a:lnTo>
                    <a:close/>
                  </a:path>
                </a:pathLst>
              </a:custGeom>
              <a:solidFill>
                <a:schemeClr val="accent3"/>
              </a:solidFill>
              <a:ln w="9525">
                <a:noFill/>
                <a:round/>
                <a:headEnd/>
                <a:tailEnd/>
              </a:ln>
            </p:spPr>
            <p:txBody>
              <a:bodyPr anchor="ctr"/>
              <a:lstStyle/>
              <a:p>
                <a:pPr algn="ctr"/>
                <a:endParaRPr dirty="0">
                  <a:cs typeface="+mn-ea"/>
                  <a:sym typeface="+mn-lt"/>
                </a:endParaRPr>
              </a:p>
            </p:txBody>
          </p:sp>
          <p:grpSp>
            <p:nvGrpSpPr>
              <p:cNvPr id="55" name="Group 93"/>
              <p:cNvGrpSpPr/>
              <p:nvPr/>
            </p:nvGrpSpPr>
            <p:grpSpPr>
              <a:xfrm>
                <a:off x="4368800" y="1879600"/>
                <a:ext cx="277813" cy="3273425"/>
                <a:chOff x="4368800" y="1879600"/>
                <a:chExt cx="277813" cy="3273425"/>
              </a:xfrm>
            </p:grpSpPr>
            <p:sp>
              <p:nvSpPr>
                <p:cNvPr id="56" name="Rectangle 94"/>
                <p:cNvSpPr>
                  <a:spLocks/>
                </p:cNvSpPr>
                <p:nvPr/>
              </p:nvSpPr>
              <p:spPr bwMode="auto">
                <a:xfrm>
                  <a:off x="4368800" y="1879600"/>
                  <a:ext cx="277813" cy="3273425"/>
                </a:xfrm>
                <a:prstGeom prst="rect">
                  <a:avLst/>
                </a:prstGeom>
                <a:solidFill>
                  <a:schemeClr val="accent3"/>
                </a:solidFill>
                <a:ln w="9525">
                  <a:noFill/>
                  <a:miter lim="800000"/>
                  <a:headEnd/>
                  <a:tailEnd/>
                </a:ln>
              </p:spPr>
              <p:txBody>
                <a:bodyPr anchor="ctr"/>
                <a:lstStyle/>
                <a:p>
                  <a:pPr algn="ctr"/>
                  <a:endParaRPr dirty="0">
                    <a:cs typeface="+mn-ea"/>
                    <a:sym typeface="+mn-lt"/>
                  </a:endParaRPr>
                </a:p>
              </p:txBody>
            </p:sp>
            <p:sp>
              <p:nvSpPr>
                <p:cNvPr id="57" name="Rectangle 95"/>
                <p:cNvSpPr>
                  <a:spLocks/>
                </p:cNvSpPr>
                <p:nvPr/>
              </p:nvSpPr>
              <p:spPr bwMode="auto">
                <a:xfrm>
                  <a:off x="4489450" y="3400425"/>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58" name="Rectangle 96"/>
                <p:cNvSpPr>
                  <a:spLocks/>
                </p:cNvSpPr>
                <p:nvPr/>
              </p:nvSpPr>
              <p:spPr bwMode="auto">
                <a:xfrm>
                  <a:off x="4489450" y="3024188"/>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59" name="Rectangle 97"/>
                <p:cNvSpPr>
                  <a:spLocks/>
                </p:cNvSpPr>
                <p:nvPr/>
              </p:nvSpPr>
              <p:spPr bwMode="auto">
                <a:xfrm>
                  <a:off x="4489450" y="4911725"/>
                  <a:ext cx="41275" cy="158750"/>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0" name="Rectangle 98"/>
                <p:cNvSpPr>
                  <a:spLocks/>
                </p:cNvSpPr>
                <p:nvPr/>
              </p:nvSpPr>
              <p:spPr bwMode="auto">
                <a:xfrm>
                  <a:off x="4489450" y="4532313"/>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1" name="Rectangle 99"/>
                <p:cNvSpPr>
                  <a:spLocks/>
                </p:cNvSpPr>
                <p:nvPr/>
              </p:nvSpPr>
              <p:spPr bwMode="auto">
                <a:xfrm>
                  <a:off x="4489450" y="4156075"/>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2" name="Rectangle 100"/>
                <p:cNvSpPr>
                  <a:spLocks/>
                </p:cNvSpPr>
                <p:nvPr/>
              </p:nvSpPr>
              <p:spPr bwMode="auto">
                <a:xfrm>
                  <a:off x="4489450" y="3779838"/>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3" name="Rectangle 101"/>
                <p:cNvSpPr>
                  <a:spLocks/>
                </p:cNvSpPr>
                <p:nvPr/>
              </p:nvSpPr>
              <p:spPr bwMode="auto">
                <a:xfrm>
                  <a:off x="4489450" y="2647950"/>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4" name="Rectangle 102"/>
                <p:cNvSpPr>
                  <a:spLocks/>
                </p:cNvSpPr>
                <p:nvPr/>
              </p:nvSpPr>
              <p:spPr bwMode="auto">
                <a:xfrm>
                  <a:off x="4489450" y="2266950"/>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65" name="Rectangle 103"/>
                <p:cNvSpPr>
                  <a:spLocks/>
                </p:cNvSpPr>
                <p:nvPr/>
              </p:nvSpPr>
              <p:spPr bwMode="auto">
                <a:xfrm>
                  <a:off x="4489450" y="1890713"/>
                  <a:ext cx="41275"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grpSp>
        </p:grpSp>
        <p:grpSp>
          <p:nvGrpSpPr>
            <p:cNvPr id="6" name="Group 37"/>
            <p:cNvGrpSpPr/>
            <p:nvPr/>
          </p:nvGrpSpPr>
          <p:grpSpPr>
            <a:xfrm>
              <a:off x="3485480" y="4902002"/>
              <a:ext cx="1761339" cy="1955999"/>
              <a:chOff x="2797175" y="3829050"/>
              <a:chExt cx="1192213" cy="1323975"/>
            </a:xfrm>
          </p:grpSpPr>
          <p:sp>
            <p:nvSpPr>
              <p:cNvPr id="46" name="Freeform: Shape 84"/>
              <p:cNvSpPr>
                <a:spLocks/>
              </p:cNvSpPr>
              <p:nvPr/>
            </p:nvSpPr>
            <p:spPr bwMode="auto">
              <a:xfrm>
                <a:off x="2913063" y="3829050"/>
                <a:ext cx="1076325" cy="1323975"/>
              </a:xfrm>
              <a:custGeom>
                <a:avLst/>
                <a:gdLst/>
                <a:ahLst/>
                <a:cxnLst>
                  <a:cxn ang="0">
                    <a:pos x="143" y="0"/>
                  </a:cxn>
                  <a:cxn ang="0">
                    <a:pos x="0" y="142"/>
                  </a:cxn>
                  <a:cxn ang="0">
                    <a:pos x="75" y="142"/>
                  </a:cxn>
                  <a:cxn ang="0">
                    <a:pos x="143" y="74"/>
                  </a:cxn>
                  <a:cxn ang="0">
                    <a:pos x="211" y="142"/>
                  </a:cxn>
                  <a:cxn ang="0">
                    <a:pos x="211" y="352"/>
                  </a:cxn>
                  <a:cxn ang="0">
                    <a:pos x="286" y="352"/>
                  </a:cxn>
                  <a:cxn ang="0">
                    <a:pos x="286" y="142"/>
                  </a:cxn>
                  <a:cxn ang="0">
                    <a:pos x="143" y="0"/>
                  </a:cxn>
                </a:cxnLst>
                <a:rect l="0" t="0" r="r" b="b"/>
                <a:pathLst>
                  <a:path w="286" h="352">
                    <a:moveTo>
                      <a:pt x="143" y="0"/>
                    </a:moveTo>
                    <a:cubicBezTo>
                      <a:pt x="64" y="0"/>
                      <a:pt x="0" y="64"/>
                      <a:pt x="0" y="142"/>
                    </a:cubicBezTo>
                    <a:cubicBezTo>
                      <a:pt x="75" y="142"/>
                      <a:pt x="75" y="142"/>
                      <a:pt x="75" y="142"/>
                    </a:cubicBezTo>
                    <a:cubicBezTo>
                      <a:pt x="75" y="105"/>
                      <a:pt x="105" y="74"/>
                      <a:pt x="143" y="74"/>
                    </a:cubicBezTo>
                    <a:cubicBezTo>
                      <a:pt x="181" y="74"/>
                      <a:pt x="211" y="105"/>
                      <a:pt x="211" y="142"/>
                    </a:cubicBezTo>
                    <a:cubicBezTo>
                      <a:pt x="211" y="352"/>
                      <a:pt x="211" y="352"/>
                      <a:pt x="211" y="352"/>
                    </a:cubicBezTo>
                    <a:cubicBezTo>
                      <a:pt x="286" y="352"/>
                      <a:pt x="286" y="352"/>
                      <a:pt x="286" y="352"/>
                    </a:cubicBezTo>
                    <a:cubicBezTo>
                      <a:pt x="286" y="142"/>
                      <a:pt x="286" y="142"/>
                      <a:pt x="286" y="142"/>
                    </a:cubicBezTo>
                    <a:cubicBezTo>
                      <a:pt x="286" y="64"/>
                      <a:pt x="222" y="0"/>
                      <a:pt x="143" y="0"/>
                    </a:cubicBez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47" name="Rectangle 85"/>
              <p:cNvSpPr>
                <a:spLocks/>
              </p:cNvSpPr>
              <p:nvPr/>
            </p:nvSpPr>
            <p:spPr bwMode="auto">
              <a:xfrm>
                <a:off x="3827463" y="4911725"/>
                <a:ext cx="41275" cy="158750"/>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48" name="Rectangle 86"/>
              <p:cNvSpPr>
                <a:spLocks/>
              </p:cNvSpPr>
              <p:nvPr/>
            </p:nvSpPr>
            <p:spPr bwMode="auto">
              <a:xfrm>
                <a:off x="3827463" y="4532313"/>
                <a:ext cx="41275" cy="157163"/>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49" name="Freeform: Shape 87"/>
              <p:cNvSpPr>
                <a:spLocks/>
              </p:cNvSpPr>
              <p:nvPr/>
            </p:nvSpPr>
            <p:spPr bwMode="auto">
              <a:xfrm>
                <a:off x="3781425" y="4164013"/>
                <a:ext cx="87313" cy="173038"/>
              </a:xfrm>
              <a:custGeom>
                <a:avLst/>
                <a:gdLst/>
                <a:ahLst/>
                <a:cxnLst>
                  <a:cxn ang="0">
                    <a:pos x="19" y="22"/>
                  </a:cxn>
                  <a:cxn ang="0">
                    <a:pos x="10" y="0"/>
                  </a:cxn>
                  <a:cxn ang="0">
                    <a:pos x="0" y="5"/>
                  </a:cxn>
                  <a:cxn ang="0">
                    <a:pos x="8" y="25"/>
                  </a:cxn>
                  <a:cxn ang="0">
                    <a:pos x="12" y="46"/>
                  </a:cxn>
                  <a:cxn ang="0">
                    <a:pos x="23" y="46"/>
                  </a:cxn>
                  <a:cxn ang="0">
                    <a:pos x="19" y="22"/>
                  </a:cxn>
                </a:cxnLst>
                <a:rect l="0" t="0" r="r" b="b"/>
                <a:pathLst>
                  <a:path w="23" h="46">
                    <a:moveTo>
                      <a:pt x="19" y="22"/>
                    </a:moveTo>
                    <a:cubicBezTo>
                      <a:pt x="17" y="14"/>
                      <a:pt x="14" y="7"/>
                      <a:pt x="10" y="0"/>
                    </a:cubicBezTo>
                    <a:cubicBezTo>
                      <a:pt x="0" y="5"/>
                      <a:pt x="0" y="5"/>
                      <a:pt x="0" y="5"/>
                    </a:cubicBezTo>
                    <a:cubicBezTo>
                      <a:pt x="3" y="12"/>
                      <a:pt x="6" y="18"/>
                      <a:pt x="8" y="25"/>
                    </a:cubicBezTo>
                    <a:cubicBezTo>
                      <a:pt x="10" y="32"/>
                      <a:pt x="11" y="39"/>
                      <a:pt x="12" y="46"/>
                    </a:cubicBezTo>
                    <a:cubicBezTo>
                      <a:pt x="23" y="46"/>
                      <a:pt x="23" y="46"/>
                      <a:pt x="23" y="46"/>
                    </a:cubicBezTo>
                    <a:cubicBezTo>
                      <a:pt x="22" y="38"/>
                      <a:pt x="21" y="30"/>
                      <a:pt x="19" y="22"/>
                    </a:cubicBez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50" name="Freeform: Shape 88"/>
              <p:cNvSpPr>
                <a:spLocks/>
              </p:cNvSpPr>
              <p:nvPr/>
            </p:nvSpPr>
            <p:spPr bwMode="auto">
              <a:xfrm>
                <a:off x="3517900" y="3949700"/>
                <a:ext cx="173038" cy="104775"/>
              </a:xfrm>
              <a:custGeom>
                <a:avLst/>
                <a:gdLst/>
                <a:ahLst/>
                <a:cxnLst>
                  <a:cxn ang="0">
                    <a:pos x="25" y="7"/>
                  </a:cxn>
                  <a:cxn ang="0">
                    <a:pos x="2" y="0"/>
                  </a:cxn>
                  <a:cxn ang="0">
                    <a:pos x="0" y="11"/>
                  </a:cxn>
                  <a:cxn ang="0">
                    <a:pos x="20" y="17"/>
                  </a:cxn>
                  <a:cxn ang="0">
                    <a:pos x="39" y="28"/>
                  </a:cxn>
                  <a:cxn ang="0">
                    <a:pos x="46" y="18"/>
                  </a:cxn>
                  <a:cxn ang="0">
                    <a:pos x="25" y="7"/>
                  </a:cxn>
                </a:cxnLst>
                <a:rect l="0" t="0" r="r" b="b"/>
                <a:pathLst>
                  <a:path w="46" h="28">
                    <a:moveTo>
                      <a:pt x="25" y="7"/>
                    </a:moveTo>
                    <a:cubicBezTo>
                      <a:pt x="17" y="4"/>
                      <a:pt x="10" y="2"/>
                      <a:pt x="2" y="0"/>
                    </a:cubicBezTo>
                    <a:cubicBezTo>
                      <a:pt x="0" y="11"/>
                      <a:pt x="0" y="11"/>
                      <a:pt x="0" y="11"/>
                    </a:cubicBezTo>
                    <a:cubicBezTo>
                      <a:pt x="7" y="12"/>
                      <a:pt x="14" y="14"/>
                      <a:pt x="20" y="17"/>
                    </a:cubicBezTo>
                    <a:cubicBezTo>
                      <a:pt x="27" y="20"/>
                      <a:pt x="33" y="24"/>
                      <a:pt x="39" y="28"/>
                    </a:cubicBezTo>
                    <a:cubicBezTo>
                      <a:pt x="46" y="18"/>
                      <a:pt x="46" y="18"/>
                      <a:pt x="46" y="18"/>
                    </a:cubicBezTo>
                    <a:cubicBezTo>
                      <a:pt x="39" y="14"/>
                      <a:pt x="32" y="10"/>
                      <a:pt x="25" y="7"/>
                    </a:cubicBez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51" name="Freeform: Shape 89"/>
              <p:cNvSpPr>
                <a:spLocks/>
              </p:cNvSpPr>
              <p:nvPr/>
            </p:nvSpPr>
            <p:spPr bwMode="auto">
              <a:xfrm>
                <a:off x="3154363" y="3967163"/>
                <a:ext cx="165100" cy="128588"/>
              </a:xfrm>
              <a:custGeom>
                <a:avLst/>
                <a:gdLst/>
                <a:ahLst/>
                <a:cxnLst>
                  <a:cxn ang="0">
                    <a:pos x="19" y="11"/>
                  </a:cxn>
                  <a:cxn ang="0">
                    <a:pos x="0" y="26"/>
                  </a:cxn>
                  <a:cxn ang="0">
                    <a:pos x="8" y="34"/>
                  </a:cxn>
                  <a:cxn ang="0">
                    <a:pos x="25" y="20"/>
                  </a:cxn>
                  <a:cxn ang="0">
                    <a:pos x="44" y="11"/>
                  </a:cxn>
                  <a:cxn ang="0">
                    <a:pos x="40" y="0"/>
                  </a:cxn>
                  <a:cxn ang="0">
                    <a:pos x="19" y="11"/>
                  </a:cxn>
                </a:cxnLst>
                <a:rect l="0" t="0" r="r" b="b"/>
                <a:pathLst>
                  <a:path w="44" h="34">
                    <a:moveTo>
                      <a:pt x="19" y="11"/>
                    </a:moveTo>
                    <a:cubicBezTo>
                      <a:pt x="12" y="15"/>
                      <a:pt x="6" y="20"/>
                      <a:pt x="0" y="26"/>
                    </a:cubicBezTo>
                    <a:cubicBezTo>
                      <a:pt x="8" y="34"/>
                      <a:pt x="8" y="34"/>
                      <a:pt x="8" y="34"/>
                    </a:cubicBezTo>
                    <a:cubicBezTo>
                      <a:pt x="13" y="29"/>
                      <a:pt x="19" y="24"/>
                      <a:pt x="25" y="20"/>
                    </a:cubicBezTo>
                    <a:cubicBezTo>
                      <a:pt x="31" y="16"/>
                      <a:pt x="37" y="13"/>
                      <a:pt x="44" y="11"/>
                    </a:cubicBezTo>
                    <a:cubicBezTo>
                      <a:pt x="40" y="0"/>
                      <a:pt x="40" y="0"/>
                      <a:pt x="40" y="0"/>
                    </a:cubicBezTo>
                    <a:cubicBezTo>
                      <a:pt x="33" y="3"/>
                      <a:pt x="26" y="7"/>
                      <a:pt x="19" y="11"/>
                    </a:cubicBez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52" name="Freeform: Shape 90"/>
              <p:cNvSpPr>
                <a:spLocks/>
              </p:cNvSpPr>
              <p:nvPr/>
            </p:nvSpPr>
            <p:spPr bwMode="auto">
              <a:xfrm>
                <a:off x="3033713" y="4254500"/>
                <a:ext cx="52388" cy="107950"/>
              </a:xfrm>
              <a:custGeom>
                <a:avLst/>
                <a:gdLst/>
                <a:ahLst/>
                <a:cxnLst>
                  <a:cxn ang="0">
                    <a:pos x="0" y="24"/>
                  </a:cxn>
                  <a:cxn ang="0">
                    <a:pos x="0" y="29"/>
                  </a:cxn>
                  <a:cxn ang="0">
                    <a:pos x="11" y="29"/>
                  </a:cxn>
                  <a:cxn ang="0">
                    <a:pos x="11" y="24"/>
                  </a:cxn>
                  <a:cxn ang="0">
                    <a:pos x="14" y="3"/>
                  </a:cxn>
                  <a:cxn ang="0">
                    <a:pos x="3" y="0"/>
                  </a:cxn>
                  <a:cxn ang="0">
                    <a:pos x="0" y="24"/>
                  </a:cxn>
                </a:cxnLst>
                <a:rect l="0" t="0" r="r" b="b"/>
                <a:pathLst>
                  <a:path w="14" h="29">
                    <a:moveTo>
                      <a:pt x="0" y="24"/>
                    </a:moveTo>
                    <a:cubicBezTo>
                      <a:pt x="0" y="26"/>
                      <a:pt x="0" y="28"/>
                      <a:pt x="0" y="29"/>
                    </a:cubicBezTo>
                    <a:cubicBezTo>
                      <a:pt x="11" y="29"/>
                      <a:pt x="11" y="29"/>
                      <a:pt x="11" y="29"/>
                    </a:cubicBezTo>
                    <a:cubicBezTo>
                      <a:pt x="11" y="28"/>
                      <a:pt x="11" y="26"/>
                      <a:pt x="11" y="24"/>
                    </a:cubicBezTo>
                    <a:cubicBezTo>
                      <a:pt x="11" y="17"/>
                      <a:pt x="12" y="10"/>
                      <a:pt x="14" y="3"/>
                    </a:cubicBezTo>
                    <a:cubicBezTo>
                      <a:pt x="3" y="0"/>
                      <a:pt x="3" y="0"/>
                      <a:pt x="3" y="0"/>
                    </a:cubicBezTo>
                    <a:cubicBezTo>
                      <a:pt x="1" y="8"/>
                      <a:pt x="0" y="16"/>
                      <a:pt x="0" y="24"/>
                    </a:cubicBez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53" name="Freeform: Shape 91"/>
              <p:cNvSpPr>
                <a:spLocks/>
              </p:cNvSpPr>
              <p:nvPr/>
            </p:nvSpPr>
            <p:spPr bwMode="auto">
              <a:xfrm>
                <a:off x="2797175" y="4362450"/>
                <a:ext cx="511175" cy="255588"/>
              </a:xfrm>
              <a:custGeom>
                <a:avLst/>
                <a:gdLst/>
                <a:ahLst/>
                <a:cxnLst>
                  <a:cxn ang="0">
                    <a:pos x="0" y="0"/>
                  </a:cxn>
                  <a:cxn ang="0">
                    <a:pos x="161" y="161"/>
                  </a:cxn>
                  <a:cxn ang="0">
                    <a:pos x="322" y="0"/>
                  </a:cxn>
                  <a:cxn ang="0">
                    <a:pos x="0" y="0"/>
                  </a:cxn>
                </a:cxnLst>
                <a:rect l="0" t="0" r="r" b="b"/>
                <a:pathLst>
                  <a:path w="322" h="161">
                    <a:moveTo>
                      <a:pt x="0" y="0"/>
                    </a:moveTo>
                    <a:lnTo>
                      <a:pt x="161" y="161"/>
                    </a:lnTo>
                    <a:lnTo>
                      <a:pt x="322" y="0"/>
                    </a:lnTo>
                    <a:lnTo>
                      <a:pt x="0" y="0"/>
                    </a:lnTo>
                    <a:close/>
                  </a:path>
                </a:pathLst>
              </a:custGeom>
              <a:solidFill>
                <a:schemeClr val="accent3"/>
              </a:solidFill>
              <a:ln w="9525">
                <a:noFill/>
                <a:round/>
                <a:headEnd/>
                <a:tailEnd/>
              </a:ln>
            </p:spPr>
            <p:txBody>
              <a:bodyPr anchor="ctr"/>
              <a:lstStyle/>
              <a:p>
                <a:pPr algn="ctr"/>
                <a:endParaRPr dirty="0">
                  <a:cs typeface="+mn-ea"/>
                  <a:sym typeface="+mn-lt"/>
                </a:endParaRPr>
              </a:p>
            </p:txBody>
          </p:sp>
        </p:grpSp>
        <p:grpSp>
          <p:nvGrpSpPr>
            <p:cNvPr id="7" name="Group 38"/>
            <p:cNvGrpSpPr/>
            <p:nvPr/>
          </p:nvGrpSpPr>
          <p:grpSpPr>
            <a:xfrm>
              <a:off x="3779374" y="2495700"/>
              <a:ext cx="3121623" cy="4362301"/>
              <a:chOff x="3195638" y="2200275"/>
              <a:chExt cx="2112962" cy="2952751"/>
            </a:xfrm>
          </p:grpSpPr>
          <p:sp>
            <p:nvSpPr>
              <p:cNvPr id="34" name="Freeform: Shape 72"/>
              <p:cNvSpPr>
                <a:spLocks/>
              </p:cNvSpPr>
              <p:nvPr/>
            </p:nvSpPr>
            <p:spPr bwMode="auto">
              <a:xfrm>
                <a:off x="3311525" y="2455863"/>
                <a:ext cx="1997075" cy="2697163"/>
              </a:xfrm>
              <a:custGeom>
                <a:avLst/>
                <a:gdLst/>
                <a:ahLst/>
                <a:cxnLst>
                  <a:cxn ang="0">
                    <a:pos x="435" y="198"/>
                  </a:cxn>
                  <a:cxn ang="0">
                    <a:pos x="208" y="118"/>
                  </a:cxn>
                  <a:cxn ang="0">
                    <a:pos x="112" y="85"/>
                  </a:cxn>
                  <a:cxn ang="0">
                    <a:pos x="74" y="0"/>
                  </a:cxn>
                  <a:cxn ang="0">
                    <a:pos x="0" y="0"/>
                  </a:cxn>
                  <a:cxn ang="0">
                    <a:pos x="63" y="141"/>
                  </a:cxn>
                  <a:cxn ang="0">
                    <a:pos x="208" y="192"/>
                  </a:cxn>
                  <a:cxn ang="0">
                    <a:pos x="386" y="254"/>
                  </a:cxn>
                  <a:cxn ang="0">
                    <a:pos x="457" y="414"/>
                  </a:cxn>
                  <a:cxn ang="0">
                    <a:pos x="457" y="717"/>
                  </a:cxn>
                  <a:cxn ang="0">
                    <a:pos x="531" y="717"/>
                  </a:cxn>
                  <a:cxn ang="0">
                    <a:pos x="531" y="414"/>
                  </a:cxn>
                  <a:cxn ang="0">
                    <a:pos x="435" y="198"/>
                  </a:cxn>
                </a:cxnLst>
                <a:rect l="0" t="0" r="r" b="b"/>
                <a:pathLst>
                  <a:path w="531" h="717">
                    <a:moveTo>
                      <a:pt x="435" y="198"/>
                    </a:moveTo>
                    <a:cubicBezTo>
                      <a:pt x="376" y="146"/>
                      <a:pt x="296" y="118"/>
                      <a:pt x="208" y="118"/>
                    </a:cubicBezTo>
                    <a:cubicBezTo>
                      <a:pt x="170" y="118"/>
                      <a:pt x="136" y="106"/>
                      <a:pt x="112" y="85"/>
                    </a:cubicBezTo>
                    <a:cubicBezTo>
                      <a:pt x="87" y="64"/>
                      <a:pt x="74" y="34"/>
                      <a:pt x="74" y="0"/>
                    </a:cubicBezTo>
                    <a:cubicBezTo>
                      <a:pt x="0" y="0"/>
                      <a:pt x="0" y="0"/>
                      <a:pt x="0" y="0"/>
                    </a:cubicBezTo>
                    <a:cubicBezTo>
                      <a:pt x="0" y="55"/>
                      <a:pt x="22" y="106"/>
                      <a:pt x="63" y="141"/>
                    </a:cubicBezTo>
                    <a:cubicBezTo>
                      <a:pt x="101" y="174"/>
                      <a:pt x="153" y="192"/>
                      <a:pt x="208" y="192"/>
                    </a:cubicBezTo>
                    <a:cubicBezTo>
                      <a:pt x="278" y="192"/>
                      <a:pt x="341" y="214"/>
                      <a:pt x="386" y="254"/>
                    </a:cubicBezTo>
                    <a:cubicBezTo>
                      <a:pt x="432" y="294"/>
                      <a:pt x="457" y="350"/>
                      <a:pt x="457" y="414"/>
                    </a:cubicBezTo>
                    <a:cubicBezTo>
                      <a:pt x="457" y="717"/>
                      <a:pt x="457" y="717"/>
                      <a:pt x="457" y="717"/>
                    </a:cubicBezTo>
                    <a:cubicBezTo>
                      <a:pt x="531" y="717"/>
                      <a:pt x="531" y="717"/>
                      <a:pt x="531" y="717"/>
                    </a:cubicBezTo>
                    <a:cubicBezTo>
                      <a:pt x="531" y="414"/>
                      <a:pt x="531" y="414"/>
                      <a:pt x="531" y="414"/>
                    </a:cubicBezTo>
                    <a:cubicBezTo>
                      <a:pt x="531" y="329"/>
                      <a:pt x="497" y="252"/>
                      <a:pt x="435" y="198"/>
                    </a:cubicBez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35" name="Freeform: Shape 73"/>
              <p:cNvSpPr>
                <a:spLocks/>
              </p:cNvSpPr>
              <p:nvPr/>
            </p:nvSpPr>
            <p:spPr bwMode="auto">
              <a:xfrm>
                <a:off x="4281488" y="3019425"/>
                <a:ext cx="173038" cy="82550"/>
              </a:xfrm>
              <a:custGeom>
                <a:avLst/>
                <a:gdLst/>
                <a:ahLst/>
                <a:cxnLst>
                  <a:cxn ang="0">
                    <a:pos x="0" y="11"/>
                  </a:cxn>
                  <a:cxn ang="0">
                    <a:pos x="22" y="16"/>
                  </a:cxn>
                  <a:cxn ang="0">
                    <a:pos x="42" y="22"/>
                  </a:cxn>
                  <a:cxn ang="0">
                    <a:pos x="46" y="12"/>
                  </a:cxn>
                  <a:cxn ang="0">
                    <a:pos x="25" y="5"/>
                  </a:cxn>
                  <a:cxn ang="0">
                    <a:pos x="3" y="0"/>
                  </a:cxn>
                  <a:cxn ang="0">
                    <a:pos x="0" y="11"/>
                  </a:cxn>
                </a:cxnLst>
                <a:rect l="0" t="0" r="r" b="b"/>
                <a:pathLst>
                  <a:path w="46" h="22">
                    <a:moveTo>
                      <a:pt x="0" y="11"/>
                    </a:moveTo>
                    <a:cubicBezTo>
                      <a:pt x="7" y="12"/>
                      <a:pt x="15" y="14"/>
                      <a:pt x="22" y="16"/>
                    </a:cubicBezTo>
                    <a:cubicBezTo>
                      <a:pt x="29" y="17"/>
                      <a:pt x="35" y="19"/>
                      <a:pt x="42" y="22"/>
                    </a:cubicBezTo>
                    <a:cubicBezTo>
                      <a:pt x="46" y="12"/>
                      <a:pt x="46" y="12"/>
                      <a:pt x="46" y="12"/>
                    </a:cubicBezTo>
                    <a:cubicBezTo>
                      <a:pt x="39" y="9"/>
                      <a:pt x="32" y="7"/>
                      <a:pt x="25" y="5"/>
                    </a:cubicBezTo>
                    <a:cubicBezTo>
                      <a:pt x="18" y="3"/>
                      <a:pt x="10" y="1"/>
                      <a:pt x="3" y="0"/>
                    </a:cubicBezTo>
                    <a:lnTo>
                      <a:pt x="0" y="11"/>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36" name="Freeform: Shape 74"/>
              <p:cNvSpPr>
                <a:spLocks/>
              </p:cNvSpPr>
              <p:nvPr/>
            </p:nvSpPr>
            <p:spPr bwMode="auto">
              <a:xfrm>
                <a:off x="4646613" y="3128963"/>
                <a:ext cx="166688" cy="131763"/>
              </a:xfrm>
              <a:custGeom>
                <a:avLst/>
                <a:gdLst/>
                <a:ahLst/>
                <a:cxnLst>
                  <a:cxn ang="0">
                    <a:pos x="0" y="9"/>
                  </a:cxn>
                  <a:cxn ang="0">
                    <a:pos x="20" y="22"/>
                  </a:cxn>
                  <a:cxn ang="0">
                    <a:pos x="36" y="35"/>
                  </a:cxn>
                  <a:cxn ang="0">
                    <a:pos x="44" y="27"/>
                  </a:cxn>
                  <a:cxn ang="0">
                    <a:pos x="26" y="13"/>
                  </a:cxn>
                  <a:cxn ang="0">
                    <a:pos x="7" y="0"/>
                  </a:cxn>
                  <a:cxn ang="0">
                    <a:pos x="0" y="9"/>
                  </a:cxn>
                </a:cxnLst>
                <a:rect l="0" t="0" r="r" b="b"/>
                <a:pathLst>
                  <a:path w="44" h="35">
                    <a:moveTo>
                      <a:pt x="0" y="9"/>
                    </a:moveTo>
                    <a:cubicBezTo>
                      <a:pt x="7" y="13"/>
                      <a:pt x="13" y="17"/>
                      <a:pt x="20" y="22"/>
                    </a:cubicBezTo>
                    <a:cubicBezTo>
                      <a:pt x="25" y="26"/>
                      <a:pt x="31" y="31"/>
                      <a:pt x="36" y="35"/>
                    </a:cubicBezTo>
                    <a:cubicBezTo>
                      <a:pt x="44" y="27"/>
                      <a:pt x="44" y="27"/>
                      <a:pt x="44" y="27"/>
                    </a:cubicBezTo>
                    <a:cubicBezTo>
                      <a:pt x="38" y="22"/>
                      <a:pt x="32" y="18"/>
                      <a:pt x="26" y="13"/>
                    </a:cubicBezTo>
                    <a:cubicBezTo>
                      <a:pt x="20" y="8"/>
                      <a:pt x="14" y="4"/>
                      <a:pt x="7" y="0"/>
                    </a:cubicBezTo>
                    <a:lnTo>
                      <a:pt x="0" y="9"/>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37" name="Freeform: Shape 75"/>
              <p:cNvSpPr>
                <a:spLocks/>
              </p:cNvSpPr>
              <p:nvPr/>
            </p:nvSpPr>
            <p:spPr bwMode="auto">
              <a:xfrm>
                <a:off x="3868738" y="2974975"/>
                <a:ext cx="176213" cy="63500"/>
              </a:xfrm>
              <a:custGeom>
                <a:avLst/>
                <a:gdLst/>
                <a:ahLst/>
                <a:cxnLst>
                  <a:cxn ang="0">
                    <a:pos x="47" y="6"/>
                  </a:cxn>
                  <a:cxn ang="0">
                    <a:pos x="23" y="4"/>
                  </a:cxn>
                  <a:cxn ang="0">
                    <a:pos x="3" y="0"/>
                  </a:cxn>
                  <a:cxn ang="0">
                    <a:pos x="0" y="11"/>
                  </a:cxn>
                  <a:cxn ang="0">
                    <a:pos x="22" y="15"/>
                  </a:cxn>
                  <a:cxn ang="0">
                    <a:pos x="45" y="17"/>
                  </a:cxn>
                  <a:cxn ang="0">
                    <a:pos x="47" y="6"/>
                  </a:cxn>
                </a:cxnLst>
                <a:rect l="0" t="0" r="r" b="b"/>
                <a:pathLst>
                  <a:path w="47" h="17">
                    <a:moveTo>
                      <a:pt x="47" y="6"/>
                    </a:moveTo>
                    <a:cubicBezTo>
                      <a:pt x="39" y="5"/>
                      <a:pt x="31" y="5"/>
                      <a:pt x="23" y="4"/>
                    </a:cubicBezTo>
                    <a:cubicBezTo>
                      <a:pt x="17" y="3"/>
                      <a:pt x="10" y="2"/>
                      <a:pt x="3" y="0"/>
                    </a:cubicBezTo>
                    <a:cubicBezTo>
                      <a:pt x="0" y="11"/>
                      <a:pt x="0" y="11"/>
                      <a:pt x="0" y="11"/>
                    </a:cubicBezTo>
                    <a:cubicBezTo>
                      <a:pt x="7" y="13"/>
                      <a:pt x="15" y="14"/>
                      <a:pt x="22" y="15"/>
                    </a:cubicBezTo>
                    <a:cubicBezTo>
                      <a:pt x="30" y="16"/>
                      <a:pt x="37" y="16"/>
                      <a:pt x="45" y="17"/>
                    </a:cubicBezTo>
                    <a:lnTo>
                      <a:pt x="47" y="6"/>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38" name="Freeform: Shape 76"/>
              <p:cNvSpPr>
                <a:spLocks/>
              </p:cNvSpPr>
              <p:nvPr/>
            </p:nvSpPr>
            <p:spPr bwMode="auto">
              <a:xfrm>
                <a:off x="3522663" y="2749550"/>
                <a:ext cx="146050" cy="149225"/>
              </a:xfrm>
              <a:custGeom>
                <a:avLst/>
                <a:gdLst/>
                <a:ahLst/>
                <a:cxnLst>
                  <a:cxn ang="0">
                    <a:pos x="39" y="32"/>
                  </a:cxn>
                  <a:cxn ang="0">
                    <a:pos x="23" y="16"/>
                  </a:cxn>
                  <a:cxn ang="0">
                    <a:pos x="10" y="0"/>
                  </a:cxn>
                  <a:cxn ang="0">
                    <a:pos x="0" y="6"/>
                  </a:cxn>
                  <a:cxn ang="0">
                    <a:pos x="15" y="24"/>
                  </a:cxn>
                  <a:cxn ang="0">
                    <a:pos x="31" y="40"/>
                  </a:cxn>
                  <a:cxn ang="0">
                    <a:pos x="39" y="32"/>
                  </a:cxn>
                </a:cxnLst>
                <a:rect l="0" t="0" r="r" b="b"/>
                <a:pathLst>
                  <a:path w="39" h="40">
                    <a:moveTo>
                      <a:pt x="39" y="32"/>
                    </a:moveTo>
                    <a:cubicBezTo>
                      <a:pt x="33" y="27"/>
                      <a:pt x="28" y="22"/>
                      <a:pt x="23" y="16"/>
                    </a:cubicBezTo>
                    <a:cubicBezTo>
                      <a:pt x="18" y="11"/>
                      <a:pt x="14" y="6"/>
                      <a:pt x="10" y="0"/>
                    </a:cubicBezTo>
                    <a:cubicBezTo>
                      <a:pt x="0" y="6"/>
                      <a:pt x="0" y="6"/>
                      <a:pt x="0" y="6"/>
                    </a:cubicBezTo>
                    <a:cubicBezTo>
                      <a:pt x="5" y="12"/>
                      <a:pt x="10" y="18"/>
                      <a:pt x="15" y="24"/>
                    </a:cubicBezTo>
                    <a:cubicBezTo>
                      <a:pt x="20" y="29"/>
                      <a:pt x="25" y="35"/>
                      <a:pt x="31" y="40"/>
                    </a:cubicBezTo>
                    <a:lnTo>
                      <a:pt x="39" y="32"/>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39" name="Rectangle 77"/>
              <p:cNvSpPr>
                <a:spLocks/>
              </p:cNvSpPr>
              <p:nvPr/>
            </p:nvSpPr>
            <p:spPr bwMode="auto">
              <a:xfrm>
                <a:off x="5146675" y="4911725"/>
                <a:ext cx="42863" cy="158750"/>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40" name="Rectangle 78"/>
              <p:cNvSpPr>
                <a:spLocks/>
              </p:cNvSpPr>
              <p:nvPr/>
            </p:nvSpPr>
            <p:spPr bwMode="auto">
              <a:xfrm>
                <a:off x="5146675" y="4532313"/>
                <a:ext cx="42863"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41" name="Rectangle 79"/>
              <p:cNvSpPr>
                <a:spLocks/>
              </p:cNvSpPr>
              <p:nvPr/>
            </p:nvSpPr>
            <p:spPr bwMode="auto">
              <a:xfrm>
                <a:off x="5146675" y="4156075"/>
                <a:ext cx="42863"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42" name="Freeform: Shape 80"/>
              <p:cNvSpPr>
                <a:spLocks/>
              </p:cNvSpPr>
              <p:nvPr/>
            </p:nvSpPr>
            <p:spPr bwMode="auto">
              <a:xfrm>
                <a:off x="5121275" y="3768725"/>
                <a:ext cx="68263" cy="168275"/>
              </a:xfrm>
              <a:custGeom>
                <a:avLst/>
                <a:gdLst/>
                <a:ahLst/>
                <a:cxnLst>
                  <a:cxn ang="0">
                    <a:pos x="0" y="2"/>
                  </a:cxn>
                  <a:cxn ang="0">
                    <a:pos x="5" y="25"/>
                  </a:cxn>
                  <a:cxn ang="0">
                    <a:pos x="7" y="45"/>
                  </a:cxn>
                  <a:cxn ang="0">
                    <a:pos x="18" y="45"/>
                  </a:cxn>
                  <a:cxn ang="0">
                    <a:pos x="16" y="23"/>
                  </a:cxn>
                  <a:cxn ang="0">
                    <a:pos x="11" y="0"/>
                  </a:cxn>
                  <a:cxn ang="0">
                    <a:pos x="0" y="2"/>
                  </a:cxn>
                </a:cxnLst>
                <a:rect l="0" t="0" r="r" b="b"/>
                <a:pathLst>
                  <a:path w="18" h="45">
                    <a:moveTo>
                      <a:pt x="0" y="2"/>
                    </a:moveTo>
                    <a:cubicBezTo>
                      <a:pt x="2" y="10"/>
                      <a:pt x="3" y="17"/>
                      <a:pt x="5" y="25"/>
                    </a:cubicBezTo>
                    <a:cubicBezTo>
                      <a:pt x="6" y="32"/>
                      <a:pt x="7" y="39"/>
                      <a:pt x="7" y="45"/>
                    </a:cubicBezTo>
                    <a:cubicBezTo>
                      <a:pt x="18" y="45"/>
                      <a:pt x="18" y="45"/>
                      <a:pt x="18" y="45"/>
                    </a:cubicBezTo>
                    <a:cubicBezTo>
                      <a:pt x="18" y="38"/>
                      <a:pt x="17" y="30"/>
                      <a:pt x="16" y="23"/>
                    </a:cubicBezTo>
                    <a:cubicBezTo>
                      <a:pt x="14" y="15"/>
                      <a:pt x="13" y="8"/>
                      <a:pt x="11" y="0"/>
                    </a:cubicBezTo>
                    <a:lnTo>
                      <a:pt x="0" y="2"/>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43" name="Freeform: Shape 81"/>
              <p:cNvSpPr>
                <a:spLocks/>
              </p:cNvSpPr>
              <p:nvPr/>
            </p:nvSpPr>
            <p:spPr bwMode="auto">
              <a:xfrm>
                <a:off x="4959350" y="3395663"/>
                <a:ext cx="123825" cy="161925"/>
              </a:xfrm>
              <a:custGeom>
                <a:avLst/>
                <a:gdLst/>
                <a:ahLst/>
                <a:cxnLst>
                  <a:cxn ang="0">
                    <a:pos x="0" y="6"/>
                  </a:cxn>
                  <a:cxn ang="0">
                    <a:pos x="12" y="25"/>
                  </a:cxn>
                  <a:cxn ang="0">
                    <a:pos x="22" y="43"/>
                  </a:cxn>
                  <a:cxn ang="0">
                    <a:pos x="33" y="39"/>
                  </a:cxn>
                  <a:cxn ang="0">
                    <a:pos x="22" y="19"/>
                  </a:cxn>
                  <a:cxn ang="0">
                    <a:pos x="9" y="0"/>
                  </a:cxn>
                  <a:cxn ang="0">
                    <a:pos x="0" y="6"/>
                  </a:cxn>
                </a:cxnLst>
                <a:rect l="0" t="0" r="r" b="b"/>
                <a:pathLst>
                  <a:path w="33" h="43">
                    <a:moveTo>
                      <a:pt x="0" y="6"/>
                    </a:moveTo>
                    <a:cubicBezTo>
                      <a:pt x="4" y="12"/>
                      <a:pt x="8" y="19"/>
                      <a:pt x="12" y="25"/>
                    </a:cubicBezTo>
                    <a:cubicBezTo>
                      <a:pt x="16" y="31"/>
                      <a:pt x="19" y="37"/>
                      <a:pt x="22" y="43"/>
                    </a:cubicBezTo>
                    <a:cubicBezTo>
                      <a:pt x="33" y="39"/>
                      <a:pt x="33" y="39"/>
                      <a:pt x="33" y="39"/>
                    </a:cubicBezTo>
                    <a:cubicBezTo>
                      <a:pt x="29" y="32"/>
                      <a:pt x="26" y="26"/>
                      <a:pt x="22" y="19"/>
                    </a:cubicBezTo>
                    <a:cubicBezTo>
                      <a:pt x="18" y="13"/>
                      <a:pt x="14" y="6"/>
                      <a:pt x="9" y="0"/>
                    </a:cubicBezTo>
                    <a:lnTo>
                      <a:pt x="0" y="6"/>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44" name="Freeform: Shape 82"/>
              <p:cNvSpPr>
                <a:spLocks/>
              </p:cNvSpPr>
              <p:nvPr/>
            </p:nvSpPr>
            <p:spPr bwMode="auto">
              <a:xfrm>
                <a:off x="3424238" y="2455863"/>
                <a:ext cx="52388" cy="79375"/>
              </a:xfrm>
              <a:custGeom>
                <a:avLst/>
                <a:gdLst/>
                <a:ahLst/>
                <a:cxnLst>
                  <a:cxn ang="0">
                    <a:pos x="3" y="21"/>
                  </a:cxn>
                  <a:cxn ang="0">
                    <a:pos x="14" y="21"/>
                  </a:cxn>
                  <a:cxn ang="0">
                    <a:pos x="11" y="0"/>
                  </a:cxn>
                  <a:cxn ang="0">
                    <a:pos x="0" y="0"/>
                  </a:cxn>
                  <a:cxn ang="0">
                    <a:pos x="3" y="21"/>
                  </a:cxn>
                </a:cxnLst>
                <a:rect l="0" t="0" r="r" b="b"/>
                <a:pathLst>
                  <a:path w="14" h="21">
                    <a:moveTo>
                      <a:pt x="3" y="21"/>
                    </a:moveTo>
                    <a:cubicBezTo>
                      <a:pt x="14" y="21"/>
                      <a:pt x="14" y="21"/>
                      <a:pt x="14" y="21"/>
                    </a:cubicBezTo>
                    <a:cubicBezTo>
                      <a:pt x="12" y="14"/>
                      <a:pt x="12" y="7"/>
                      <a:pt x="11" y="0"/>
                    </a:cubicBezTo>
                    <a:cubicBezTo>
                      <a:pt x="0" y="0"/>
                      <a:pt x="0" y="0"/>
                      <a:pt x="0" y="0"/>
                    </a:cubicBezTo>
                    <a:cubicBezTo>
                      <a:pt x="0" y="7"/>
                      <a:pt x="1" y="14"/>
                      <a:pt x="3" y="21"/>
                    </a:cubicBez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45" name="Freeform: Shape 83"/>
              <p:cNvSpPr>
                <a:spLocks/>
              </p:cNvSpPr>
              <p:nvPr/>
            </p:nvSpPr>
            <p:spPr bwMode="auto">
              <a:xfrm>
                <a:off x="3195638" y="2200275"/>
                <a:ext cx="511175" cy="255588"/>
              </a:xfrm>
              <a:custGeom>
                <a:avLst/>
                <a:gdLst/>
                <a:ahLst/>
                <a:cxnLst>
                  <a:cxn ang="0">
                    <a:pos x="322" y="161"/>
                  </a:cxn>
                  <a:cxn ang="0">
                    <a:pos x="161" y="0"/>
                  </a:cxn>
                  <a:cxn ang="0">
                    <a:pos x="0" y="161"/>
                  </a:cxn>
                  <a:cxn ang="0">
                    <a:pos x="322" y="161"/>
                  </a:cxn>
                </a:cxnLst>
                <a:rect l="0" t="0" r="r" b="b"/>
                <a:pathLst>
                  <a:path w="322" h="161">
                    <a:moveTo>
                      <a:pt x="322" y="161"/>
                    </a:moveTo>
                    <a:lnTo>
                      <a:pt x="161" y="0"/>
                    </a:lnTo>
                    <a:lnTo>
                      <a:pt x="0" y="161"/>
                    </a:lnTo>
                    <a:lnTo>
                      <a:pt x="322" y="161"/>
                    </a:lnTo>
                    <a:close/>
                  </a:path>
                </a:pathLst>
              </a:custGeom>
              <a:solidFill>
                <a:schemeClr val="accent3"/>
              </a:solidFill>
              <a:ln w="9525">
                <a:noFill/>
                <a:round/>
                <a:headEnd/>
                <a:tailEnd/>
              </a:ln>
            </p:spPr>
            <p:txBody>
              <a:bodyPr anchor="ctr"/>
              <a:lstStyle/>
              <a:p>
                <a:pPr algn="ctr"/>
                <a:endParaRPr dirty="0">
                  <a:cs typeface="+mn-ea"/>
                  <a:sym typeface="+mn-lt"/>
                </a:endParaRPr>
              </a:p>
            </p:txBody>
          </p:sp>
        </p:grpSp>
        <p:grpSp>
          <p:nvGrpSpPr>
            <p:cNvPr id="13" name="Group 3"/>
            <p:cNvGrpSpPr/>
            <p:nvPr/>
          </p:nvGrpSpPr>
          <p:grpSpPr>
            <a:xfrm>
              <a:off x="6998212" y="3863024"/>
              <a:ext cx="1372016" cy="2994977"/>
              <a:chOff x="6998212" y="3863022"/>
              <a:chExt cx="1372016" cy="2994977"/>
            </a:xfrm>
          </p:grpSpPr>
          <p:grpSp>
            <p:nvGrpSpPr>
              <p:cNvPr id="14" name="Group 34"/>
              <p:cNvGrpSpPr/>
              <p:nvPr/>
            </p:nvGrpSpPr>
            <p:grpSpPr>
              <a:xfrm>
                <a:off x="6998212" y="3863022"/>
                <a:ext cx="1372016" cy="2994977"/>
                <a:chOff x="4700587" y="3125788"/>
                <a:chExt cx="928689" cy="2027238"/>
              </a:xfrm>
            </p:grpSpPr>
            <p:sp>
              <p:nvSpPr>
                <p:cNvPr id="17" name="Freeform: Shape 116"/>
                <p:cNvSpPr>
                  <a:spLocks/>
                </p:cNvSpPr>
                <p:nvPr/>
              </p:nvSpPr>
              <p:spPr bwMode="auto">
                <a:xfrm>
                  <a:off x="4700587" y="3244850"/>
                  <a:ext cx="673100" cy="1908176"/>
                </a:xfrm>
                <a:custGeom>
                  <a:avLst/>
                  <a:gdLst/>
                  <a:ahLst/>
                  <a:cxnLst>
                    <a:cxn ang="0">
                      <a:pos x="0" y="179"/>
                    </a:cxn>
                    <a:cxn ang="0">
                      <a:pos x="0" y="507"/>
                    </a:cxn>
                    <a:cxn ang="0">
                      <a:pos x="74" y="507"/>
                    </a:cxn>
                    <a:cxn ang="0">
                      <a:pos x="74" y="179"/>
                    </a:cxn>
                    <a:cxn ang="0">
                      <a:pos x="179" y="75"/>
                    </a:cxn>
                    <a:cxn ang="0">
                      <a:pos x="179" y="0"/>
                    </a:cxn>
                    <a:cxn ang="0">
                      <a:pos x="0" y="179"/>
                    </a:cxn>
                  </a:cxnLst>
                  <a:rect l="0" t="0" r="r" b="b"/>
                  <a:pathLst>
                    <a:path w="179" h="507">
                      <a:moveTo>
                        <a:pt x="0" y="179"/>
                      </a:moveTo>
                      <a:cubicBezTo>
                        <a:pt x="0" y="507"/>
                        <a:pt x="0" y="507"/>
                        <a:pt x="0" y="507"/>
                      </a:cubicBezTo>
                      <a:cubicBezTo>
                        <a:pt x="74" y="507"/>
                        <a:pt x="74" y="507"/>
                        <a:pt x="74" y="507"/>
                      </a:cubicBezTo>
                      <a:cubicBezTo>
                        <a:pt x="74" y="179"/>
                        <a:pt x="74" y="179"/>
                        <a:pt x="74" y="179"/>
                      </a:cubicBezTo>
                      <a:cubicBezTo>
                        <a:pt x="74" y="122"/>
                        <a:pt x="121" y="75"/>
                        <a:pt x="179" y="75"/>
                      </a:cubicBezTo>
                      <a:cubicBezTo>
                        <a:pt x="179" y="0"/>
                        <a:pt x="179" y="0"/>
                        <a:pt x="179" y="0"/>
                      </a:cubicBezTo>
                      <a:cubicBezTo>
                        <a:pt x="80" y="0"/>
                        <a:pt x="0" y="81"/>
                        <a:pt x="0" y="179"/>
                      </a:cubicBez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18" name="Freeform: Shape 117"/>
                <p:cNvSpPr>
                  <a:spLocks/>
                </p:cNvSpPr>
                <p:nvPr/>
              </p:nvSpPr>
              <p:spPr bwMode="auto">
                <a:xfrm>
                  <a:off x="5373688" y="3125788"/>
                  <a:ext cx="255588" cy="508000"/>
                </a:xfrm>
                <a:custGeom>
                  <a:avLst/>
                  <a:gdLst/>
                  <a:ahLst/>
                  <a:cxnLst>
                    <a:cxn ang="0">
                      <a:pos x="0" y="320"/>
                    </a:cxn>
                    <a:cxn ang="0">
                      <a:pos x="161" y="161"/>
                    </a:cxn>
                    <a:cxn ang="0">
                      <a:pos x="0" y="0"/>
                    </a:cxn>
                    <a:cxn ang="0">
                      <a:pos x="0" y="320"/>
                    </a:cxn>
                  </a:cxnLst>
                  <a:rect l="0" t="0" r="r" b="b"/>
                  <a:pathLst>
                    <a:path w="161" h="320">
                      <a:moveTo>
                        <a:pt x="0" y="320"/>
                      </a:moveTo>
                      <a:lnTo>
                        <a:pt x="161" y="161"/>
                      </a:lnTo>
                      <a:lnTo>
                        <a:pt x="0" y="0"/>
                      </a:lnTo>
                      <a:lnTo>
                        <a:pt x="0" y="320"/>
                      </a:lnTo>
                      <a:close/>
                    </a:path>
                  </a:pathLst>
                </a:custGeom>
                <a:solidFill>
                  <a:schemeClr val="accent3"/>
                </a:solidFill>
                <a:ln w="9525">
                  <a:noFill/>
                  <a:round/>
                  <a:headEnd/>
                  <a:tailEnd/>
                </a:ln>
              </p:spPr>
              <p:txBody>
                <a:bodyPr anchor="ctr"/>
                <a:lstStyle/>
                <a:p>
                  <a:pPr algn="ctr"/>
                  <a:endParaRPr dirty="0">
                    <a:cs typeface="+mn-ea"/>
                    <a:sym typeface="+mn-lt"/>
                  </a:endParaRPr>
                </a:p>
              </p:txBody>
            </p:sp>
            <p:sp>
              <p:nvSpPr>
                <p:cNvPr id="19" name="Freeform: Shape 118"/>
                <p:cNvSpPr>
                  <a:spLocks/>
                </p:cNvSpPr>
                <p:nvPr/>
              </p:nvSpPr>
              <p:spPr bwMode="auto">
                <a:xfrm>
                  <a:off x="5319713" y="3365500"/>
                  <a:ext cx="53975" cy="46038"/>
                </a:xfrm>
                <a:custGeom>
                  <a:avLst/>
                  <a:gdLst/>
                  <a:ahLst/>
                  <a:cxnLst>
                    <a:cxn ang="0">
                      <a:pos x="14" y="0"/>
                    </a:cxn>
                    <a:cxn ang="0">
                      <a:pos x="0" y="1"/>
                    </a:cxn>
                    <a:cxn ang="0">
                      <a:pos x="0" y="12"/>
                    </a:cxn>
                    <a:cxn ang="0">
                      <a:pos x="14" y="11"/>
                    </a:cxn>
                    <a:cxn ang="0">
                      <a:pos x="14" y="0"/>
                    </a:cxn>
                  </a:cxnLst>
                  <a:rect l="0" t="0" r="r" b="b"/>
                  <a:pathLst>
                    <a:path w="14" h="12">
                      <a:moveTo>
                        <a:pt x="14" y="0"/>
                      </a:moveTo>
                      <a:cubicBezTo>
                        <a:pt x="9" y="0"/>
                        <a:pt x="5" y="0"/>
                        <a:pt x="0" y="1"/>
                      </a:cubicBezTo>
                      <a:cubicBezTo>
                        <a:pt x="0" y="12"/>
                        <a:pt x="0" y="12"/>
                        <a:pt x="0" y="12"/>
                      </a:cubicBezTo>
                      <a:cubicBezTo>
                        <a:pt x="4" y="11"/>
                        <a:pt x="9" y="11"/>
                        <a:pt x="14" y="11"/>
                      </a:cubicBezTo>
                      <a:lnTo>
                        <a:pt x="14" y="0"/>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20" name="Rectangle 119"/>
                <p:cNvSpPr>
                  <a:spLocks/>
                </p:cNvSpPr>
                <p:nvPr/>
              </p:nvSpPr>
              <p:spPr bwMode="auto">
                <a:xfrm>
                  <a:off x="4816475" y="4911725"/>
                  <a:ext cx="44450" cy="158750"/>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21" name="Rectangle 120"/>
                <p:cNvSpPr>
                  <a:spLocks/>
                </p:cNvSpPr>
                <p:nvPr/>
              </p:nvSpPr>
              <p:spPr bwMode="auto">
                <a:xfrm>
                  <a:off x="4816475" y="4532313"/>
                  <a:ext cx="44450"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22" name="Rectangle 121"/>
                <p:cNvSpPr>
                  <a:spLocks/>
                </p:cNvSpPr>
                <p:nvPr/>
              </p:nvSpPr>
              <p:spPr bwMode="auto">
                <a:xfrm>
                  <a:off x="4816475" y="4156075"/>
                  <a:ext cx="44450" cy="161925"/>
                </a:xfrm>
                <a:prstGeom prst="rect">
                  <a:avLst/>
                </a:prstGeom>
                <a:solidFill>
                  <a:srgbClr val="FFFFFF"/>
                </a:solidFill>
                <a:ln w="9525">
                  <a:noFill/>
                  <a:miter lim="800000"/>
                  <a:headEnd/>
                  <a:tailEnd/>
                </a:ln>
              </p:spPr>
              <p:txBody>
                <a:bodyPr anchor="ctr"/>
                <a:lstStyle/>
                <a:p>
                  <a:pPr algn="ctr"/>
                  <a:endParaRPr dirty="0">
                    <a:cs typeface="+mn-ea"/>
                    <a:sym typeface="+mn-lt"/>
                  </a:endParaRPr>
                </a:p>
              </p:txBody>
            </p:sp>
            <p:sp>
              <p:nvSpPr>
                <p:cNvPr id="23" name="Freeform: Shape 122"/>
                <p:cNvSpPr>
                  <a:spLocks/>
                </p:cNvSpPr>
                <p:nvPr/>
              </p:nvSpPr>
              <p:spPr bwMode="auto">
                <a:xfrm>
                  <a:off x="4816475" y="3783013"/>
                  <a:ext cx="60325" cy="166688"/>
                </a:xfrm>
                <a:custGeom>
                  <a:avLst/>
                  <a:gdLst/>
                  <a:ahLst/>
                  <a:cxnLst>
                    <a:cxn ang="0">
                      <a:pos x="12" y="44"/>
                    </a:cxn>
                    <a:cxn ang="0">
                      <a:pos x="16" y="1"/>
                    </a:cxn>
                    <a:cxn ang="0">
                      <a:pos x="5" y="0"/>
                    </a:cxn>
                    <a:cxn ang="0">
                      <a:pos x="1" y="42"/>
                    </a:cxn>
                    <a:cxn ang="0">
                      <a:pos x="12" y="44"/>
                    </a:cxn>
                  </a:cxnLst>
                  <a:rect l="0" t="0" r="r" b="b"/>
                  <a:pathLst>
                    <a:path w="16" h="44">
                      <a:moveTo>
                        <a:pt x="12" y="44"/>
                      </a:moveTo>
                      <a:cubicBezTo>
                        <a:pt x="11" y="29"/>
                        <a:pt x="13" y="15"/>
                        <a:pt x="16" y="1"/>
                      </a:cubicBezTo>
                      <a:cubicBezTo>
                        <a:pt x="5" y="0"/>
                        <a:pt x="5" y="0"/>
                        <a:pt x="5" y="0"/>
                      </a:cubicBezTo>
                      <a:cubicBezTo>
                        <a:pt x="2" y="14"/>
                        <a:pt x="0" y="28"/>
                        <a:pt x="1" y="42"/>
                      </a:cubicBezTo>
                      <a:lnTo>
                        <a:pt x="12" y="44"/>
                      </a:lnTo>
                      <a:close/>
                    </a:path>
                  </a:pathLst>
                </a:custGeom>
                <a:solidFill>
                  <a:srgbClr val="FFFFFF"/>
                </a:solidFill>
                <a:ln w="9525">
                  <a:noFill/>
                  <a:round/>
                  <a:headEnd/>
                  <a:tailEnd/>
                </a:ln>
              </p:spPr>
              <p:txBody>
                <a:bodyPr anchor="ctr"/>
                <a:lstStyle/>
                <a:p>
                  <a:pPr algn="ctr"/>
                  <a:endParaRPr dirty="0">
                    <a:cs typeface="+mn-ea"/>
                    <a:sym typeface="+mn-lt"/>
                  </a:endParaRPr>
                </a:p>
              </p:txBody>
            </p:sp>
          </p:grpSp>
          <p:sp>
            <p:nvSpPr>
              <p:cNvPr id="15" name="Freeform: Shape 149"/>
              <p:cNvSpPr>
                <a:spLocks/>
              </p:cNvSpPr>
              <p:nvPr/>
            </p:nvSpPr>
            <p:spPr bwMode="auto">
              <a:xfrm rot="20207692">
                <a:off x="7214945" y="4473216"/>
                <a:ext cx="239223" cy="171037"/>
              </a:xfrm>
              <a:custGeom>
                <a:avLst/>
                <a:gdLst/>
                <a:ahLst/>
                <a:cxnLst>
                  <a:cxn ang="0">
                    <a:pos x="5" y="29"/>
                  </a:cxn>
                  <a:cxn ang="0">
                    <a:pos x="43" y="10"/>
                  </a:cxn>
                  <a:cxn ang="0">
                    <a:pos x="37" y="0"/>
                  </a:cxn>
                  <a:cxn ang="0">
                    <a:pos x="0" y="20"/>
                  </a:cxn>
                  <a:cxn ang="0">
                    <a:pos x="5" y="29"/>
                  </a:cxn>
                </a:cxnLst>
                <a:rect l="0" t="0" r="r" b="b"/>
                <a:pathLst>
                  <a:path w="43" h="29">
                    <a:moveTo>
                      <a:pt x="5" y="29"/>
                    </a:moveTo>
                    <a:cubicBezTo>
                      <a:pt x="17" y="22"/>
                      <a:pt x="30" y="16"/>
                      <a:pt x="43" y="10"/>
                    </a:cubicBezTo>
                    <a:cubicBezTo>
                      <a:pt x="37" y="0"/>
                      <a:pt x="37" y="0"/>
                      <a:pt x="37" y="0"/>
                    </a:cubicBezTo>
                    <a:cubicBezTo>
                      <a:pt x="25" y="6"/>
                      <a:pt x="12" y="12"/>
                      <a:pt x="0" y="20"/>
                    </a:cubicBezTo>
                    <a:lnTo>
                      <a:pt x="5" y="29"/>
                    </a:lnTo>
                    <a:close/>
                  </a:path>
                </a:pathLst>
              </a:custGeom>
              <a:solidFill>
                <a:srgbClr val="FFFFFF"/>
              </a:solidFill>
              <a:ln w="9525">
                <a:noFill/>
                <a:round/>
                <a:headEnd/>
                <a:tailEnd/>
              </a:ln>
            </p:spPr>
            <p:txBody>
              <a:bodyPr anchor="ctr"/>
              <a:lstStyle/>
              <a:p>
                <a:pPr algn="ctr"/>
                <a:endParaRPr dirty="0">
                  <a:cs typeface="+mn-ea"/>
                  <a:sym typeface="+mn-lt"/>
                </a:endParaRPr>
              </a:p>
            </p:txBody>
          </p:sp>
          <p:sp>
            <p:nvSpPr>
              <p:cNvPr id="16" name="Freeform: Shape 150"/>
              <p:cNvSpPr>
                <a:spLocks/>
              </p:cNvSpPr>
              <p:nvPr/>
            </p:nvSpPr>
            <p:spPr bwMode="auto">
              <a:xfrm rot="21091586">
                <a:off x="7505683" y="4267614"/>
                <a:ext cx="239223" cy="116504"/>
              </a:xfrm>
              <a:custGeom>
                <a:avLst/>
                <a:gdLst/>
                <a:ahLst/>
                <a:cxnLst>
                  <a:cxn ang="0">
                    <a:pos x="2" y="20"/>
                  </a:cxn>
                  <a:cxn ang="0">
                    <a:pos x="43" y="11"/>
                  </a:cxn>
                  <a:cxn ang="0">
                    <a:pos x="41" y="0"/>
                  </a:cxn>
                  <a:cxn ang="0">
                    <a:pos x="0" y="9"/>
                  </a:cxn>
                  <a:cxn ang="0">
                    <a:pos x="2" y="20"/>
                  </a:cxn>
                </a:cxnLst>
                <a:rect l="0" t="0" r="r" b="b"/>
                <a:pathLst>
                  <a:path w="43" h="20">
                    <a:moveTo>
                      <a:pt x="2" y="20"/>
                    </a:moveTo>
                    <a:cubicBezTo>
                      <a:pt x="15" y="16"/>
                      <a:pt x="29" y="13"/>
                      <a:pt x="43" y="11"/>
                    </a:cubicBezTo>
                    <a:cubicBezTo>
                      <a:pt x="41" y="0"/>
                      <a:pt x="41" y="0"/>
                      <a:pt x="41" y="0"/>
                    </a:cubicBezTo>
                    <a:cubicBezTo>
                      <a:pt x="27" y="2"/>
                      <a:pt x="13" y="5"/>
                      <a:pt x="0" y="9"/>
                    </a:cubicBezTo>
                    <a:lnTo>
                      <a:pt x="2" y="20"/>
                    </a:lnTo>
                    <a:close/>
                  </a:path>
                </a:pathLst>
              </a:custGeom>
              <a:solidFill>
                <a:srgbClr val="FFFFFF"/>
              </a:solidFill>
              <a:ln w="9525">
                <a:noFill/>
                <a:round/>
                <a:headEnd/>
                <a:tailEnd/>
              </a:ln>
            </p:spPr>
            <p:txBody>
              <a:bodyPr anchor="ctr"/>
              <a:lstStyle/>
              <a:p>
                <a:pPr algn="ctr"/>
                <a:endParaRPr dirty="0">
                  <a:cs typeface="+mn-ea"/>
                  <a:sym typeface="+mn-lt"/>
                </a:endParaRPr>
              </a:p>
            </p:txBody>
          </p:sp>
        </p:grpSp>
      </p:grpSp>
      <p:grpSp>
        <p:nvGrpSpPr>
          <p:cNvPr id="78" name="组合 77"/>
          <p:cNvGrpSpPr/>
          <p:nvPr/>
        </p:nvGrpSpPr>
        <p:grpSpPr>
          <a:xfrm>
            <a:off x="8588252" y="4433343"/>
            <a:ext cx="2241974" cy="703489"/>
            <a:chOff x="7692479" y="1678126"/>
            <a:chExt cx="2241974" cy="703489"/>
          </a:xfrm>
        </p:grpSpPr>
        <p:sp>
          <p:nvSpPr>
            <p:cNvPr id="79" name="矩形 78"/>
            <p:cNvSpPr/>
            <p:nvPr/>
          </p:nvSpPr>
          <p:spPr>
            <a:xfrm>
              <a:off x="7692479" y="2030750"/>
              <a:ext cx="2150022"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cs typeface="+mn-ea"/>
                  <a:sym typeface="+mn-lt"/>
                </a:rPr>
                <a:t>请画</a:t>
              </a:r>
              <a:r>
                <a:rPr lang="zh-CN" altLang="en-US" sz="1400" dirty="0" smtClean="0">
                  <a:solidFill>
                    <a:schemeClr val="tx1">
                      <a:lumMod val="50000"/>
                      <a:lumOff val="50000"/>
                    </a:schemeClr>
                  </a:solidFill>
                  <a:cs typeface="+mn-ea"/>
                  <a:sym typeface="+mn-lt"/>
                </a:rPr>
                <a:t>出所有可能的</a:t>
              </a:r>
              <a:r>
                <a:rPr lang="en-US" altLang="zh-CN" sz="1400" dirty="0" smtClean="0">
                  <a:solidFill>
                    <a:schemeClr val="tx1">
                      <a:lumMod val="50000"/>
                      <a:lumOff val="50000"/>
                    </a:schemeClr>
                  </a:solidFill>
                  <a:cs typeface="+mn-ea"/>
                  <a:sym typeface="+mn-lt"/>
                </a:rPr>
                <a:t>3</a:t>
              </a:r>
              <a:r>
                <a:rPr lang="zh-CN" altLang="en-US" sz="1400" dirty="0" smtClean="0">
                  <a:solidFill>
                    <a:schemeClr val="tx1">
                      <a:lumMod val="50000"/>
                      <a:lumOff val="50000"/>
                    </a:schemeClr>
                  </a:solidFill>
                  <a:cs typeface="+mn-ea"/>
                  <a:sym typeface="+mn-lt"/>
                </a:rPr>
                <a:t>阶图</a:t>
              </a:r>
              <a:endParaRPr lang="zh-CN" altLang="en-US" sz="1400" dirty="0">
                <a:solidFill>
                  <a:schemeClr val="tx1">
                    <a:lumMod val="50000"/>
                    <a:lumOff val="50000"/>
                  </a:schemeClr>
                </a:solidFill>
                <a:cs typeface="+mn-ea"/>
                <a:sym typeface="+mn-lt"/>
              </a:endParaRPr>
            </a:p>
          </p:txBody>
        </p:sp>
        <p:sp>
          <p:nvSpPr>
            <p:cNvPr id="80" name="矩形 79"/>
            <p:cNvSpPr/>
            <p:nvPr/>
          </p:nvSpPr>
          <p:spPr>
            <a:xfrm>
              <a:off x="7692479" y="1678126"/>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b="1" dirty="0" smtClean="0">
                  <a:solidFill>
                    <a:schemeClr val="tx1">
                      <a:lumMod val="65000"/>
                      <a:lumOff val="35000"/>
                    </a:schemeClr>
                  </a:solidFill>
                  <a:cs typeface="+mn-ea"/>
                  <a:sym typeface="+mn-lt"/>
                </a:rPr>
                <a:t>3</a:t>
              </a:r>
              <a:r>
                <a:rPr lang="zh-CN" altLang="en-US" b="1" dirty="0" smtClean="0">
                  <a:solidFill>
                    <a:schemeClr val="tx1">
                      <a:lumMod val="65000"/>
                      <a:lumOff val="35000"/>
                    </a:schemeClr>
                  </a:solidFill>
                  <a:cs typeface="+mn-ea"/>
                  <a:sym typeface="+mn-lt"/>
                </a:rPr>
                <a:t>阶的图</a:t>
              </a:r>
              <a:endParaRPr lang="zh-CN" altLang="en-US" b="1" dirty="0">
                <a:solidFill>
                  <a:schemeClr val="tx1">
                    <a:lumMod val="65000"/>
                    <a:lumOff val="35000"/>
                  </a:schemeClr>
                </a:solidFill>
                <a:cs typeface="+mn-ea"/>
                <a:sym typeface="+mn-lt"/>
              </a:endParaRPr>
            </a:p>
          </p:txBody>
        </p:sp>
      </p:grpSp>
      <p:sp>
        <p:nvSpPr>
          <p:cNvPr id="82" name="矩形 81"/>
          <p:cNvSpPr/>
          <p:nvPr/>
        </p:nvSpPr>
        <p:spPr>
          <a:xfrm>
            <a:off x="8935587" y="2785924"/>
            <a:ext cx="2150022" cy="1126462"/>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400" dirty="0" smtClean="0">
                <a:solidFill>
                  <a:schemeClr val="tx1">
                    <a:lumMod val="50000"/>
                    <a:lumOff val="50000"/>
                  </a:schemeClr>
                </a:solidFill>
                <a:cs typeface="+mn-ea"/>
                <a:sym typeface="+mn-lt"/>
              </a:rPr>
              <a:t>5+7</a:t>
            </a:r>
            <a:r>
              <a:rPr lang="en-US" altLang="zh-CN" sz="1400" dirty="0">
                <a:solidFill>
                  <a:schemeClr val="tx1">
                    <a:lumMod val="50000"/>
                    <a:lumOff val="50000"/>
                  </a:schemeClr>
                </a:solidFill>
                <a:cs typeface="+mn-ea"/>
                <a:sym typeface="+mn-lt"/>
              </a:rPr>
              <a:t>+(5+(4+1)+(4+1))+(4+4+4+(1+5+8)+4)+(1+7+(5+5+4+3+2+1))+(9+9+3+1+1+1+1+2+1+1)+2</a:t>
            </a:r>
            <a:endParaRPr lang="zh-CN" altLang="en-US" sz="1400" dirty="0">
              <a:solidFill>
                <a:schemeClr val="tx1">
                  <a:lumMod val="50000"/>
                  <a:lumOff val="50000"/>
                </a:schemeClr>
              </a:solidFill>
              <a:cs typeface="+mn-ea"/>
              <a:sym typeface="+mn-lt"/>
            </a:endParaRPr>
          </a:p>
        </p:txBody>
      </p:sp>
      <p:sp>
        <p:nvSpPr>
          <p:cNvPr id="83" name="矩形 82"/>
          <p:cNvSpPr/>
          <p:nvPr/>
        </p:nvSpPr>
        <p:spPr>
          <a:xfrm>
            <a:off x="8935587" y="2433300"/>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有几个子图？</a:t>
            </a:r>
            <a:endParaRPr lang="zh-CN" altLang="en-US" b="1" dirty="0">
              <a:solidFill>
                <a:schemeClr val="tx1">
                  <a:lumMod val="65000"/>
                  <a:lumOff val="35000"/>
                </a:schemeClr>
              </a:solidFill>
              <a:cs typeface="+mn-ea"/>
              <a:sym typeface="+mn-lt"/>
            </a:endParaRPr>
          </a:p>
        </p:txBody>
      </p:sp>
      <p:grpSp>
        <p:nvGrpSpPr>
          <p:cNvPr id="84" name="组合 83"/>
          <p:cNvGrpSpPr/>
          <p:nvPr/>
        </p:nvGrpSpPr>
        <p:grpSpPr>
          <a:xfrm>
            <a:off x="6497105" y="1188262"/>
            <a:ext cx="2241974" cy="962022"/>
            <a:chOff x="7692479" y="1678126"/>
            <a:chExt cx="2241974" cy="962022"/>
          </a:xfrm>
        </p:grpSpPr>
        <p:sp>
          <p:nvSpPr>
            <p:cNvPr id="85" name="矩形 84"/>
            <p:cNvSpPr/>
            <p:nvPr/>
          </p:nvSpPr>
          <p:spPr>
            <a:xfrm>
              <a:off x="7692479" y="2030750"/>
              <a:ext cx="2150022"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如点</a:t>
              </a:r>
              <a:r>
                <a:rPr lang="en-US" altLang="zh-CN" sz="1400" dirty="0" smtClean="0">
                  <a:solidFill>
                    <a:schemeClr val="tx1">
                      <a:lumMod val="50000"/>
                      <a:lumOff val="50000"/>
                    </a:schemeClr>
                  </a:solidFill>
                  <a:cs typeface="+mn-ea"/>
                  <a:sym typeface="+mn-lt"/>
                </a:rPr>
                <a:t>1</a:t>
              </a:r>
              <a:r>
                <a:rPr lang="zh-CN" altLang="en-US" sz="1400" dirty="0" smtClean="0">
                  <a:solidFill>
                    <a:schemeClr val="tx1">
                      <a:lumMod val="50000"/>
                      <a:lumOff val="50000"/>
                    </a:schemeClr>
                  </a:solidFill>
                  <a:cs typeface="+mn-ea"/>
                  <a:sym typeface="+mn-lt"/>
                </a:rPr>
                <a:t>到点</a:t>
              </a:r>
              <a:r>
                <a:rPr lang="en-US" altLang="zh-CN" sz="1400" dirty="0" smtClean="0">
                  <a:solidFill>
                    <a:schemeClr val="tx1">
                      <a:lumMod val="50000"/>
                      <a:lumOff val="50000"/>
                    </a:schemeClr>
                  </a:solidFill>
                  <a:cs typeface="+mn-ea"/>
                  <a:sym typeface="+mn-lt"/>
                </a:rPr>
                <a:t>2</a:t>
              </a:r>
              <a:r>
                <a:rPr lang="zh-CN" altLang="en-US" sz="1400" dirty="0" smtClean="0">
                  <a:solidFill>
                    <a:schemeClr val="tx1">
                      <a:lumMod val="50000"/>
                      <a:lumOff val="50000"/>
                    </a:schemeClr>
                  </a:solidFill>
                  <a:cs typeface="+mn-ea"/>
                  <a:sym typeface="+mn-lt"/>
                </a:rPr>
                <a:t>有一条边，可以表示为</a:t>
              </a:r>
              <a:r>
                <a:rPr lang="en-US" altLang="zh-CN" sz="1400" dirty="0" smtClean="0">
                  <a:solidFill>
                    <a:schemeClr val="tx1">
                      <a:lumMod val="50000"/>
                      <a:lumOff val="50000"/>
                    </a:schemeClr>
                  </a:solidFill>
                  <a:cs typeface="+mn-ea"/>
                  <a:sym typeface="+mn-lt"/>
                </a:rPr>
                <a:t>(1,2)</a:t>
              </a:r>
              <a:r>
                <a:rPr lang="zh-CN" altLang="en-US" sz="1400" dirty="0" smtClean="0">
                  <a:solidFill>
                    <a:schemeClr val="tx1">
                      <a:lumMod val="50000"/>
                      <a:lumOff val="50000"/>
                    </a:schemeClr>
                  </a:solidFill>
                  <a:cs typeface="+mn-ea"/>
                  <a:sym typeface="+mn-lt"/>
                </a:rPr>
                <a:t>。</a:t>
              </a:r>
              <a:endParaRPr lang="zh-CN" altLang="en-US" sz="1400" dirty="0">
                <a:solidFill>
                  <a:schemeClr val="tx1">
                    <a:lumMod val="50000"/>
                    <a:lumOff val="50000"/>
                  </a:schemeClr>
                </a:solidFill>
                <a:cs typeface="+mn-ea"/>
                <a:sym typeface="+mn-lt"/>
              </a:endParaRPr>
            </a:p>
          </p:txBody>
        </p:sp>
        <p:sp>
          <p:nvSpPr>
            <p:cNvPr id="86" name="矩形 85"/>
            <p:cNvSpPr/>
            <p:nvPr/>
          </p:nvSpPr>
          <p:spPr>
            <a:xfrm>
              <a:off x="7692479" y="1678126"/>
              <a:ext cx="224197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表示所有边</a:t>
              </a:r>
              <a:endParaRPr lang="zh-CN" altLang="en-US" b="1" dirty="0">
                <a:solidFill>
                  <a:schemeClr val="tx1">
                    <a:lumMod val="65000"/>
                    <a:lumOff val="35000"/>
                  </a:schemeClr>
                </a:solidFill>
                <a:cs typeface="+mn-ea"/>
                <a:sym typeface="+mn-lt"/>
              </a:endParaRPr>
            </a:p>
          </p:txBody>
        </p:sp>
      </p:grpSp>
      <p:sp>
        <p:nvSpPr>
          <p:cNvPr id="88" name="矩形 87"/>
          <p:cNvSpPr/>
          <p:nvPr/>
        </p:nvSpPr>
        <p:spPr>
          <a:xfrm>
            <a:off x="1592960" y="1960199"/>
            <a:ext cx="2150022" cy="327077"/>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400" dirty="0" smtClean="0">
                <a:solidFill>
                  <a:schemeClr val="tx1">
                    <a:lumMod val="50000"/>
                    <a:lumOff val="50000"/>
                  </a:schemeClr>
                </a:solidFill>
                <a:cs typeface="+mn-ea"/>
                <a:sym typeface="+mn-lt"/>
              </a:rPr>
              <a:t>7</a:t>
            </a:r>
            <a:r>
              <a:rPr lang="zh-CN" altLang="en-US" sz="1400" dirty="0" smtClean="0">
                <a:solidFill>
                  <a:schemeClr val="tx1">
                    <a:lumMod val="50000"/>
                    <a:lumOff val="50000"/>
                  </a:schemeClr>
                </a:solidFill>
                <a:cs typeface="+mn-ea"/>
                <a:sym typeface="+mn-lt"/>
              </a:rPr>
              <a:t>条</a:t>
            </a:r>
            <a:endParaRPr lang="zh-CN" altLang="en-US" sz="1400" dirty="0">
              <a:solidFill>
                <a:schemeClr val="tx1">
                  <a:lumMod val="50000"/>
                  <a:lumOff val="50000"/>
                </a:schemeClr>
              </a:solidFill>
              <a:cs typeface="+mn-ea"/>
              <a:sym typeface="+mn-lt"/>
            </a:endParaRPr>
          </a:p>
        </p:txBody>
      </p:sp>
      <p:sp>
        <p:nvSpPr>
          <p:cNvPr id="89" name="矩形 88"/>
          <p:cNvSpPr/>
          <p:nvPr/>
        </p:nvSpPr>
        <p:spPr>
          <a:xfrm>
            <a:off x="1592960" y="1607575"/>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有几条边？</a:t>
            </a:r>
            <a:endParaRPr lang="zh-CN" altLang="en-US" b="1" dirty="0">
              <a:solidFill>
                <a:schemeClr val="tx1">
                  <a:lumMod val="65000"/>
                  <a:lumOff val="35000"/>
                </a:schemeClr>
              </a:solidFill>
              <a:cs typeface="+mn-ea"/>
              <a:sym typeface="+mn-lt"/>
            </a:endParaRPr>
          </a:p>
        </p:txBody>
      </p:sp>
      <p:sp>
        <p:nvSpPr>
          <p:cNvPr id="91" name="矩形 90"/>
          <p:cNvSpPr/>
          <p:nvPr/>
        </p:nvSpPr>
        <p:spPr>
          <a:xfrm>
            <a:off x="1121551" y="4754385"/>
            <a:ext cx="2150022" cy="328551"/>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400" dirty="0" smtClean="0">
                <a:solidFill>
                  <a:srgbClr val="FF0000"/>
                </a:solidFill>
                <a:cs typeface="+mn-ea"/>
                <a:sym typeface="+mn-lt"/>
              </a:rPr>
              <a:t>5</a:t>
            </a:r>
            <a:r>
              <a:rPr lang="zh-CN" altLang="en-US" sz="1400" dirty="0" smtClean="0">
                <a:solidFill>
                  <a:srgbClr val="FF0000"/>
                </a:solidFill>
                <a:cs typeface="+mn-ea"/>
                <a:sym typeface="+mn-lt"/>
              </a:rPr>
              <a:t>个</a:t>
            </a:r>
            <a:endParaRPr lang="zh-CN" altLang="en-US" sz="1400" dirty="0">
              <a:solidFill>
                <a:srgbClr val="FF0000"/>
              </a:solidFill>
              <a:cs typeface="+mn-ea"/>
              <a:sym typeface="+mn-lt"/>
            </a:endParaRPr>
          </a:p>
        </p:txBody>
      </p:sp>
      <p:sp>
        <p:nvSpPr>
          <p:cNvPr id="92" name="矩形 91"/>
          <p:cNvSpPr/>
          <p:nvPr/>
        </p:nvSpPr>
        <p:spPr>
          <a:xfrm>
            <a:off x="1121551" y="4401761"/>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有几个结点？</a:t>
            </a:r>
            <a:endParaRPr lang="zh-CN" altLang="en-US" b="1" dirty="0">
              <a:solidFill>
                <a:schemeClr val="tx1">
                  <a:lumMod val="65000"/>
                  <a:lumOff val="35000"/>
                </a:schemeClr>
              </a:solidFill>
              <a:cs typeface="+mn-ea"/>
              <a:sym typeface="+mn-lt"/>
            </a:endParaRPr>
          </a:p>
        </p:txBody>
      </p:sp>
      <p:sp>
        <p:nvSpPr>
          <p:cNvPr id="99" name="文本框 2919"/>
          <p:cNvSpPr txBox="1"/>
          <p:nvPr/>
        </p:nvSpPr>
        <p:spPr>
          <a:xfrm>
            <a:off x="10511354" y="177223"/>
            <a:ext cx="64633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77115" y="4977381"/>
            <a:ext cx="1899252" cy="1899252"/>
          </a:xfrm>
          <a:prstGeom prst="rect">
            <a:avLst/>
          </a:prstGeom>
        </p:spPr>
      </p:pic>
    </p:spTree>
    <p:extLst>
      <p:ext uri="{BB962C8B-B14F-4D97-AF65-F5344CB8AC3E}">
        <p14:creationId xmlns:p14="http://schemas.microsoft.com/office/powerpoint/2010/main" val="198342106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p:cTn id="7" dur="500" fill="hold"/>
                                        <p:tgtEl>
                                          <p:spTgt spid="99"/>
                                        </p:tgtEl>
                                        <p:attrNameLst>
                                          <p:attrName>ppt_w</p:attrName>
                                        </p:attrNameLst>
                                      </p:cBhvr>
                                      <p:tavLst>
                                        <p:tav tm="0">
                                          <p:val>
                                            <p:fltVal val="0"/>
                                          </p:val>
                                        </p:tav>
                                        <p:tav tm="100000">
                                          <p:val>
                                            <p:strVal val="#ppt_w"/>
                                          </p:val>
                                        </p:tav>
                                      </p:tavLst>
                                    </p:anim>
                                    <p:anim calcmode="lin" valueType="num">
                                      <p:cBhvr>
                                        <p:cTn id="8" dur="500" fill="hold"/>
                                        <p:tgtEl>
                                          <p:spTgt spid="99"/>
                                        </p:tgtEl>
                                        <p:attrNameLst>
                                          <p:attrName>ppt_h</p:attrName>
                                        </p:attrNameLst>
                                      </p:cBhvr>
                                      <p:tavLst>
                                        <p:tav tm="0">
                                          <p:val>
                                            <p:fltVal val="0"/>
                                          </p:val>
                                        </p:tav>
                                        <p:tav tm="100000">
                                          <p:val>
                                            <p:strVal val="#ppt_h"/>
                                          </p:val>
                                        </p:tav>
                                      </p:tavLst>
                                    </p:anim>
                                    <p:animEffect transition="in" filter="fade">
                                      <p:cBhvr>
                                        <p:cTn id="9" dur="500"/>
                                        <p:tgtEl>
                                          <p:spTgt spid="99"/>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98"/>
                                        </p:tgtEl>
                                        <p:attrNameLst>
                                          <p:attrName>style.visibility</p:attrName>
                                        </p:attrNameLst>
                                      </p:cBhvr>
                                      <p:to>
                                        <p:strVal val="visible"/>
                                      </p:to>
                                    </p:set>
                                    <p:animEffect transition="in" filter="fade">
                                      <p:cBhvr>
                                        <p:cTn id="13" dur="1000"/>
                                        <p:tgtEl>
                                          <p:spTgt spid="98"/>
                                        </p:tgtEl>
                                      </p:cBhvr>
                                    </p:animEffect>
                                    <p:anim calcmode="lin" valueType="num">
                                      <p:cBhvr>
                                        <p:cTn id="14" dur="1000" fill="hold"/>
                                        <p:tgtEl>
                                          <p:spTgt spid="98"/>
                                        </p:tgtEl>
                                        <p:attrNameLst>
                                          <p:attrName>ppt_x</p:attrName>
                                        </p:attrNameLst>
                                      </p:cBhvr>
                                      <p:tavLst>
                                        <p:tav tm="0">
                                          <p:val>
                                            <p:strVal val="#ppt_x"/>
                                          </p:val>
                                        </p:tav>
                                        <p:tav tm="100000">
                                          <p:val>
                                            <p:strVal val="#ppt_x"/>
                                          </p:val>
                                        </p:tav>
                                      </p:tavLst>
                                    </p:anim>
                                    <p:anim calcmode="lin" valueType="num">
                                      <p:cBhvr>
                                        <p:cTn id="15"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2"/>
                                        </p:tgtEl>
                                        <p:attrNameLst>
                                          <p:attrName>style.visibility</p:attrName>
                                        </p:attrNameLst>
                                      </p:cBhvr>
                                      <p:to>
                                        <p:strVal val="visible"/>
                                      </p:to>
                                    </p:set>
                                    <p:animEffect transition="in" filter="fade">
                                      <p:cBhvr>
                                        <p:cTn id="20" dur="500"/>
                                        <p:tgtEl>
                                          <p:spTgt spid="92"/>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91"/>
                                        </p:tgtEl>
                                        <p:attrNameLst>
                                          <p:attrName>style.visibility</p:attrName>
                                        </p:attrNameLst>
                                      </p:cBhvr>
                                      <p:to>
                                        <p:strVal val="visible"/>
                                      </p:to>
                                    </p:set>
                                    <p:animEffect transition="in" filter="fade">
                                      <p:cBhvr>
                                        <p:cTn id="25" dur="1000"/>
                                        <p:tgtEl>
                                          <p:spTgt spid="91"/>
                                        </p:tgtEl>
                                      </p:cBhvr>
                                    </p:animEffect>
                                    <p:anim calcmode="lin" valueType="num">
                                      <p:cBhvr>
                                        <p:cTn id="26" dur="1000" fill="hold"/>
                                        <p:tgtEl>
                                          <p:spTgt spid="91"/>
                                        </p:tgtEl>
                                        <p:attrNameLst>
                                          <p:attrName>ppt_x</p:attrName>
                                        </p:attrNameLst>
                                      </p:cBhvr>
                                      <p:tavLst>
                                        <p:tav tm="0">
                                          <p:val>
                                            <p:strVal val="#ppt_x"/>
                                          </p:val>
                                        </p:tav>
                                        <p:tav tm="100000">
                                          <p:val>
                                            <p:strVal val="#ppt_x"/>
                                          </p:val>
                                        </p:tav>
                                      </p:tavLst>
                                    </p:anim>
                                    <p:anim calcmode="lin" valueType="num">
                                      <p:cBhvr>
                                        <p:cTn id="27"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9"/>
                                        </p:tgtEl>
                                        <p:attrNameLst>
                                          <p:attrName>style.visibility</p:attrName>
                                        </p:attrNameLst>
                                      </p:cBhvr>
                                      <p:to>
                                        <p:strVal val="visible"/>
                                      </p:to>
                                    </p:set>
                                    <p:animEffect transition="in" filter="fade">
                                      <p:cBhvr>
                                        <p:cTn id="32" dur="500"/>
                                        <p:tgtEl>
                                          <p:spTgt spid="89"/>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88"/>
                                        </p:tgtEl>
                                        <p:attrNameLst>
                                          <p:attrName>style.visibility</p:attrName>
                                        </p:attrNameLst>
                                      </p:cBhvr>
                                      <p:to>
                                        <p:strVal val="visible"/>
                                      </p:to>
                                    </p:set>
                                    <p:animEffect transition="in" filter="fade">
                                      <p:cBhvr>
                                        <p:cTn id="37" dur="1000"/>
                                        <p:tgtEl>
                                          <p:spTgt spid="88"/>
                                        </p:tgtEl>
                                      </p:cBhvr>
                                    </p:animEffect>
                                    <p:anim calcmode="lin" valueType="num">
                                      <p:cBhvr>
                                        <p:cTn id="38" dur="1000" fill="hold"/>
                                        <p:tgtEl>
                                          <p:spTgt spid="88"/>
                                        </p:tgtEl>
                                        <p:attrNameLst>
                                          <p:attrName>ppt_x</p:attrName>
                                        </p:attrNameLst>
                                      </p:cBhvr>
                                      <p:tavLst>
                                        <p:tav tm="0">
                                          <p:val>
                                            <p:strVal val="#ppt_x"/>
                                          </p:val>
                                        </p:tav>
                                        <p:tav tm="100000">
                                          <p:val>
                                            <p:strVal val="#ppt_x"/>
                                          </p:val>
                                        </p:tav>
                                      </p:tavLst>
                                    </p:anim>
                                    <p:anim calcmode="lin" valueType="num">
                                      <p:cBhvr>
                                        <p:cTn id="39" dur="1000" fill="hold"/>
                                        <p:tgtEl>
                                          <p:spTgt spid="8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84"/>
                                        </p:tgtEl>
                                        <p:attrNameLst>
                                          <p:attrName>style.visibility</p:attrName>
                                        </p:attrNameLst>
                                      </p:cBhvr>
                                      <p:to>
                                        <p:strVal val="visible"/>
                                      </p:to>
                                    </p:set>
                                    <p:animEffect transition="in" filter="fade">
                                      <p:cBhvr>
                                        <p:cTn id="44" dur="500"/>
                                        <p:tgtEl>
                                          <p:spTgt spid="8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83"/>
                                        </p:tgtEl>
                                        <p:attrNameLst>
                                          <p:attrName>style.visibility</p:attrName>
                                        </p:attrNameLst>
                                      </p:cBhvr>
                                      <p:to>
                                        <p:strVal val="visible"/>
                                      </p:to>
                                    </p:set>
                                    <p:animEffect transition="in" filter="fade">
                                      <p:cBhvr>
                                        <p:cTn id="49" dur="500"/>
                                        <p:tgtEl>
                                          <p:spTgt spid="83"/>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fade">
                                      <p:cBhvr>
                                        <p:cTn id="54" dur="1000"/>
                                        <p:tgtEl>
                                          <p:spTgt spid="82"/>
                                        </p:tgtEl>
                                      </p:cBhvr>
                                    </p:animEffect>
                                    <p:anim calcmode="lin" valueType="num">
                                      <p:cBhvr>
                                        <p:cTn id="55" dur="1000" fill="hold"/>
                                        <p:tgtEl>
                                          <p:spTgt spid="82"/>
                                        </p:tgtEl>
                                        <p:attrNameLst>
                                          <p:attrName>ppt_x</p:attrName>
                                        </p:attrNameLst>
                                      </p:cBhvr>
                                      <p:tavLst>
                                        <p:tav tm="0">
                                          <p:val>
                                            <p:strVal val="#ppt_x"/>
                                          </p:val>
                                        </p:tav>
                                        <p:tav tm="100000">
                                          <p:val>
                                            <p:strVal val="#ppt_x"/>
                                          </p:val>
                                        </p:tav>
                                      </p:tavLst>
                                    </p:anim>
                                    <p:anim calcmode="lin" valueType="num">
                                      <p:cBhvr>
                                        <p:cTn id="56" dur="1000" fill="hold"/>
                                        <p:tgtEl>
                                          <p:spTgt spid="8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8"/>
                                        </p:tgtEl>
                                        <p:attrNameLst>
                                          <p:attrName>style.visibility</p:attrName>
                                        </p:attrNameLst>
                                      </p:cBhvr>
                                      <p:to>
                                        <p:strVal val="visible"/>
                                      </p:to>
                                    </p:set>
                                    <p:animEffect transition="in" filter="fade">
                                      <p:cBhvr>
                                        <p:cTn id="61"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88" grpId="0"/>
      <p:bldP spid="89" grpId="0"/>
      <p:bldP spid="91" grpId="0"/>
      <p:bldP spid="92" grpId="0"/>
      <p:bldP spid="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p:nvPr/>
        </p:nvSpPr>
        <p:spPr>
          <a:xfrm>
            <a:off x="708163" y="4151722"/>
            <a:ext cx="5238788" cy="452934"/>
          </a:xfrm>
          <a:prstGeom prst="rect">
            <a:avLst/>
          </a:prstGeom>
          <a:solidFill>
            <a:schemeClr val="accent3"/>
          </a:solidFill>
        </p:spPr>
        <p:txBody>
          <a:bodyPr wrap="none" anchor="ctr">
            <a:normAutofit/>
          </a:bodyPr>
          <a:lstStyle/>
          <a:p>
            <a:pPr lvl="0"/>
            <a:endParaRPr lang="zh-CN" altLang="en-US" b="1" dirty="0">
              <a:solidFill>
                <a:schemeClr val="bg1"/>
              </a:solidFill>
              <a:cs typeface="+mn-ea"/>
              <a:sym typeface="+mn-lt"/>
            </a:endParaRPr>
          </a:p>
        </p:txBody>
      </p:sp>
      <p:sp>
        <p:nvSpPr>
          <p:cNvPr id="6" name="Rectangle 4"/>
          <p:cNvSpPr/>
          <p:nvPr/>
        </p:nvSpPr>
        <p:spPr>
          <a:xfrm>
            <a:off x="6234075" y="4151724"/>
            <a:ext cx="5238788" cy="452934"/>
          </a:xfrm>
          <a:prstGeom prst="rect">
            <a:avLst/>
          </a:prstGeom>
          <a:solidFill>
            <a:schemeClr val="accent3"/>
          </a:solidFill>
        </p:spPr>
        <p:txBody>
          <a:bodyPr wrap="none">
            <a:normAutofit/>
          </a:bodyPr>
          <a:lstStyle/>
          <a:p>
            <a:pPr lvl="0"/>
            <a:endParaRPr lang="zh-CN" altLang="en-US" b="1" dirty="0">
              <a:solidFill>
                <a:srgbClr val="FFFFFF"/>
              </a:solidFill>
              <a:cs typeface="+mn-ea"/>
              <a:sym typeface="+mn-lt"/>
            </a:endParaRPr>
          </a:p>
        </p:txBody>
      </p:sp>
      <p:pic>
        <p:nvPicPr>
          <p:cNvPr id="17" name="图片占位符 16"/>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1728256" y="1357274"/>
            <a:ext cx="3220553" cy="2683795"/>
          </a:xfrm>
        </p:spPr>
      </p:pic>
      <p:pic>
        <p:nvPicPr>
          <p:cNvPr id="19" name="图片占位符 18"/>
          <p:cNvPicPr>
            <a:picLocks noGrp="1" noChangeAspect="1"/>
          </p:cNvPicPr>
          <p:nvPr>
            <p:ph type="pic" sz="quarter" idx="11"/>
          </p:nvPr>
        </p:nvPicPr>
        <p:blipFill>
          <a:blip r:embed="rId4">
            <a:extLst>
              <a:ext uri="{28A0092B-C50C-407E-A947-70E740481C1C}">
                <a14:useLocalDpi xmlns:a14="http://schemas.microsoft.com/office/drawing/2010/main" val="0"/>
              </a:ext>
            </a:extLst>
          </a:blip>
          <a:stretch>
            <a:fillRect/>
          </a:stretch>
        </p:blipFill>
        <p:spPr>
          <a:xfrm>
            <a:off x="7243190" y="1357278"/>
            <a:ext cx="3220553" cy="2683795"/>
          </a:xfrm>
        </p:spPr>
      </p:pic>
      <p:sp>
        <p:nvSpPr>
          <p:cNvPr id="12" name="矩形 11"/>
          <p:cNvSpPr/>
          <p:nvPr/>
        </p:nvSpPr>
        <p:spPr>
          <a:xfrm>
            <a:off x="719136" y="4710523"/>
            <a:ext cx="5000727"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图</a:t>
            </a:r>
            <a:r>
              <a:rPr lang="zh-CN" altLang="zh-CN" sz="1400" dirty="0">
                <a:solidFill>
                  <a:schemeClr val="tx1">
                    <a:lumMod val="50000"/>
                    <a:lumOff val="50000"/>
                  </a:schemeClr>
                </a:solidFill>
                <a:cs typeface="+mn-ea"/>
              </a:rPr>
              <a:t>的边没有方向</a:t>
            </a:r>
            <a:r>
              <a:rPr lang="zh-CN" altLang="zh-CN" sz="1400" dirty="0" smtClean="0">
                <a:solidFill>
                  <a:schemeClr val="tx1">
                    <a:lumMod val="50000"/>
                    <a:lumOff val="50000"/>
                  </a:schemeClr>
                </a:solidFill>
                <a:cs typeface="+mn-ea"/>
              </a:rPr>
              <a:t>，</a:t>
            </a:r>
            <a:r>
              <a:rPr lang="zh-CN" altLang="en-US" sz="1400" dirty="0">
                <a:solidFill>
                  <a:schemeClr val="tx1">
                    <a:lumMod val="50000"/>
                    <a:lumOff val="50000"/>
                  </a:schemeClr>
                </a:solidFill>
                <a:cs typeface="+mn-ea"/>
              </a:rPr>
              <a:t>相当于</a:t>
            </a:r>
            <a:r>
              <a:rPr lang="zh-CN" altLang="zh-CN" sz="1400" dirty="0" smtClean="0">
                <a:solidFill>
                  <a:schemeClr val="tx1">
                    <a:lumMod val="50000"/>
                    <a:lumOff val="50000"/>
                  </a:schemeClr>
                </a:solidFill>
                <a:cs typeface="+mn-ea"/>
              </a:rPr>
              <a:t>双向</a:t>
            </a:r>
            <a:r>
              <a:rPr lang="zh-CN" altLang="en-US" sz="1400" dirty="0" smtClean="0">
                <a:solidFill>
                  <a:schemeClr val="tx1">
                    <a:lumMod val="50000"/>
                    <a:lumOff val="50000"/>
                  </a:schemeClr>
                </a:solidFill>
                <a:cs typeface="+mn-ea"/>
              </a:rPr>
              <a:t>边</a:t>
            </a:r>
            <a:r>
              <a:rPr lang="zh-CN" altLang="zh-CN" sz="1400" dirty="0" smtClean="0">
                <a:solidFill>
                  <a:schemeClr val="tx1">
                    <a:lumMod val="50000"/>
                    <a:lumOff val="50000"/>
                  </a:schemeClr>
                </a:solidFill>
                <a:cs typeface="+mn-ea"/>
              </a:rPr>
              <a:t>。</a:t>
            </a:r>
            <a:endParaRPr lang="zh-CN" altLang="en-US" sz="1400" dirty="0">
              <a:solidFill>
                <a:schemeClr val="tx1">
                  <a:lumMod val="50000"/>
                  <a:lumOff val="50000"/>
                </a:schemeClr>
              </a:solidFill>
              <a:cs typeface="+mn-ea"/>
              <a:sym typeface="+mn-lt"/>
            </a:endParaRPr>
          </a:p>
        </p:txBody>
      </p:sp>
      <p:sp>
        <p:nvSpPr>
          <p:cNvPr id="13" name="矩形 12"/>
          <p:cNvSpPr/>
          <p:nvPr/>
        </p:nvSpPr>
        <p:spPr>
          <a:xfrm>
            <a:off x="719137" y="4177557"/>
            <a:ext cx="3103808"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无向图</a:t>
            </a:r>
            <a:r>
              <a:rPr lang="en-US" altLang="zh-CN" b="1" dirty="0" smtClean="0">
                <a:solidFill>
                  <a:schemeClr val="bg1"/>
                </a:solidFill>
                <a:cs typeface="+mn-ea"/>
                <a:sym typeface="+mn-lt"/>
              </a:rPr>
              <a:t>(Undirected Graph)</a:t>
            </a:r>
            <a:endParaRPr lang="zh-CN" altLang="en-US" b="1" dirty="0">
              <a:solidFill>
                <a:schemeClr val="bg1"/>
              </a:solidFill>
              <a:cs typeface="+mn-ea"/>
              <a:sym typeface="+mn-lt"/>
            </a:endParaRPr>
          </a:p>
        </p:txBody>
      </p:sp>
      <p:sp>
        <p:nvSpPr>
          <p:cNvPr id="14" name="矩形 13"/>
          <p:cNvSpPr/>
          <p:nvPr/>
        </p:nvSpPr>
        <p:spPr>
          <a:xfrm>
            <a:off x="6234070" y="4177557"/>
            <a:ext cx="370020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有向图</a:t>
            </a:r>
            <a:r>
              <a:rPr lang="en-US" altLang="zh-CN" b="1" dirty="0" smtClean="0">
                <a:solidFill>
                  <a:schemeClr val="bg1"/>
                </a:solidFill>
                <a:cs typeface="+mn-ea"/>
                <a:sym typeface="+mn-lt"/>
              </a:rPr>
              <a:t>(Directed Graph)</a:t>
            </a:r>
            <a:endParaRPr lang="zh-CN" altLang="en-US" b="1" dirty="0">
              <a:solidFill>
                <a:schemeClr val="bg1"/>
              </a:solidFill>
              <a:cs typeface="+mn-ea"/>
              <a:sym typeface="+mn-lt"/>
            </a:endParaRPr>
          </a:p>
        </p:txBody>
      </p:sp>
      <p:sp>
        <p:nvSpPr>
          <p:cNvPr id="15" name="矩形 14"/>
          <p:cNvSpPr/>
          <p:nvPr/>
        </p:nvSpPr>
        <p:spPr>
          <a:xfrm>
            <a:off x="6234071" y="4710523"/>
            <a:ext cx="5000727"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图</a:t>
            </a:r>
            <a:r>
              <a:rPr lang="zh-CN" altLang="zh-CN" sz="1400" dirty="0">
                <a:solidFill>
                  <a:schemeClr val="tx1">
                    <a:lumMod val="50000"/>
                    <a:lumOff val="50000"/>
                  </a:schemeClr>
                </a:solidFill>
                <a:cs typeface="+mn-ea"/>
              </a:rPr>
              <a:t>的边有方向，只能按箭头方向从一点到另一点。</a:t>
            </a:r>
            <a:endParaRPr lang="zh-CN" altLang="en-US" sz="1400" dirty="0">
              <a:solidFill>
                <a:schemeClr val="tx1">
                  <a:lumMod val="50000"/>
                  <a:lumOff val="50000"/>
                </a:schemeClr>
              </a:solidFill>
              <a:cs typeface="+mn-ea"/>
              <a:sym typeface="+mn-lt"/>
            </a:endParaRPr>
          </a:p>
        </p:txBody>
      </p:sp>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21" name="图片 20"/>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2" name="文本框 21"/>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3" name="矩形 22"/>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accent3"/>
                </a:solidFill>
                <a:cs typeface="+mn-ea"/>
                <a:sym typeface="+mn-lt"/>
              </a:rPr>
              <a:t>Basic Concepts </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4" name="直接连接符 23"/>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文本框 2919"/>
          <p:cNvSpPr txBox="1"/>
          <p:nvPr/>
        </p:nvSpPr>
        <p:spPr>
          <a:xfrm>
            <a:off x="9934274" y="177223"/>
            <a:ext cx="1800494"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有向图、无向图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Tree>
    <p:extLst>
      <p:ext uri="{BB962C8B-B14F-4D97-AF65-F5344CB8AC3E}">
        <p14:creationId xmlns:p14="http://schemas.microsoft.com/office/powerpoint/2010/main" val="342384010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1+#ppt_w/2"/>
                                          </p:val>
                                        </p:tav>
                                        <p:tav tm="100000">
                                          <p:val>
                                            <p:strVal val="#ppt_x"/>
                                          </p:val>
                                        </p:tav>
                                      </p:tavLst>
                                    </p:anim>
                                    <p:anim calcmode="lin" valueType="num">
                                      <p:cBhvr additive="base">
                                        <p:cTn id="18" dur="500" fill="hold"/>
                                        <p:tgtEl>
                                          <p:spTgt spid="19"/>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10"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1500"/>
                            </p:stCondLst>
                            <p:childTnLst>
                              <p:par>
                                <p:cTn id="33" presetID="22" presetClass="entr" presetSubtype="8"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p:bldP spid="13" grpId="0"/>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p:nvPr/>
        </p:nvSpPr>
        <p:spPr>
          <a:xfrm>
            <a:off x="708163" y="4151722"/>
            <a:ext cx="5238788" cy="452934"/>
          </a:xfrm>
          <a:prstGeom prst="rect">
            <a:avLst/>
          </a:prstGeom>
          <a:solidFill>
            <a:schemeClr val="accent3"/>
          </a:solidFill>
        </p:spPr>
        <p:txBody>
          <a:bodyPr wrap="none" anchor="ctr">
            <a:normAutofit/>
          </a:bodyPr>
          <a:lstStyle/>
          <a:p>
            <a:pPr lvl="0"/>
            <a:endParaRPr lang="zh-CN" altLang="en-US" b="1" dirty="0">
              <a:solidFill>
                <a:schemeClr val="bg1"/>
              </a:solidFill>
              <a:cs typeface="+mn-ea"/>
              <a:sym typeface="+mn-lt"/>
            </a:endParaRPr>
          </a:p>
        </p:txBody>
      </p:sp>
      <p:sp>
        <p:nvSpPr>
          <p:cNvPr id="6" name="Rectangle 4"/>
          <p:cNvSpPr/>
          <p:nvPr/>
        </p:nvSpPr>
        <p:spPr>
          <a:xfrm>
            <a:off x="6234075" y="4151724"/>
            <a:ext cx="5238788" cy="452934"/>
          </a:xfrm>
          <a:prstGeom prst="rect">
            <a:avLst/>
          </a:prstGeom>
          <a:solidFill>
            <a:schemeClr val="accent3"/>
          </a:solidFill>
        </p:spPr>
        <p:txBody>
          <a:bodyPr wrap="none">
            <a:normAutofit/>
          </a:bodyPr>
          <a:lstStyle/>
          <a:p>
            <a:pPr lvl="0"/>
            <a:endParaRPr lang="zh-CN" altLang="en-US" b="1" dirty="0">
              <a:solidFill>
                <a:srgbClr val="FFFFFF"/>
              </a:solidFill>
              <a:cs typeface="+mn-ea"/>
              <a:sym typeface="+mn-lt"/>
            </a:endParaRPr>
          </a:p>
        </p:txBody>
      </p:sp>
      <p:pic>
        <p:nvPicPr>
          <p:cNvPr id="17" name="图片占位符 16"/>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1728256" y="1357274"/>
            <a:ext cx="3220553" cy="2683795"/>
          </a:xfrm>
        </p:spPr>
      </p:pic>
      <p:pic>
        <p:nvPicPr>
          <p:cNvPr id="19" name="图片占位符 18"/>
          <p:cNvPicPr>
            <a:picLocks noGrp="1" noChangeAspect="1"/>
          </p:cNvPicPr>
          <p:nvPr>
            <p:ph type="pic" sz="quarter" idx="11"/>
          </p:nvPr>
        </p:nvPicPr>
        <p:blipFill>
          <a:blip r:embed="rId4">
            <a:extLst>
              <a:ext uri="{28A0092B-C50C-407E-A947-70E740481C1C}">
                <a14:useLocalDpi xmlns:a14="http://schemas.microsoft.com/office/drawing/2010/main" val="0"/>
              </a:ext>
            </a:extLst>
          </a:blip>
          <a:stretch>
            <a:fillRect/>
          </a:stretch>
        </p:blipFill>
        <p:spPr>
          <a:xfrm>
            <a:off x="7243190" y="1357278"/>
            <a:ext cx="3220553" cy="2683795"/>
          </a:xfrm>
        </p:spPr>
      </p:pic>
      <p:sp>
        <p:nvSpPr>
          <p:cNvPr id="12" name="矩形 11"/>
          <p:cNvSpPr/>
          <p:nvPr/>
        </p:nvSpPr>
        <p:spPr>
          <a:xfrm>
            <a:off x="719136" y="4710523"/>
            <a:ext cx="5000727"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图</a:t>
            </a:r>
            <a:r>
              <a:rPr lang="zh-CN" altLang="zh-CN" sz="1400" dirty="0">
                <a:solidFill>
                  <a:schemeClr val="tx1">
                    <a:lumMod val="50000"/>
                    <a:lumOff val="50000"/>
                  </a:schemeClr>
                </a:solidFill>
                <a:cs typeface="+mn-ea"/>
              </a:rPr>
              <a:t>的边没有方向</a:t>
            </a:r>
            <a:r>
              <a:rPr lang="zh-CN" altLang="zh-CN" sz="1400" dirty="0" smtClean="0">
                <a:solidFill>
                  <a:schemeClr val="tx1">
                    <a:lumMod val="50000"/>
                    <a:lumOff val="50000"/>
                  </a:schemeClr>
                </a:solidFill>
                <a:cs typeface="+mn-ea"/>
              </a:rPr>
              <a:t>，</a:t>
            </a:r>
            <a:r>
              <a:rPr lang="zh-CN" altLang="en-US" sz="1400" dirty="0">
                <a:solidFill>
                  <a:schemeClr val="tx1">
                    <a:lumMod val="50000"/>
                    <a:lumOff val="50000"/>
                  </a:schemeClr>
                </a:solidFill>
                <a:cs typeface="+mn-ea"/>
              </a:rPr>
              <a:t>相当于</a:t>
            </a:r>
            <a:r>
              <a:rPr lang="zh-CN" altLang="zh-CN" sz="1400" dirty="0" smtClean="0">
                <a:solidFill>
                  <a:schemeClr val="tx1">
                    <a:lumMod val="50000"/>
                    <a:lumOff val="50000"/>
                  </a:schemeClr>
                </a:solidFill>
                <a:cs typeface="+mn-ea"/>
              </a:rPr>
              <a:t>双向</a:t>
            </a:r>
            <a:r>
              <a:rPr lang="zh-CN" altLang="en-US" sz="1400" dirty="0" smtClean="0">
                <a:solidFill>
                  <a:schemeClr val="tx1">
                    <a:lumMod val="50000"/>
                    <a:lumOff val="50000"/>
                  </a:schemeClr>
                </a:solidFill>
                <a:cs typeface="+mn-ea"/>
              </a:rPr>
              <a:t>边</a:t>
            </a:r>
            <a:r>
              <a:rPr lang="zh-CN" altLang="zh-CN" sz="1400" dirty="0" smtClean="0">
                <a:solidFill>
                  <a:schemeClr val="tx1">
                    <a:lumMod val="50000"/>
                    <a:lumOff val="50000"/>
                  </a:schemeClr>
                </a:solidFill>
                <a:cs typeface="+mn-ea"/>
              </a:rPr>
              <a:t>。</a:t>
            </a:r>
            <a:endParaRPr lang="zh-CN" altLang="en-US" sz="1400" dirty="0">
              <a:solidFill>
                <a:schemeClr val="tx1">
                  <a:lumMod val="50000"/>
                  <a:lumOff val="50000"/>
                </a:schemeClr>
              </a:solidFill>
              <a:cs typeface="+mn-ea"/>
              <a:sym typeface="+mn-lt"/>
            </a:endParaRPr>
          </a:p>
        </p:txBody>
      </p:sp>
      <p:sp>
        <p:nvSpPr>
          <p:cNvPr id="13" name="矩形 12"/>
          <p:cNvSpPr/>
          <p:nvPr/>
        </p:nvSpPr>
        <p:spPr>
          <a:xfrm>
            <a:off x="719137" y="4177557"/>
            <a:ext cx="3103808"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无向图</a:t>
            </a:r>
            <a:r>
              <a:rPr lang="en-US" altLang="zh-CN" b="1" dirty="0" smtClean="0">
                <a:solidFill>
                  <a:schemeClr val="bg1"/>
                </a:solidFill>
                <a:cs typeface="+mn-ea"/>
                <a:sym typeface="+mn-lt"/>
              </a:rPr>
              <a:t>(Undirected Graph)</a:t>
            </a:r>
            <a:endParaRPr lang="zh-CN" altLang="en-US" b="1" dirty="0">
              <a:solidFill>
                <a:schemeClr val="bg1"/>
              </a:solidFill>
              <a:cs typeface="+mn-ea"/>
              <a:sym typeface="+mn-lt"/>
            </a:endParaRPr>
          </a:p>
        </p:txBody>
      </p:sp>
      <p:sp>
        <p:nvSpPr>
          <p:cNvPr id="14" name="矩形 13"/>
          <p:cNvSpPr/>
          <p:nvPr/>
        </p:nvSpPr>
        <p:spPr>
          <a:xfrm>
            <a:off x="6234070" y="4177557"/>
            <a:ext cx="370020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有向图</a:t>
            </a:r>
            <a:r>
              <a:rPr lang="en-US" altLang="zh-CN" b="1" dirty="0" smtClean="0">
                <a:solidFill>
                  <a:schemeClr val="bg1"/>
                </a:solidFill>
                <a:cs typeface="+mn-ea"/>
                <a:sym typeface="+mn-lt"/>
              </a:rPr>
              <a:t>(Directed Graph)</a:t>
            </a:r>
            <a:endParaRPr lang="zh-CN" altLang="en-US" b="1" dirty="0">
              <a:solidFill>
                <a:schemeClr val="bg1"/>
              </a:solidFill>
              <a:cs typeface="+mn-ea"/>
              <a:sym typeface="+mn-lt"/>
            </a:endParaRPr>
          </a:p>
        </p:txBody>
      </p:sp>
      <p:sp>
        <p:nvSpPr>
          <p:cNvPr id="15" name="矩形 14"/>
          <p:cNvSpPr/>
          <p:nvPr/>
        </p:nvSpPr>
        <p:spPr>
          <a:xfrm>
            <a:off x="6234071" y="4710523"/>
            <a:ext cx="5000727"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图</a:t>
            </a:r>
            <a:r>
              <a:rPr lang="zh-CN" altLang="zh-CN" sz="1400" dirty="0">
                <a:solidFill>
                  <a:schemeClr val="tx1">
                    <a:lumMod val="50000"/>
                    <a:lumOff val="50000"/>
                  </a:schemeClr>
                </a:solidFill>
                <a:cs typeface="+mn-ea"/>
              </a:rPr>
              <a:t>的边有方向，只能按箭头方向从一点到另一点。</a:t>
            </a:r>
            <a:endParaRPr lang="zh-CN" altLang="en-US" sz="1400" dirty="0">
              <a:solidFill>
                <a:schemeClr val="tx1">
                  <a:lumMod val="50000"/>
                  <a:lumOff val="50000"/>
                </a:schemeClr>
              </a:solidFill>
              <a:cs typeface="+mn-ea"/>
              <a:sym typeface="+mn-lt"/>
            </a:endParaRPr>
          </a:p>
        </p:txBody>
      </p:sp>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21" name="图片 20"/>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2" name="文本框 21"/>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3" name="矩形 22"/>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accent3"/>
                </a:solidFill>
                <a:cs typeface="+mn-ea"/>
                <a:sym typeface="+mn-lt"/>
              </a:rPr>
              <a:t>Basic Concepts </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4" name="直接连接符 23"/>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文本框 2919"/>
          <p:cNvSpPr txBox="1"/>
          <p:nvPr/>
        </p:nvSpPr>
        <p:spPr>
          <a:xfrm>
            <a:off x="9934274" y="177223"/>
            <a:ext cx="1800494"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有向图、无向图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8" name="文本框 2919"/>
          <p:cNvSpPr txBox="1"/>
          <p:nvPr/>
        </p:nvSpPr>
        <p:spPr>
          <a:xfrm>
            <a:off x="9588027" y="175307"/>
            <a:ext cx="2492990"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权值、度、入度、出度</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69708" y="1738322"/>
            <a:ext cx="2523810" cy="1971428"/>
          </a:xfrm>
          <a:prstGeom prst="rect">
            <a:avLst/>
          </a:prstGeom>
        </p:spPr>
      </p:pic>
      <p:sp>
        <p:nvSpPr>
          <p:cNvPr id="25" name="矩形 24"/>
          <p:cNvSpPr/>
          <p:nvPr/>
        </p:nvSpPr>
        <p:spPr>
          <a:xfrm>
            <a:off x="6235644" y="4165823"/>
            <a:ext cx="370020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bg1"/>
                </a:solidFill>
                <a:cs typeface="+mn-ea"/>
                <a:sym typeface="+mn-lt"/>
              </a:rPr>
              <a:t>权</a:t>
            </a:r>
            <a:r>
              <a:rPr lang="zh-CN" altLang="en-US" b="1" dirty="0" smtClean="0">
                <a:solidFill>
                  <a:schemeClr val="bg1"/>
                </a:solidFill>
                <a:cs typeface="+mn-ea"/>
                <a:sym typeface="+mn-lt"/>
              </a:rPr>
              <a:t>值</a:t>
            </a:r>
            <a:r>
              <a:rPr lang="en-US" altLang="zh-CN" b="1" dirty="0" smtClean="0">
                <a:solidFill>
                  <a:schemeClr val="bg1"/>
                </a:solidFill>
                <a:cs typeface="+mn-ea"/>
                <a:sym typeface="+mn-lt"/>
              </a:rPr>
              <a:t>(Weight)</a:t>
            </a:r>
            <a:endParaRPr lang="zh-CN" altLang="en-US" b="1" dirty="0">
              <a:solidFill>
                <a:schemeClr val="bg1"/>
              </a:solidFill>
              <a:cs typeface="+mn-ea"/>
              <a:sym typeface="+mn-lt"/>
            </a:endParaRPr>
          </a:p>
        </p:txBody>
      </p:sp>
      <p:sp>
        <p:nvSpPr>
          <p:cNvPr id="26" name="矩形 25"/>
          <p:cNvSpPr/>
          <p:nvPr/>
        </p:nvSpPr>
        <p:spPr>
          <a:xfrm>
            <a:off x="6234070" y="4709346"/>
            <a:ext cx="5000727" cy="844142"/>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边</a:t>
            </a:r>
            <a:r>
              <a:rPr lang="zh-CN" altLang="zh-CN" sz="1400" dirty="0">
                <a:solidFill>
                  <a:schemeClr val="tx1">
                    <a:lumMod val="50000"/>
                    <a:lumOff val="50000"/>
                  </a:schemeClr>
                </a:solidFill>
                <a:cs typeface="+mn-ea"/>
              </a:rPr>
              <a:t>的“费用”，可以形象地理解为边的长度</a:t>
            </a:r>
            <a:r>
              <a:rPr lang="zh-CN" altLang="zh-CN" sz="1400" dirty="0" smtClean="0">
                <a:solidFill>
                  <a:schemeClr val="tx1">
                    <a:lumMod val="50000"/>
                    <a:lumOff val="50000"/>
                  </a:schemeClr>
                </a:solidFill>
                <a:cs typeface="+mn-ea"/>
              </a:rPr>
              <a:t>。</a:t>
            </a:r>
            <a:endParaRPr lang="en-US" altLang="zh-CN" sz="1400" dirty="0" smtClean="0">
              <a:solidFill>
                <a:schemeClr val="tx1">
                  <a:lumMod val="50000"/>
                  <a:lumOff val="50000"/>
                </a:schemeClr>
              </a:solidFill>
              <a:cs typeface="+mn-ea"/>
            </a:endParaRPr>
          </a:p>
          <a:p>
            <a:pPr algn="just">
              <a:lnSpc>
                <a:spcPct val="120000"/>
              </a:lnSpc>
            </a:pPr>
            <a:r>
              <a:rPr lang="zh-CN" altLang="zh-CN" sz="1400" dirty="0" smtClean="0">
                <a:solidFill>
                  <a:schemeClr val="tx1">
                    <a:lumMod val="50000"/>
                    <a:lumOff val="50000"/>
                  </a:schemeClr>
                </a:solidFill>
                <a:cs typeface="+mn-ea"/>
              </a:rPr>
              <a:t>点</a:t>
            </a:r>
            <a:r>
              <a:rPr lang="zh-CN" altLang="zh-CN" sz="1400" dirty="0">
                <a:solidFill>
                  <a:schemeClr val="tx1">
                    <a:lumMod val="50000"/>
                    <a:lumOff val="50000"/>
                  </a:schemeClr>
                </a:solidFill>
                <a:cs typeface="+mn-ea"/>
              </a:rPr>
              <a:t>的“费用”，可以理解为点的大小。</a:t>
            </a:r>
          </a:p>
          <a:p>
            <a:pPr algn="just">
              <a:lnSpc>
                <a:spcPct val="120000"/>
              </a:lnSpc>
            </a:pPr>
            <a:endParaRPr lang="zh-CN" altLang="en-US" sz="1400" dirty="0">
              <a:solidFill>
                <a:schemeClr val="tx1">
                  <a:lumMod val="50000"/>
                  <a:lumOff val="50000"/>
                </a:schemeClr>
              </a:solidFill>
              <a:cs typeface="+mn-ea"/>
              <a:sym typeface="+mn-lt"/>
            </a:endParaRPr>
          </a:p>
        </p:txBody>
      </p:sp>
      <p:pic>
        <p:nvPicPr>
          <p:cNvPr id="3" name="图片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47968" y="1738321"/>
            <a:ext cx="2523810" cy="1971429"/>
          </a:xfrm>
          <a:prstGeom prst="rect">
            <a:avLst/>
          </a:prstGeom>
        </p:spPr>
      </p:pic>
      <p:sp>
        <p:nvSpPr>
          <p:cNvPr id="27" name="矩形 26"/>
          <p:cNvSpPr/>
          <p:nvPr/>
        </p:nvSpPr>
        <p:spPr>
          <a:xfrm>
            <a:off x="708163" y="4179926"/>
            <a:ext cx="3103808"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度</a:t>
            </a:r>
            <a:r>
              <a:rPr lang="en-US" altLang="zh-CN" b="1" dirty="0" smtClean="0">
                <a:solidFill>
                  <a:schemeClr val="bg1"/>
                </a:solidFill>
                <a:cs typeface="+mn-ea"/>
                <a:sym typeface="+mn-lt"/>
              </a:rPr>
              <a:t>(Degree)</a:t>
            </a:r>
            <a:endParaRPr lang="zh-CN" altLang="en-US" b="1" dirty="0">
              <a:solidFill>
                <a:schemeClr val="bg1"/>
              </a:solidFill>
              <a:cs typeface="+mn-ea"/>
              <a:sym typeface="+mn-lt"/>
            </a:endParaRPr>
          </a:p>
        </p:txBody>
      </p:sp>
      <p:sp>
        <p:nvSpPr>
          <p:cNvPr id="28" name="矩形 27"/>
          <p:cNvSpPr/>
          <p:nvPr/>
        </p:nvSpPr>
        <p:spPr>
          <a:xfrm>
            <a:off x="719137" y="4699732"/>
            <a:ext cx="5000727"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无向图</a:t>
            </a:r>
            <a:r>
              <a:rPr lang="zh-CN" altLang="zh-CN" sz="1400" dirty="0">
                <a:solidFill>
                  <a:schemeClr val="tx1">
                    <a:lumMod val="50000"/>
                    <a:lumOff val="50000"/>
                  </a:schemeClr>
                </a:solidFill>
                <a:cs typeface="+mn-ea"/>
              </a:rPr>
              <a:t>中与结点相连的边的数目，称为结点的度</a:t>
            </a:r>
            <a:r>
              <a:rPr lang="zh-CN" altLang="zh-CN" sz="1400" dirty="0" smtClean="0">
                <a:solidFill>
                  <a:schemeClr val="tx1">
                    <a:lumMod val="50000"/>
                    <a:lumOff val="50000"/>
                  </a:schemeClr>
                </a:solidFill>
                <a:cs typeface="+mn-ea"/>
              </a:rPr>
              <a:t>；</a:t>
            </a:r>
            <a:endParaRPr lang="zh-CN" altLang="zh-CN" sz="1400" dirty="0">
              <a:solidFill>
                <a:schemeClr val="tx1">
                  <a:lumMod val="50000"/>
                  <a:lumOff val="50000"/>
                </a:schemeClr>
              </a:solidFill>
              <a:cs typeface="+mn-ea"/>
            </a:endParaRPr>
          </a:p>
        </p:txBody>
      </p:sp>
      <p:sp>
        <p:nvSpPr>
          <p:cNvPr id="29" name="矩形 28"/>
          <p:cNvSpPr/>
          <p:nvPr/>
        </p:nvSpPr>
        <p:spPr>
          <a:xfrm>
            <a:off x="6235644" y="4165823"/>
            <a:ext cx="370020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结点的入度</a:t>
            </a:r>
            <a:r>
              <a:rPr lang="en-US" altLang="zh-CN" b="1" dirty="0" smtClean="0">
                <a:solidFill>
                  <a:schemeClr val="bg1"/>
                </a:solidFill>
                <a:cs typeface="+mn-ea"/>
                <a:sym typeface="+mn-lt"/>
              </a:rPr>
              <a:t>(In-degree)</a:t>
            </a:r>
            <a:endParaRPr lang="zh-CN" altLang="en-US" b="1" dirty="0">
              <a:solidFill>
                <a:schemeClr val="bg1"/>
              </a:solidFill>
              <a:cs typeface="+mn-ea"/>
              <a:sym typeface="+mn-lt"/>
            </a:endParaRPr>
          </a:p>
        </p:txBody>
      </p:sp>
      <p:sp>
        <p:nvSpPr>
          <p:cNvPr id="30" name="矩形 29"/>
          <p:cNvSpPr/>
          <p:nvPr/>
        </p:nvSpPr>
        <p:spPr>
          <a:xfrm>
            <a:off x="6235644" y="4708169"/>
            <a:ext cx="5000727" cy="867930"/>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在</a:t>
            </a:r>
            <a:r>
              <a:rPr lang="zh-CN" altLang="zh-CN" sz="1400" dirty="0">
                <a:solidFill>
                  <a:schemeClr val="tx1">
                    <a:lumMod val="50000"/>
                    <a:lumOff val="50000"/>
                  </a:schemeClr>
                </a:solidFill>
                <a:cs typeface="+mn-ea"/>
              </a:rPr>
              <a:t>有向图中，以这个结点为终点的有向边的数目。</a:t>
            </a:r>
          </a:p>
          <a:p>
            <a:pPr algn="just">
              <a:lnSpc>
                <a:spcPct val="120000"/>
              </a:lnSpc>
            </a:pPr>
            <a:endParaRPr lang="zh-CN" altLang="zh-CN" sz="1400" dirty="0">
              <a:solidFill>
                <a:schemeClr val="tx1">
                  <a:lumMod val="50000"/>
                  <a:lumOff val="50000"/>
                </a:schemeClr>
              </a:solidFill>
              <a:cs typeface="+mn-ea"/>
            </a:endParaRPr>
          </a:p>
          <a:p>
            <a:pPr algn="just">
              <a:lnSpc>
                <a:spcPct val="120000"/>
              </a:lnSpc>
            </a:pPr>
            <a:endParaRPr lang="zh-CN" altLang="en-US" sz="1400" dirty="0">
              <a:solidFill>
                <a:schemeClr val="tx1">
                  <a:lumMod val="50000"/>
                  <a:lumOff val="50000"/>
                </a:schemeClr>
              </a:solidFill>
              <a:cs typeface="+mn-ea"/>
              <a:sym typeface="+mn-lt"/>
            </a:endParaRPr>
          </a:p>
        </p:txBody>
      </p:sp>
      <p:sp>
        <p:nvSpPr>
          <p:cNvPr id="32" name="矩形 31"/>
          <p:cNvSpPr/>
          <p:nvPr/>
        </p:nvSpPr>
        <p:spPr>
          <a:xfrm>
            <a:off x="6234070" y="4164857"/>
            <a:ext cx="370020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bg1"/>
                </a:solidFill>
                <a:cs typeface="+mn-ea"/>
                <a:sym typeface="+mn-lt"/>
              </a:rPr>
              <a:t>结点的出度</a:t>
            </a:r>
            <a:r>
              <a:rPr lang="en-US" altLang="zh-CN" b="1" dirty="0" smtClean="0">
                <a:solidFill>
                  <a:schemeClr val="bg1"/>
                </a:solidFill>
                <a:cs typeface="+mn-ea"/>
                <a:sym typeface="+mn-lt"/>
              </a:rPr>
              <a:t>(Out-degree)</a:t>
            </a:r>
            <a:endParaRPr lang="zh-CN" altLang="en-US" b="1" dirty="0">
              <a:solidFill>
                <a:schemeClr val="bg1"/>
              </a:solidFill>
              <a:cs typeface="+mn-ea"/>
              <a:sym typeface="+mn-lt"/>
            </a:endParaRPr>
          </a:p>
        </p:txBody>
      </p:sp>
      <p:sp>
        <p:nvSpPr>
          <p:cNvPr id="34" name="矩形 33"/>
          <p:cNvSpPr/>
          <p:nvPr/>
        </p:nvSpPr>
        <p:spPr>
          <a:xfrm>
            <a:off x="6235644" y="4708169"/>
            <a:ext cx="5000727" cy="585610"/>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在</a:t>
            </a:r>
            <a:r>
              <a:rPr lang="zh-CN" altLang="zh-CN" sz="1400" dirty="0">
                <a:solidFill>
                  <a:schemeClr val="tx1">
                    <a:lumMod val="50000"/>
                    <a:lumOff val="50000"/>
                  </a:schemeClr>
                </a:solidFill>
                <a:cs typeface="+mn-ea"/>
              </a:rPr>
              <a:t>有向图中，以这个结点为起点的有向边的数目</a:t>
            </a:r>
            <a:r>
              <a:rPr lang="zh-CN" altLang="zh-CN" sz="1400" dirty="0" smtClean="0">
                <a:solidFill>
                  <a:schemeClr val="tx1">
                    <a:lumMod val="50000"/>
                    <a:lumOff val="50000"/>
                  </a:schemeClr>
                </a:solidFill>
                <a:cs typeface="+mn-ea"/>
              </a:rPr>
              <a:t>。</a:t>
            </a:r>
            <a:endParaRPr lang="zh-CN" altLang="zh-CN" sz="1400" dirty="0">
              <a:solidFill>
                <a:schemeClr val="tx1">
                  <a:lumMod val="50000"/>
                  <a:lumOff val="50000"/>
                </a:schemeClr>
              </a:solidFill>
              <a:cs typeface="+mn-ea"/>
            </a:endParaRPr>
          </a:p>
          <a:p>
            <a:pPr algn="just">
              <a:lnSpc>
                <a:spcPct val="120000"/>
              </a:lnSpc>
            </a:pP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43598824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nodeType="clickEffect">
                                  <p:stCondLst>
                                    <p:cond delay="0"/>
                                  </p:stCondLst>
                                  <p:childTnLst>
                                    <p:animEffect transition="out" filter="wipe(down)">
                                      <p:cBhvr>
                                        <p:cTn id="14" dur="500"/>
                                        <p:tgtEl>
                                          <p:spTgt spid="19"/>
                                        </p:tgtEl>
                                      </p:cBhvr>
                                    </p:animEffect>
                                    <p:set>
                                      <p:cBhvr>
                                        <p:cTn id="15" dur="1" fill="hold">
                                          <p:stCondLst>
                                            <p:cond delay="499"/>
                                          </p:stCondLst>
                                        </p:cTn>
                                        <p:tgtEl>
                                          <p:spTgt spid="19"/>
                                        </p:tgtEl>
                                        <p:attrNameLst>
                                          <p:attrName>style.visibility</p:attrName>
                                        </p:attrNameLst>
                                      </p:cBhvr>
                                      <p:to>
                                        <p:strVal val="hidden"/>
                                      </p:to>
                                    </p:set>
                                  </p:childTnLst>
                                </p:cTn>
                              </p:par>
                              <p:par>
                                <p:cTn id="16" presetID="22" presetClass="exit" presetSubtype="4" fill="hold" grpId="0" nodeType="withEffect">
                                  <p:stCondLst>
                                    <p:cond delay="0"/>
                                  </p:stCondLst>
                                  <p:childTnLst>
                                    <p:animEffect transition="out" filter="wipe(down)">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par>
                                <p:cTn id="19" presetID="22" presetClass="exit" presetSubtype="4" fill="hold" grpId="0" nodeType="withEffect">
                                  <p:stCondLst>
                                    <p:cond delay="0"/>
                                  </p:stCondLst>
                                  <p:childTnLst>
                                    <p:animEffect transition="out" filter="wipe(down)">
                                      <p:cBhvr>
                                        <p:cTn id="20" dur="500"/>
                                        <p:tgtEl>
                                          <p:spTgt spid="15"/>
                                        </p:tgtEl>
                                      </p:cBhvr>
                                    </p:animEffect>
                                    <p:set>
                                      <p:cBhvr>
                                        <p:cTn id="21" dur="1" fill="hold">
                                          <p:stCondLst>
                                            <p:cond delay="499"/>
                                          </p:stCondLst>
                                        </p:cTn>
                                        <p:tgtEl>
                                          <p:spTgt spid="15"/>
                                        </p:tgtEl>
                                        <p:attrNameLst>
                                          <p:attrName>style.visibility</p:attrName>
                                        </p:attrNameLst>
                                      </p:cBhvr>
                                      <p:to>
                                        <p:strVal val="hidden"/>
                                      </p:to>
                                    </p:set>
                                  </p:childTnLst>
                                </p:cTn>
                              </p:par>
                              <p:par>
                                <p:cTn id="22" presetID="16" presetClass="exit" presetSubtype="21" fill="hold" nodeType="withEffect">
                                  <p:stCondLst>
                                    <p:cond delay="0"/>
                                  </p:stCondLst>
                                  <p:childTnLst>
                                    <p:animEffect transition="out" filter="barn(inVertical)">
                                      <p:cBhvr>
                                        <p:cTn id="23" dur="500"/>
                                        <p:tgtEl>
                                          <p:spTgt spid="17"/>
                                        </p:tgtEl>
                                      </p:cBhvr>
                                    </p:animEffect>
                                    <p:set>
                                      <p:cBhvr>
                                        <p:cTn id="24" dur="1" fill="hold">
                                          <p:stCondLst>
                                            <p:cond delay="499"/>
                                          </p:stCondLst>
                                        </p:cTn>
                                        <p:tgtEl>
                                          <p:spTgt spid="17"/>
                                        </p:tgtEl>
                                        <p:attrNameLst>
                                          <p:attrName>style.visibility</p:attrName>
                                        </p:attrNameLst>
                                      </p:cBhvr>
                                      <p:to>
                                        <p:strVal val="hidden"/>
                                      </p:to>
                                    </p:set>
                                  </p:childTnLst>
                                </p:cTn>
                              </p:par>
                            </p:childTnLst>
                          </p:cTn>
                        </p:par>
                        <p:par>
                          <p:cTn id="25" fill="hold">
                            <p:stCondLst>
                              <p:cond delay="500"/>
                            </p:stCondLst>
                            <p:childTnLst>
                              <p:par>
                                <p:cTn id="26" presetID="42" presetClass="entr" presetSubtype="0"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1000"/>
                                        <p:tgtEl>
                                          <p:spTgt spid="25"/>
                                        </p:tgtEl>
                                      </p:cBhvr>
                                    </p:animEffect>
                                    <p:anim calcmode="lin" valueType="num">
                                      <p:cBhvr>
                                        <p:cTn id="34" dur="1000" fill="hold"/>
                                        <p:tgtEl>
                                          <p:spTgt spid="25"/>
                                        </p:tgtEl>
                                        <p:attrNameLst>
                                          <p:attrName>ppt_x</p:attrName>
                                        </p:attrNameLst>
                                      </p:cBhvr>
                                      <p:tavLst>
                                        <p:tav tm="0">
                                          <p:val>
                                            <p:strVal val="#ppt_x"/>
                                          </p:val>
                                        </p:tav>
                                        <p:tav tm="100000">
                                          <p:val>
                                            <p:strVal val="#ppt_x"/>
                                          </p:val>
                                        </p:tav>
                                      </p:tavLst>
                                    </p:anim>
                                    <p:anim calcmode="lin" valueType="num">
                                      <p:cBhvr>
                                        <p:cTn id="35" dur="1000" fill="hold"/>
                                        <p:tgtEl>
                                          <p:spTgt spid="2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1000"/>
                                        <p:tgtEl>
                                          <p:spTgt spid="26"/>
                                        </p:tgtEl>
                                      </p:cBhvr>
                                    </p:animEffect>
                                    <p:anim calcmode="lin" valueType="num">
                                      <p:cBhvr>
                                        <p:cTn id="39" dur="1000" fill="hold"/>
                                        <p:tgtEl>
                                          <p:spTgt spid="26"/>
                                        </p:tgtEl>
                                        <p:attrNameLst>
                                          <p:attrName>ppt_x</p:attrName>
                                        </p:attrNameLst>
                                      </p:cBhvr>
                                      <p:tavLst>
                                        <p:tav tm="0">
                                          <p:val>
                                            <p:strVal val="#ppt_x"/>
                                          </p:val>
                                        </p:tav>
                                        <p:tav tm="100000">
                                          <p:val>
                                            <p:strVal val="#ppt_x"/>
                                          </p:val>
                                        </p:tav>
                                      </p:tavLst>
                                    </p:anim>
                                    <p:anim calcmode="lin" valueType="num">
                                      <p:cBhvr>
                                        <p:cTn id="40" dur="1000" fill="hold"/>
                                        <p:tgtEl>
                                          <p:spTgt spid="2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xit" presetSubtype="21" fill="hold" grpId="0" nodeType="clickEffect">
                                  <p:stCondLst>
                                    <p:cond delay="0"/>
                                  </p:stCondLst>
                                  <p:childTnLst>
                                    <p:animEffect transition="out" filter="barn(inVertical)">
                                      <p:cBhvr>
                                        <p:cTn id="49" dur="500"/>
                                        <p:tgtEl>
                                          <p:spTgt spid="13"/>
                                        </p:tgtEl>
                                      </p:cBhvr>
                                    </p:animEffect>
                                    <p:set>
                                      <p:cBhvr>
                                        <p:cTn id="50" dur="1" fill="hold">
                                          <p:stCondLst>
                                            <p:cond delay="499"/>
                                          </p:stCondLst>
                                        </p:cTn>
                                        <p:tgtEl>
                                          <p:spTgt spid="13"/>
                                        </p:tgtEl>
                                        <p:attrNameLst>
                                          <p:attrName>style.visibility</p:attrName>
                                        </p:attrNameLst>
                                      </p:cBhvr>
                                      <p:to>
                                        <p:strVal val="hidden"/>
                                      </p:to>
                                    </p:set>
                                  </p:childTnLst>
                                </p:cTn>
                              </p:par>
                              <p:par>
                                <p:cTn id="51" presetID="16" presetClass="exit" presetSubtype="21" fill="hold" grpId="0" nodeType="withEffect">
                                  <p:stCondLst>
                                    <p:cond delay="0"/>
                                  </p:stCondLst>
                                  <p:childTnLst>
                                    <p:animEffect transition="out" filter="barn(inVertical)">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childTnLst>
                          </p:cTn>
                        </p:par>
                        <p:par>
                          <p:cTn id="54" fill="hold">
                            <p:stCondLst>
                              <p:cond delay="500"/>
                            </p:stCondLst>
                            <p:childTnLst>
                              <p:par>
                                <p:cTn id="55" presetID="42" presetClass="entr" presetSubtype="0"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1000"/>
                                        <p:tgtEl>
                                          <p:spTgt spid="27"/>
                                        </p:tgtEl>
                                      </p:cBhvr>
                                    </p:animEffect>
                                    <p:anim calcmode="lin" valueType="num">
                                      <p:cBhvr>
                                        <p:cTn id="58" dur="1000" fill="hold"/>
                                        <p:tgtEl>
                                          <p:spTgt spid="27"/>
                                        </p:tgtEl>
                                        <p:attrNameLst>
                                          <p:attrName>ppt_x</p:attrName>
                                        </p:attrNameLst>
                                      </p:cBhvr>
                                      <p:tavLst>
                                        <p:tav tm="0">
                                          <p:val>
                                            <p:strVal val="#ppt_x"/>
                                          </p:val>
                                        </p:tav>
                                        <p:tav tm="100000">
                                          <p:val>
                                            <p:strVal val="#ppt_x"/>
                                          </p:val>
                                        </p:tav>
                                      </p:tavLst>
                                    </p:anim>
                                    <p:anim calcmode="lin" valueType="num">
                                      <p:cBhvr>
                                        <p:cTn id="59" dur="1000" fill="hold"/>
                                        <p:tgtEl>
                                          <p:spTgt spid="2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1000"/>
                                        <p:tgtEl>
                                          <p:spTgt spid="28"/>
                                        </p:tgtEl>
                                      </p:cBhvr>
                                    </p:animEffect>
                                    <p:anim calcmode="lin" valueType="num">
                                      <p:cBhvr>
                                        <p:cTn id="63" dur="1000" fill="hold"/>
                                        <p:tgtEl>
                                          <p:spTgt spid="28"/>
                                        </p:tgtEl>
                                        <p:attrNameLst>
                                          <p:attrName>ppt_x</p:attrName>
                                        </p:attrNameLst>
                                      </p:cBhvr>
                                      <p:tavLst>
                                        <p:tav tm="0">
                                          <p:val>
                                            <p:strVal val="#ppt_x"/>
                                          </p:val>
                                        </p:tav>
                                        <p:tav tm="100000">
                                          <p:val>
                                            <p:strVal val="#ppt_x"/>
                                          </p:val>
                                        </p:tav>
                                      </p:tavLst>
                                    </p:anim>
                                    <p:anim calcmode="lin" valueType="num">
                                      <p:cBhvr>
                                        <p:cTn id="6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xit" presetSubtype="4" fill="hold" grpId="1" nodeType="clickEffect">
                                  <p:stCondLst>
                                    <p:cond delay="0"/>
                                  </p:stCondLst>
                                  <p:childTnLst>
                                    <p:animEffect transition="out" filter="wipe(down)">
                                      <p:cBhvr>
                                        <p:cTn id="68" dur="500"/>
                                        <p:tgtEl>
                                          <p:spTgt spid="25"/>
                                        </p:tgtEl>
                                      </p:cBhvr>
                                    </p:animEffect>
                                    <p:set>
                                      <p:cBhvr>
                                        <p:cTn id="69" dur="1" fill="hold">
                                          <p:stCondLst>
                                            <p:cond delay="499"/>
                                          </p:stCondLst>
                                        </p:cTn>
                                        <p:tgtEl>
                                          <p:spTgt spid="25"/>
                                        </p:tgtEl>
                                        <p:attrNameLst>
                                          <p:attrName>style.visibility</p:attrName>
                                        </p:attrNameLst>
                                      </p:cBhvr>
                                      <p:to>
                                        <p:strVal val="hidden"/>
                                      </p:to>
                                    </p:set>
                                  </p:childTnLst>
                                </p:cTn>
                              </p:par>
                              <p:par>
                                <p:cTn id="70" presetID="22" presetClass="exit" presetSubtype="4" fill="hold" grpId="1" nodeType="withEffect">
                                  <p:stCondLst>
                                    <p:cond delay="0"/>
                                  </p:stCondLst>
                                  <p:childTnLst>
                                    <p:animEffect transition="out" filter="wipe(down)">
                                      <p:cBhvr>
                                        <p:cTn id="71" dur="500"/>
                                        <p:tgtEl>
                                          <p:spTgt spid="26"/>
                                        </p:tgtEl>
                                      </p:cBhvr>
                                    </p:animEffect>
                                    <p:set>
                                      <p:cBhvr>
                                        <p:cTn id="72" dur="1" fill="hold">
                                          <p:stCondLst>
                                            <p:cond delay="499"/>
                                          </p:stCondLst>
                                        </p:cTn>
                                        <p:tgtEl>
                                          <p:spTgt spid="26"/>
                                        </p:tgtEl>
                                        <p:attrNameLst>
                                          <p:attrName>style.visibility</p:attrName>
                                        </p:attrNameLst>
                                      </p:cBhvr>
                                      <p:to>
                                        <p:strVal val="hidden"/>
                                      </p:to>
                                    </p:set>
                                  </p:childTnLst>
                                </p:cTn>
                              </p:par>
                            </p:childTnLst>
                          </p:cTn>
                        </p:par>
                        <p:par>
                          <p:cTn id="73" fill="hold">
                            <p:stCondLst>
                              <p:cond delay="500"/>
                            </p:stCondLst>
                            <p:childTnLst>
                              <p:par>
                                <p:cTn id="74" presetID="6" presetClass="entr" presetSubtype="16" fill="hold" grpId="0" nodeType="after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circle(in)">
                                      <p:cBhvr>
                                        <p:cTn id="76" dur="2000"/>
                                        <p:tgtEl>
                                          <p:spTgt spid="29"/>
                                        </p:tgtEl>
                                      </p:cBhvr>
                                    </p:animEffect>
                                  </p:childTnLst>
                                </p:cTn>
                              </p:par>
                              <p:par>
                                <p:cTn id="77" presetID="6" presetClass="entr" presetSubtype="16"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circle(in)">
                                      <p:cBhvr>
                                        <p:cTn id="79" dur="20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xit" presetSubtype="4" fill="hold" grpId="1" nodeType="clickEffect">
                                  <p:stCondLst>
                                    <p:cond delay="0"/>
                                  </p:stCondLst>
                                  <p:childTnLst>
                                    <p:animEffect transition="out" filter="wipe(down)">
                                      <p:cBhvr>
                                        <p:cTn id="83" dur="500"/>
                                        <p:tgtEl>
                                          <p:spTgt spid="29"/>
                                        </p:tgtEl>
                                      </p:cBhvr>
                                    </p:animEffect>
                                    <p:set>
                                      <p:cBhvr>
                                        <p:cTn id="84" dur="1" fill="hold">
                                          <p:stCondLst>
                                            <p:cond delay="499"/>
                                          </p:stCondLst>
                                        </p:cTn>
                                        <p:tgtEl>
                                          <p:spTgt spid="29"/>
                                        </p:tgtEl>
                                        <p:attrNameLst>
                                          <p:attrName>style.visibility</p:attrName>
                                        </p:attrNameLst>
                                      </p:cBhvr>
                                      <p:to>
                                        <p:strVal val="hidden"/>
                                      </p:to>
                                    </p:set>
                                  </p:childTnLst>
                                </p:cTn>
                              </p:par>
                              <p:par>
                                <p:cTn id="85" presetID="22" presetClass="exit" presetSubtype="4" fill="hold" grpId="1" nodeType="withEffect">
                                  <p:stCondLst>
                                    <p:cond delay="0"/>
                                  </p:stCondLst>
                                  <p:childTnLst>
                                    <p:animEffect transition="out" filter="wipe(down)">
                                      <p:cBhvr>
                                        <p:cTn id="86" dur="500"/>
                                        <p:tgtEl>
                                          <p:spTgt spid="30"/>
                                        </p:tgtEl>
                                      </p:cBhvr>
                                    </p:animEffect>
                                    <p:set>
                                      <p:cBhvr>
                                        <p:cTn id="87" dur="1" fill="hold">
                                          <p:stCondLst>
                                            <p:cond delay="499"/>
                                          </p:stCondLst>
                                        </p:cTn>
                                        <p:tgtEl>
                                          <p:spTgt spid="30"/>
                                        </p:tgtEl>
                                        <p:attrNameLst>
                                          <p:attrName>style.visibility</p:attrName>
                                        </p:attrNameLst>
                                      </p:cBhvr>
                                      <p:to>
                                        <p:strVal val="hidden"/>
                                      </p:to>
                                    </p:set>
                                  </p:childTnLst>
                                </p:cTn>
                              </p:par>
                            </p:childTnLst>
                          </p:cTn>
                        </p:par>
                        <p:par>
                          <p:cTn id="88" fill="hold">
                            <p:stCondLst>
                              <p:cond delay="500"/>
                            </p:stCondLst>
                            <p:childTnLst>
                              <p:par>
                                <p:cTn id="89" presetID="6" presetClass="entr" presetSubtype="16"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circle(in)">
                                      <p:cBhvr>
                                        <p:cTn id="91" dur="2000"/>
                                        <p:tgtEl>
                                          <p:spTgt spid="32"/>
                                        </p:tgtEl>
                                      </p:cBhvr>
                                    </p:animEffect>
                                  </p:childTnLst>
                                </p:cTn>
                              </p:par>
                              <p:par>
                                <p:cTn id="92" presetID="6" presetClass="entr" presetSubtype="16"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circle(in)">
                                      <p:cBhvr>
                                        <p:cTn id="94"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8" grpId="0"/>
      <p:bldP spid="25" grpId="0"/>
      <p:bldP spid="25" grpId="1"/>
      <p:bldP spid="26" grpId="0"/>
      <p:bldP spid="26" grpId="1"/>
      <p:bldP spid="27" grpId="0"/>
      <p:bldP spid="28" grpId="0"/>
      <p:bldP spid="29" grpId="0"/>
      <p:bldP spid="29" grpId="1"/>
      <p:bldP spid="30" grpId="0"/>
      <p:bldP spid="30" grpId="1"/>
      <p:bldP spid="32"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6"/>
          <p:cNvGrpSpPr/>
          <p:nvPr/>
        </p:nvGrpSpPr>
        <p:grpSpPr>
          <a:xfrm>
            <a:off x="4537111" y="1818223"/>
            <a:ext cx="2993989" cy="171700"/>
            <a:chOff x="4170223" y="2421476"/>
            <a:chExt cx="2993989" cy="171700"/>
          </a:xfrm>
        </p:grpSpPr>
        <p:cxnSp>
          <p:nvCxnSpPr>
            <p:cNvPr id="47" name="Straight Connector 45"/>
            <p:cNvCxnSpPr>
              <a:stCxn id="50" idx="8"/>
            </p:cNvCxnSpPr>
            <p:nvPr/>
          </p:nvCxnSpPr>
          <p:spPr>
            <a:xfrm>
              <a:off x="4327375" y="2507326"/>
              <a:ext cx="2836837" cy="4008"/>
            </a:xfrm>
            <a:prstGeom prst="line">
              <a:avLst/>
            </a:prstGeom>
            <a:ln w="12700" cmpd="sng">
              <a:solidFill>
                <a:schemeClr val="bg1">
                  <a:lumMod val="8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48" name="Group 46"/>
            <p:cNvGrpSpPr/>
            <p:nvPr/>
          </p:nvGrpSpPr>
          <p:grpSpPr>
            <a:xfrm>
              <a:off x="4170223" y="2421476"/>
              <a:ext cx="172216" cy="171700"/>
              <a:chOff x="3208876" y="2464802"/>
              <a:chExt cx="354012" cy="352956"/>
            </a:xfrm>
            <a:solidFill>
              <a:schemeClr val="bg1">
                <a:lumMod val="50000"/>
              </a:schemeClr>
            </a:solidFill>
          </p:grpSpPr>
          <p:sp>
            <p:nvSpPr>
              <p:cNvPr id="49"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50"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71" name="矩形 70"/>
          <p:cNvSpPr/>
          <p:nvPr/>
        </p:nvSpPr>
        <p:spPr>
          <a:xfrm>
            <a:off x="1691914" y="1706968"/>
            <a:ext cx="2702285" cy="39421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图中有几个点</a:t>
            </a:r>
            <a:endParaRPr lang="zh-CN" altLang="en-US" b="1" dirty="0">
              <a:solidFill>
                <a:schemeClr val="tx1">
                  <a:lumMod val="65000"/>
                  <a:lumOff val="35000"/>
                </a:schemeClr>
              </a:solidFill>
              <a:cs typeface="+mn-ea"/>
              <a:sym typeface="+mn-lt"/>
            </a:endParaRPr>
          </a:p>
        </p:txBody>
      </p:sp>
      <p:pic>
        <p:nvPicPr>
          <p:cNvPr id="81" name="图片 80"/>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82" name="图片 8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83" name="文本框 82"/>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a:t>
            </a:r>
            <a:r>
              <a:rPr lang="zh-CN" altLang="en-US" sz="3200" dirty="0">
                <a:solidFill>
                  <a:schemeClr val="tx1">
                    <a:lumMod val="65000"/>
                    <a:lumOff val="35000"/>
                  </a:schemeClr>
                </a:solidFill>
                <a:cs typeface="+mn-ea"/>
                <a:sym typeface="+mn-lt"/>
              </a:rPr>
              <a:t>概念</a:t>
            </a:r>
          </a:p>
        </p:txBody>
      </p:sp>
      <p:sp>
        <p:nvSpPr>
          <p:cNvPr id="84" name="矩形 83"/>
          <p:cNvSpPr/>
          <p:nvPr/>
        </p:nvSpPr>
        <p:spPr>
          <a:xfrm>
            <a:off x="1996803" y="776898"/>
            <a:ext cx="3792866" cy="276999"/>
          </a:xfrm>
          <a:prstGeom prst="rect">
            <a:avLst/>
          </a:prstGeom>
        </p:spPr>
        <p:txBody>
          <a:bodyPr wrap="square">
            <a:spAutoFit/>
          </a:bodyPr>
          <a:lstStyle/>
          <a:p>
            <a:pPr lvl="0">
              <a:defRPr/>
            </a:pPr>
            <a:r>
              <a:rPr lang="en-US" altLang="zh-CN" sz="1200" dirty="0">
                <a:solidFill>
                  <a:schemeClr val="accent3"/>
                </a:solidFill>
                <a:cs typeface="+mn-ea"/>
                <a:sym typeface="+mn-lt"/>
              </a:rPr>
              <a:t>Basic Concepts </a:t>
            </a:r>
            <a:endParaRPr lang="zh-CN" altLang="en-US" sz="1200" dirty="0">
              <a:solidFill>
                <a:schemeClr val="accent3"/>
              </a:solidFill>
              <a:cs typeface="+mn-ea"/>
              <a:sym typeface="+mn-lt"/>
            </a:endParaRPr>
          </a:p>
        </p:txBody>
      </p:sp>
      <p:cxnSp>
        <p:nvCxnSpPr>
          <p:cNvPr id="85" name="直接连接符 84"/>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59" name="文本框 2919"/>
          <p:cNvSpPr txBox="1"/>
          <p:nvPr/>
        </p:nvSpPr>
        <p:spPr>
          <a:xfrm>
            <a:off x="10511354" y="177223"/>
            <a:ext cx="64633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6030" y="1414032"/>
            <a:ext cx="2873362" cy="2752725"/>
          </a:xfrm>
          <a:prstGeom prst="rect">
            <a:avLst/>
          </a:prstGeom>
        </p:spPr>
      </p:pic>
      <p:grpSp>
        <p:nvGrpSpPr>
          <p:cNvPr id="61" name="Group 16"/>
          <p:cNvGrpSpPr/>
          <p:nvPr/>
        </p:nvGrpSpPr>
        <p:grpSpPr>
          <a:xfrm>
            <a:off x="4537111" y="2302872"/>
            <a:ext cx="2993989" cy="171700"/>
            <a:chOff x="4170223" y="2421476"/>
            <a:chExt cx="2993989" cy="171700"/>
          </a:xfrm>
        </p:grpSpPr>
        <p:cxnSp>
          <p:nvCxnSpPr>
            <p:cNvPr id="63" name="Straight Connector 45"/>
            <p:cNvCxnSpPr>
              <a:stCxn id="91" idx="8"/>
            </p:cNvCxnSpPr>
            <p:nvPr/>
          </p:nvCxnSpPr>
          <p:spPr>
            <a:xfrm>
              <a:off x="4327375" y="2507326"/>
              <a:ext cx="2836837" cy="4008"/>
            </a:xfrm>
            <a:prstGeom prst="line">
              <a:avLst/>
            </a:prstGeom>
            <a:ln w="12700">
              <a:solidFill>
                <a:schemeClr val="bg1">
                  <a:lumMod val="8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64" name="Group 46"/>
            <p:cNvGrpSpPr/>
            <p:nvPr/>
          </p:nvGrpSpPr>
          <p:grpSpPr>
            <a:xfrm>
              <a:off x="4170223" y="2421476"/>
              <a:ext cx="172216" cy="171700"/>
              <a:chOff x="3208876" y="2464802"/>
              <a:chExt cx="354012" cy="352956"/>
            </a:xfrm>
            <a:solidFill>
              <a:schemeClr val="bg1">
                <a:lumMod val="50000"/>
              </a:schemeClr>
            </a:solidFill>
          </p:grpSpPr>
          <p:sp>
            <p:nvSpPr>
              <p:cNvPr id="90"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91"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62" name="矩形 61"/>
          <p:cNvSpPr/>
          <p:nvPr/>
        </p:nvSpPr>
        <p:spPr>
          <a:xfrm>
            <a:off x="1691914" y="2191617"/>
            <a:ext cx="2702285"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图中有几条有向边</a:t>
            </a:r>
            <a:endParaRPr lang="zh-CN" altLang="en-US" b="1" dirty="0">
              <a:solidFill>
                <a:schemeClr val="tx1">
                  <a:lumMod val="65000"/>
                  <a:lumOff val="35000"/>
                </a:schemeClr>
              </a:solidFill>
              <a:cs typeface="+mn-ea"/>
              <a:sym typeface="+mn-lt"/>
            </a:endParaRPr>
          </a:p>
        </p:txBody>
      </p:sp>
      <p:grpSp>
        <p:nvGrpSpPr>
          <p:cNvPr id="93" name="Group 16"/>
          <p:cNvGrpSpPr/>
          <p:nvPr/>
        </p:nvGrpSpPr>
        <p:grpSpPr>
          <a:xfrm>
            <a:off x="4537111" y="2788938"/>
            <a:ext cx="2993989" cy="171700"/>
            <a:chOff x="4170223" y="2421476"/>
            <a:chExt cx="2993989" cy="171700"/>
          </a:xfrm>
        </p:grpSpPr>
        <p:cxnSp>
          <p:nvCxnSpPr>
            <p:cNvPr id="95" name="Straight Connector 45"/>
            <p:cNvCxnSpPr>
              <a:stCxn id="98" idx="8"/>
            </p:cNvCxnSpPr>
            <p:nvPr/>
          </p:nvCxnSpPr>
          <p:spPr>
            <a:xfrm>
              <a:off x="4327375" y="2507326"/>
              <a:ext cx="2836837" cy="4008"/>
            </a:xfrm>
            <a:prstGeom prst="line">
              <a:avLst/>
            </a:prstGeom>
            <a:ln w="12700">
              <a:solidFill>
                <a:schemeClr val="bg1">
                  <a:lumMod val="8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96" name="Group 46"/>
            <p:cNvGrpSpPr/>
            <p:nvPr/>
          </p:nvGrpSpPr>
          <p:grpSpPr>
            <a:xfrm>
              <a:off x="4170223" y="2421476"/>
              <a:ext cx="172216" cy="171700"/>
              <a:chOff x="3208876" y="2464802"/>
              <a:chExt cx="354012" cy="352956"/>
            </a:xfrm>
            <a:solidFill>
              <a:schemeClr val="bg1">
                <a:lumMod val="50000"/>
              </a:schemeClr>
            </a:solidFill>
          </p:grpSpPr>
          <p:sp>
            <p:nvSpPr>
              <p:cNvPr id="97"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98"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94" name="矩形 93"/>
          <p:cNvSpPr/>
          <p:nvPr/>
        </p:nvSpPr>
        <p:spPr>
          <a:xfrm>
            <a:off x="1149710" y="2677683"/>
            <a:ext cx="3244490"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图中最大</a:t>
            </a:r>
            <a:r>
              <a:rPr lang="en-US" altLang="zh-CN" b="1" dirty="0" smtClean="0">
                <a:solidFill>
                  <a:schemeClr val="tx1">
                    <a:lumMod val="65000"/>
                    <a:lumOff val="35000"/>
                  </a:schemeClr>
                </a:solidFill>
                <a:cs typeface="+mn-ea"/>
                <a:sym typeface="+mn-lt"/>
              </a:rPr>
              <a:t>/</a:t>
            </a:r>
            <a:r>
              <a:rPr lang="zh-CN" altLang="en-US" b="1" dirty="0" smtClean="0">
                <a:solidFill>
                  <a:schemeClr val="tx1">
                    <a:lumMod val="65000"/>
                    <a:lumOff val="35000"/>
                  </a:schemeClr>
                </a:solidFill>
                <a:cs typeface="+mn-ea"/>
                <a:sym typeface="+mn-lt"/>
              </a:rPr>
              <a:t>最小权值边是哪几条</a:t>
            </a:r>
            <a:endParaRPr lang="zh-CN" altLang="en-US" b="1" dirty="0">
              <a:solidFill>
                <a:schemeClr val="tx1">
                  <a:lumMod val="65000"/>
                  <a:lumOff val="35000"/>
                </a:schemeClr>
              </a:solidFill>
              <a:cs typeface="+mn-ea"/>
              <a:sym typeface="+mn-lt"/>
            </a:endParaRPr>
          </a:p>
        </p:txBody>
      </p:sp>
      <p:grpSp>
        <p:nvGrpSpPr>
          <p:cNvPr id="100" name="Group 16"/>
          <p:cNvGrpSpPr/>
          <p:nvPr/>
        </p:nvGrpSpPr>
        <p:grpSpPr>
          <a:xfrm>
            <a:off x="4537111" y="3226927"/>
            <a:ext cx="2993989" cy="171700"/>
            <a:chOff x="4170223" y="2421476"/>
            <a:chExt cx="2993989" cy="171700"/>
          </a:xfrm>
        </p:grpSpPr>
        <p:cxnSp>
          <p:nvCxnSpPr>
            <p:cNvPr id="102" name="Straight Connector 45"/>
            <p:cNvCxnSpPr>
              <a:stCxn id="105" idx="3"/>
            </p:cNvCxnSpPr>
            <p:nvPr/>
          </p:nvCxnSpPr>
          <p:spPr>
            <a:xfrm>
              <a:off x="4342439" y="2507326"/>
              <a:ext cx="2821773" cy="4008"/>
            </a:xfrm>
            <a:prstGeom prst="line">
              <a:avLst/>
            </a:prstGeom>
            <a:ln w="12700">
              <a:solidFill>
                <a:schemeClr val="bg1">
                  <a:lumMod val="8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103" name="Group 46"/>
            <p:cNvGrpSpPr/>
            <p:nvPr/>
          </p:nvGrpSpPr>
          <p:grpSpPr>
            <a:xfrm>
              <a:off x="4170223" y="2421476"/>
              <a:ext cx="172216" cy="171700"/>
              <a:chOff x="3208876" y="2464802"/>
              <a:chExt cx="354012" cy="352956"/>
            </a:xfrm>
            <a:solidFill>
              <a:schemeClr val="bg1">
                <a:lumMod val="50000"/>
              </a:schemeClr>
            </a:solidFill>
          </p:grpSpPr>
          <p:sp>
            <p:nvSpPr>
              <p:cNvPr id="104"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05"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101" name="矩形 100"/>
          <p:cNvSpPr/>
          <p:nvPr/>
        </p:nvSpPr>
        <p:spPr>
          <a:xfrm>
            <a:off x="1691914" y="3115672"/>
            <a:ext cx="2702285"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请描述图中的有向边</a:t>
            </a:r>
            <a:endParaRPr lang="zh-CN" altLang="en-US" b="1" dirty="0">
              <a:solidFill>
                <a:schemeClr val="tx1">
                  <a:lumMod val="65000"/>
                  <a:lumOff val="35000"/>
                </a:schemeClr>
              </a:solidFill>
              <a:cs typeface="+mn-ea"/>
              <a:sym typeface="+mn-lt"/>
            </a:endParaRPr>
          </a:p>
        </p:txBody>
      </p:sp>
      <p:grpSp>
        <p:nvGrpSpPr>
          <p:cNvPr id="107" name="Group 16"/>
          <p:cNvGrpSpPr/>
          <p:nvPr/>
        </p:nvGrpSpPr>
        <p:grpSpPr>
          <a:xfrm>
            <a:off x="4537111" y="3657429"/>
            <a:ext cx="2993989" cy="171700"/>
            <a:chOff x="4170223" y="2421476"/>
            <a:chExt cx="2993989" cy="171700"/>
          </a:xfrm>
        </p:grpSpPr>
        <p:cxnSp>
          <p:nvCxnSpPr>
            <p:cNvPr id="109" name="Straight Connector 45"/>
            <p:cNvCxnSpPr>
              <a:stCxn id="112" idx="3"/>
            </p:cNvCxnSpPr>
            <p:nvPr/>
          </p:nvCxnSpPr>
          <p:spPr>
            <a:xfrm>
              <a:off x="4342439" y="2507326"/>
              <a:ext cx="2821773" cy="4008"/>
            </a:xfrm>
            <a:prstGeom prst="line">
              <a:avLst/>
            </a:prstGeom>
            <a:ln w="12700">
              <a:solidFill>
                <a:schemeClr val="bg1">
                  <a:lumMod val="85000"/>
                </a:schemeClr>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110" name="Group 46"/>
            <p:cNvGrpSpPr/>
            <p:nvPr/>
          </p:nvGrpSpPr>
          <p:grpSpPr>
            <a:xfrm>
              <a:off x="4170223" y="2421476"/>
              <a:ext cx="172216" cy="171700"/>
              <a:chOff x="3208876" y="2464802"/>
              <a:chExt cx="354012" cy="352956"/>
            </a:xfrm>
            <a:solidFill>
              <a:schemeClr val="bg1">
                <a:lumMod val="50000"/>
              </a:schemeClr>
            </a:solidFill>
          </p:grpSpPr>
          <p:sp>
            <p:nvSpPr>
              <p:cNvPr id="111"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12"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108" name="矩形 107"/>
          <p:cNvSpPr/>
          <p:nvPr/>
        </p:nvSpPr>
        <p:spPr>
          <a:xfrm>
            <a:off x="1173134" y="3546174"/>
            <a:ext cx="3221066"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图中最大出度</a:t>
            </a:r>
            <a:r>
              <a:rPr lang="en-US" altLang="zh-CN" b="1" dirty="0" smtClean="0">
                <a:solidFill>
                  <a:schemeClr val="tx1">
                    <a:lumMod val="65000"/>
                    <a:lumOff val="35000"/>
                  </a:schemeClr>
                </a:solidFill>
                <a:cs typeface="+mn-ea"/>
                <a:sym typeface="+mn-lt"/>
              </a:rPr>
              <a:t>/</a:t>
            </a:r>
            <a:r>
              <a:rPr lang="zh-CN" altLang="en-US" b="1" dirty="0" smtClean="0">
                <a:solidFill>
                  <a:schemeClr val="tx1">
                    <a:lumMod val="65000"/>
                    <a:lumOff val="35000"/>
                  </a:schemeClr>
                </a:solidFill>
                <a:cs typeface="+mn-ea"/>
                <a:sym typeface="+mn-lt"/>
              </a:rPr>
              <a:t>入度是哪个点</a:t>
            </a:r>
            <a:endParaRPr lang="zh-CN" altLang="en-US" b="1" dirty="0">
              <a:solidFill>
                <a:schemeClr val="tx1">
                  <a:lumMod val="65000"/>
                  <a:lumOff val="35000"/>
                </a:schemeClr>
              </a:solidFill>
              <a:cs typeface="+mn-ea"/>
              <a:sym typeface="+mn-lt"/>
            </a:endParaRPr>
          </a:p>
        </p:txBody>
      </p:sp>
      <p:grpSp>
        <p:nvGrpSpPr>
          <p:cNvPr id="134" name="Group 16"/>
          <p:cNvGrpSpPr/>
          <p:nvPr/>
        </p:nvGrpSpPr>
        <p:grpSpPr>
          <a:xfrm>
            <a:off x="4537111" y="1819505"/>
            <a:ext cx="2993989" cy="171700"/>
            <a:chOff x="4170223" y="2421476"/>
            <a:chExt cx="2993989" cy="171700"/>
          </a:xfrm>
        </p:grpSpPr>
        <p:cxnSp>
          <p:nvCxnSpPr>
            <p:cNvPr id="135" name="Straight Connector 45"/>
            <p:cNvCxnSpPr>
              <a:stCxn id="50" idx="3"/>
            </p:cNvCxnSpPr>
            <p:nvPr/>
          </p:nvCxnSpPr>
          <p:spPr>
            <a:xfrm flipV="1">
              <a:off x="4342439" y="2511334"/>
              <a:ext cx="2821773" cy="588"/>
            </a:xfrm>
            <a:prstGeom prst="line">
              <a:avLst/>
            </a:prstGeom>
            <a:ln w="63500" cmpd="sng">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136" name="Group 46"/>
            <p:cNvGrpSpPr/>
            <p:nvPr/>
          </p:nvGrpSpPr>
          <p:grpSpPr>
            <a:xfrm>
              <a:off x="4170223" y="2421476"/>
              <a:ext cx="172216" cy="171700"/>
              <a:chOff x="3208876" y="2464802"/>
              <a:chExt cx="354012" cy="352956"/>
            </a:xfrm>
            <a:solidFill>
              <a:schemeClr val="bg1">
                <a:lumMod val="50000"/>
              </a:schemeClr>
            </a:solidFill>
          </p:grpSpPr>
          <p:sp>
            <p:nvSpPr>
              <p:cNvPr id="137"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38"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grpSp>
        <p:nvGrpSpPr>
          <p:cNvPr id="139" name="Group 16"/>
          <p:cNvGrpSpPr/>
          <p:nvPr/>
        </p:nvGrpSpPr>
        <p:grpSpPr>
          <a:xfrm>
            <a:off x="4537111" y="2302872"/>
            <a:ext cx="2993989" cy="171700"/>
            <a:chOff x="4170223" y="2421476"/>
            <a:chExt cx="2993989" cy="171700"/>
          </a:xfrm>
        </p:grpSpPr>
        <p:cxnSp>
          <p:nvCxnSpPr>
            <p:cNvPr id="140" name="Straight Connector 45"/>
            <p:cNvCxnSpPr>
              <a:stCxn id="143" idx="3"/>
            </p:cNvCxnSpPr>
            <p:nvPr/>
          </p:nvCxnSpPr>
          <p:spPr>
            <a:xfrm>
              <a:off x="4342439" y="2507326"/>
              <a:ext cx="2821773" cy="4008"/>
            </a:xfrm>
            <a:prstGeom prst="line">
              <a:avLst/>
            </a:prstGeom>
            <a:ln w="635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141" name="Group 46"/>
            <p:cNvGrpSpPr/>
            <p:nvPr/>
          </p:nvGrpSpPr>
          <p:grpSpPr>
            <a:xfrm>
              <a:off x="4170223" y="2421476"/>
              <a:ext cx="172216" cy="171700"/>
              <a:chOff x="3208876" y="2464802"/>
              <a:chExt cx="354012" cy="352956"/>
            </a:xfrm>
            <a:solidFill>
              <a:schemeClr val="bg1">
                <a:lumMod val="50000"/>
              </a:schemeClr>
            </a:solidFill>
          </p:grpSpPr>
          <p:sp>
            <p:nvSpPr>
              <p:cNvPr id="142"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43"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grpSp>
        <p:nvGrpSpPr>
          <p:cNvPr id="144" name="Group 16"/>
          <p:cNvGrpSpPr/>
          <p:nvPr/>
        </p:nvGrpSpPr>
        <p:grpSpPr>
          <a:xfrm>
            <a:off x="4537111" y="2804199"/>
            <a:ext cx="2993989" cy="171700"/>
            <a:chOff x="4170223" y="2421476"/>
            <a:chExt cx="2993989" cy="171700"/>
          </a:xfrm>
        </p:grpSpPr>
        <p:cxnSp>
          <p:nvCxnSpPr>
            <p:cNvPr id="145" name="Straight Connector 45"/>
            <p:cNvCxnSpPr>
              <a:stCxn id="98" idx="3"/>
            </p:cNvCxnSpPr>
            <p:nvPr/>
          </p:nvCxnSpPr>
          <p:spPr>
            <a:xfrm>
              <a:off x="4342439" y="2507326"/>
              <a:ext cx="2821773" cy="4008"/>
            </a:xfrm>
            <a:prstGeom prst="line">
              <a:avLst/>
            </a:prstGeom>
            <a:ln w="635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146" name="Group 46"/>
            <p:cNvGrpSpPr/>
            <p:nvPr/>
          </p:nvGrpSpPr>
          <p:grpSpPr>
            <a:xfrm>
              <a:off x="4170223" y="2421476"/>
              <a:ext cx="172216" cy="171700"/>
              <a:chOff x="3208876" y="2464802"/>
              <a:chExt cx="354012" cy="352956"/>
            </a:xfrm>
            <a:solidFill>
              <a:schemeClr val="bg1">
                <a:lumMod val="50000"/>
              </a:schemeClr>
            </a:solidFill>
          </p:grpSpPr>
          <p:sp>
            <p:nvSpPr>
              <p:cNvPr id="147"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48"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grpSp>
        <p:nvGrpSpPr>
          <p:cNvPr id="149" name="Group 16"/>
          <p:cNvGrpSpPr/>
          <p:nvPr/>
        </p:nvGrpSpPr>
        <p:grpSpPr>
          <a:xfrm>
            <a:off x="4537111" y="3234804"/>
            <a:ext cx="2993989" cy="171700"/>
            <a:chOff x="4170223" y="2421476"/>
            <a:chExt cx="2993989" cy="171700"/>
          </a:xfrm>
        </p:grpSpPr>
        <p:cxnSp>
          <p:nvCxnSpPr>
            <p:cNvPr id="150" name="Straight Connector 45"/>
            <p:cNvCxnSpPr>
              <a:stCxn id="153" idx="3"/>
            </p:cNvCxnSpPr>
            <p:nvPr/>
          </p:nvCxnSpPr>
          <p:spPr>
            <a:xfrm>
              <a:off x="4342439" y="2507326"/>
              <a:ext cx="2821773" cy="4008"/>
            </a:xfrm>
            <a:prstGeom prst="line">
              <a:avLst/>
            </a:prstGeom>
            <a:ln w="635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151" name="Group 46"/>
            <p:cNvGrpSpPr/>
            <p:nvPr/>
          </p:nvGrpSpPr>
          <p:grpSpPr>
            <a:xfrm>
              <a:off x="4170223" y="2421476"/>
              <a:ext cx="172216" cy="171700"/>
              <a:chOff x="3208876" y="2464802"/>
              <a:chExt cx="354012" cy="352956"/>
            </a:xfrm>
            <a:solidFill>
              <a:schemeClr val="bg1">
                <a:lumMod val="50000"/>
              </a:schemeClr>
            </a:solidFill>
          </p:grpSpPr>
          <p:sp>
            <p:nvSpPr>
              <p:cNvPr id="152"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53"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grpSp>
        <p:nvGrpSpPr>
          <p:cNvPr id="154" name="Group 16"/>
          <p:cNvGrpSpPr/>
          <p:nvPr/>
        </p:nvGrpSpPr>
        <p:grpSpPr>
          <a:xfrm>
            <a:off x="4537111" y="3657429"/>
            <a:ext cx="2993989" cy="171700"/>
            <a:chOff x="4170223" y="2421476"/>
            <a:chExt cx="2993989" cy="171700"/>
          </a:xfrm>
        </p:grpSpPr>
        <p:cxnSp>
          <p:nvCxnSpPr>
            <p:cNvPr id="155" name="Straight Connector 45"/>
            <p:cNvCxnSpPr>
              <a:stCxn id="158" idx="3"/>
            </p:cNvCxnSpPr>
            <p:nvPr/>
          </p:nvCxnSpPr>
          <p:spPr>
            <a:xfrm>
              <a:off x="4342439" y="2507326"/>
              <a:ext cx="2821773" cy="4008"/>
            </a:xfrm>
            <a:prstGeom prst="line">
              <a:avLst/>
            </a:prstGeom>
            <a:ln w="635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156" name="Group 46"/>
            <p:cNvGrpSpPr/>
            <p:nvPr/>
          </p:nvGrpSpPr>
          <p:grpSpPr>
            <a:xfrm>
              <a:off x="4170223" y="2421476"/>
              <a:ext cx="172216" cy="171700"/>
              <a:chOff x="3208876" y="2464802"/>
              <a:chExt cx="354012" cy="352956"/>
            </a:xfrm>
            <a:solidFill>
              <a:schemeClr val="bg1">
                <a:lumMod val="50000"/>
              </a:schemeClr>
            </a:solidFill>
          </p:grpSpPr>
          <p:sp>
            <p:nvSpPr>
              <p:cNvPr id="157" name="Oval 47"/>
              <p:cNvSpPr>
                <a:spLocks/>
              </p:cNvSpPr>
              <p:nvPr/>
            </p:nvSpPr>
            <p:spPr bwMode="auto">
              <a:xfrm>
                <a:off x="3300195"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sp>
            <p:nvSpPr>
              <p:cNvPr id="158" name="Freeform: Shape 48"/>
              <p:cNvSpPr>
                <a:spLocks/>
              </p:cNvSpPr>
              <p:nvPr/>
            </p:nvSpPr>
            <p:spPr bwMode="auto">
              <a:xfrm>
                <a:off x="3208876"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cs typeface="+mn-ea"/>
                  <a:sym typeface="+mn-lt"/>
                </a:endParaRPr>
              </a:p>
            </p:txBody>
          </p:sp>
        </p:grpSp>
      </p:grpSp>
      <p:sp>
        <p:nvSpPr>
          <p:cNvPr id="160" name="矩形 159"/>
          <p:cNvSpPr/>
          <p:nvPr/>
        </p:nvSpPr>
        <p:spPr>
          <a:xfrm>
            <a:off x="4709327" y="4506451"/>
            <a:ext cx="3005107" cy="350865"/>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tx1">
                    <a:lumMod val="50000"/>
                    <a:lumOff val="50000"/>
                  </a:schemeClr>
                </a:solidFill>
                <a:cs typeface="+mn-ea"/>
                <a:sym typeface="+mn-lt"/>
              </a:rPr>
              <a:t>(24×2-3×4-2 ×3)÷2+(3+2)=20</a:t>
            </a:r>
            <a:r>
              <a:rPr lang="zh-CN" altLang="en-US" sz="1400" dirty="0" smtClean="0">
                <a:solidFill>
                  <a:schemeClr val="tx1">
                    <a:lumMod val="50000"/>
                    <a:lumOff val="50000"/>
                  </a:schemeClr>
                </a:solidFill>
                <a:cs typeface="+mn-ea"/>
                <a:sym typeface="+mn-lt"/>
              </a:rPr>
              <a:t>个</a:t>
            </a:r>
            <a:endParaRPr lang="zh-CN" altLang="en-US" sz="1400" dirty="0">
              <a:solidFill>
                <a:schemeClr val="tx1">
                  <a:lumMod val="50000"/>
                  <a:lumOff val="50000"/>
                </a:schemeClr>
              </a:solidFill>
              <a:cs typeface="+mn-ea"/>
              <a:sym typeface="+mn-lt"/>
            </a:endParaRPr>
          </a:p>
        </p:txBody>
      </p:sp>
      <p:sp>
        <p:nvSpPr>
          <p:cNvPr id="161" name="矩形 160"/>
          <p:cNvSpPr/>
          <p:nvPr/>
        </p:nvSpPr>
        <p:spPr>
          <a:xfrm>
            <a:off x="495300" y="4314106"/>
            <a:ext cx="3898900" cy="1421928"/>
          </a:xfrm>
          <a:prstGeom prst="rect">
            <a:avLst/>
          </a:prstGeom>
        </p:spPr>
        <p:txBody>
          <a:bodyPr wrap="square">
            <a:spAutoFit/>
            <a:scene3d>
              <a:camera prst="orthographicFront"/>
              <a:lightRig rig="threePt" dir="t"/>
            </a:scene3d>
            <a:sp3d contourW="12700"/>
          </a:bodyPr>
          <a:lstStyle/>
          <a:p>
            <a:pPr algn="r">
              <a:lnSpc>
                <a:spcPct val="120000"/>
              </a:lnSpc>
            </a:pPr>
            <a:r>
              <a:rPr lang="zh-CN" altLang="zh-CN" b="1" dirty="0" smtClean="0">
                <a:solidFill>
                  <a:schemeClr val="tx1">
                    <a:lumMod val="65000"/>
                    <a:lumOff val="35000"/>
                  </a:schemeClr>
                </a:solidFill>
                <a:cs typeface="+mn-ea"/>
              </a:rPr>
              <a:t>无向图</a:t>
            </a:r>
            <a:r>
              <a:rPr lang="en-US" altLang="zh-CN" b="1" dirty="0">
                <a:solidFill>
                  <a:schemeClr val="tx1">
                    <a:lumMod val="65000"/>
                    <a:lumOff val="35000"/>
                  </a:schemeClr>
                </a:solidFill>
                <a:cs typeface="+mn-ea"/>
              </a:rPr>
              <a:t>G</a:t>
            </a:r>
            <a:r>
              <a:rPr lang="zh-CN" altLang="zh-CN" b="1" dirty="0" smtClean="0">
                <a:solidFill>
                  <a:schemeClr val="tx1">
                    <a:lumMod val="65000"/>
                    <a:lumOff val="35000"/>
                  </a:schemeClr>
                </a:solidFill>
                <a:cs typeface="+mn-ea"/>
              </a:rPr>
              <a:t>有</a:t>
            </a:r>
            <a:r>
              <a:rPr lang="en-US" altLang="zh-CN" b="1" dirty="0" smtClean="0">
                <a:solidFill>
                  <a:schemeClr val="tx1">
                    <a:lumMod val="65000"/>
                    <a:lumOff val="35000"/>
                  </a:schemeClr>
                </a:solidFill>
                <a:cs typeface="+mn-ea"/>
              </a:rPr>
              <a:t>24</a:t>
            </a:r>
            <a:r>
              <a:rPr lang="zh-CN" altLang="zh-CN" b="1" dirty="0" smtClean="0">
                <a:solidFill>
                  <a:schemeClr val="tx1">
                    <a:lumMod val="65000"/>
                    <a:lumOff val="35000"/>
                  </a:schemeClr>
                </a:solidFill>
                <a:cs typeface="+mn-ea"/>
              </a:rPr>
              <a:t>条</a:t>
            </a:r>
            <a:r>
              <a:rPr lang="zh-CN" altLang="zh-CN" b="1" dirty="0">
                <a:solidFill>
                  <a:schemeClr val="tx1">
                    <a:lumMod val="65000"/>
                    <a:lumOff val="35000"/>
                  </a:schemeClr>
                </a:solidFill>
                <a:cs typeface="+mn-ea"/>
              </a:rPr>
              <a:t>边，</a:t>
            </a:r>
            <a:r>
              <a:rPr lang="zh-CN" altLang="zh-CN" b="1" dirty="0" smtClean="0">
                <a:solidFill>
                  <a:schemeClr val="tx1">
                    <a:lumMod val="65000"/>
                    <a:lumOff val="35000"/>
                  </a:schemeClr>
                </a:solidFill>
                <a:cs typeface="+mn-ea"/>
              </a:rPr>
              <a:t>有</a:t>
            </a:r>
            <a:r>
              <a:rPr lang="en-US" altLang="zh-CN" b="1" dirty="0" smtClean="0">
                <a:solidFill>
                  <a:schemeClr val="tx1">
                    <a:lumMod val="65000"/>
                    <a:lumOff val="35000"/>
                  </a:schemeClr>
                </a:solidFill>
                <a:cs typeface="+mn-ea"/>
              </a:rPr>
              <a:t>3</a:t>
            </a:r>
            <a:r>
              <a:rPr lang="zh-CN" altLang="zh-CN" b="1" dirty="0" smtClean="0">
                <a:solidFill>
                  <a:schemeClr val="tx1">
                    <a:lumMod val="65000"/>
                    <a:lumOff val="35000"/>
                  </a:schemeClr>
                </a:solidFill>
                <a:cs typeface="+mn-ea"/>
              </a:rPr>
              <a:t>个</a:t>
            </a:r>
            <a:r>
              <a:rPr lang="en-US" altLang="zh-CN" b="1" dirty="0" smtClean="0">
                <a:solidFill>
                  <a:schemeClr val="tx1">
                    <a:lumMod val="65000"/>
                    <a:lumOff val="35000"/>
                  </a:schemeClr>
                </a:solidFill>
                <a:cs typeface="+mn-ea"/>
              </a:rPr>
              <a:t>4</a:t>
            </a:r>
            <a:r>
              <a:rPr lang="zh-CN" altLang="zh-CN" b="1" dirty="0" smtClean="0">
                <a:solidFill>
                  <a:schemeClr val="tx1">
                    <a:lumMod val="65000"/>
                    <a:lumOff val="35000"/>
                  </a:schemeClr>
                </a:solidFill>
                <a:cs typeface="+mn-ea"/>
              </a:rPr>
              <a:t>度</a:t>
            </a:r>
            <a:r>
              <a:rPr lang="zh-CN" altLang="zh-CN" b="1" dirty="0">
                <a:solidFill>
                  <a:schemeClr val="tx1">
                    <a:lumMod val="65000"/>
                    <a:lumOff val="35000"/>
                  </a:schemeClr>
                </a:solidFill>
                <a:cs typeface="+mn-ea"/>
              </a:rPr>
              <a:t>顶点</a:t>
            </a:r>
            <a:r>
              <a:rPr lang="zh-CN" altLang="zh-CN" b="1" dirty="0" smtClean="0">
                <a:solidFill>
                  <a:schemeClr val="tx1">
                    <a:lumMod val="65000"/>
                    <a:lumOff val="35000"/>
                  </a:schemeClr>
                </a:solidFill>
                <a:cs typeface="+mn-ea"/>
              </a:rPr>
              <a:t>、</a:t>
            </a:r>
            <a:r>
              <a:rPr lang="en-US" altLang="zh-CN" b="1" dirty="0" smtClean="0">
                <a:solidFill>
                  <a:schemeClr val="tx1">
                    <a:lumMod val="65000"/>
                    <a:lumOff val="35000"/>
                  </a:schemeClr>
                </a:solidFill>
                <a:cs typeface="+mn-ea"/>
              </a:rPr>
              <a:t>2</a:t>
            </a:r>
            <a:r>
              <a:rPr lang="zh-CN" altLang="zh-CN" b="1" dirty="0" smtClean="0">
                <a:solidFill>
                  <a:schemeClr val="tx1">
                    <a:lumMod val="65000"/>
                    <a:lumOff val="35000"/>
                  </a:schemeClr>
                </a:solidFill>
                <a:cs typeface="+mn-ea"/>
              </a:rPr>
              <a:t>个</a:t>
            </a:r>
            <a:r>
              <a:rPr lang="en-US" altLang="zh-CN" b="1" dirty="0">
                <a:solidFill>
                  <a:schemeClr val="tx1">
                    <a:lumMod val="65000"/>
                    <a:lumOff val="35000"/>
                  </a:schemeClr>
                </a:solidFill>
                <a:cs typeface="+mn-ea"/>
              </a:rPr>
              <a:t>3</a:t>
            </a:r>
            <a:r>
              <a:rPr lang="zh-CN" altLang="zh-CN" b="1" dirty="0">
                <a:solidFill>
                  <a:schemeClr val="tx1">
                    <a:lumMod val="65000"/>
                    <a:lumOff val="35000"/>
                  </a:schemeClr>
                </a:solidFill>
                <a:cs typeface="+mn-ea"/>
              </a:rPr>
              <a:t>度顶点。其余顶点的度均小于</a:t>
            </a:r>
            <a:r>
              <a:rPr lang="en-US" altLang="zh-CN" b="1" dirty="0" smtClean="0">
                <a:solidFill>
                  <a:schemeClr val="tx1">
                    <a:lumMod val="65000"/>
                    <a:lumOff val="35000"/>
                  </a:schemeClr>
                </a:solidFill>
                <a:cs typeface="+mn-ea"/>
              </a:rPr>
              <a:t>3</a:t>
            </a:r>
            <a:r>
              <a:rPr lang="zh-CN" altLang="en-US" b="1" dirty="0">
                <a:solidFill>
                  <a:schemeClr val="tx1">
                    <a:lumMod val="65000"/>
                    <a:lumOff val="35000"/>
                  </a:schemeClr>
                </a:solidFill>
                <a:cs typeface="+mn-ea"/>
              </a:rPr>
              <a:t>，</a:t>
            </a:r>
            <a:r>
              <a:rPr lang="zh-CN" altLang="zh-CN" b="1" dirty="0" smtClean="0">
                <a:solidFill>
                  <a:schemeClr val="tx1">
                    <a:lumMod val="65000"/>
                    <a:lumOff val="35000"/>
                  </a:schemeClr>
                </a:solidFill>
                <a:cs typeface="+mn-ea"/>
              </a:rPr>
              <a:t>则</a:t>
            </a:r>
            <a:r>
              <a:rPr lang="en-US" altLang="zh-CN" b="1" dirty="0">
                <a:solidFill>
                  <a:schemeClr val="tx1">
                    <a:lumMod val="65000"/>
                    <a:lumOff val="35000"/>
                  </a:schemeClr>
                </a:solidFill>
                <a:cs typeface="+mn-ea"/>
              </a:rPr>
              <a:t>G</a:t>
            </a:r>
            <a:r>
              <a:rPr lang="zh-CN" altLang="zh-CN" b="1" dirty="0">
                <a:solidFill>
                  <a:schemeClr val="tx1">
                    <a:lumMod val="65000"/>
                    <a:lumOff val="35000"/>
                  </a:schemeClr>
                </a:solidFill>
                <a:cs typeface="+mn-ea"/>
              </a:rPr>
              <a:t>至少</a:t>
            </a:r>
            <a:r>
              <a:rPr lang="zh-CN" altLang="zh-CN" b="1" dirty="0" smtClean="0">
                <a:solidFill>
                  <a:schemeClr val="tx1">
                    <a:lumMod val="65000"/>
                    <a:lumOff val="35000"/>
                  </a:schemeClr>
                </a:solidFill>
                <a:cs typeface="+mn-ea"/>
              </a:rPr>
              <a:t>有</a:t>
            </a:r>
            <a:r>
              <a:rPr lang="zh-CN" altLang="en-US" b="1" dirty="0" smtClean="0">
                <a:solidFill>
                  <a:schemeClr val="tx1">
                    <a:lumMod val="65000"/>
                    <a:lumOff val="35000"/>
                  </a:schemeClr>
                </a:solidFill>
                <a:cs typeface="+mn-ea"/>
              </a:rPr>
              <a:t>几</a:t>
            </a:r>
            <a:r>
              <a:rPr lang="zh-CN" altLang="zh-CN" b="1" dirty="0" smtClean="0">
                <a:solidFill>
                  <a:schemeClr val="tx1">
                    <a:lumMod val="65000"/>
                    <a:lumOff val="35000"/>
                  </a:schemeClr>
                </a:solidFill>
                <a:cs typeface="+mn-ea"/>
              </a:rPr>
              <a:t>个顶点</a:t>
            </a:r>
            <a:r>
              <a:rPr lang="zh-CN" altLang="en-US" b="1" dirty="0" smtClean="0">
                <a:solidFill>
                  <a:schemeClr val="tx1">
                    <a:lumMod val="65000"/>
                    <a:lumOff val="35000"/>
                  </a:schemeClr>
                </a:solidFill>
                <a:cs typeface="+mn-ea"/>
              </a:rPr>
              <a:t>？</a:t>
            </a:r>
            <a:endParaRPr lang="zh-CN" altLang="zh-CN" b="1" dirty="0">
              <a:solidFill>
                <a:schemeClr val="tx1">
                  <a:lumMod val="65000"/>
                  <a:lumOff val="35000"/>
                </a:schemeClr>
              </a:solidFill>
              <a:cs typeface="+mn-ea"/>
            </a:endParaRPr>
          </a:p>
          <a:p>
            <a:pPr algn="r">
              <a:lnSpc>
                <a:spcPct val="120000"/>
              </a:lnSpc>
            </a:pPr>
            <a:endParaRPr lang="zh-CN" altLang="en-US" b="1" dirty="0">
              <a:solidFill>
                <a:schemeClr val="tx1">
                  <a:lumMod val="65000"/>
                  <a:lumOff val="35000"/>
                </a:schemeClr>
              </a:solidFill>
              <a:cs typeface="+mn-ea"/>
              <a:sym typeface="+mn-lt"/>
            </a:endParaRPr>
          </a:p>
        </p:txBody>
      </p:sp>
    </p:spTree>
    <p:extLst>
      <p:ext uri="{BB962C8B-B14F-4D97-AF65-F5344CB8AC3E}">
        <p14:creationId xmlns:p14="http://schemas.microsoft.com/office/powerpoint/2010/main" val="379935274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1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134"/>
                                        </p:tgtEl>
                                        <p:attrNameLst>
                                          <p:attrName>style.visibility</p:attrName>
                                        </p:attrNameLst>
                                      </p:cBhvr>
                                      <p:to>
                                        <p:strVal val="visible"/>
                                      </p:to>
                                    </p:set>
                                    <p:animEffect transition="in" filter="fade">
                                      <p:cBhvr>
                                        <p:cTn id="16" dur="500"/>
                                        <p:tgtEl>
                                          <p:spTgt spid="1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 presetClass="exit" presetSubtype="0" fill="hold" nodeType="withEffect">
                                  <p:stCondLst>
                                    <p:cond delay="0"/>
                                  </p:stCondLst>
                                  <p:childTnLst>
                                    <p:set>
                                      <p:cBhvr>
                                        <p:cTn id="23" dur="1" fill="hold">
                                          <p:stCondLst>
                                            <p:cond delay="0"/>
                                          </p:stCondLst>
                                        </p:cTn>
                                        <p:tgtEl>
                                          <p:spTgt spid="134"/>
                                        </p:tgtEl>
                                        <p:attrNameLst>
                                          <p:attrName>style.visibility</p:attrName>
                                        </p:attrNameLst>
                                      </p:cBhvr>
                                      <p:to>
                                        <p:strVal val="hidden"/>
                                      </p:to>
                                    </p:set>
                                  </p:childTnLst>
                                </p:cTn>
                              </p:par>
                              <p:par>
                                <p:cTn id="24" presetID="1" presetClass="exit" presetSubtype="0" fill="hold" nodeType="withEffect">
                                  <p:stCondLst>
                                    <p:cond delay="0"/>
                                  </p:stCondLst>
                                  <p:childTnLst>
                                    <p:set>
                                      <p:cBhvr>
                                        <p:cTn id="25" dur="1" fill="hold">
                                          <p:stCondLst>
                                            <p:cond delay="0"/>
                                          </p:stCondLst>
                                        </p:cTn>
                                        <p:tgtEl>
                                          <p:spTgt spid="61"/>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139"/>
                                        </p:tgtEl>
                                        <p:attrNameLst>
                                          <p:attrName>style.visibility</p:attrName>
                                        </p:attrNameLst>
                                      </p:cBhvr>
                                      <p:to>
                                        <p:strVal val="visible"/>
                                      </p:to>
                                    </p:set>
                                    <p:animEffect transition="in" filter="fade">
                                      <p:cBhvr>
                                        <p:cTn id="28" dur="500"/>
                                        <p:tgtEl>
                                          <p:spTgt spid="13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par>
                                <p:cTn id="34" presetID="1" presetClass="exit" presetSubtype="0" fill="hold" nodeType="withEffect">
                                  <p:stCondLst>
                                    <p:cond delay="0"/>
                                  </p:stCondLst>
                                  <p:childTnLst>
                                    <p:set>
                                      <p:cBhvr>
                                        <p:cTn id="35" dur="1" fill="hold">
                                          <p:stCondLst>
                                            <p:cond delay="0"/>
                                          </p:stCondLst>
                                        </p:cTn>
                                        <p:tgtEl>
                                          <p:spTgt spid="139"/>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93"/>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144"/>
                                        </p:tgtEl>
                                        <p:attrNameLst>
                                          <p:attrName>style.visibility</p:attrName>
                                        </p:attrNameLst>
                                      </p:cBhvr>
                                      <p:to>
                                        <p:strVal val="visible"/>
                                      </p:to>
                                    </p:set>
                                    <p:animEffect transition="in" filter="fade">
                                      <p:cBhvr>
                                        <p:cTn id="40" dur="500"/>
                                        <p:tgtEl>
                                          <p:spTgt spid="1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93"/>
                                        </p:tgtEl>
                                        <p:attrNameLst>
                                          <p:attrName>style.visibility</p:attrName>
                                        </p:attrNameLst>
                                      </p:cBhvr>
                                      <p:to>
                                        <p:strVal val="visible"/>
                                      </p:to>
                                    </p:set>
                                    <p:animEffect transition="in" filter="fade">
                                      <p:cBhvr>
                                        <p:cTn id="45" dur="500"/>
                                        <p:tgtEl>
                                          <p:spTgt spid="93"/>
                                        </p:tgtEl>
                                      </p:cBhvr>
                                    </p:animEffect>
                                  </p:childTnLst>
                                </p:cTn>
                              </p:par>
                              <p:par>
                                <p:cTn id="46" presetID="1" presetClass="exit" presetSubtype="0" fill="hold" nodeType="withEffect">
                                  <p:stCondLst>
                                    <p:cond delay="0"/>
                                  </p:stCondLst>
                                  <p:childTnLst>
                                    <p:set>
                                      <p:cBhvr>
                                        <p:cTn id="47" dur="1" fill="hold">
                                          <p:stCondLst>
                                            <p:cond delay="0"/>
                                          </p:stCondLst>
                                        </p:cTn>
                                        <p:tgtEl>
                                          <p:spTgt spid="144"/>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00"/>
                                        </p:tgtEl>
                                        <p:attrNameLst>
                                          <p:attrName>style.visibility</p:attrName>
                                        </p:attrNameLst>
                                      </p:cBhvr>
                                      <p:to>
                                        <p:strVal val="hidden"/>
                                      </p:to>
                                    </p:set>
                                  </p:childTnLst>
                                </p:cTn>
                              </p:par>
                              <p:par>
                                <p:cTn id="50" presetID="10" presetClass="entr" presetSubtype="0" fill="hold" nodeType="withEffect">
                                  <p:stCondLst>
                                    <p:cond delay="0"/>
                                  </p:stCondLst>
                                  <p:childTnLst>
                                    <p:set>
                                      <p:cBhvr>
                                        <p:cTn id="51" dur="1" fill="hold">
                                          <p:stCondLst>
                                            <p:cond delay="0"/>
                                          </p:stCondLst>
                                        </p:cTn>
                                        <p:tgtEl>
                                          <p:spTgt spid="149"/>
                                        </p:tgtEl>
                                        <p:attrNameLst>
                                          <p:attrName>style.visibility</p:attrName>
                                        </p:attrNameLst>
                                      </p:cBhvr>
                                      <p:to>
                                        <p:strVal val="visible"/>
                                      </p:to>
                                    </p:set>
                                    <p:animEffect transition="in" filter="fade">
                                      <p:cBhvr>
                                        <p:cTn id="52" dur="500"/>
                                        <p:tgtEl>
                                          <p:spTgt spid="14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0"/>
                                        </p:tgtEl>
                                        <p:attrNameLst>
                                          <p:attrName>style.visibility</p:attrName>
                                        </p:attrNameLst>
                                      </p:cBhvr>
                                      <p:to>
                                        <p:strVal val="visible"/>
                                      </p:to>
                                    </p:set>
                                    <p:animEffect transition="in" filter="fade">
                                      <p:cBhvr>
                                        <p:cTn id="57" dur="500"/>
                                        <p:tgtEl>
                                          <p:spTgt spid="100"/>
                                        </p:tgtEl>
                                      </p:cBhvr>
                                    </p:animEffect>
                                  </p:childTnLst>
                                </p:cTn>
                              </p:par>
                              <p:par>
                                <p:cTn id="58" presetID="1" presetClass="exit" presetSubtype="0" fill="hold" nodeType="withEffect">
                                  <p:stCondLst>
                                    <p:cond delay="0"/>
                                  </p:stCondLst>
                                  <p:childTnLst>
                                    <p:set>
                                      <p:cBhvr>
                                        <p:cTn id="59" dur="1" fill="hold">
                                          <p:stCondLst>
                                            <p:cond delay="0"/>
                                          </p:stCondLst>
                                        </p:cTn>
                                        <p:tgtEl>
                                          <p:spTgt spid="149"/>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107"/>
                                        </p:tgtEl>
                                        <p:attrNameLst>
                                          <p:attrName>style.visibility</p:attrName>
                                        </p:attrNameLst>
                                      </p:cBhvr>
                                      <p:to>
                                        <p:strVal val="hidden"/>
                                      </p:to>
                                    </p:set>
                                  </p:childTnLst>
                                </p:cTn>
                              </p:par>
                              <p:par>
                                <p:cTn id="62" presetID="10" presetClass="entr" presetSubtype="0" fill="hold" nodeType="withEffect">
                                  <p:stCondLst>
                                    <p:cond delay="0"/>
                                  </p:stCondLst>
                                  <p:childTnLst>
                                    <p:set>
                                      <p:cBhvr>
                                        <p:cTn id="63" dur="1" fill="hold">
                                          <p:stCondLst>
                                            <p:cond delay="0"/>
                                          </p:stCondLst>
                                        </p:cTn>
                                        <p:tgtEl>
                                          <p:spTgt spid="154"/>
                                        </p:tgtEl>
                                        <p:attrNameLst>
                                          <p:attrName>style.visibility</p:attrName>
                                        </p:attrNameLst>
                                      </p:cBhvr>
                                      <p:to>
                                        <p:strVal val="visible"/>
                                      </p:to>
                                    </p:set>
                                    <p:animEffect transition="in" filter="fade">
                                      <p:cBhvr>
                                        <p:cTn id="64" dur="500"/>
                                        <p:tgtEl>
                                          <p:spTgt spid="15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07"/>
                                        </p:tgtEl>
                                        <p:attrNameLst>
                                          <p:attrName>style.visibility</p:attrName>
                                        </p:attrNameLst>
                                      </p:cBhvr>
                                      <p:to>
                                        <p:strVal val="visible"/>
                                      </p:to>
                                    </p:set>
                                    <p:animEffect transition="in" filter="fade">
                                      <p:cBhvr>
                                        <p:cTn id="69" dur="500"/>
                                        <p:tgtEl>
                                          <p:spTgt spid="107"/>
                                        </p:tgtEl>
                                      </p:cBhvr>
                                    </p:animEffect>
                                  </p:childTnLst>
                                </p:cTn>
                              </p:par>
                              <p:par>
                                <p:cTn id="70" presetID="1" presetClass="exit" presetSubtype="0" fill="hold" nodeType="withEffect">
                                  <p:stCondLst>
                                    <p:cond delay="0"/>
                                  </p:stCondLst>
                                  <p:childTnLst>
                                    <p:set>
                                      <p:cBhvr>
                                        <p:cTn id="71" dur="1" fill="hold">
                                          <p:stCondLst>
                                            <p:cond delay="0"/>
                                          </p:stCondLst>
                                        </p:cTn>
                                        <p:tgtEl>
                                          <p:spTgt spid="154"/>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61"/>
                                        </p:tgtEl>
                                        <p:attrNameLst>
                                          <p:attrName>style.visibility</p:attrName>
                                        </p:attrNameLst>
                                      </p:cBhvr>
                                      <p:to>
                                        <p:strVal val="visible"/>
                                      </p:to>
                                    </p:set>
                                    <p:animEffect transition="in" filter="fade">
                                      <p:cBhvr>
                                        <p:cTn id="76" dur="500"/>
                                        <p:tgtEl>
                                          <p:spTgt spid="161"/>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160"/>
                                        </p:tgtEl>
                                        <p:attrNameLst>
                                          <p:attrName>style.visibility</p:attrName>
                                        </p:attrNameLst>
                                      </p:cBhvr>
                                      <p:to>
                                        <p:strVal val="visible"/>
                                      </p:to>
                                    </p:set>
                                    <p:animEffect transition="in" filter="barn(inVertical)">
                                      <p:cBhvr>
                                        <p:cTn id="81"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160" grpId="0"/>
      <p:bldP spid="16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38" name="图片占位符 37"/>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998372" y="1573445"/>
            <a:ext cx="3823002" cy="3512729"/>
          </a:xfrm>
        </p:spPr>
      </p:pic>
      <p:grpSp>
        <p:nvGrpSpPr>
          <p:cNvPr id="48" name="组合 47"/>
          <p:cNvGrpSpPr/>
          <p:nvPr/>
        </p:nvGrpSpPr>
        <p:grpSpPr>
          <a:xfrm>
            <a:off x="5671226" y="1738322"/>
            <a:ext cx="4922278" cy="1996151"/>
            <a:chOff x="6608653" y="3127818"/>
            <a:chExt cx="4922278" cy="1996151"/>
          </a:xfrm>
        </p:grpSpPr>
        <p:grpSp>
          <p:nvGrpSpPr>
            <p:cNvPr id="28" name="组合 27"/>
            <p:cNvGrpSpPr/>
            <p:nvPr/>
          </p:nvGrpSpPr>
          <p:grpSpPr>
            <a:xfrm>
              <a:off x="7692478" y="3127818"/>
              <a:ext cx="3838453" cy="1996151"/>
              <a:chOff x="7692478" y="1678126"/>
              <a:chExt cx="3838453" cy="1996151"/>
            </a:xfrm>
          </p:grpSpPr>
          <p:sp>
            <p:nvSpPr>
              <p:cNvPr id="30" name="矩形 29"/>
              <p:cNvSpPr/>
              <p:nvPr/>
            </p:nvSpPr>
            <p:spPr>
              <a:xfrm>
                <a:off x="7692478" y="2030750"/>
                <a:ext cx="3838453" cy="164352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cs typeface="+mn-ea"/>
                  </a:rPr>
                  <a:t>依次遍历顶点序列之间的边所形成的轨迹。注意，依次就意味着有序，先</a:t>
                </a:r>
                <a:r>
                  <a:rPr lang="en-US" altLang="zh-CN" sz="1400" dirty="0">
                    <a:solidFill>
                      <a:schemeClr val="tx1">
                        <a:lumMod val="50000"/>
                        <a:lumOff val="50000"/>
                      </a:schemeClr>
                    </a:solidFill>
                    <a:cs typeface="+mn-ea"/>
                  </a:rPr>
                  <a:t>1</a:t>
                </a:r>
                <a:r>
                  <a:rPr lang="zh-CN" altLang="en-US" sz="1400" dirty="0">
                    <a:solidFill>
                      <a:schemeClr val="tx1">
                        <a:lumMod val="50000"/>
                        <a:lumOff val="50000"/>
                      </a:schemeClr>
                    </a:solidFill>
                    <a:cs typeface="+mn-ea"/>
                  </a:rPr>
                  <a:t>后</a:t>
                </a:r>
                <a:r>
                  <a:rPr lang="en-US" altLang="zh-CN" sz="1400" dirty="0">
                    <a:solidFill>
                      <a:schemeClr val="tx1">
                        <a:lumMod val="50000"/>
                        <a:lumOff val="50000"/>
                      </a:schemeClr>
                    </a:solidFill>
                    <a:cs typeface="+mn-ea"/>
                  </a:rPr>
                  <a:t>2</a:t>
                </a:r>
                <a:r>
                  <a:rPr lang="zh-CN" altLang="en-US" sz="1400" dirty="0">
                    <a:solidFill>
                      <a:schemeClr val="tx1">
                        <a:lumMod val="50000"/>
                        <a:lumOff val="50000"/>
                      </a:schemeClr>
                    </a:solidFill>
                    <a:cs typeface="+mn-ea"/>
                  </a:rPr>
                  <a:t>和先</a:t>
                </a:r>
                <a:r>
                  <a:rPr lang="en-US" altLang="zh-CN" sz="1400" dirty="0">
                    <a:solidFill>
                      <a:schemeClr val="tx1">
                        <a:lumMod val="50000"/>
                        <a:lumOff val="50000"/>
                      </a:schemeClr>
                    </a:solidFill>
                    <a:cs typeface="+mn-ea"/>
                  </a:rPr>
                  <a:t>2</a:t>
                </a:r>
                <a:r>
                  <a:rPr lang="zh-CN" altLang="en-US" sz="1400" dirty="0">
                    <a:solidFill>
                      <a:schemeClr val="tx1">
                        <a:lumMod val="50000"/>
                        <a:lumOff val="50000"/>
                      </a:schemeClr>
                    </a:solidFill>
                    <a:cs typeface="+mn-ea"/>
                  </a:rPr>
                  <a:t>后</a:t>
                </a:r>
                <a:r>
                  <a:rPr lang="en-US" altLang="zh-CN" sz="1400" dirty="0">
                    <a:solidFill>
                      <a:schemeClr val="tx1">
                        <a:lumMod val="50000"/>
                        <a:lumOff val="50000"/>
                      </a:schemeClr>
                    </a:solidFill>
                    <a:cs typeface="+mn-ea"/>
                  </a:rPr>
                  <a:t>1</a:t>
                </a:r>
                <a:r>
                  <a:rPr lang="zh-CN" altLang="en-US" sz="1400" dirty="0">
                    <a:solidFill>
                      <a:schemeClr val="tx1">
                        <a:lumMod val="50000"/>
                        <a:lumOff val="50000"/>
                      </a:schemeClr>
                    </a:solidFill>
                    <a:cs typeface="+mn-ea"/>
                  </a:rPr>
                  <a:t>不一样。</a:t>
                </a:r>
              </a:p>
              <a:p>
                <a:pPr algn="just">
                  <a:lnSpc>
                    <a:spcPct val="120000"/>
                  </a:lnSpc>
                </a:pPr>
                <a:r>
                  <a:rPr lang="zh-CN" altLang="zh-CN" sz="1400" dirty="0" smtClean="0">
                    <a:solidFill>
                      <a:schemeClr val="tx1">
                        <a:lumMod val="50000"/>
                        <a:lumOff val="50000"/>
                      </a:schemeClr>
                    </a:solidFill>
                    <a:cs typeface="+mn-ea"/>
                  </a:rPr>
                  <a:t>从</a:t>
                </a:r>
                <a:r>
                  <a:rPr lang="en-US" altLang="zh-CN" sz="1400" dirty="0">
                    <a:solidFill>
                      <a:schemeClr val="tx1">
                        <a:lumMod val="50000"/>
                        <a:lumOff val="50000"/>
                      </a:schemeClr>
                    </a:solidFill>
                    <a:cs typeface="+mn-ea"/>
                  </a:rPr>
                  <a:t>u</a:t>
                </a:r>
                <a:r>
                  <a:rPr lang="zh-CN" altLang="zh-CN" sz="1400" dirty="0">
                    <a:solidFill>
                      <a:schemeClr val="tx1">
                        <a:lumMod val="50000"/>
                        <a:lumOff val="50000"/>
                      </a:schemeClr>
                    </a:solidFill>
                    <a:cs typeface="+mn-ea"/>
                  </a:rPr>
                  <a:t>到</a:t>
                </a:r>
                <a:r>
                  <a:rPr lang="en-US" altLang="zh-CN" sz="1400" dirty="0">
                    <a:solidFill>
                      <a:schemeClr val="tx1">
                        <a:lumMod val="50000"/>
                        <a:lumOff val="50000"/>
                      </a:schemeClr>
                    </a:solidFill>
                    <a:cs typeface="+mn-ea"/>
                  </a:rPr>
                  <a:t>v</a:t>
                </a:r>
                <a:r>
                  <a:rPr lang="zh-CN" altLang="zh-CN" sz="1400" dirty="0">
                    <a:solidFill>
                      <a:schemeClr val="tx1">
                        <a:lumMod val="50000"/>
                        <a:lumOff val="50000"/>
                      </a:schemeClr>
                    </a:solidFill>
                    <a:cs typeface="+mn-ea"/>
                  </a:rPr>
                  <a:t>的一条</a:t>
                </a:r>
                <a:r>
                  <a:rPr lang="zh-CN" altLang="zh-CN" sz="1400" dirty="0" smtClean="0">
                    <a:solidFill>
                      <a:schemeClr val="tx1">
                        <a:lumMod val="50000"/>
                        <a:lumOff val="50000"/>
                      </a:schemeClr>
                    </a:solidFill>
                    <a:cs typeface="+mn-ea"/>
                  </a:rPr>
                  <a:t>路径是</a:t>
                </a:r>
                <a:r>
                  <a:rPr lang="zh-CN" altLang="zh-CN" sz="1400" dirty="0">
                    <a:solidFill>
                      <a:schemeClr val="tx1">
                        <a:lumMod val="50000"/>
                        <a:lumOff val="50000"/>
                      </a:schemeClr>
                    </a:solidFill>
                    <a:cs typeface="+mn-ea"/>
                  </a:rPr>
                  <a:t>指一个序列</a:t>
                </a:r>
                <a:r>
                  <a:rPr lang="en-US" altLang="zh-CN" sz="1400" dirty="0" smtClean="0">
                    <a:solidFill>
                      <a:schemeClr val="tx1">
                        <a:lumMod val="50000"/>
                        <a:lumOff val="50000"/>
                      </a:schemeClr>
                    </a:solidFill>
                    <a:cs typeface="+mn-ea"/>
                  </a:rPr>
                  <a:t>v</a:t>
                </a:r>
                <a:r>
                  <a:rPr lang="en-US" altLang="zh-CN" sz="1400" baseline="-25000" dirty="0" smtClean="0">
                    <a:solidFill>
                      <a:schemeClr val="tx1">
                        <a:lumMod val="50000"/>
                        <a:lumOff val="50000"/>
                      </a:schemeClr>
                    </a:solidFill>
                    <a:cs typeface="+mn-ea"/>
                  </a:rPr>
                  <a:t>0</a:t>
                </a:r>
                <a:r>
                  <a:rPr lang="en-US" altLang="zh-CN" sz="1400" dirty="0" smtClean="0">
                    <a:solidFill>
                      <a:schemeClr val="tx1">
                        <a:lumMod val="50000"/>
                        <a:lumOff val="50000"/>
                      </a:schemeClr>
                    </a:solidFill>
                    <a:cs typeface="+mn-ea"/>
                  </a:rPr>
                  <a:t>-e</a:t>
                </a:r>
                <a:r>
                  <a:rPr lang="en-US" altLang="zh-CN" sz="1400" baseline="-25000" dirty="0" smtClean="0">
                    <a:solidFill>
                      <a:schemeClr val="tx1">
                        <a:lumMod val="50000"/>
                        <a:lumOff val="50000"/>
                      </a:schemeClr>
                    </a:solidFill>
                    <a:cs typeface="+mn-ea"/>
                  </a:rPr>
                  <a:t>1</a:t>
                </a:r>
                <a:r>
                  <a:rPr lang="en-US" altLang="zh-CN" sz="1400" dirty="0" smtClean="0">
                    <a:solidFill>
                      <a:schemeClr val="tx1">
                        <a:lumMod val="50000"/>
                        <a:lumOff val="50000"/>
                      </a:schemeClr>
                    </a:solidFill>
                    <a:cs typeface="+mn-ea"/>
                  </a:rPr>
                  <a:t>-&gt;v</a:t>
                </a:r>
                <a:r>
                  <a:rPr lang="en-US" altLang="zh-CN" sz="1400" baseline="-25000" dirty="0" smtClean="0">
                    <a:solidFill>
                      <a:schemeClr val="tx1">
                        <a:lumMod val="50000"/>
                        <a:lumOff val="50000"/>
                      </a:schemeClr>
                    </a:solidFill>
                    <a:cs typeface="+mn-ea"/>
                  </a:rPr>
                  <a:t>1</a:t>
                </a:r>
                <a:r>
                  <a:rPr lang="en-US" altLang="zh-CN" sz="1400" dirty="0" smtClean="0">
                    <a:solidFill>
                      <a:schemeClr val="tx1">
                        <a:lumMod val="50000"/>
                        <a:lumOff val="50000"/>
                      </a:schemeClr>
                    </a:solidFill>
                    <a:cs typeface="+mn-ea"/>
                  </a:rPr>
                  <a:t>-e</a:t>
                </a:r>
                <a:r>
                  <a:rPr lang="en-US" altLang="zh-CN" sz="1400" baseline="-25000" dirty="0" smtClean="0">
                    <a:solidFill>
                      <a:schemeClr val="tx1">
                        <a:lumMod val="50000"/>
                        <a:lumOff val="50000"/>
                      </a:schemeClr>
                    </a:solidFill>
                    <a:cs typeface="+mn-ea"/>
                  </a:rPr>
                  <a:t>2</a:t>
                </a:r>
                <a:r>
                  <a:rPr lang="en-US" altLang="zh-CN" sz="1400" dirty="0" smtClean="0">
                    <a:solidFill>
                      <a:schemeClr val="tx1">
                        <a:lumMod val="50000"/>
                        <a:lumOff val="50000"/>
                      </a:schemeClr>
                    </a:solidFill>
                    <a:cs typeface="+mn-ea"/>
                  </a:rPr>
                  <a:t>-&gt;v</a:t>
                </a:r>
                <a:r>
                  <a:rPr lang="en-US" altLang="zh-CN" sz="1400" baseline="-25000" dirty="0" smtClean="0">
                    <a:solidFill>
                      <a:schemeClr val="tx1">
                        <a:lumMod val="50000"/>
                        <a:lumOff val="50000"/>
                      </a:schemeClr>
                    </a:solidFill>
                    <a:cs typeface="+mn-ea"/>
                  </a:rPr>
                  <a:t>2-</a:t>
                </a:r>
                <a:r>
                  <a:rPr lang="en-US" altLang="zh-CN" sz="1400" dirty="0" smtClean="0">
                    <a:solidFill>
                      <a:schemeClr val="tx1">
                        <a:lumMod val="50000"/>
                        <a:lumOff val="50000"/>
                      </a:schemeClr>
                    </a:solidFill>
                    <a:cs typeface="+mn-ea"/>
                  </a:rPr>
                  <a:t>,...e</a:t>
                </a:r>
                <a:r>
                  <a:rPr lang="en-US" altLang="zh-CN" sz="1400" baseline="-25000" dirty="0" smtClean="0">
                    <a:solidFill>
                      <a:schemeClr val="tx1">
                        <a:lumMod val="50000"/>
                        <a:lumOff val="50000"/>
                      </a:schemeClr>
                    </a:solidFill>
                    <a:cs typeface="+mn-ea"/>
                  </a:rPr>
                  <a:t>k</a:t>
                </a:r>
                <a:r>
                  <a:rPr lang="en-US" altLang="zh-CN" sz="1400" dirty="0" smtClean="0">
                    <a:solidFill>
                      <a:schemeClr val="tx1">
                        <a:lumMod val="50000"/>
                        <a:lumOff val="50000"/>
                      </a:schemeClr>
                    </a:solidFill>
                    <a:cs typeface="+mn-ea"/>
                  </a:rPr>
                  <a:t>-&gt;v</a:t>
                </a:r>
                <a:r>
                  <a:rPr lang="en-US" altLang="zh-CN" sz="1400" baseline="-25000" dirty="0" smtClean="0">
                    <a:solidFill>
                      <a:schemeClr val="tx1">
                        <a:lumMod val="50000"/>
                        <a:lumOff val="50000"/>
                      </a:schemeClr>
                    </a:solidFill>
                    <a:cs typeface="+mn-ea"/>
                  </a:rPr>
                  <a:t>k</a:t>
                </a:r>
                <a:r>
                  <a:rPr lang="zh-CN" altLang="zh-CN" sz="1400" dirty="0" smtClean="0">
                    <a:solidFill>
                      <a:schemeClr val="tx1">
                        <a:lumMod val="50000"/>
                        <a:lumOff val="50000"/>
                      </a:schemeClr>
                    </a:solidFill>
                    <a:cs typeface="+mn-ea"/>
                  </a:rPr>
                  <a:t>，</a:t>
                </a:r>
                <a:r>
                  <a:rPr lang="zh-CN" altLang="zh-CN" sz="1400" dirty="0">
                    <a:solidFill>
                      <a:schemeClr val="tx1">
                        <a:lumMod val="50000"/>
                        <a:lumOff val="50000"/>
                      </a:schemeClr>
                    </a:solidFill>
                    <a:cs typeface="+mn-ea"/>
                  </a:rPr>
                  <a:t>其中</a:t>
                </a:r>
                <a:r>
                  <a:rPr lang="en-US" altLang="zh-CN" sz="1400" dirty="0">
                    <a:solidFill>
                      <a:schemeClr val="tx1">
                        <a:lumMod val="50000"/>
                        <a:lumOff val="50000"/>
                      </a:schemeClr>
                    </a:solidFill>
                    <a:cs typeface="+mn-ea"/>
                  </a:rPr>
                  <a:t>e</a:t>
                </a:r>
                <a:r>
                  <a:rPr lang="en-US" altLang="zh-CN" sz="1400" baseline="-25000" dirty="0">
                    <a:solidFill>
                      <a:schemeClr val="tx1">
                        <a:lumMod val="50000"/>
                        <a:lumOff val="50000"/>
                      </a:schemeClr>
                    </a:solidFill>
                    <a:cs typeface="+mn-ea"/>
                  </a:rPr>
                  <a:t>i</a:t>
                </a:r>
                <a:r>
                  <a:rPr lang="zh-CN" altLang="zh-CN" sz="1400" dirty="0">
                    <a:solidFill>
                      <a:schemeClr val="tx1">
                        <a:lumMod val="50000"/>
                        <a:lumOff val="50000"/>
                      </a:schemeClr>
                    </a:solidFill>
                    <a:cs typeface="+mn-ea"/>
                  </a:rPr>
                  <a:t>的顶点为</a:t>
                </a:r>
                <a:r>
                  <a:rPr lang="en-US" altLang="zh-CN" sz="1400" dirty="0">
                    <a:solidFill>
                      <a:schemeClr val="tx1">
                        <a:lumMod val="50000"/>
                        <a:lumOff val="50000"/>
                      </a:schemeClr>
                    </a:solidFill>
                    <a:cs typeface="+mn-ea"/>
                  </a:rPr>
                  <a:t>v</a:t>
                </a:r>
                <a:r>
                  <a:rPr lang="en-US" altLang="zh-CN" sz="1400" baseline="-25000" dirty="0">
                    <a:solidFill>
                      <a:schemeClr val="tx1">
                        <a:lumMod val="50000"/>
                        <a:lumOff val="50000"/>
                      </a:schemeClr>
                    </a:solidFill>
                    <a:cs typeface="+mn-ea"/>
                  </a:rPr>
                  <a:t>i</a:t>
                </a:r>
                <a:r>
                  <a:rPr lang="zh-CN" altLang="zh-CN" sz="1400" dirty="0">
                    <a:solidFill>
                      <a:schemeClr val="tx1">
                        <a:lumMod val="50000"/>
                        <a:lumOff val="50000"/>
                      </a:schemeClr>
                    </a:solidFill>
                    <a:cs typeface="+mn-ea"/>
                  </a:rPr>
                  <a:t>及</a:t>
                </a:r>
                <a:r>
                  <a:rPr lang="en-US" altLang="zh-CN" sz="1400" dirty="0" smtClean="0">
                    <a:solidFill>
                      <a:schemeClr val="tx1">
                        <a:lumMod val="50000"/>
                        <a:lumOff val="50000"/>
                      </a:schemeClr>
                    </a:solidFill>
                    <a:cs typeface="+mn-ea"/>
                  </a:rPr>
                  <a:t>v</a:t>
                </a:r>
                <a:r>
                  <a:rPr lang="en-US" altLang="zh-CN" sz="1400" baseline="-25000" dirty="0" smtClean="0">
                    <a:solidFill>
                      <a:schemeClr val="tx1">
                        <a:lumMod val="50000"/>
                        <a:lumOff val="50000"/>
                      </a:schemeClr>
                    </a:solidFill>
                    <a:cs typeface="+mn-ea"/>
                  </a:rPr>
                  <a:t>i-1</a:t>
                </a:r>
                <a:r>
                  <a:rPr lang="zh-CN" altLang="zh-CN" sz="1400" dirty="0">
                    <a:solidFill>
                      <a:schemeClr val="tx1">
                        <a:lumMod val="50000"/>
                        <a:lumOff val="50000"/>
                      </a:schemeClr>
                    </a:solidFill>
                    <a:cs typeface="+mn-ea"/>
                  </a:rPr>
                  <a:t>，</a:t>
                </a:r>
                <a:r>
                  <a:rPr lang="en-US" altLang="zh-CN" sz="1400" dirty="0">
                    <a:solidFill>
                      <a:schemeClr val="tx1">
                        <a:lumMod val="50000"/>
                        <a:lumOff val="50000"/>
                      </a:schemeClr>
                    </a:solidFill>
                    <a:cs typeface="+mn-ea"/>
                  </a:rPr>
                  <a:t>k</a:t>
                </a:r>
                <a:r>
                  <a:rPr lang="zh-CN" altLang="zh-CN" sz="1400" dirty="0">
                    <a:solidFill>
                      <a:schemeClr val="tx1">
                        <a:lumMod val="50000"/>
                        <a:lumOff val="50000"/>
                      </a:schemeClr>
                    </a:solidFill>
                    <a:cs typeface="+mn-ea"/>
                  </a:rPr>
                  <a:t>称作路径的长度</a:t>
                </a:r>
                <a:r>
                  <a:rPr lang="zh-CN" altLang="zh-CN" sz="1400" dirty="0" smtClean="0">
                    <a:solidFill>
                      <a:schemeClr val="tx1">
                        <a:lumMod val="50000"/>
                        <a:lumOff val="50000"/>
                      </a:schemeClr>
                    </a:solidFill>
                    <a:cs typeface="+mn-ea"/>
                  </a:rPr>
                  <a:t>。</a:t>
                </a:r>
                <a:endParaRPr lang="zh-CN" altLang="en-US" sz="1400" dirty="0">
                  <a:solidFill>
                    <a:schemeClr val="tx1">
                      <a:lumMod val="50000"/>
                      <a:lumOff val="50000"/>
                    </a:schemeClr>
                  </a:solidFill>
                  <a:cs typeface="+mn-ea"/>
                  <a:sym typeface="+mn-lt"/>
                </a:endParaRPr>
              </a:p>
            </p:txBody>
          </p:sp>
          <p:sp>
            <p:nvSpPr>
              <p:cNvPr id="31" name="矩形 30"/>
              <p:cNvSpPr/>
              <p:nvPr/>
            </p:nvSpPr>
            <p:spPr>
              <a:xfrm>
                <a:off x="7692479" y="1678126"/>
                <a:ext cx="2241974" cy="39613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路径</a:t>
                </a:r>
                <a:r>
                  <a:rPr lang="en-US" altLang="zh-CN" b="1" dirty="0" smtClean="0">
                    <a:solidFill>
                      <a:schemeClr val="tx1">
                        <a:lumMod val="65000"/>
                        <a:lumOff val="35000"/>
                      </a:schemeClr>
                    </a:solidFill>
                    <a:cs typeface="+mn-ea"/>
                    <a:sym typeface="+mn-lt"/>
                  </a:rPr>
                  <a:t>(Path)</a:t>
                </a:r>
                <a:endParaRPr lang="zh-CN" altLang="en-US" b="1" dirty="0">
                  <a:solidFill>
                    <a:schemeClr val="tx1">
                      <a:lumMod val="65000"/>
                      <a:lumOff val="35000"/>
                    </a:schemeClr>
                  </a:solidFill>
                  <a:cs typeface="+mn-ea"/>
                  <a:sym typeface="+mn-lt"/>
                </a:endParaRPr>
              </a:p>
            </p:txBody>
          </p:sp>
        </p:grpSp>
        <p:sp>
          <p:nvSpPr>
            <p:cNvPr id="40" name="椭圆 28"/>
            <p:cNvSpPr/>
            <p:nvPr/>
          </p:nvSpPr>
          <p:spPr>
            <a:xfrm>
              <a:off x="6608653" y="3167296"/>
              <a:ext cx="723572" cy="723572"/>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49" name="组合 48"/>
          <p:cNvGrpSpPr/>
          <p:nvPr/>
        </p:nvGrpSpPr>
        <p:grpSpPr>
          <a:xfrm>
            <a:off x="5750418" y="3923099"/>
            <a:ext cx="4922278" cy="1196766"/>
            <a:chOff x="6608653" y="4742609"/>
            <a:chExt cx="4922278" cy="1196766"/>
          </a:xfrm>
        </p:grpSpPr>
        <p:grpSp>
          <p:nvGrpSpPr>
            <p:cNvPr id="33" name="组合 32"/>
            <p:cNvGrpSpPr/>
            <p:nvPr/>
          </p:nvGrpSpPr>
          <p:grpSpPr>
            <a:xfrm>
              <a:off x="7692478" y="4742609"/>
              <a:ext cx="3838453" cy="1196766"/>
              <a:chOff x="7692478" y="1678126"/>
              <a:chExt cx="3838453" cy="1196766"/>
            </a:xfrm>
          </p:grpSpPr>
          <p:sp>
            <p:nvSpPr>
              <p:cNvPr id="35" name="矩形 34"/>
              <p:cNvSpPr/>
              <p:nvPr/>
            </p:nvSpPr>
            <p:spPr>
              <a:xfrm>
                <a:off x="7692478" y="2030750"/>
                <a:ext cx="3838453" cy="844142"/>
              </a:xfrm>
              <a:prstGeom prst="rect">
                <a:avLst/>
              </a:prstGeom>
            </p:spPr>
            <p:txBody>
              <a:bodyPr wrap="square">
                <a:spAutoFit/>
                <a:scene3d>
                  <a:camera prst="orthographicFront"/>
                  <a:lightRig rig="threePt" dir="t"/>
                </a:scene3d>
                <a:sp3d contourW="12700"/>
              </a:bodyPr>
              <a:lstStyle/>
              <a:p>
                <a:pPr algn="just">
                  <a:lnSpc>
                    <a:spcPct val="120000"/>
                  </a:lnSpc>
                </a:pPr>
                <a:r>
                  <a:rPr lang="zh-CN" altLang="zh-CN" sz="1400" dirty="0" smtClean="0">
                    <a:solidFill>
                      <a:schemeClr val="tx1">
                        <a:lumMod val="50000"/>
                        <a:lumOff val="50000"/>
                      </a:schemeClr>
                    </a:solidFill>
                    <a:cs typeface="+mn-ea"/>
                  </a:rPr>
                  <a:t>起点</a:t>
                </a:r>
                <a:r>
                  <a:rPr lang="zh-CN" altLang="zh-CN" sz="1400" dirty="0">
                    <a:solidFill>
                      <a:schemeClr val="tx1">
                        <a:lumMod val="50000"/>
                        <a:lumOff val="50000"/>
                      </a:schemeClr>
                    </a:solidFill>
                    <a:cs typeface="+mn-ea"/>
                  </a:rPr>
                  <a:t>和终点相同的路径，称为回路，或“环”</a:t>
                </a:r>
                <a:r>
                  <a:rPr lang="en-US" altLang="zh-CN" sz="1400" dirty="0">
                    <a:solidFill>
                      <a:schemeClr val="tx1">
                        <a:lumMod val="50000"/>
                        <a:lumOff val="50000"/>
                      </a:schemeClr>
                    </a:solidFill>
                    <a:cs typeface="+mn-ea"/>
                  </a:rPr>
                  <a:t>/</a:t>
                </a:r>
                <a:r>
                  <a:rPr lang="zh-CN" altLang="zh-CN" sz="1400" dirty="0">
                    <a:solidFill>
                      <a:schemeClr val="tx1">
                        <a:lumMod val="50000"/>
                        <a:lumOff val="50000"/>
                      </a:schemeClr>
                    </a:solidFill>
                    <a:cs typeface="+mn-ea"/>
                  </a:rPr>
                  <a:t>“自环”。</a:t>
                </a:r>
              </a:p>
              <a:p>
                <a:pPr algn="just">
                  <a:lnSpc>
                    <a:spcPct val="120000"/>
                  </a:lnSpc>
                </a:pPr>
                <a:endParaRPr lang="zh-CN" altLang="en-US" sz="1400" dirty="0">
                  <a:solidFill>
                    <a:schemeClr val="tx1">
                      <a:lumMod val="50000"/>
                      <a:lumOff val="50000"/>
                    </a:schemeClr>
                  </a:solidFill>
                  <a:cs typeface="+mn-ea"/>
                  <a:sym typeface="+mn-lt"/>
                </a:endParaRPr>
              </a:p>
            </p:txBody>
          </p:sp>
          <p:sp>
            <p:nvSpPr>
              <p:cNvPr id="36" name="矩形 35"/>
              <p:cNvSpPr/>
              <p:nvPr/>
            </p:nvSpPr>
            <p:spPr>
              <a:xfrm>
                <a:off x="7692479" y="1678126"/>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回路</a:t>
                </a:r>
                <a:r>
                  <a:rPr lang="en-US" altLang="zh-CN" b="1" dirty="0" smtClean="0">
                    <a:solidFill>
                      <a:schemeClr val="tx1">
                        <a:lumMod val="65000"/>
                        <a:lumOff val="35000"/>
                      </a:schemeClr>
                    </a:solidFill>
                    <a:cs typeface="+mn-ea"/>
                    <a:sym typeface="+mn-lt"/>
                  </a:rPr>
                  <a:t>(Loop)</a:t>
                </a:r>
                <a:endParaRPr lang="zh-CN" altLang="en-US" b="1" dirty="0">
                  <a:solidFill>
                    <a:schemeClr val="tx1">
                      <a:lumMod val="65000"/>
                      <a:lumOff val="35000"/>
                    </a:schemeClr>
                  </a:solidFill>
                  <a:cs typeface="+mn-ea"/>
                  <a:sym typeface="+mn-lt"/>
                </a:endParaRPr>
              </a:p>
            </p:txBody>
          </p:sp>
        </p:grpSp>
        <p:sp>
          <p:nvSpPr>
            <p:cNvPr id="41" name="椭圆 33"/>
            <p:cNvSpPr/>
            <p:nvPr/>
          </p:nvSpPr>
          <p:spPr>
            <a:xfrm>
              <a:off x="6608653" y="4851330"/>
              <a:ext cx="723572" cy="585087"/>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21"/>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accent3"/>
                </a:solidFill>
                <a:cs typeface="+mn-ea"/>
                <a:sym typeface="+mn-lt"/>
              </a:rPr>
              <a:t>Basic Concepts </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9972747" y="177223"/>
            <a:ext cx="1723550"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路径、回路</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环</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2" name="矩形 21"/>
          <p:cNvSpPr/>
          <p:nvPr/>
        </p:nvSpPr>
        <p:spPr>
          <a:xfrm>
            <a:off x="960423" y="4971261"/>
            <a:ext cx="3898900"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如图你能找到几条路径？</a:t>
            </a:r>
            <a:endParaRPr lang="zh-CN" altLang="en-US" b="1" dirty="0">
              <a:solidFill>
                <a:schemeClr val="tx1">
                  <a:lumMod val="65000"/>
                  <a:lumOff val="35000"/>
                </a:schemeClr>
              </a:solidFill>
              <a:cs typeface="+mn-ea"/>
              <a:sym typeface="+mn-lt"/>
            </a:endParaRPr>
          </a:p>
        </p:txBody>
      </p:sp>
      <p:sp>
        <p:nvSpPr>
          <p:cNvPr id="25" name="矩形 24"/>
          <p:cNvSpPr/>
          <p:nvPr/>
        </p:nvSpPr>
        <p:spPr>
          <a:xfrm>
            <a:off x="960423" y="5469859"/>
            <a:ext cx="3898900"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如图你能找到几条回路？</a:t>
            </a:r>
            <a:endParaRPr lang="zh-CN" altLang="en-US" b="1" dirty="0">
              <a:solidFill>
                <a:schemeClr val="tx1">
                  <a:lumMod val="65000"/>
                  <a:lumOff val="35000"/>
                </a:schemeClr>
              </a:solidFill>
              <a:cs typeface="+mn-ea"/>
              <a:sym typeface="+mn-lt"/>
            </a:endParaRPr>
          </a:p>
        </p:txBody>
      </p:sp>
      <p:sp>
        <p:nvSpPr>
          <p:cNvPr id="29" name="矩形 28"/>
          <p:cNvSpPr/>
          <p:nvPr/>
        </p:nvSpPr>
        <p:spPr>
          <a:xfrm>
            <a:off x="6755051" y="5506792"/>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tx1">
                    <a:lumMod val="50000"/>
                    <a:lumOff val="50000"/>
                  </a:schemeClr>
                </a:solidFill>
                <a:cs typeface="+mn-ea"/>
                <a:sym typeface="+mn-lt"/>
              </a:rPr>
              <a:t>3</a:t>
            </a: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326955896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par>
                                <p:cTn id="10" presetID="2" presetClass="entr" presetSubtype="8" fill="hold" nodeType="withEffect">
                                  <p:stCondLst>
                                    <p:cond delay="0"/>
                                  </p:stCondLst>
                                  <p:childTnLst>
                                    <p:set>
                                      <p:cBhvr>
                                        <p:cTn id="11" dur="1" fill="hold">
                                          <p:stCondLst>
                                            <p:cond delay="0"/>
                                          </p:stCondLst>
                                        </p:cTn>
                                        <p:tgtEl>
                                          <p:spTgt spid="38"/>
                                        </p:tgtEl>
                                        <p:attrNameLst>
                                          <p:attrName>style.visibility</p:attrName>
                                        </p:attrNameLst>
                                      </p:cBhvr>
                                      <p:to>
                                        <p:strVal val="visible"/>
                                      </p:to>
                                    </p:set>
                                    <p:anim calcmode="lin" valueType="num">
                                      <p:cBhvr additive="base">
                                        <p:cTn id="12" dur="500" fill="hold"/>
                                        <p:tgtEl>
                                          <p:spTgt spid="38"/>
                                        </p:tgtEl>
                                        <p:attrNameLst>
                                          <p:attrName>ppt_x</p:attrName>
                                        </p:attrNameLst>
                                      </p:cBhvr>
                                      <p:tavLst>
                                        <p:tav tm="0">
                                          <p:val>
                                            <p:strVal val="0-#ppt_w/2"/>
                                          </p:val>
                                        </p:tav>
                                        <p:tav tm="100000">
                                          <p:val>
                                            <p:strVal val="#ppt_x"/>
                                          </p:val>
                                        </p:tav>
                                      </p:tavLst>
                                    </p:anim>
                                    <p:anim calcmode="lin" valueType="num">
                                      <p:cBhvr additive="base">
                                        <p:cTn id="13"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48"/>
                                        </p:tgtEl>
                                        <p:attrNameLst>
                                          <p:attrName>style.visibility</p:attrName>
                                        </p:attrNameLst>
                                      </p:cBhvr>
                                      <p:to>
                                        <p:strVal val="visible"/>
                                      </p:to>
                                    </p:set>
                                    <p:anim calcmode="lin" valueType="num">
                                      <p:cBhvr additive="base">
                                        <p:cTn id="18" dur="500" fill="hold"/>
                                        <p:tgtEl>
                                          <p:spTgt spid="48"/>
                                        </p:tgtEl>
                                        <p:attrNameLst>
                                          <p:attrName>ppt_x</p:attrName>
                                        </p:attrNameLst>
                                      </p:cBhvr>
                                      <p:tavLst>
                                        <p:tav tm="0">
                                          <p:val>
                                            <p:strVal val="1+#ppt_w/2"/>
                                          </p:val>
                                        </p:tav>
                                        <p:tav tm="100000">
                                          <p:val>
                                            <p:strVal val="#ppt_x"/>
                                          </p:val>
                                        </p:tav>
                                      </p:tavLst>
                                    </p:anim>
                                    <p:anim calcmode="lin" valueType="num">
                                      <p:cBhvr additive="base">
                                        <p:cTn id="19"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1+#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arn(inVertical)">
                                      <p:cBhvr>
                                        <p:cTn id="4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2" grpId="0"/>
      <p:bldP spid="25"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smtClean="0">
                <a:ln>
                  <a:noFill/>
                </a:ln>
                <a:solidFill>
                  <a:srgbClr val="000000">
                    <a:lumMod val="65000"/>
                    <a:lumOff val="35000"/>
                  </a:srgbClr>
                </a:solidFill>
                <a:effectLst/>
                <a:uLnTx/>
                <a:uFillTx/>
                <a:cs typeface="+mn-ea"/>
                <a:sym typeface="+mn-lt"/>
              </a:rPr>
              <a:t>基本概念</a:t>
            </a:r>
            <a:endParaRPr kumimoji="0" lang="zh-CN" altLang="en-US" sz="3200"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a:defRPr/>
            </a:pPr>
            <a:r>
              <a:rPr lang="en-US" altLang="zh-CN" sz="1200" dirty="0" smtClean="0">
                <a:solidFill>
                  <a:schemeClr val="accent3"/>
                </a:solidFill>
                <a:cs typeface="+mn-ea"/>
                <a:sym typeface="+mn-lt"/>
              </a:rPr>
              <a:t>Basic </a:t>
            </a:r>
            <a:r>
              <a:rPr lang="en-US" altLang="zh-CN" sz="1200" dirty="0">
                <a:solidFill>
                  <a:schemeClr val="accent3"/>
                </a:solidFill>
                <a:cs typeface="+mn-ea"/>
                <a:sym typeface="+mn-lt"/>
              </a:rPr>
              <a:t>Concepts </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1007565"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简单路径</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100" name="矩形 99"/>
          <p:cNvSpPr/>
          <p:nvPr/>
        </p:nvSpPr>
        <p:spPr>
          <a:xfrm>
            <a:off x="3692708"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非简单路径</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cxnSp>
        <p:nvCxnSpPr>
          <p:cNvPr id="8" name="直接连接符 7"/>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
          <p:cNvSpPr/>
          <p:nvPr/>
        </p:nvSpPr>
        <p:spPr>
          <a:xfrm>
            <a:off x="6654800" y="1592801"/>
            <a:ext cx="5537200" cy="4523843"/>
          </a:xfrm>
          <a:prstGeom prst="rect">
            <a:avLst/>
          </a:prstGeom>
          <a:solidFill>
            <a:schemeClr val="accent3">
              <a:alpha val="6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29" name="组合 28"/>
          <p:cNvGrpSpPr/>
          <p:nvPr/>
        </p:nvGrpSpPr>
        <p:grpSpPr>
          <a:xfrm>
            <a:off x="7146531" y="1980384"/>
            <a:ext cx="4293988" cy="1495794"/>
            <a:chOff x="7248131" y="4027393"/>
            <a:chExt cx="4293988" cy="1495794"/>
          </a:xfrm>
        </p:grpSpPr>
        <p:sp>
          <p:nvSpPr>
            <p:cNvPr id="3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2" name="矩形 31"/>
            <p:cNvSpPr/>
            <p:nvPr/>
          </p:nvSpPr>
          <p:spPr>
            <a:xfrm>
              <a:off x="8031472" y="4027393"/>
              <a:ext cx="3510647" cy="149579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a:solidFill>
                    <a:srgbClr val="002060"/>
                  </a:solidFill>
                  <a:cs typeface="+mn-ea"/>
                  <a:sym typeface="+mn-lt"/>
                </a:rPr>
                <a:t>简单路径</a:t>
              </a:r>
              <a:r>
                <a:rPr lang="zh-CN" altLang="en-US" sz="2000" b="1" dirty="0" smtClean="0">
                  <a:solidFill>
                    <a:srgbClr val="002060"/>
                  </a:solidFill>
                  <a:cs typeface="+mn-ea"/>
                  <a:sym typeface="+mn-lt"/>
                </a:rPr>
                <a:t> </a:t>
              </a:r>
              <a:r>
                <a:rPr lang="en-US" altLang="zh-CN" sz="2000" b="1" dirty="0" smtClean="0">
                  <a:solidFill>
                    <a:srgbClr val="002060"/>
                  </a:solidFill>
                  <a:cs typeface="+mn-ea"/>
                  <a:sym typeface="+mn-lt"/>
                </a:rPr>
                <a:t>(Simple Path)</a:t>
              </a:r>
            </a:p>
            <a:p>
              <a:pPr algn="just">
                <a:lnSpc>
                  <a:spcPct val="120000"/>
                </a:lnSpc>
              </a:pPr>
              <a:endParaRPr lang="en-US" altLang="zh-CN" sz="1400" dirty="0">
                <a:solidFill>
                  <a:schemeClr val="bg1"/>
                </a:solidFill>
                <a:cs typeface="+mn-ea"/>
                <a:sym typeface="+mn-lt"/>
              </a:endParaRPr>
            </a:p>
            <a:p>
              <a:pPr algn="just">
                <a:lnSpc>
                  <a:spcPct val="120000"/>
                </a:lnSpc>
              </a:pPr>
              <a:r>
                <a:rPr lang="zh-CN" altLang="en-US" sz="1400" dirty="0" smtClean="0">
                  <a:solidFill>
                    <a:schemeClr val="bg1"/>
                  </a:solidFill>
                  <a:cs typeface="+mn-ea"/>
                </a:rPr>
                <a:t>没有</a:t>
              </a:r>
              <a:r>
                <a:rPr lang="zh-CN" altLang="en-US" sz="1400" dirty="0">
                  <a:solidFill>
                    <a:schemeClr val="bg1"/>
                  </a:solidFill>
                  <a:cs typeface="+mn-ea"/>
                </a:rPr>
                <a:t>重复顶点的路径称为简单路径</a:t>
              </a:r>
              <a:r>
                <a:rPr lang="zh-CN" altLang="en-US" sz="1400" dirty="0" smtClean="0">
                  <a:solidFill>
                    <a:schemeClr val="bg1"/>
                  </a:solidFill>
                  <a:cs typeface="+mn-ea"/>
                </a:rPr>
                <a:t>。</a:t>
              </a:r>
              <a:endParaRPr lang="en-US" altLang="zh-CN" sz="1400" dirty="0" smtClean="0">
                <a:solidFill>
                  <a:schemeClr val="bg1"/>
                </a:solidFill>
                <a:cs typeface="+mn-ea"/>
              </a:endParaRPr>
            </a:p>
            <a:p>
              <a:pPr algn="just">
                <a:lnSpc>
                  <a:spcPct val="120000"/>
                </a:lnSpc>
              </a:pPr>
              <a:r>
                <a:rPr lang="zh-CN" altLang="en-US" sz="1400" dirty="0" smtClean="0">
                  <a:solidFill>
                    <a:schemeClr val="bg1"/>
                  </a:solidFill>
                  <a:cs typeface="+mn-ea"/>
                </a:rPr>
                <a:t>即路径上没有环</a:t>
              </a:r>
              <a:r>
                <a:rPr lang="en-US" altLang="zh-CN" sz="1400" dirty="0" smtClean="0">
                  <a:solidFill>
                    <a:schemeClr val="bg1"/>
                  </a:solidFill>
                  <a:cs typeface="+mn-ea"/>
                </a:rPr>
                <a:t>(</a:t>
              </a:r>
              <a:r>
                <a:rPr lang="zh-CN" altLang="en-US" sz="1400" dirty="0" smtClean="0">
                  <a:solidFill>
                    <a:schemeClr val="bg1"/>
                  </a:solidFill>
                  <a:cs typeface="+mn-ea"/>
                </a:rPr>
                <a:t>回路</a:t>
              </a:r>
              <a:r>
                <a:rPr lang="en-US" altLang="zh-CN" sz="1400" dirty="0" smtClean="0">
                  <a:solidFill>
                    <a:schemeClr val="bg1"/>
                  </a:solidFill>
                  <a:cs typeface="+mn-ea"/>
                </a:rPr>
                <a:t>)</a:t>
              </a:r>
              <a:r>
                <a:rPr lang="zh-CN" altLang="en-US" sz="1400" dirty="0" smtClean="0">
                  <a:solidFill>
                    <a:schemeClr val="bg1"/>
                  </a:solidFill>
                  <a:cs typeface="+mn-ea"/>
                </a:rPr>
                <a:t>。</a:t>
              </a:r>
              <a:endParaRPr lang="zh-CN" altLang="en-US" sz="1400" dirty="0">
                <a:solidFill>
                  <a:schemeClr val="bg1"/>
                </a:solidFill>
                <a:cs typeface="+mn-ea"/>
              </a:endParaRPr>
            </a:p>
            <a:p>
              <a:pPr algn="just">
                <a:lnSpc>
                  <a:spcPct val="120000"/>
                </a:lnSpc>
              </a:pPr>
              <a:endParaRPr lang="zh-CN" altLang="en-US" sz="1400" dirty="0">
                <a:solidFill>
                  <a:schemeClr val="bg1"/>
                </a:solidFill>
                <a:cs typeface="+mn-ea"/>
              </a:endParaRPr>
            </a:p>
          </p:txBody>
        </p:sp>
      </p:grpSp>
      <p:sp>
        <p:nvSpPr>
          <p:cNvPr id="26" name="文本框 2919"/>
          <p:cNvSpPr txBox="1"/>
          <p:nvPr/>
        </p:nvSpPr>
        <p:spPr>
          <a:xfrm>
            <a:off x="10095688" y="189738"/>
            <a:ext cx="1492716"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非</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简单路径</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262" y="2125272"/>
            <a:ext cx="2188580" cy="2126755"/>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3236" y="2292425"/>
            <a:ext cx="1814189" cy="1762940"/>
          </a:xfrm>
          <a:prstGeom prst="rect">
            <a:avLst/>
          </a:prstGeom>
        </p:spPr>
      </p:pic>
    </p:spTree>
    <p:extLst>
      <p:ext uri="{BB962C8B-B14F-4D97-AF65-F5344CB8AC3E}">
        <p14:creationId xmlns:p14="http://schemas.microsoft.com/office/powerpoint/2010/main" val="303652020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占位符 37"/>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0" y="2058458"/>
            <a:ext cx="6096000" cy="2741083"/>
          </a:xfrm>
        </p:spPr>
      </p:pic>
      <p:sp>
        <p:nvSpPr>
          <p:cNvPr id="52" name="Rectangle 2"/>
          <p:cNvSpPr/>
          <p:nvPr/>
        </p:nvSpPr>
        <p:spPr>
          <a:xfrm>
            <a:off x="6108700" y="1333501"/>
            <a:ext cx="6083300" cy="4783144"/>
          </a:xfrm>
          <a:prstGeom prst="rect">
            <a:avLst/>
          </a:prstGeom>
          <a:solidFill>
            <a:srgbClr val="60EEA4">
              <a:alpha val="66667"/>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48" name="组合 47"/>
          <p:cNvGrpSpPr/>
          <p:nvPr/>
        </p:nvGrpSpPr>
        <p:grpSpPr>
          <a:xfrm>
            <a:off x="6470474" y="1738322"/>
            <a:ext cx="4922278" cy="938234"/>
            <a:chOff x="6608653" y="3127818"/>
            <a:chExt cx="4922278" cy="938234"/>
          </a:xfrm>
        </p:grpSpPr>
        <p:grpSp>
          <p:nvGrpSpPr>
            <p:cNvPr id="28" name="组合 27"/>
            <p:cNvGrpSpPr/>
            <p:nvPr/>
          </p:nvGrpSpPr>
          <p:grpSpPr>
            <a:xfrm>
              <a:off x="7692478" y="3127818"/>
              <a:ext cx="3838453" cy="938234"/>
              <a:chOff x="7692478" y="1678126"/>
              <a:chExt cx="3838453" cy="938234"/>
            </a:xfrm>
          </p:grpSpPr>
          <p:sp>
            <p:nvSpPr>
              <p:cNvPr id="30" name="矩形 29"/>
              <p:cNvSpPr/>
              <p:nvPr/>
            </p:nvSpPr>
            <p:spPr>
              <a:xfrm>
                <a:off x="7692478" y="2030750"/>
                <a:ext cx="3838453" cy="5856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rPr>
                  <a:t>一</a:t>
                </a:r>
                <a:r>
                  <a:rPr lang="zh-CN" altLang="en-US" sz="1400" dirty="0">
                    <a:solidFill>
                      <a:schemeClr val="tx1">
                        <a:lumMod val="50000"/>
                        <a:lumOff val="50000"/>
                      </a:schemeClr>
                    </a:solidFill>
                    <a:cs typeface="+mn-ea"/>
                  </a:rPr>
                  <a:t>个顶点到这个顶点自身的</a:t>
                </a:r>
                <a:r>
                  <a:rPr lang="zh-CN" altLang="en-US" sz="1400" dirty="0" smtClean="0">
                    <a:solidFill>
                      <a:schemeClr val="tx1">
                        <a:lumMod val="50000"/>
                        <a:lumOff val="50000"/>
                      </a:schemeClr>
                    </a:solidFill>
                    <a:cs typeface="+mn-ea"/>
                  </a:rPr>
                  <a:t>边。</a:t>
                </a:r>
                <a:endParaRPr lang="zh-CN" altLang="en-US" sz="1400" dirty="0">
                  <a:solidFill>
                    <a:schemeClr val="tx1">
                      <a:lumMod val="50000"/>
                      <a:lumOff val="50000"/>
                    </a:schemeClr>
                  </a:solidFill>
                  <a:cs typeface="+mn-ea"/>
                </a:endParaRPr>
              </a:p>
              <a:p>
                <a:pPr algn="just">
                  <a:lnSpc>
                    <a:spcPct val="120000"/>
                  </a:lnSpc>
                </a:pPr>
                <a:endParaRPr lang="zh-CN" altLang="en-US" sz="1400" dirty="0">
                  <a:solidFill>
                    <a:schemeClr val="tx1">
                      <a:lumMod val="50000"/>
                      <a:lumOff val="50000"/>
                    </a:schemeClr>
                  </a:solidFill>
                  <a:cs typeface="+mn-ea"/>
                  <a:sym typeface="+mn-lt"/>
                </a:endParaRPr>
              </a:p>
            </p:txBody>
          </p:sp>
          <p:sp>
            <p:nvSpPr>
              <p:cNvPr id="31" name="矩形 30"/>
              <p:cNvSpPr/>
              <p:nvPr/>
            </p:nvSpPr>
            <p:spPr>
              <a:xfrm>
                <a:off x="7692479" y="1678126"/>
                <a:ext cx="2241974"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自环边</a:t>
                </a:r>
                <a:r>
                  <a:rPr lang="en-US" altLang="zh-CN" b="1" dirty="0" smtClean="0">
                    <a:solidFill>
                      <a:schemeClr val="tx1">
                        <a:lumMod val="65000"/>
                        <a:lumOff val="35000"/>
                      </a:schemeClr>
                    </a:solidFill>
                    <a:cs typeface="+mn-ea"/>
                    <a:sym typeface="+mn-lt"/>
                  </a:rPr>
                  <a:t>(Self-loop)</a:t>
                </a:r>
                <a:endParaRPr lang="zh-CN" altLang="en-US" b="1" dirty="0">
                  <a:solidFill>
                    <a:schemeClr val="tx1">
                      <a:lumMod val="65000"/>
                      <a:lumOff val="35000"/>
                    </a:schemeClr>
                  </a:solidFill>
                  <a:cs typeface="+mn-ea"/>
                  <a:sym typeface="+mn-lt"/>
                </a:endParaRPr>
              </a:p>
            </p:txBody>
          </p:sp>
        </p:grpSp>
        <p:sp>
          <p:nvSpPr>
            <p:cNvPr id="40" name="椭圆 28"/>
            <p:cNvSpPr/>
            <p:nvPr/>
          </p:nvSpPr>
          <p:spPr>
            <a:xfrm>
              <a:off x="6608653" y="3167296"/>
              <a:ext cx="723572" cy="723572"/>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pic>
        <p:nvPicPr>
          <p:cNvPr id="19" name="图片 1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21"/>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accent3"/>
                </a:solidFill>
                <a:cs typeface="+mn-ea"/>
                <a:sym typeface="+mn-lt"/>
              </a:rPr>
              <a:t>Basic Concepts </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9472610" y="177223"/>
            <a:ext cx="272382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简单图、自环边、平行边</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29" name="组合 28"/>
          <p:cNvGrpSpPr/>
          <p:nvPr/>
        </p:nvGrpSpPr>
        <p:grpSpPr>
          <a:xfrm>
            <a:off x="6470474" y="3046553"/>
            <a:ext cx="4922278" cy="938234"/>
            <a:chOff x="6608653" y="3127818"/>
            <a:chExt cx="4922278" cy="938234"/>
          </a:xfrm>
        </p:grpSpPr>
        <p:grpSp>
          <p:nvGrpSpPr>
            <p:cNvPr id="32" name="组合 31"/>
            <p:cNvGrpSpPr/>
            <p:nvPr/>
          </p:nvGrpSpPr>
          <p:grpSpPr>
            <a:xfrm>
              <a:off x="7692478" y="3127818"/>
              <a:ext cx="3838453" cy="938234"/>
              <a:chOff x="7692478" y="1678126"/>
              <a:chExt cx="3838453" cy="938234"/>
            </a:xfrm>
          </p:grpSpPr>
          <p:sp>
            <p:nvSpPr>
              <p:cNvPr id="37" name="矩形 36"/>
              <p:cNvSpPr/>
              <p:nvPr/>
            </p:nvSpPr>
            <p:spPr>
              <a:xfrm>
                <a:off x="7692478" y="2030750"/>
                <a:ext cx="3838453" cy="58561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rPr>
                  <a:t>两</a:t>
                </a:r>
                <a:r>
                  <a:rPr lang="zh-CN" altLang="en-US" sz="1400" dirty="0">
                    <a:solidFill>
                      <a:schemeClr val="tx1">
                        <a:lumMod val="50000"/>
                        <a:lumOff val="50000"/>
                      </a:schemeClr>
                    </a:solidFill>
                    <a:cs typeface="+mn-ea"/>
                  </a:rPr>
                  <a:t>个顶点之间存在多条边相连接。</a:t>
                </a:r>
              </a:p>
              <a:p>
                <a:pPr algn="just">
                  <a:lnSpc>
                    <a:spcPct val="120000"/>
                  </a:lnSpc>
                </a:pPr>
                <a:endParaRPr lang="zh-CN" altLang="en-US" sz="1400" dirty="0">
                  <a:solidFill>
                    <a:schemeClr val="tx1">
                      <a:lumMod val="50000"/>
                      <a:lumOff val="50000"/>
                    </a:schemeClr>
                  </a:solidFill>
                  <a:cs typeface="+mn-ea"/>
                  <a:sym typeface="+mn-lt"/>
                </a:endParaRPr>
              </a:p>
            </p:txBody>
          </p:sp>
          <p:sp>
            <p:nvSpPr>
              <p:cNvPr id="42" name="矩形 41"/>
              <p:cNvSpPr/>
              <p:nvPr/>
            </p:nvSpPr>
            <p:spPr>
              <a:xfrm>
                <a:off x="7692478" y="1678126"/>
                <a:ext cx="3280221"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平行边</a:t>
                </a:r>
                <a:r>
                  <a:rPr lang="en-US" altLang="zh-CN" b="1" dirty="0" smtClean="0">
                    <a:solidFill>
                      <a:schemeClr val="tx1">
                        <a:lumMod val="65000"/>
                        <a:lumOff val="35000"/>
                      </a:schemeClr>
                    </a:solidFill>
                    <a:cs typeface="+mn-ea"/>
                    <a:sym typeface="+mn-lt"/>
                  </a:rPr>
                  <a:t>(Parallel-edges)</a:t>
                </a:r>
                <a:endParaRPr lang="zh-CN" altLang="en-US" b="1" dirty="0">
                  <a:solidFill>
                    <a:schemeClr val="tx1">
                      <a:lumMod val="65000"/>
                      <a:lumOff val="35000"/>
                    </a:schemeClr>
                  </a:solidFill>
                  <a:cs typeface="+mn-ea"/>
                  <a:sym typeface="+mn-lt"/>
                </a:endParaRPr>
              </a:p>
            </p:txBody>
          </p:sp>
        </p:grpSp>
        <p:sp>
          <p:nvSpPr>
            <p:cNvPr id="34" name="椭圆 28"/>
            <p:cNvSpPr/>
            <p:nvPr/>
          </p:nvSpPr>
          <p:spPr>
            <a:xfrm>
              <a:off x="6608653" y="3167296"/>
              <a:ext cx="723572" cy="723572"/>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44" name="组合 43"/>
          <p:cNvGrpSpPr/>
          <p:nvPr/>
        </p:nvGrpSpPr>
        <p:grpSpPr>
          <a:xfrm>
            <a:off x="6470474" y="4461671"/>
            <a:ext cx="4922278" cy="763050"/>
            <a:chOff x="6608653" y="3127818"/>
            <a:chExt cx="4922278" cy="763050"/>
          </a:xfrm>
        </p:grpSpPr>
        <p:grpSp>
          <p:nvGrpSpPr>
            <p:cNvPr id="45" name="组合 44"/>
            <p:cNvGrpSpPr/>
            <p:nvPr/>
          </p:nvGrpSpPr>
          <p:grpSpPr>
            <a:xfrm>
              <a:off x="7692478" y="3127818"/>
              <a:ext cx="3838453" cy="681175"/>
              <a:chOff x="7692478" y="1678126"/>
              <a:chExt cx="3838453" cy="681175"/>
            </a:xfrm>
          </p:grpSpPr>
          <p:sp>
            <p:nvSpPr>
              <p:cNvPr id="50" name="矩形 49"/>
              <p:cNvSpPr/>
              <p:nvPr/>
            </p:nvSpPr>
            <p:spPr>
              <a:xfrm>
                <a:off x="7692478" y="2030750"/>
                <a:ext cx="3838453"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不含自环边和平行边的图。</a:t>
                </a:r>
                <a:endParaRPr lang="zh-CN" altLang="en-US" sz="1400" dirty="0">
                  <a:solidFill>
                    <a:schemeClr val="tx1">
                      <a:lumMod val="50000"/>
                      <a:lumOff val="50000"/>
                    </a:schemeClr>
                  </a:solidFill>
                  <a:cs typeface="+mn-ea"/>
                  <a:sym typeface="+mn-lt"/>
                </a:endParaRPr>
              </a:p>
            </p:txBody>
          </p:sp>
          <p:sp>
            <p:nvSpPr>
              <p:cNvPr id="51" name="矩形 50"/>
              <p:cNvSpPr/>
              <p:nvPr/>
            </p:nvSpPr>
            <p:spPr>
              <a:xfrm>
                <a:off x="7692478" y="1678126"/>
                <a:ext cx="2643063" cy="42473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smtClean="0">
                    <a:solidFill>
                      <a:schemeClr val="tx1">
                        <a:lumMod val="65000"/>
                        <a:lumOff val="35000"/>
                      </a:schemeClr>
                    </a:solidFill>
                    <a:cs typeface="+mn-ea"/>
                    <a:sym typeface="+mn-lt"/>
                  </a:rPr>
                  <a:t>简单图</a:t>
                </a:r>
                <a:r>
                  <a:rPr lang="en-US" altLang="zh-CN" b="1" dirty="0" smtClean="0">
                    <a:solidFill>
                      <a:schemeClr val="tx1">
                        <a:lumMod val="65000"/>
                        <a:lumOff val="35000"/>
                      </a:schemeClr>
                    </a:solidFill>
                    <a:cs typeface="+mn-ea"/>
                    <a:sym typeface="+mn-lt"/>
                  </a:rPr>
                  <a:t>(Simple Graph)</a:t>
                </a:r>
                <a:endParaRPr lang="zh-CN" altLang="en-US" b="1" dirty="0">
                  <a:solidFill>
                    <a:schemeClr val="tx1">
                      <a:lumMod val="65000"/>
                      <a:lumOff val="35000"/>
                    </a:schemeClr>
                  </a:solidFill>
                  <a:cs typeface="+mn-ea"/>
                  <a:sym typeface="+mn-lt"/>
                </a:endParaRPr>
              </a:p>
            </p:txBody>
          </p:sp>
        </p:grpSp>
        <p:sp>
          <p:nvSpPr>
            <p:cNvPr id="46" name="椭圆 28"/>
            <p:cNvSpPr/>
            <p:nvPr/>
          </p:nvSpPr>
          <p:spPr>
            <a:xfrm>
              <a:off x="6608653" y="3167296"/>
              <a:ext cx="723572" cy="723572"/>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53" name="矩形 52"/>
          <p:cNvSpPr/>
          <p:nvPr/>
        </p:nvSpPr>
        <p:spPr>
          <a:xfrm>
            <a:off x="448440" y="5212022"/>
            <a:ext cx="5469760"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cs typeface="+mn-ea"/>
                <a:sym typeface="+mn-lt"/>
              </a:rPr>
              <a:t>大多数</a:t>
            </a:r>
            <a:r>
              <a:rPr lang="zh-CN" altLang="en-US" sz="1400" dirty="0" smtClean="0">
                <a:solidFill>
                  <a:schemeClr val="tx1">
                    <a:lumMod val="50000"/>
                    <a:lumOff val="50000"/>
                  </a:schemeClr>
                </a:solidFill>
                <a:cs typeface="+mn-ea"/>
                <a:sym typeface="+mn-lt"/>
              </a:rPr>
              <a:t>情况下，我们讨论的都是简单图。</a:t>
            </a: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267405331"/>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par>
                                <p:cTn id="8" presetID="2" presetClass="entr" presetSubtype="4"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 calcmode="lin" valueType="num">
                                      <p:cBhvr additive="base">
                                        <p:cTn id="10" dur="500" fill="hold"/>
                                        <p:tgtEl>
                                          <p:spTgt spid="38"/>
                                        </p:tgtEl>
                                        <p:attrNameLst>
                                          <p:attrName>ppt_x</p:attrName>
                                        </p:attrNameLst>
                                      </p:cBhvr>
                                      <p:tavLst>
                                        <p:tav tm="0">
                                          <p:val>
                                            <p:strVal val="#ppt_x"/>
                                          </p:val>
                                        </p:tav>
                                        <p:tav tm="100000">
                                          <p:val>
                                            <p:strVal val="#ppt_x"/>
                                          </p:val>
                                        </p:tav>
                                      </p:tavLst>
                                    </p:anim>
                                    <p:anim calcmode="lin" valueType="num">
                                      <p:cBhvr additive="base">
                                        <p:cTn id="11"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 calcmode="lin" valueType="num">
                                      <p:cBhvr additive="base">
                                        <p:cTn id="16" dur="500" fill="hold"/>
                                        <p:tgtEl>
                                          <p:spTgt spid="48"/>
                                        </p:tgtEl>
                                        <p:attrNameLst>
                                          <p:attrName>ppt_x</p:attrName>
                                        </p:attrNameLst>
                                      </p:cBhvr>
                                      <p:tavLst>
                                        <p:tav tm="0">
                                          <p:val>
                                            <p:strVal val="1+#ppt_w/2"/>
                                          </p:val>
                                        </p:tav>
                                        <p:tav tm="100000">
                                          <p:val>
                                            <p:strVal val="#ppt_x"/>
                                          </p:val>
                                        </p:tav>
                                      </p:tavLst>
                                    </p:anim>
                                    <p:anim calcmode="lin" valueType="num">
                                      <p:cBhvr additive="base">
                                        <p:cTn id="17"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500" fill="hold"/>
                                        <p:tgtEl>
                                          <p:spTgt spid="29"/>
                                        </p:tgtEl>
                                        <p:attrNameLst>
                                          <p:attrName>ppt_x</p:attrName>
                                        </p:attrNameLst>
                                      </p:cBhvr>
                                      <p:tavLst>
                                        <p:tav tm="0">
                                          <p:val>
                                            <p:strVal val="1+#ppt_w/2"/>
                                          </p:val>
                                        </p:tav>
                                        <p:tav tm="100000">
                                          <p:val>
                                            <p:strVal val="#ppt_x"/>
                                          </p:val>
                                        </p:tav>
                                      </p:tavLst>
                                    </p:anim>
                                    <p:anim calcmode="lin" valueType="num">
                                      <p:cBhvr additive="base">
                                        <p:cTn id="23"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cBhvr additive="base">
                                        <p:cTn id="28" dur="500" fill="hold"/>
                                        <p:tgtEl>
                                          <p:spTgt spid="44"/>
                                        </p:tgtEl>
                                        <p:attrNameLst>
                                          <p:attrName>ppt_x</p:attrName>
                                        </p:attrNameLst>
                                      </p:cBhvr>
                                      <p:tavLst>
                                        <p:tav tm="0">
                                          <p:val>
                                            <p:strVal val="1+#ppt_w/2"/>
                                          </p:val>
                                        </p:tav>
                                        <p:tav tm="100000">
                                          <p:val>
                                            <p:strVal val="#ppt_x"/>
                                          </p:val>
                                        </p:tav>
                                      </p:tavLst>
                                    </p:anim>
                                    <p:anim calcmode="lin" valueType="num">
                                      <p:cBhvr additive="base">
                                        <p:cTn id="29"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wipe(left)">
                                      <p:cBhvr>
                                        <p:cTn id="34"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smtClean="0">
                <a:ln>
                  <a:noFill/>
                </a:ln>
                <a:solidFill>
                  <a:srgbClr val="000000">
                    <a:lumMod val="65000"/>
                    <a:lumOff val="35000"/>
                  </a:srgbClr>
                </a:solidFill>
                <a:effectLst/>
                <a:uLnTx/>
                <a:uFillTx/>
                <a:cs typeface="+mn-ea"/>
                <a:sym typeface="+mn-lt"/>
              </a:rPr>
              <a:t>基本概念</a:t>
            </a:r>
            <a:endParaRPr kumimoji="0" lang="zh-CN" altLang="en-US" sz="3200"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a:defRPr/>
            </a:pPr>
            <a:r>
              <a:rPr lang="en-US" altLang="zh-CN" sz="1200" dirty="0" smtClean="0">
                <a:solidFill>
                  <a:schemeClr val="accent3"/>
                </a:solidFill>
                <a:cs typeface="+mn-ea"/>
                <a:sym typeface="+mn-lt"/>
              </a:rPr>
              <a:t>Basic </a:t>
            </a:r>
            <a:r>
              <a:rPr lang="en-US" altLang="zh-CN" sz="1200" dirty="0">
                <a:solidFill>
                  <a:schemeClr val="accent3"/>
                </a:solidFill>
                <a:cs typeface="+mn-ea"/>
                <a:sym typeface="+mn-lt"/>
              </a:rPr>
              <a:t>Concepts </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1007565" y="4293412"/>
            <a:ext cx="2241974" cy="1996151"/>
            <a:chOff x="7692479" y="1678126"/>
            <a:chExt cx="2241974" cy="1996151"/>
          </a:xfrm>
        </p:grpSpPr>
        <p:sp>
          <p:nvSpPr>
            <p:cNvPr id="85" name="矩形 84"/>
            <p:cNvSpPr/>
            <p:nvPr/>
          </p:nvSpPr>
          <p:spPr>
            <a:xfrm>
              <a:off x="7738455" y="2030750"/>
              <a:ext cx="2150022" cy="1643527"/>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zh-CN" sz="1400" dirty="0" smtClean="0">
                  <a:solidFill>
                    <a:srgbClr val="000000">
                      <a:lumMod val="50000"/>
                      <a:lumOff val="50000"/>
                    </a:srgbClr>
                  </a:solidFill>
                  <a:cs typeface="+mn-ea"/>
                </a:rPr>
                <a:t>在</a:t>
              </a:r>
              <a:r>
                <a:rPr lang="zh-CN" altLang="zh-CN" sz="1400" dirty="0">
                  <a:solidFill>
                    <a:srgbClr val="000000">
                      <a:lumMod val="50000"/>
                      <a:lumOff val="50000"/>
                    </a:srgbClr>
                  </a:solidFill>
                  <a:cs typeface="+mn-ea"/>
                </a:rPr>
                <a:t>无向图</a:t>
              </a:r>
              <a:r>
                <a:rPr lang="en-US" altLang="zh-CN" sz="1400" dirty="0">
                  <a:solidFill>
                    <a:srgbClr val="000000">
                      <a:lumMod val="50000"/>
                      <a:lumOff val="50000"/>
                    </a:srgbClr>
                  </a:solidFill>
                  <a:cs typeface="+mn-ea"/>
                </a:rPr>
                <a:t>G</a:t>
              </a:r>
              <a:r>
                <a:rPr lang="zh-CN" altLang="zh-CN" sz="1400" dirty="0">
                  <a:solidFill>
                    <a:srgbClr val="000000">
                      <a:lumMod val="50000"/>
                      <a:lumOff val="50000"/>
                    </a:srgbClr>
                  </a:solidFill>
                  <a:cs typeface="+mn-ea"/>
                </a:rPr>
                <a:t>中，若</a:t>
              </a:r>
              <a:r>
                <a:rPr lang="en-US" altLang="zh-CN" sz="1400" dirty="0">
                  <a:solidFill>
                    <a:srgbClr val="000000">
                      <a:lumMod val="50000"/>
                      <a:lumOff val="50000"/>
                    </a:srgbClr>
                  </a:solidFill>
                  <a:cs typeface="+mn-ea"/>
                </a:rPr>
                <a:t>V(G)</a:t>
              </a:r>
              <a:r>
                <a:rPr lang="zh-CN" altLang="zh-CN" sz="1400" dirty="0">
                  <a:solidFill>
                    <a:srgbClr val="000000">
                      <a:lumMod val="50000"/>
                      <a:lumOff val="50000"/>
                    </a:srgbClr>
                  </a:solidFill>
                  <a:cs typeface="+mn-ea"/>
                </a:rPr>
                <a:t>中任意两个不同的顶点</a:t>
              </a:r>
              <a:r>
                <a:rPr lang="en-US" altLang="zh-CN" sz="1400" dirty="0">
                  <a:solidFill>
                    <a:srgbClr val="000000">
                      <a:lumMod val="50000"/>
                      <a:lumOff val="50000"/>
                    </a:srgbClr>
                  </a:solidFill>
                  <a:cs typeface="+mn-ea"/>
                </a:rPr>
                <a:t>v</a:t>
              </a:r>
              <a:r>
                <a:rPr lang="en-US" altLang="zh-CN" sz="1400" baseline="-25000" dirty="0">
                  <a:solidFill>
                    <a:srgbClr val="000000">
                      <a:lumMod val="50000"/>
                      <a:lumOff val="50000"/>
                    </a:srgbClr>
                  </a:solidFill>
                  <a:cs typeface="+mn-ea"/>
                </a:rPr>
                <a:t>i</a:t>
              </a:r>
              <a:r>
                <a:rPr lang="zh-CN" altLang="zh-CN" sz="1400" dirty="0">
                  <a:solidFill>
                    <a:srgbClr val="000000">
                      <a:lumMod val="50000"/>
                      <a:lumOff val="50000"/>
                    </a:srgbClr>
                  </a:solidFill>
                  <a:cs typeface="+mn-ea"/>
                </a:rPr>
                <a:t>和</a:t>
              </a:r>
              <a:r>
                <a:rPr lang="en-US" altLang="zh-CN" sz="1400" dirty="0">
                  <a:solidFill>
                    <a:srgbClr val="000000">
                      <a:lumMod val="50000"/>
                      <a:lumOff val="50000"/>
                    </a:srgbClr>
                  </a:solidFill>
                  <a:cs typeface="+mn-ea"/>
                </a:rPr>
                <a:t>v</a:t>
              </a:r>
              <a:r>
                <a:rPr lang="en-US" altLang="zh-CN" sz="1400" baseline="-25000" dirty="0">
                  <a:solidFill>
                    <a:srgbClr val="000000">
                      <a:lumMod val="50000"/>
                      <a:lumOff val="50000"/>
                    </a:srgbClr>
                  </a:solidFill>
                  <a:cs typeface="+mn-ea"/>
                </a:rPr>
                <a:t>j</a:t>
              </a:r>
              <a:r>
                <a:rPr lang="zh-CN" altLang="zh-CN" sz="1400" dirty="0">
                  <a:solidFill>
                    <a:srgbClr val="000000">
                      <a:lumMod val="50000"/>
                      <a:lumOff val="50000"/>
                    </a:srgbClr>
                  </a:solidFill>
                  <a:cs typeface="+mn-ea"/>
                </a:rPr>
                <a:t>都连通</a:t>
              </a:r>
              <a:r>
                <a:rPr lang="en-US" altLang="zh-CN" sz="1400" dirty="0">
                  <a:solidFill>
                    <a:srgbClr val="000000">
                      <a:lumMod val="50000"/>
                      <a:lumOff val="50000"/>
                    </a:srgbClr>
                  </a:solidFill>
                  <a:cs typeface="+mn-ea"/>
                </a:rPr>
                <a:t>(</a:t>
              </a:r>
              <a:r>
                <a:rPr lang="zh-CN" altLang="zh-CN" sz="1400" dirty="0">
                  <a:solidFill>
                    <a:srgbClr val="000000">
                      <a:lumMod val="50000"/>
                      <a:lumOff val="50000"/>
                    </a:srgbClr>
                  </a:solidFill>
                  <a:cs typeface="+mn-ea"/>
                </a:rPr>
                <a:t>即有路径</a:t>
              </a:r>
              <a:r>
                <a:rPr lang="en-US" altLang="zh-CN" sz="1400" dirty="0">
                  <a:solidFill>
                    <a:srgbClr val="000000">
                      <a:lumMod val="50000"/>
                      <a:lumOff val="50000"/>
                    </a:srgbClr>
                  </a:solidFill>
                  <a:cs typeface="+mn-ea"/>
                </a:rPr>
                <a:t>)</a:t>
              </a:r>
              <a:r>
                <a:rPr lang="zh-CN" altLang="zh-CN" sz="1400" dirty="0">
                  <a:solidFill>
                    <a:srgbClr val="000000">
                      <a:lumMod val="50000"/>
                      <a:lumOff val="50000"/>
                    </a:srgbClr>
                  </a:solidFill>
                  <a:cs typeface="+mn-ea"/>
                </a:rPr>
                <a:t>，则称</a:t>
              </a:r>
              <a:r>
                <a:rPr lang="en-US" altLang="zh-CN" sz="1400" dirty="0">
                  <a:solidFill>
                    <a:srgbClr val="000000">
                      <a:lumMod val="50000"/>
                      <a:lumOff val="50000"/>
                    </a:srgbClr>
                  </a:solidFill>
                  <a:cs typeface="+mn-ea"/>
                </a:rPr>
                <a:t>G</a:t>
              </a:r>
              <a:r>
                <a:rPr lang="zh-CN" altLang="zh-CN" sz="1400" dirty="0">
                  <a:solidFill>
                    <a:srgbClr val="000000">
                      <a:lumMod val="50000"/>
                      <a:lumOff val="50000"/>
                    </a:srgbClr>
                  </a:solidFill>
                  <a:cs typeface="+mn-ea"/>
                </a:rPr>
                <a:t>为连通图</a:t>
              </a:r>
              <a:r>
                <a:rPr lang="en-US" altLang="zh-CN" sz="1400" dirty="0">
                  <a:solidFill>
                    <a:srgbClr val="000000">
                      <a:lumMod val="50000"/>
                      <a:lumOff val="50000"/>
                    </a:srgbClr>
                  </a:solidFill>
                  <a:cs typeface="+mn-ea"/>
                </a:rPr>
                <a:t>(Connected Graph)</a:t>
              </a:r>
              <a:r>
                <a:rPr lang="zh-CN" altLang="zh-CN" sz="1400" dirty="0">
                  <a:solidFill>
                    <a:srgbClr val="000000">
                      <a:lumMod val="50000"/>
                      <a:lumOff val="50000"/>
                    </a:srgbClr>
                  </a:solidFill>
                  <a:cs typeface="+mn-ea"/>
                </a:rPr>
                <a:t>。</a:t>
              </a: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lumMod val="50000"/>
                    <a:lumOff val="50000"/>
                  </a:srgbClr>
                </a:solidFill>
                <a:effectLst/>
                <a:uLnTx/>
                <a:uFillTx/>
                <a:cs typeface="+mn-ea"/>
                <a:sym typeface="+mn-lt"/>
              </a:endParaRPr>
            </a:p>
          </p:txBody>
        </p:sp>
        <p:sp>
          <p:nvSpPr>
            <p:cNvPr id="86" name="矩形 85"/>
            <p:cNvSpPr/>
            <p:nvPr/>
          </p:nvSpPr>
          <p:spPr>
            <a:xfrm>
              <a:off x="7692479" y="1678126"/>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连通图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nvGrpSpPr>
          <p:cNvPr id="98" name="组合 97"/>
          <p:cNvGrpSpPr/>
          <p:nvPr/>
        </p:nvGrpSpPr>
        <p:grpSpPr>
          <a:xfrm>
            <a:off x="3692708" y="4293412"/>
            <a:ext cx="2241974" cy="1713830"/>
            <a:chOff x="7692479" y="1678126"/>
            <a:chExt cx="2241974" cy="1713830"/>
          </a:xfrm>
        </p:grpSpPr>
        <p:sp>
          <p:nvSpPr>
            <p:cNvPr id="99" name="矩形 98"/>
            <p:cNvSpPr/>
            <p:nvPr/>
          </p:nvSpPr>
          <p:spPr>
            <a:xfrm>
              <a:off x="7738455" y="2030750"/>
              <a:ext cx="2150022" cy="1361206"/>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zh-CN" sz="1400" dirty="0" smtClean="0">
                  <a:solidFill>
                    <a:srgbClr val="000000">
                      <a:lumMod val="50000"/>
                      <a:lumOff val="50000"/>
                    </a:srgbClr>
                  </a:solidFill>
                  <a:cs typeface="+mn-ea"/>
                </a:rPr>
                <a:t>如果</a:t>
              </a:r>
              <a:r>
                <a:rPr lang="zh-CN" altLang="zh-CN" sz="1400" dirty="0">
                  <a:solidFill>
                    <a:srgbClr val="000000">
                      <a:lumMod val="50000"/>
                      <a:lumOff val="50000"/>
                    </a:srgbClr>
                  </a:solidFill>
                  <a:cs typeface="+mn-ea"/>
                </a:rPr>
                <a:t>有向图</a:t>
              </a:r>
              <a:r>
                <a:rPr lang="en-US" altLang="zh-CN" sz="1400" dirty="0">
                  <a:solidFill>
                    <a:srgbClr val="000000">
                      <a:lumMod val="50000"/>
                      <a:lumOff val="50000"/>
                    </a:srgbClr>
                  </a:solidFill>
                  <a:cs typeface="+mn-ea"/>
                </a:rPr>
                <a:t>G</a:t>
              </a:r>
              <a:r>
                <a:rPr lang="zh-CN" altLang="zh-CN" sz="1400" dirty="0">
                  <a:solidFill>
                    <a:srgbClr val="000000">
                      <a:lumMod val="50000"/>
                      <a:lumOff val="50000"/>
                    </a:srgbClr>
                  </a:solidFill>
                  <a:cs typeface="+mn-ea"/>
                </a:rPr>
                <a:t>的每两个顶点都强连通，称</a:t>
              </a:r>
              <a:r>
                <a:rPr lang="en-US" altLang="zh-CN" sz="1400" dirty="0">
                  <a:solidFill>
                    <a:srgbClr val="000000">
                      <a:lumMod val="50000"/>
                      <a:lumOff val="50000"/>
                    </a:srgbClr>
                  </a:solidFill>
                  <a:cs typeface="+mn-ea"/>
                </a:rPr>
                <a:t>G</a:t>
              </a:r>
              <a:r>
                <a:rPr lang="zh-CN" altLang="zh-CN" sz="1400" dirty="0">
                  <a:solidFill>
                    <a:srgbClr val="000000">
                      <a:lumMod val="50000"/>
                      <a:lumOff val="50000"/>
                    </a:srgbClr>
                  </a:solidFill>
                  <a:cs typeface="+mn-ea"/>
                </a:rPr>
                <a:t>是一个强连通图</a:t>
              </a:r>
              <a:r>
                <a:rPr lang="en-US" altLang="zh-CN" sz="1400" dirty="0">
                  <a:solidFill>
                    <a:srgbClr val="000000">
                      <a:lumMod val="50000"/>
                      <a:lumOff val="50000"/>
                    </a:srgbClr>
                  </a:solidFill>
                  <a:cs typeface="+mn-ea"/>
                </a:rPr>
                <a:t>(Strongly Connected Graph)</a:t>
              </a:r>
              <a:r>
                <a:rPr lang="zh-CN" altLang="zh-CN" sz="1400" dirty="0">
                  <a:solidFill>
                    <a:srgbClr val="000000">
                      <a:lumMod val="50000"/>
                      <a:lumOff val="50000"/>
                    </a:srgbClr>
                  </a:solidFill>
                  <a:cs typeface="+mn-ea"/>
                </a:rPr>
                <a:t>。</a:t>
              </a:r>
              <a:endParaRPr lang="zh-CN" altLang="en-US" sz="1400" dirty="0">
                <a:solidFill>
                  <a:srgbClr val="000000">
                    <a:lumMod val="50000"/>
                    <a:lumOff val="50000"/>
                  </a:srgbClr>
                </a:solidFill>
                <a:cs typeface="+mn-ea"/>
              </a:endParaRPr>
            </a:p>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000000">
                    <a:lumMod val="50000"/>
                    <a:lumOff val="50000"/>
                  </a:srgbClr>
                </a:solidFill>
                <a:effectLst/>
                <a:uLnTx/>
                <a:uFillTx/>
                <a:cs typeface="+mn-ea"/>
                <a:sym typeface="+mn-lt"/>
              </a:endParaRPr>
            </a:p>
          </p:txBody>
        </p:sp>
        <p:sp>
          <p:nvSpPr>
            <p:cNvPr id="100" name="矩形 99"/>
            <p:cNvSpPr/>
            <p:nvPr/>
          </p:nvSpPr>
          <p:spPr>
            <a:xfrm>
              <a:off x="7692479" y="1678126"/>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强连通图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cxnSp>
        <p:nvCxnSpPr>
          <p:cNvPr id="8" name="直接连接符 7"/>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
          <p:cNvSpPr/>
          <p:nvPr/>
        </p:nvSpPr>
        <p:spPr>
          <a:xfrm>
            <a:off x="6654800" y="1592801"/>
            <a:ext cx="5537200" cy="4523843"/>
          </a:xfrm>
          <a:prstGeom prst="rect">
            <a:avLst/>
          </a:prstGeom>
          <a:solidFill>
            <a:schemeClr val="accent3">
              <a:alpha val="6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29" name="组合 28"/>
          <p:cNvGrpSpPr/>
          <p:nvPr/>
        </p:nvGrpSpPr>
        <p:grpSpPr>
          <a:xfrm>
            <a:off x="7146531" y="1980384"/>
            <a:ext cx="4293988" cy="3379387"/>
            <a:chOff x="7248131" y="4027393"/>
            <a:chExt cx="4293988" cy="3379387"/>
          </a:xfrm>
        </p:grpSpPr>
        <p:sp>
          <p:nvSpPr>
            <p:cNvPr id="3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2" name="矩形 31"/>
            <p:cNvSpPr/>
            <p:nvPr/>
          </p:nvSpPr>
          <p:spPr>
            <a:xfrm>
              <a:off x="8031472" y="4027393"/>
              <a:ext cx="3510647" cy="3379387"/>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smtClean="0">
                  <a:solidFill>
                    <a:srgbClr val="002060"/>
                  </a:solidFill>
                  <a:cs typeface="+mn-ea"/>
                  <a:sym typeface="+mn-lt"/>
                </a:rPr>
                <a:t>连通</a:t>
              </a:r>
              <a:r>
                <a:rPr lang="en-US" altLang="zh-CN" sz="2400" b="1" dirty="0" smtClean="0">
                  <a:solidFill>
                    <a:srgbClr val="002060"/>
                  </a:solidFill>
                  <a:cs typeface="+mn-ea"/>
                  <a:sym typeface="+mn-lt"/>
                </a:rPr>
                <a:t>(Connected)</a:t>
              </a:r>
            </a:p>
            <a:p>
              <a:pPr algn="just">
                <a:lnSpc>
                  <a:spcPct val="120000"/>
                </a:lnSpc>
              </a:pPr>
              <a:endParaRPr lang="en-US" altLang="zh-CN" sz="1400" dirty="0">
                <a:solidFill>
                  <a:schemeClr val="bg1"/>
                </a:solidFill>
                <a:cs typeface="+mn-ea"/>
                <a:sym typeface="+mn-lt"/>
              </a:endParaRPr>
            </a:p>
            <a:p>
              <a:pPr algn="just">
                <a:lnSpc>
                  <a:spcPct val="120000"/>
                </a:lnSpc>
              </a:pPr>
              <a:r>
                <a:rPr lang="zh-CN" altLang="zh-CN" sz="1400" dirty="0" smtClean="0">
                  <a:solidFill>
                    <a:schemeClr val="bg1"/>
                  </a:solidFill>
                  <a:cs typeface="+mn-ea"/>
                </a:rPr>
                <a:t>在</a:t>
              </a:r>
              <a:r>
                <a:rPr lang="zh-CN" altLang="zh-CN" sz="1400" dirty="0">
                  <a:solidFill>
                    <a:schemeClr val="bg1"/>
                  </a:solidFill>
                  <a:cs typeface="+mn-ea"/>
                </a:rPr>
                <a:t>我们正常认知中，图的顶点和边是全部连接在一起的，事实上，作为一个图来说，不一定图中的每一个顶点都要被边连接起来，这涉及到了图的连通性</a:t>
              </a:r>
              <a:r>
                <a:rPr lang="zh-CN" altLang="zh-CN" sz="1400" dirty="0" smtClean="0">
                  <a:solidFill>
                    <a:schemeClr val="bg1"/>
                  </a:solidFill>
                  <a:cs typeface="+mn-ea"/>
                </a:rPr>
                <a:t>。</a:t>
              </a:r>
              <a:endParaRPr lang="en-US" altLang="zh-CN" sz="1400" dirty="0" smtClean="0">
                <a:solidFill>
                  <a:schemeClr val="bg1"/>
                </a:solidFill>
                <a:cs typeface="+mn-ea"/>
              </a:endParaRPr>
            </a:p>
            <a:p>
              <a:pPr algn="just">
                <a:lnSpc>
                  <a:spcPct val="120000"/>
                </a:lnSpc>
              </a:pPr>
              <a:r>
                <a:rPr lang="zh-CN" altLang="zh-CN" sz="1400" dirty="0" smtClean="0">
                  <a:solidFill>
                    <a:schemeClr val="bg1"/>
                  </a:solidFill>
                  <a:cs typeface="+mn-ea"/>
                </a:rPr>
                <a:t>图</a:t>
              </a:r>
              <a:r>
                <a:rPr lang="zh-CN" altLang="zh-CN" sz="1400" dirty="0">
                  <a:solidFill>
                    <a:schemeClr val="bg1"/>
                  </a:solidFill>
                  <a:cs typeface="+mn-ea"/>
                </a:rPr>
                <a:t>的连通性，即是考虑在无向图</a:t>
              </a:r>
              <a:r>
                <a:rPr lang="en-US" altLang="zh-CN" sz="1400" dirty="0">
                  <a:solidFill>
                    <a:schemeClr val="bg1"/>
                  </a:solidFill>
                  <a:cs typeface="+mn-ea"/>
                </a:rPr>
                <a:t>G</a:t>
              </a:r>
              <a:r>
                <a:rPr lang="zh-CN" altLang="zh-CN" sz="1400" dirty="0">
                  <a:solidFill>
                    <a:schemeClr val="bg1"/>
                  </a:solidFill>
                  <a:cs typeface="+mn-ea"/>
                </a:rPr>
                <a:t>中，从顶点</a:t>
              </a:r>
              <a:r>
                <a:rPr lang="en-US" altLang="zh-CN" sz="1400" dirty="0">
                  <a:solidFill>
                    <a:schemeClr val="bg1"/>
                  </a:solidFill>
                  <a:cs typeface="+mn-ea"/>
                </a:rPr>
                <a:t>v</a:t>
              </a:r>
              <a:r>
                <a:rPr lang="en-US" altLang="zh-CN" sz="1400" baseline="-25000" dirty="0">
                  <a:solidFill>
                    <a:schemeClr val="bg1"/>
                  </a:solidFill>
                  <a:cs typeface="+mn-ea"/>
                </a:rPr>
                <a:t>i</a:t>
              </a:r>
              <a:r>
                <a:rPr lang="zh-CN" altLang="zh-CN" sz="1400" dirty="0">
                  <a:solidFill>
                    <a:schemeClr val="bg1"/>
                  </a:solidFill>
                  <a:cs typeface="+mn-ea"/>
                </a:rPr>
                <a:t>到顶点</a:t>
              </a:r>
              <a:r>
                <a:rPr lang="en-US" altLang="zh-CN" sz="1400" dirty="0">
                  <a:solidFill>
                    <a:schemeClr val="bg1"/>
                  </a:solidFill>
                  <a:cs typeface="+mn-ea"/>
                </a:rPr>
                <a:t>v</a:t>
              </a:r>
              <a:r>
                <a:rPr lang="en-US" altLang="zh-CN" sz="1400" baseline="-25000" dirty="0">
                  <a:solidFill>
                    <a:schemeClr val="bg1"/>
                  </a:solidFill>
                  <a:cs typeface="+mn-ea"/>
                </a:rPr>
                <a:t>j</a:t>
              </a:r>
              <a:r>
                <a:rPr lang="zh-CN" altLang="zh-CN" sz="1400" dirty="0">
                  <a:solidFill>
                    <a:schemeClr val="bg1"/>
                  </a:solidFill>
                  <a:cs typeface="+mn-ea"/>
                </a:rPr>
                <a:t>存在路径，则</a:t>
              </a:r>
              <a:r>
                <a:rPr lang="en-US" altLang="zh-CN" sz="1400" dirty="0">
                  <a:solidFill>
                    <a:schemeClr val="bg1"/>
                  </a:solidFill>
                  <a:cs typeface="+mn-ea"/>
                </a:rPr>
                <a:t>i</a:t>
              </a:r>
              <a:r>
                <a:rPr lang="zh-CN" altLang="zh-CN" sz="1400" dirty="0">
                  <a:solidFill>
                    <a:schemeClr val="bg1"/>
                  </a:solidFill>
                  <a:cs typeface="+mn-ea"/>
                </a:rPr>
                <a:t>与</a:t>
              </a:r>
              <a:r>
                <a:rPr lang="en-US" altLang="zh-CN" sz="1400" dirty="0">
                  <a:solidFill>
                    <a:schemeClr val="bg1"/>
                  </a:solidFill>
                  <a:cs typeface="+mn-ea"/>
                </a:rPr>
                <a:t>j</a:t>
              </a:r>
              <a:r>
                <a:rPr lang="zh-CN" altLang="zh-CN" sz="1400" dirty="0">
                  <a:solidFill>
                    <a:schemeClr val="bg1"/>
                  </a:solidFill>
                  <a:cs typeface="+mn-ea"/>
                </a:rPr>
                <a:t>连通</a:t>
              </a:r>
              <a:r>
                <a:rPr lang="en-US" altLang="zh-CN" sz="1400" dirty="0">
                  <a:solidFill>
                    <a:schemeClr val="bg1"/>
                  </a:solidFill>
                  <a:cs typeface="+mn-ea"/>
                </a:rPr>
                <a:t>(Connected)</a:t>
              </a:r>
              <a:r>
                <a:rPr lang="zh-CN" altLang="zh-CN" sz="1400" dirty="0">
                  <a:solidFill>
                    <a:schemeClr val="bg1"/>
                  </a:solidFill>
                  <a:cs typeface="+mn-ea"/>
                </a:rPr>
                <a:t>。</a:t>
              </a:r>
            </a:p>
            <a:p>
              <a:pPr algn="just">
                <a:lnSpc>
                  <a:spcPct val="120000"/>
                </a:lnSpc>
              </a:pPr>
              <a:endParaRPr lang="zh-CN" altLang="en-US" sz="1400" dirty="0">
                <a:solidFill>
                  <a:schemeClr val="bg1"/>
                </a:solidFill>
                <a:cs typeface="+mn-ea"/>
              </a:endParaRPr>
            </a:p>
            <a:p>
              <a:pPr algn="just">
                <a:lnSpc>
                  <a:spcPct val="120000"/>
                </a:lnSpc>
              </a:pPr>
              <a:endParaRPr lang="en-US" altLang="zh-CN" sz="1400" dirty="0">
                <a:solidFill>
                  <a:schemeClr val="bg1"/>
                </a:solidFill>
                <a:cs typeface="+mn-ea"/>
                <a:sym typeface="+mn-lt"/>
              </a:endParaRPr>
            </a:p>
            <a:p>
              <a:pPr algn="just">
                <a:lnSpc>
                  <a:spcPct val="120000"/>
                </a:lnSpc>
              </a:pPr>
              <a:endParaRPr lang="zh-CN" altLang="en-US" sz="1400" dirty="0">
                <a:solidFill>
                  <a:schemeClr val="bg1"/>
                </a:solidFill>
                <a:cs typeface="+mn-ea"/>
                <a:sym typeface="+mn-lt"/>
              </a:endParaRPr>
            </a:p>
          </p:txBody>
        </p:sp>
      </p:grpSp>
      <p:sp>
        <p:nvSpPr>
          <p:cNvPr id="37" name="文本框 2919"/>
          <p:cNvSpPr txBox="1"/>
          <p:nvPr/>
        </p:nvSpPr>
        <p:spPr>
          <a:xfrm>
            <a:off x="9664973" y="177223"/>
            <a:ext cx="2339102"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强</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连通、</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强</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连通图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5" name="图片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3541" y="2130684"/>
            <a:ext cx="2330527" cy="2162728"/>
          </a:xfrm>
          <a:prstGeom prst="rect">
            <a:avLst/>
          </a:prstGeom>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23218" y="2083888"/>
            <a:ext cx="2380953" cy="2209524"/>
          </a:xfrm>
          <a:prstGeom prst="rect">
            <a:avLst/>
          </a:prstGeom>
        </p:spPr>
      </p:pic>
      <p:grpSp>
        <p:nvGrpSpPr>
          <p:cNvPr id="43" name="组合 42"/>
          <p:cNvGrpSpPr/>
          <p:nvPr/>
        </p:nvGrpSpPr>
        <p:grpSpPr>
          <a:xfrm>
            <a:off x="7146531" y="1982058"/>
            <a:ext cx="4293988" cy="2788456"/>
            <a:chOff x="7248131" y="4027393"/>
            <a:chExt cx="4293988" cy="2788456"/>
          </a:xfrm>
        </p:grpSpPr>
        <p:sp>
          <p:nvSpPr>
            <p:cNvPr id="44"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45"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46" name="矩形 45"/>
            <p:cNvSpPr/>
            <p:nvPr/>
          </p:nvSpPr>
          <p:spPr>
            <a:xfrm>
              <a:off x="8031472" y="4027393"/>
              <a:ext cx="3510647" cy="278845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smtClean="0">
                  <a:solidFill>
                    <a:srgbClr val="002060"/>
                  </a:solidFill>
                  <a:cs typeface="+mn-ea"/>
                  <a:sym typeface="+mn-lt"/>
                </a:rPr>
                <a:t>强连通</a:t>
              </a:r>
              <a:endParaRPr lang="en-US" altLang="zh-CN" sz="2400" b="1" dirty="0" smtClean="0">
                <a:solidFill>
                  <a:srgbClr val="002060"/>
                </a:solidFill>
                <a:cs typeface="+mn-ea"/>
                <a:sym typeface="+mn-lt"/>
              </a:endParaRPr>
            </a:p>
            <a:p>
              <a:pPr algn="just">
                <a:lnSpc>
                  <a:spcPct val="120000"/>
                </a:lnSpc>
              </a:pPr>
              <a:r>
                <a:rPr lang="en-US" altLang="zh-CN" sz="2400" b="1" dirty="0" smtClean="0">
                  <a:solidFill>
                    <a:srgbClr val="002060"/>
                  </a:solidFill>
                  <a:cs typeface="+mn-ea"/>
                  <a:sym typeface="+mn-lt"/>
                </a:rPr>
                <a:t>(Strongly Connected)</a:t>
              </a:r>
            </a:p>
            <a:p>
              <a:pPr algn="just">
                <a:lnSpc>
                  <a:spcPct val="120000"/>
                </a:lnSpc>
              </a:pPr>
              <a:endParaRPr lang="en-US" altLang="zh-CN" sz="1400" dirty="0">
                <a:solidFill>
                  <a:schemeClr val="bg1"/>
                </a:solidFill>
                <a:cs typeface="+mn-ea"/>
                <a:sym typeface="+mn-lt"/>
              </a:endParaRPr>
            </a:p>
            <a:p>
              <a:pPr algn="just">
                <a:lnSpc>
                  <a:spcPct val="120000"/>
                </a:lnSpc>
              </a:pPr>
              <a:r>
                <a:rPr lang="zh-CN" altLang="zh-CN" sz="1400" dirty="0" smtClean="0">
                  <a:solidFill>
                    <a:schemeClr val="bg1"/>
                  </a:solidFill>
                  <a:cs typeface="+mn-ea"/>
                </a:rPr>
                <a:t>在</a:t>
              </a:r>
              <a:r>
                <a:rPr lang="zh-CN" altLang="zh-CN" sz="1400" dirty="0">
                  <a:solidFill>
                    <a:schemeClr val="bg1"/>
                  </a:solidFill>
                  <a:cs typeface="+mn-ea"/>
                </a:rPr>
                <a:t>有向图</a:t>
              </a:r>
              <a:r>
                <a:rPr lang="en-US" altLang="zh-CN" sz="1400" dirty="0">
                  <a:solidFill>
                    <a:schemeClr val="bg1"/>
                  </a:solidFill>
                  <a:cs typeface="+mn-ea"/>
                </a:rPr>
                <a:t>G</a:t>
              </a:r>
              <a:r>
                <a:rPr lang="zh-CN" altLang="zh-CN" sz="1400" dirty="0">
                  <a:solidFill>
                    <a:schemeClr val="bg1"/>
                  </a:solidFill>
                  <a:cs typeface="+mn-ea"/>
                </a:rPr>
                <a:t>中，如果两个顶点</a:t>
              </a:r>
              <a:r>
                <a:rPr lang="en-US" altLang="zh-CN" sz="1400" dirty="0">
                  <a:solidFill>
                    <a:schemeClr val="bg1"/>
                  </a:solidFill>
                  <a:cs typeface="+mn-ea"/>
                </a:rPr>
                <a:t>v</a:t>
              </a:r>
              <a:r>
                <a:rPr lang="en-US" altLang="zh-CN" sz="1400" baseline="-25000" dirty="0">
                  <a:solidFill>
                    <a:schemeClr val="bg1"/>
                  </a:solidFill>
                  <a:cs typeface="+mn-ea"/>
                </a:rPr>
                <a:t>i</a:t>
              </a:r>
              <a:r>
                <a:rPr lang="en-US" altLang="zh-CN" sz="1400" dirty="0">
                  <a:solidFill>
                    <a:schemeClr val="bg1"/>
                  </a:solidFill>
                  <a:cs typeface="+mn-ea"/>
                </a:rPr>
                <a:t>,v</a:t>
              </a:r>
              <a:r>
                <a:rPr lang="en-US" altLang="zh-CN" sz="1400" baseline="-25000" dirty="0">
                  <a:solidFill>
                    <a:schemeClr val="bg1"/>
                  </a:solidFill>
                  <a:cs typeface="+mn-ea"/>
                </a:rPr>
                <a:t>j</a:t>
              </a:r>
              <a:r>
                <a:rPr lang="zh-CN" altLang="zh-CN" sz="1400" dirty="0" smtClean="0">
                  <a:solidFill>
                    <a:schemeClr val="bg1"/>
                  </a:solidFill>
                  <a:cs typeface="+mn-ea"/>
                </a:rPr>
                <a:t>间（</a:t>
              </a:r>
              <a:r>
                <a:rPr lang="en-US" altLang="zh-CN" sz="1400" dirty="0" smtClean="0">
                  <a:solidFill>
                    <a:schemeClr val="bg1"/>
                  </a:solidFill>
                  <a:cs typeface="+mn-ea"/>
                </a:rPr>
                <a:t>v</a:t>
              </a:r>
              <a:r>
                <a:rPr lang="en-US" altLang="zh-CN" sz="1400" baseline="-25000" dirty="0" smtClean="0">
                  <a:solidFill>
                    <a:schemeClr val="bg1"/>
                  </a:solidFill>
                  <a:cs typeface="+mn-ea"/>
                </a:rPr>
                <a:t>i</a:t>
              </a:r>
              <a:r>
                <a:rPr lang="en-US" altLang="zh-CN" sz="1400" dirty="0" smtClean="0">
                  <a:solidFill>
                    <a:schemeClr val="bg1"/>
                  </a:solidFill>
                  <a:cs typeface="+mn-ea"/>
                </a:rPr>
                <a:t>&gt;v</a:t>
              </a:r>
              <a:r>
                <a:rPr lang="en-US" altLang="zh-CN" sz="1400" baseline="-25000" dirty="0" smtClean="0">
                  <a:solidFill>
                    <a:schemeClr val="bg1"/>
                  </a:solidFill>
                  <a:cs typeface="+mn-ea"/>
                </a:rPr>
                <a:t>j</a:t>
              </a:r>
              <a:r>
                <a:rPr lang="zh-CN" altLang="zh-CN" sz="1400" dirty="0">
                  <a:solidFill>
                    <a:schemeClr val="bg1"/>
                  </a:solidFill>
                  <a:cs typeface="+mn-ea"/>
                </a:rPr>
                <a:t>）有一条从</a:t>
              </a:r>
              <a:r>
                <a:rPr lang="en-US" altLang="zh-CN" sz="1400" dirty="0">
                  <a:solidFill>
                    <a:schemeClr val="bg1"/>
                  </a:solidFill>
                  <a:cs typeface="+mn-ea"/>
                </a:rPr>
                <a:t>v</a:t>
              </a:r>
              <a:r>
                <a:rPr lang="en-US" altLang="zh-CN" sz="1400" baseline="-25000" dirty="0">
                  <a:solidFill>
                    <a:schemeClr val="bg1"/>
                  </a:solidFill>
                  <a:cs typeface="+mn-ea"/>
                </a:rPr>
                <a:t>i</a:t>
              </a:r>
              <a:r>
                <a:rPr lang="zh-CN" altLang="zh-CN" sz="1400" dirty="0">
                  <a:solidFill>
                    <a:schemeClr val="bg1"/>
                  </a:solidFill>
                  <a:cs typeface="+mn-ea"/>
                </a:rPr>
                <a:t>到</a:t>
              </a:r>
              <a:r>
                <a:rPr lang="en-US" altLang="zh-CN" sz="1400" dirty="0">
                  <a:solidFill>
                    <a:schemeClr val="bg1"/>
                  </a:solidFill>
                  <a:cs typeface="+mn-ea"/>
                </a:rPr>
                <a:t>v</a:t>
              </a:r>
              <a:r>
                <a:rPr lang="en-US" altLang="zh-CN" sz="1400" baseline="-25000" dirty="0">
                  <a:solidFill>
                    <a:schemeClr val="bg1"/>
                  </a:solidFill>
                  <a:cs typeface="+mn-ea"/>
                </a:rPr>
                <a:t>j</a:t>
              </a:r>
              <a:r>
                <a:rPr lang="zh-CN" altLang="zh-CN" sz="1400" dirty="0">
                  <a:solidFill>
                    <a:schemeClr val="bg1"/>
                  </a:solidFill>
                  <a:cs typeface="+mn-ea"/>
                </a:rPr>
                <a:t>的有向路径，同时还有一条从</a:t>
              </a:r>
              <a:r>
                <a:rPr lang="en-US" altLang="zh-CN" sz="1400" dirty="0">
                  <a:solidFill>
                    <a:schemeClr val="bg1"/>
                  </a:solidFill>
                  <a:cs typeface="+mn-ea"/>
                </a:rPr>
                <a:t>v</a:t>
              </a:r>
              <a:r>
                <a:rPr lang="en-US" altLang="zh-CN" sz="1400" baseline="-25000" dirty="0">
                  <a:solidFill>
                    <a:schemeClr val="bg1"/>
                  </a:solidFill>
                  <a:cs typeface="+mn-ea"/>
                </a:rPr>
                <a:t>j</a:t>
              </a:r>
              <a:r>
                <a:rPr lang="zh-CN" altLang="zh-CN" sz="1400" dirty="0">
                  <a:solidFill>
                    <a:schemeClr val="bg1"/>
                  </a:solidFill>
                  <a:cs typeface="+mn-ea"/>
                </a:rPr>
                <a:t>到</a:t>
              </a:r>
              <a:r>
                <a:rPr lang="en-US" altLang="zh-CN" sz="1400" dirty="0">
                  <a:solidFill>
                    <a:schemeClr val="bg1"/>
                  </a:solidFill>
                  <a:cs typeface="+mn-ea"/>
                </a:rPr>
                <a:t>v</a:t>
              </a:r>
              <a:r>
                <a:rPr lang="en-US" altLang="zh-CN" sz="1400" baseline="-25000" dirty="0">
                  <a:solidFill>
                    <a:schemeClr val="bg1"/>
                  </a:solidFill>
                  <a:cs typeface="+mn-ea"/>
                </a:rPr>
                <a:t>i</a:t>
              </a:r>
              <a:r>
                <a:rPr lang="zh-CN" altLang="zh-CN" sz="1400" dirty="0">
                  <a:solidFill>
                    <a:schemeClr val="bg1"/>
                  </a:solidFill>
                  <a:cs typeface="+mn-ea"/>
                </a:rPr>
                <a:t>的有向路径，则称两个顶点强连通。</a:t>
              </a:r>
              <a:endParaRPr lang="zh-CN" altLang="en-US" sz="1400" dirty="0">
                <a:solidFill>
                  <a:schemeClr val="bg1"/>
                </a:solidFill>
                <a:cs typeface="+mn-ea"/>
              </a:endParaRPr>
            </a:p>
            <a:p>
              <a:pPr algn="just">
                <a:lnSpc>
                  <a:spcPct val="120000"/>
                </a:lnSpc>
              </a:pPr>
              <a:endParaRPr lang="zh-CN" altLang="en-US" sz="1400" dirty="0">
                <a:solidFill>
                  <a:schemeClr val="bg1"/>
                </a:solidFill>
                <a:cs typeface="+mn-ea"/>
              </a:endParaRPr>
            </a:p>
            <a:p>
              <a:pPr algn="just">
                <a:lnSpc>
                  <a:spcPct val="120000"/>
                </a:lnSpc>
              </a:pPr>
              <a:endParaRPr lang="en-US" altLang="zh-CN" sz="1400" dirty="0">
                <a:solidFill>
                  <a:schemeClr val="bg1"/>
                </a:solidFill>
                <a:cs typeface="+mn-ea"/>
                <a:sym typeface="+mn-lt"/>
              </a:endParaRPr>
            </a:p>
            <a:p>
              <a:pPr algn="just">
                <a:lnSpc>
                  <a:spcPct val="120000"/>
                </a:lnSpc>
              </a:pPr>
              <a:endParaRPr lang="zh-CN" altLang="en-US" sz="1400" dirty="0">
                <a:solidFill>
                  <a:schemeClr val="bg1"/>
                </a:solidFill>
                <a:cs typeface="+mn-ea"/>
                <a:sym typeface="+mn-lt"/>
              </a:endParaRPr>
            </a:p>
          </p:txBody>
        </p:sp>
      </p:grpSp>
    </p:spTree>
    <p:extLst>
      <p:ext uri="{BB962C8B-B14F-4D97-AF65-F5344CB8AC3E}">
        <p14:creationId xmlns:p14="http://schemas.microsoft.com/office/powerpoint/2010/main" val="2537573161"/>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fade">
                                      <p:cBhvr>
                                        <p:cTn id="25" dur="1000"/>
                                        <p:tgtEl>
                                          <p:spTgt spid="84"/>
                                        </p:tgtEl>
                                      </p:cBhvr>
                                    </p:animEffect>
                                    <p:anim calcmode="lin" valueType="num">
                                      <p:cBhvr>
                                        <p:cTn id="26" dur="1000" fill="hold"/>
                                        <p:tgtEl>
                                          <p:spTgt spid="84"/>
                                        </p:tgtEl>
                                        <p:attrNameLst>
                                          <p:attrName>ppt_x</p:attrName>
                                        </p:attrNameLst>
                                      </p:cBhvr>
                                      <p:tavLst>
                                        <p:tav tm="0">
                                          <p:val>
                                            <p:strVal val="#ppt_x"/>
                                          </p:val>
                                        </p:tav>
                                        <p:tav tm="100000">
                                          <p:val>
                                            <p:strVal val="#ppt_x"/>
                                          </p:val>
                                        </p:tav>
                                      </p:tavLst>
                                    </p:anim>
                                    <p:anim calcmode="lin" valueType="num">
                                      <p:cBhvr>
                                        <p:cTn id="27"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anim calcmode="lin" valueType="num">
                                      <p:cBhvr>
                                        <p:cTn id="33" dur="1000" fill="hold"/>
                                        <p:tgtEl>
                                          <p:spTgt spid="10"/>
                                        </p:tgtEl>
                                        <p:attrNameLst>
                                          <p:attrName>ppt_x</p:attrName>
                                        </p:attrNameLst>
                                      </p:cBhvr>
                                      <p:tavLst>
                                        <p:tav tm="0">
                                          <p:val>
                                            <p:strVal val="#ppt_x"/>
                                          </p:val>
                                        </p:tav>
                                        <p:tav tm="100000">
                                          <p:val>
                                            <p:strVal val="#ppt_x"/>
                                          </p:val>
                                        </p:tav>
                                      </p:tavLst>
                                    </p:anim>
                                    <p:anim calcmode="lin" valueType="num">
                                      <p:cBhvr>
                                        <p:cTn id="34" dur="1000" fill="hold"/>
                                        <p:tgtEl>
                                          <p:spTgt spid="10"/>
                                        </p:tgtEl>
                                        <p:attrNameLst>
                                          <p:attrName>ppt_y</p:attrName>
                                        </p:attrNameLst>
                                      </p:cBhvr>
                                      <p:tavLst>
                                        <p:tav tm="0">
                                          <p:val>
                                            <p:strVal val="#ppt_y+.1"/>
                                          </p:val>
                                        </p:tav>
                                        <p:tav tm="100000">
                                          <p:val>
                                            <p:strVal val="#ppt_y"/>
                                          </p:val>
                                        </p:tav>
                                      </p:tavLst>
                                    </p:anim>
                                  </p:childTnLst>
                                </p:cTn>
                              </p:par>
                              <p:par>
                                <p:cTn id="35" presetID="10" presetClass="exit" presetSubtype="0" fill="hold" nodeType="withEffect">
                                  <p:stCondLst>
                                    <p:cond delay="0"/>
                                  </p:stCondLst>
                                  <p:childTnLst>
                                    <p:animEffect transition="out" filter="fade">
                                      <p:cBhvr>
                                        <p:cTn id="36" dur="500"/>
                                        <p:tgtEl>
                                          <p:spTgt spid="29"/>
                                        </p:tgtEl>
                                      </p:cBhvr>
                                    </p:animEffect>
                                    <p:set>
                                      <p:cBhvr>
                                        <p:cTn id="37" dur="1" fill="hold">
                                          <p:stCondLst>
                                            <p:cond delay="499"/>
                                          </p:stCondLst>
                                        </p:cTn>
                                        <p:tgtEl>
                                          <p:spTgt spid="2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fade">
                                      <p:cBhvr>
                                        <p:cTn id="49" dur="1000"/>
                                        <p:tgtEl>
                                          <p:spTgt spid="98"/>
                                        </p:tgtEl>
                                      </p:cBhvr>
                                    </p:animEffect>
                                    <p:anim calcmode="lin" valueType="num">
                                      <p:cBhvr>
                                        <p:cTn id="50" dur="1000" fill="hold"/>
                                        <p:tgtEl>
                                          <p:spTgt spid="98"/>
                                        </p:tgtEl>
                                        <p:attrNameLst>
                                          <p:attrName>ppt_x</p:attrName>
                                        </p:attrNameLst>
                                      </p:cBhvr>
                                      <p:tavLst>
                                        <p:tav tm="0">
                                          <p:val>
                                            <p:strVal val="#ppt_x"/>
                                          </p:val>
                                        </p:tav>
                                        <p:tav tm="100000">
                                          <p:val>
                                            <p:strVal val="#ppt_x"/>
                                          </p:val>
                                        </p:tav>
                                      </p:tavLst>
                                    </p:anim>
                                    <p:anim calcmode="lin" valueType="num">
                                      <p:cBhvr>
                                        <p:cTn id="51"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smtClean="0">
                <a:ln>
                  <a:noFill/>
                </a:ln>
                <a:solidFill>
                  <a:srgbClr val="000000">
                    <a:lumMod val="65000"/>
                    <a:lumOff val="35000"/>
                  </a:srgbClr>
                </a:solidFill>
                <a:effectLst/>
                <a:uLnTx/>
                <a:uFillTx/>
                <a:cs typeface="+mn-ea"/>
                <a:sym typeface="+mn-lt"/>
              </a:rPr>
              <a:t>基本概念</a:t>
            </a:r>
            <a:endParaRPr kumimoji="0" lang="zh-CN" altLang="en-US" sz="3200"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a:defRPr/>
            </a:pPr>
            <a:r>
              <a:rPr lang="en-US" altLang="zh-CN" sz="1200" dirty="0" smtClean="0">
                <a:solidFill>
                  <a:schemeClr val="accent3"/>
                </a:solidFill>
                <a:cs typeface="+mn-ea"/>
                <a:sym typeface="+mn-lt"/>
              </a:rPr>
              <a:t>Basic </a:t>
            </a:r>
            <a:r>
              <a:rPr lang="en-US" altLang="zh-CN" sz="1200" dirty="0">
                <a:solidFill>
                  <a:schemeClr val="accent3"/>
                </a:solidFill>
                <a:cs typeface="+mn-ea"/>
                <a:sym typeface="+mn-lt"/>
              </a:rPr>
              <a:t>Concepts </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1007565"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无向图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100" name="矩形 99"/>
          <p:cNvSpPr/>
          <p:nvPr/>
        </p:nvSpPr>
        <p:spPr>
          <a:xfrm>
            <a:off x="3692708"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有向图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cxnSp>
        <p:nvCxnSpPr>
          <p:cNvPr id="8" name="直接连接符 7"/>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
          <p:cNvSpPr/>
          <p:nvPr/>
        </p:nvSpPr>
        <p:spPr>
          <a:xfrm>
            <a:off x="6654800" y="1592801"/>
            <a:ext cx="5537200" cy="4523843"/>
          </a:xfrm>
          <a:prstGeom prst="rect">
            <a:avLst/>
          </a:prstGeom>
          <a:solidFill>
            <a:schemeClr val="accent3">
              <a:alpha val="6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29" name="组合 28"/>
          <p:cNvGrpSpPr/>
          <p:nvPr/>
        </p:nvGrpSpPr>
        <p:grpSpPr>
          <a:xfrm>
            <a:off x="7146531" y="1980384"/>
            <a:ext cx="4293988" cy="2123658"/>
            <a:chOff x="7248131" y="4027393"/>
            <a:chExt cx="4293988" cy="2123658"/>
          </a:xfrm>
        </p:grpSpPr>
        <p:sp>
          <p:nvSpPr>
            <p:cNvPr id="3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2" name="矩形 31"/>
            <p:cNvSpPr/>
            <p:nvPr/>
          </p:nvSpPr>
          <p:spPr>
            <a:xfrm>
              <a:off x="8031472" y="4027393"/>
              <a:ext cx="3510647" cy="212365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smtClean="0">
                  <a:solidFill>
                    <a:srgbClr val="002060"/>
                  </a:solidFill>
                  <a:cs typeface="+mn-ea"/>
                  <a:sym typeface="+mn-lt"/>
                </a:rPr>
                <a:t>无向图的连通分量 </a:t>
              </a:r>
              <a:endParaRPr lang="en-US" altLang="zh-CN" sz="2000" b="1" dirty="0" smtClean="0">
                <a:solidFill>
                  <a:srgbClr val="002060"/>
                </a:solidFill>
                <a:cs typeface="+mn-ea"/>
                <a:sym typeface="+mn-lt"/>
              </a:endParaRPr>
            </a:p>
            <a:p>
              <a:pPr algn="just">
                <a:lnSpc>
                  <a:spcPct val="120000"/>
                </a:lnSpc>
              </a:pPr>
              <a:r>
                <a:rPr lang="en-US" altLang="zh-CN" sz="2000" b="1" dirty="0" smtClean="0">
                  <a:solidFill>
                    <a:srgbClr val="002060"/>
                  </a:solidFill>
                  <a:cs typeface="+mn-ea"/>
                  <a:sym typeface="+mn-lt"/>
                </a:rPr>
                <a:t>(Connected Components)</a:t>
              </a:r>
            </a:p>
            <a:p>
              <a:pPr algn="just">
                <a:lnSpc>
                  <a:spcPct val="120000"/>
                </a:lnSpc>
              </a:pPr>
              <a:endParaRPr lang="en-US" altLang="zh-CN" sz="1400" dirty="0">
                <a:solidFill>
                  <a:schemeClr val="bg1"/>
                </a:solidFill>
                <a:cs typeface="+mn-ea"/>
                <a:sym typeface="+mn-lt"/>
              </a:endParaRPr>
            </a:p>
            <a:p>
              <a:pPr algn="just">
                <a:lnSpc>
                  <a:spcPct val="120000"/>
                </a:lnSpc>
              </a:pPr>
              <a:r>
                <a:rPr lang="zh-CN" altLang="zh-CN" sz="1400" dirty="0" smtClean="0">
                  <a:solidFill>
                    <a:schemeClr val="bg1"/>
                  </a:solidFill>
                  <a:cs typeface="+mn-ea"/>
                </a:rPr>
                <a:t>无向图</a:t>
              </a:r>
              <a:r>
                <a:rPr lang="en-US" altLang="zh-CN" sz="1400" dirty="0" smtClean="0">
                  <a:solidFill>
                    <a:schemeClr val="bg1"/>
                  </a:solidFill>
                  <a:cs typeface="+mn-ea"/>
                </a:rPr>
                <a:t>G</a:t>
              </a:r>
              <a:r>
                <a:rPr lang="zh-CN" altLang="zh-CN" sz="1400" dirty="0">
                  <a:solidFill>
                    <a:schemeClr val="bg1"/>
                  </a:solidFill>
                  <a:cs typeface="+mn-ea"/>
                </a:rPr>
                <a:t>的极大连通子图称为</a:t>
              </a:r>
              <a:r>
                <a:rPr lang="en-US" altLang="zh-CN" sz="1400" dirty="0">
                  <a:solidFill>
                    <a:schemeClr val="bg1"/>
                  </a:solidFill>
                  <a:cs typeface="+mn-ea"/>
                </a:rPr>
                <a:t>G</a:t>
              </a:r>
              <a:r>
                <a:rPr lang="zh-CN" altLang="zh-CN" sz="1400" dirty="0">
                  <a:solidFill>
                    <a:schemeClr val="bg1"/>
                  </a:solidFill>
                  <a:cs typeface="+mn-ea"/>
                </a:rPr>
                <a:t>的连通分量。任何连通图的连通分量都只有一个，即是其</a:t>
              </a:r>
              <a:r>
                <a:rPr lang="zh-CN" altLang="zh-CN" sz="1400" dirty="0" smtClean="0">
                  <a:solidFill>
                    <a:schemeClr val="bg1"/>
                  </a:solidFill>
                  <a:cs typeface="+mn-ea"/>
                </a:rPr>
                <a:t>本身</a:t>
              </a:r>
              <a:r>
                <a:rPr lang="zh-CN" altLang="en-US" sz="1400" dirty="0" smtClean="0">
                  <a:solidFill>
                    <a:schemeClr val="bg1"/>
                  </a:solidFill>
                  <a:cs typeface="+mn-ea"/>
                </a:rPr>
                <a:t>。</a:t>
              </a:r>
              <a:r>
                <a:rPr lang="zh-CN" altLang="zh-CN" sz="1400" dirty="0" smtClean="0">
                  <a:solidFill>
                    <a:schemeClr val="bg1"/>
                  </a:solidFill>
                  <a:cs typeface="+mn-ea"/>
                </a:rPr>
                <a:t>非</a:t>
              </a:r>
              <a:r>
                <a:rPr lang="zh-CN" altLang="zh-CN" sz="1400" dirty="0">
                  <a:solidFill>
                    <a:schemeClr val="bg1"/>
                  </a:solidFill>
                  <a:cs typeface="+mn-ea"/>
                </a:rPr>
                <a:t>连通的</a:t>
              </a:r>
              <a:r>
                <a:rPr lang="zh-CN" altLang="zh-CN" sz="1400" dirty="0" smtClean="0">
                  <a:solidFill>
                    <a:schemeClr val="bg1"/>
                  </a:solidFill>
                  <a:cs typeface="+mn-ea"/>
                </a:rPr>
                <a:t>无向图</a:t>
              </a:r>
              <a:r>
                <a:rPr lang="zh-CN" altLang="en-US" sz="1400" dirty="0" smtClean="0">
                  <a:solidFill>
                    <a:schemeClr val="bg1"/>
                  </a:solidFill>
                  <a:cs typeface="+mn-ea"/>
                </a:rPr>
                <a:t>必然</a:t>
              </a:r>
              <a:r>
                <a:rPr lang="zh-CN" altLang="zh-CN" sz="1400" dirty="0" smtClean="0">
                  <a:solidFill>
                    <a:schemeClr val="bg1"/>
                  </a:solidFill>
                  <a:cs typeface="+mn-ea"/>
                </a:rPr>
                <a:t>有</a:t>
              </a:r>
              <a:r>
                <a:rPr lang="zh-CN" altLang="zh-CN" sz="1400" dirty="0">
                  <a:solidFill>
                    <a:schemeClr val="bg1"/>
                  </a:solidFill>
                  <a:cs typeface="+mn-ea"/>
                </a:rPr>
                <a:t>多个连通分量</a:t>
              </a:r>
              <a:r>
                <a:rPr lang="zh-CN" altLang="zh-CN" sz="1400" dirty="0" smtClean="0">
                  <a:solidFill>
                    <a:schemeClr val="bg1"/>
                  </a:solidFill>
                  <a:cs typeface="+mn-ea"/>
                </a:rPr>
                <a:t>。</a:t>
              </a:r>
              <a:endParaRPr lang="zh-CN" altLang="en-US" sz="1400" dirty="0">
                <a:solidFill>
                  <a:schemeClr val="bg1"/>
                </a:solidFill>
                <a:cs typeface="+mn-ea"/>
              </a:endParaRPr>
            </a:p>
          </p:txBody>
        </p:sp>
      </p:grpSp>
      <p:sp>
        <p:nvSpPr>
          <p:cNvPr id="37" name="文本框 2919"/>
          <p:cNvSpPr txBox="1"/>
          <p:nvPr/>
        </p:nvSpPr>
        <p:spPr>
          <a:xfrm>
            <a:off x="9664973" y="177223"/>
            <a:ext cx="2339102"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强</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连通、</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强</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连通图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6" name="文本框 2919"/>
          <p:cNvSpPr txBox="1"/>
          <p:nvPr/>
        </p:nvSpPr>
        <p:spPr>
          <a:xfrm>
            <a:off x="10095688" y="189738"/>
            <a:ext cx="1492716" cy="369332"/>
          </a:xfrm>
          <a:prstGeom prst="rect">
            <a:avLst/>
          </a:prstGeom>
          <a:noFill/>
        </p:spPr>
        <p:txBody>
          <a:bodyPr wrap="none" rtlCol="0">
            <a:spAutoFit/>
            <a:scene3d>
              <a:camera prst="orthographicFront"/>
              <a:lightRig rig="threePt" dir="t"/>
            </a:scene3d>
            <a:sp3d extrusionH="12700"/>
          </a:bodyPr>
          <a:lstStyle/>
          <a:p>
            <a:pPr algn="ct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强</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连通分量</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262" y="2083888"/>
            <a:ext cx="2188580" cy="2209524"/>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3236" y="2172463"/>
            <a:ext cx="1814189" cy="2002865"/>
          </a:xfrm>
          <a:prstGeom prst="rect">
            <a:avLst/>
          </a:prstGeom>
        </p:spPr>
      </p:pic>
      <p:grpSp>
        <p:nvGrpSpPr>
          <p:cNvPr id="33" name="组合 32"/>
          <p:cNvGrpSpPr/>
          <p:nvPr/>
        </p:nvGrpSpPr>
        <p:grpSpPr>
          <a:xfrm>
            <a:off x="7146531" y="1980384"/>
            <a:ext cx="4293988" cy="1975926"/>
            <a:chOff x="7248131" y="4027393"/>
            <a:chExt cx="4293988" cy="1975926"/>
          </a:xfrm>
        </p:grpSpPr>
        <p:sp>
          <p:nvSpPr>
            <p:cNvPr id="34"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5"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6" name="矩形 35"/>
            <p:cNvSpPr/>
            <p:nvPr/>
          </p:nvSpPr>
          <p:spPr>
            <a:xfrm>
              <a:off x="8031472" y="4027393"/>
              <a:ext cx="3510647" cy="197592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a:solidFill>
                    <a:srgbClr val="002060"/>
                  </a:solidFill>
                  <a:cs typeface="+mn-ea"/>
                  <a:sym typeface="+mn-lt"/>
                </a:rPr>
                <a:t>有</a:t>
              </a:r>
              <a:r>
                <a:rPr lang="zh-CN" altLang="en-US" sz="2000" b="1" dirty="0" smtClean="0">
                  <a:solidFill>
                    <a:srgbClr val="002060"/>
                  </a:solidFill>
                  <a:cs typeface="+mn-ea"/>
                  <a:sym typeface="+mn-lt"/>
                </a:rPr>
                <a:t>向图的强连通分量 </a:t>
              </a:r>
              <a:endParaRPr lang="en-US" altLang="zh-CN" sz="2000" b="1" dirty="0" smtClean="0">
                <a:solidFill>
                  <a:srgbClr val="002060"/>
                </a:solidFill>
                <a:cs typeface="+mn-ea"/>
                <a:sym typeface="+mn-lt"/>
              </a:endParaRPr>
            </a:p>
            <a:p>
              <a:pPr algn="just">
                <a:lnSpc>
                  <a:spcPct val="120000"/>
                </a:lnSpc>
              </a:pPr>
              <a:r>
                <a:rPr lang="en-US" altLang="zh-CN" sz="2000" b="1" dirty="0" smtClean="0">
                  <a:solidFill>
                    <a:srgbClr val="002060"/>
                  </a:solidFill>
                  <a:cs typeface="+mn-ea"/>
                  <a:sym typeface="+mn-lt"/>
                </a:rPr>
                <a:t>(StronglyConnected Components)</a:t>
              </a:r>
            </a:p>
            <a:p>
              <a:pPr algn="just">
                <a:lnSpc>
                  <a:spcPct val="120000"/>
                </a:lnSpc>
              </a:pPr>
              <a:endParaRPr lang="en-US" altLang="zh-CN" sz="1400" dirty="0">
                <a:solidFill>
                  <a:schemeClr val="bg1"/>
                </a:solidFill>
                <a:cs typeface="+mn-ea"/>
                <a:sym typeface="+mn-lt"/>
              </a:endParaRPr>
            </a:p>
            <a:p>
              <a:pPr algn="just">
                <a:lnSpc>
                  <a:spcPct val="120000"/>
                </a:lnSpc>
              </a:pPr>
              <a:r>
                <a:rPr lang="zh-CN" altLang="zh-CN" sz="1400" dirty="0" smtClean="0">
                  <a:solidFill>
                    <a:schemeClr val="bg1"/>
                  </a:solidFill>
                  <a:cs typeface="+mn-ea"/>
                </a:rPr>
                <a:t>有向图</a:t>
              </a:r>
              <a:r>
                <a:rPr lang="zh-CN" altLang="zh-CN" sz="1400" dirty="0">
                  <a:solidFill>
                    <a:schemeClr val="bg1"/>
                  </a:solidFill>
                  <a:cs typeface="+mn-ea"/>
                </a:rPr>
                <a:t>的极大强连通子图，称为强连通分量</a:t>
              </a:r>
              <a:r>
                <a:rPr lang="zh-CN" altLang="zh-CN" sz="1400" dirty="0" smtClean="0">
                  <a:solidFill>
                    <a:schemeClr val="bg1"/>
                  </a:solidFill>
                  <a:cs typeface="+mn-ea"/>
                </a:rPr>
                <a:t>。</a:t>
              </a:r>
              <a:endParaRPr lang="en-US" altLang="zh-CN" sz="1400" dirty="0" smtClean="0">
                <a:solidFill>
                  <a:schemeClr val="bg1"/>
                </a:solidFill>
                <a:cs typeface="+mn-ea"/>
              </a:endParaRPr>
            </a:p>
          </p:txBody>
        </p:sp>
      </p:grpSp>
    </p:spTree>
    <p:extLst>
      <p:ext uri="{BB962C8B-B14F-4D97-AF65-F5344CB8AC3E}">
        <p14:creationId xmlns:p14="http://schemas.microsoft.com/office/powerpoint/2010/main" val="401206279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xit" presetSubtype="10" fill="hold" grpId="0" nodeType="afterEffect">
                                  <p:stCondLst>
                                    <p:cond delay="0"/>
                                  </p:stCondLst>
                                  <p:childTnLst>
                                    <p:animEffect transition="out" filter="randombar(horizontal)">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randombar(horizontal)">
                                      <p:cBhvr>
                                        <p:cTn id="11" dur="500"/>
                                        <p:tgtEl>
                                          <p:spTgt spid="26"/>
                                        </p:tgtEl>
                                      </p:cBhvr>
                                    </p:animEffect>
                                  </p:childTnLst>
                                </p:cTn>
                              </p:par>
                              <p:par>
                                <p:cTn id="12" presetID="16" presetClass="entr" presetSubtype="21" fill="hold"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arn(inVertical)">
                                      <p:cBhvr>
                                        <p:cTn id="14" dur="500"/>
                                        <p:tgtEl>
                                          <p:spTgt spid="2"/>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barn(inVertical)">
                                      <p:cBhvr>
                                        <p:cTn id="17" dur="500"/>
                                        <p:tgtEl>
                                          <p:spTgt spid="8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1000"/>
                                        <p:tgtEl>
                                          <p:spTgt spid="29"/>
                                        </p:tgtEl>
                                      </p:cBhvr>
                                    </p:animEffect>
                                    <p:anim calcmode="lin" valueType="num">
                                      <p:cBhvr>
                                        <p:cTn id="23" dur="1000" fill="hold"/>
                                        <p:tgtEl>
                                          <p:spTgt spid="29"/>
                                        </p:tgtEl>
                                        <p:attrNameLst>
                                          <p:attrName>ppt_x</p:attrName>
                                        </p:attrNameLst>
                                      </p:cBhvr>
                                      <p:tavLst>
                                        <p:tav tm="0">
                                          <p:val>
                                            <p:strVal val="#ppt_x"/>
                                          </p:val>
                                        </p:tav>
                                        <p:tav tm="100000">
                                          <p:val>
                                            <p:strVal val="#ppt_x"/>
                                          </p:val>
                                        </p:tav>
                                      </p:tavLst>
                                    </p:anim>
                                    <p:anim calcmode="lin" valueType="num">
                                      <p:cBhvr>
                                        <p:cTn id="2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arn(inVertical)">
                                      <p:cBhvr>
                                        <p:cTn id="29" dur="500"/>
                                        <p:tgtEl>
                                          <p:spTgt spid="4"/>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00"/>
                                        </p:tgtEl>
                                        <p:attrNameLst>
                                          <p:attrName>style.visibility</p:attrName>
                                        </p:attrNameLst>
                                      </p:cBhvr>
                                      <p:to>
                                        <p:strVal val="visible"/>
                                      </p:to>
                                    </p:set>
                                    <p:animEffect transition="in" filter="barn(inVertical)">
                                      <p:cBhvr>
                                        <p:cTn id="32" dur="500"/>
                                        <p:tgtEl>
                                          <p:spTgt spid="100"/>
                                        </p:tgtEl>
                                      </p:cBhvr>
                                    </p:animEffect>
                                  </p:childTnLst>
                                </p:cTn>
                              </p:par>
                              <p:par>
                                <p:cTn id="33" presetID="22" presetClass="exit" presetSubtype="4" fill="hold" nodeType="withEffect">
                                  <p:stCondLst>
                                    <p:cond delay="0"/>
                                  </p:stCondLst>
                                  <p:childTnLst>
                                    <p:animEffect transition="out" filter="wipe(down)">
                                      <p:cBhvr>
                                        <p:cTn id="34" dur="500"/>
                                        <p:tgtEl>
                                          <p:spTgt spid="29"/>
                                        </p:tgtEl>
                                      </p:cBhvr>
                                    </p:animEffect>
                                    <p:set>
                                      <p:cBhvr>
                                        <p:cTn id="35" dur="1" fill="hold">
                                          <p:stCondLst>
                                            <p:cond delay="499"/>
                                          </p:stCondLst>
                                        </p:cTn>
                                        <p:tgtEl>
                                          <p:spTgt spid="2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1000"/>
                                        <p:tgtEl>
                                          <p:spTgt spid="33"/>
                                        </p:tgtEl>
                                      </p:cBhvr>
                                    </p:animEffect>
                                    <p:anim calcmode="lin" valueType="num">
                                      <p:cBhvr>
                                        <p:cTn id="41" dur="1000" fill="hold"/>
                                        <p:tgtEl>
                                          <p:spTgt spid="33"/>
                                        </p:tgtEl>
                                        <p:attrNameLst>
                                          <p:attrName>ppt_x</p:attrName>
                                        </p:attrNameLst>
                                      </p:cBhvr>
                                      <p:tavLst>
                                        <p:tav tm="0">
                                          <p:val>
                                            <p:strVal val="#ppt_x"/>
                                          </p:val>
                                        </p:tav>
                                        <p:tav tm="100000">
                                          <p:val>
                                            <p:strVal val="#ppt_x"/>
                                          </p:val>
                                        </p:tav>
                                      </p:tavLst>
                                    </p:anim>
                                    <p:anim calcmode="lin" valueType="num">
                                      <p:cBhvr>
                                        <p:cTn id="4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00" grpId="0"/>
      <p:bldP spid="37" grpId="0"/>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smtClean="0">
                <a:ln>
                  <a:noFill/>
                </a:ln>
                <a:solidFill>
                  <a:srgbClr val="000000">
                    <a:lumMod val="65000"/>
                    <a:lumOff val="35000"/>
                  </a:srgbClr>
                </a:solidFill>
                <a:effectLst/>
                <a:uLnTx/>
                <a:uFillTx/>
                <a:cs typeface="+mn-ea"/>
                <a:sym typeface="+mn-lt"/>
              </a:rPr>
              <a:t>基本概念</a:t>
            </a:r>
            <a:endParaRPr kumimoji="0" lang="zh-CN" altLang="en-US" sz="3200"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a:defRPr/>
            </a:pPr>
            <a:r>
              <a:rPr lang="en-US" altLang="zh-CN" sz="1200" dirty="0" smtClean="0">
                <a:solidFill>
                  <a:schemeClr val="accent3"/>
                </a:solidFill>
                <a:cs typeface="+mn-ea"/>
                <a:sym typeface="+mn-lt"/>
              </a:rPr>
              <a:t>Basic </a:t>
            </a:r>
            <a:r>
              <a:rPr lang="en-US" altLang="zh-CN" sz="1200" dirty="0">
                <a:solidFill>
                  <a:schemeClr val="accent3"/>
                </a:solidFill>
                <a:cs typeface="+mn-ea"/>
                <a:sym typeface="+mn-lt"/>
              </a:rPr>
              <a:t>Concepts </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1007565"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无向完全图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100" name="矩形 99"/>
          <p:cNvSpPr/>
          <p:nvPr/>
        </p:nvSpPr>
        <p:spPr>
          <a:xfrm>
            <a:off x="3692708" y="4293412"/>
            <a:ext cx="2241974" cy="42473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有向完全图</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cxnSp>
        <p:nvCxnSpPr>
          <p:cNvPr id="8" name="直接连接符 7"/>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Rectangle 2"/>
          <p:cNvSpPr/>
          <p:nvPr/>
        </p:nvSpPr>
        <p:spPr>
          <a:xfrm>
            <a:off x="6654800" y="1592801"/>
            <a:ext cx="5537200" cy="4523843"/>
          </a:xfrm>
          <a:prstGeom prst="rect">
            <a:avLst/>
          </a:prstGeom>
          <a:solidFill>
            <a:schemeClr val="accent3">
              <a:alpha val="6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grpSp>
        <p:nvGrpSpPr>
          <p:cNvPr id="29" name="组合 28"/>
          <p:cNvGrpSpPr/>
          <p:nvPr/>
        </p:nvGrpSpPr>
        <p:grpSpPr>
          <a:xfrm>
            <a:off x="7146531" y="1980384"/>
            <a:ext cx="4293988" cy="609398"/>
            <a:chOff x="7248131" y="4027393"/>
            <a:chExt cx="4293988" cy="609398"/>
          </a:xfrm>
        </p:grpSpPr>
        <p:sp>
          <p:nvSpPr>
            <p:cNvPr id="3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2" name="矩形 31"/>
            <p:cNvSpPr/>
            <p:nvPr/>
          </p:nvSpPr>
          <p:spPr>
            <a:xfrm>
              <a:off x="8031472" y="4027393"/>
              <a:ext cx="3510647" cy="42986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smtClean="0">
                  <a:solidFill>
                    <a:srgbClr val="002060"/>
                  </a:solidFill>
                  <a:cs typeface="+mn-ea"/>
                  <a:sym typeface="+mn-lt"/>
                </a:rPr>
                <a:t>完全图 </a:t>
              </a:r>
              <a:r>
                <a:rPr lang="en-US" altLang="zh-CN" sz="2000" b="1" dirty="0" smtClean="0">
                  <a:solidFill>
                    <a:srgbClr val="002060"/>
                  </a:solidFill>
                  <a:cs typeface="+mn-ea"/>
                  <a:sym typeface="+mn-lt"/>
                </a:rPr>
                <a:t>(Complete Graph)</a:t>
              </a:r>
            </a:p>
          </p:txBody>
        </p:sp>
      </p:grpSp>
      <p:sp>
        <p:nvSpPr>
          <p:cNvPr id="26" name="文本框 2919"/>
          <p:cNvSpPr txBox="1"/>
          <p:nvPr/>
        </p:nvSpPr>
        <p:spPr>
          <a:xfrm>
            <a:off x="9448074" y="189738"/>
            <a:ext cx="278794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完全图、 稠密图、稀疏图</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262" y="2158729"/>
            <a:ext cx="2188580" cy="2059840"/>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3236" y="2320159"/>
            <a:ext cx="1814189" cy="1707472"/>
          </a:xfrm>
          <a:prstGeom prst="rect">
            <a:avLst/>
          </a:prstGeom>
        </p:spPr>
      </p:pic>
      <p:sp>
        <p:nvSpPr>
          <p:cNvPr id="18" name="矩形 17"/>
          <p:cNvSpPr/>
          <p:nvPr/>
        </p:nvSpPr>
        <p:spPr>
          <a:xfrm>
            <a:off x="7929872" y="2744033"/>
            <a:ext cx="3510647"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bg1"/>
                </a:solidFill>
                <a:cs typeface="+mn-ea"/>
              </a:rPr>
              <a:t>在</a:t>
            </a:r>
            <a:r>
              <a:rPr lang="zh-CN" altLang="en-US" sz="1400" dirty="0">
                <a:solidFill>
                  <a:schemeClr val="bg1"/>
                </a:solidFill>
                <a:cs typeface="+mn-ea"/>
              </a:rPr>
              <a:t>一个</a:t>
            </a:r>
            <a:r>
              <a:rPr lang="en-US" altLang="zh-CN" sz="1400" dirty="0">
                <a:solidFill>
                  <a:schemeClr val="bg1"/>
                </a:solidFill>
                <a:cs typeface="+mn-ea"/>
              </a:rPr>
              <a:t>n</a:t>
            </a:r>
            <a:r>
              <a:rPr lang="zh-CN" altLang="en-US" sz="1400" dirty="0">
                <a:solidFill>
                  <a:schemeClr val="bg1"/>
                </a:solidFill>
                <a:cs typeface="+mn-ea"/>
              </a:rPr>
              <a:t>阶的无向图中，若有</a:t>
            </a:r>
            <a:r>
              <a:rPr lang="en-US" altLang="zh-CN" sz="1400" dirty="0">
                <a:solidFill>
                  <a:schemeClr val="bg1"/>
                </a:solidFill>
                <a:cs typeface="+mn-ea"/>
              </a:rPr>
              <a:t>n(n</a:t>
            </a:r>
            <a:r>
              <a:rPr lang="zh-CN" altLang="en-US" sz="1400" dirty="0">
                <a:solidFill>
                  <a:schemeClr val="bg1"/>
                </a:solidFill>
                <a:cs typeface="+mn-ea"/>
              </a:rPr>
              <a:t>−</a:t>
            </a:r>
            <a:r>
              <a:rPr lang="en-US" altLang="zh-CN" sz="1400" dirty="0">
                <a:solidFill>
                  <a:schemeClr val="bg1"/>
                </a:solidFill>
                <a:cs typeface="+mn-ea"/>
              </a:rPr>
              <a:t>1)/2</a:t>
            </a:r>
            <a:r>
              <a:rPr lang="zh-CN" altLang="en-US" sz="1400" dirty="0">
                <a:solidFill>
                  <a:schemeClr val="bg1"/>
                </a:solidFill>
                <a:cs typeface="+mn-ea"/>
              </a:rPr>
              <a:t>条边，则称为</a:t>
            </a:r>
            <a:r>
              <a:rPr lang="zh-CN" altLang="en-US" sz="1400" b="1" dirty="0">
                <a:solidFill>
                  <a:schemeClr val="bg1"/>
                </a:solidFill>
                <a:cs typeface="+mn-ea"/>
              </a:rPr>
              <a:t>无向完全图</a:t>
            </a:r>
            <a:r>
              <a:rPr lang="zh-CN" altLang="en-US" sz="1400" dirty="0">
                <a:solidFill>
                  <a:schemeClr val="bg1"/>
                </a:solidFill>
                <a:cs typeface="+mn-ea"/>
              </a:rPr>
              <a:t>。</a:t>
            </a:r>
            <a:endParaRPr lang="en-US" altLang="zh-CN" sz="1400" dirty="0">
              <a:solidFill>
                <a:schemeClr val="bg1"/>
              </a:solidFill>
              <a:cs typeface="+mn-ea"/>
              <a:sym typeface="+mn-lt"/>
            </a:endParaRPr>
          </a:p>
        </p:txBody>
      </p:sp>
      <p:sp>
        <p:nvSpPr>
          <p:cNvPr id="19" name="矩形 18"/>
          <p:cNvSpPr/>
          <p:nvPr/>
        </p:nvSpPr>
        <p:spPr>
          <a:xfrm>
            <a:off x="7929872" y="3711684"/>
            <a:ext cx="3510647"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bg1"/>
                </a:solidFill>
                <a:cs typeface="+mn-ea"/>
              </a:rPr>
              <a:t>在</a:t>
            </a:r>
            <a:r>
              <a:rPr lang="zh-CN" altLang="en-US" sz="1400" dirty="0">
                <a:solidFill>
                  <a:schemeClr val="bg1"/>
                </a:solidFill>
                <a:cs typeface="+mn-ea"/>
              </a:rPr>
              <a:t>一个</a:t>
            </a:r>
            <a:r>
              <a:rPr lang="en-US" altLang="zh-CN" sz="1400" dirty="0">
                <a:solidFill>
                  <a:schemeClr val="bg1"/>
                </a:solidFill>
                <a:cs typeface="+mn-ea"/>
              </a:rPr>
              <a:t>n</a:t>
            </a:r>
            <a:r>
              <a:rPr lang="zh-CN" altLang="en-US" sz="1400" dirty="0">
                <a:solidFill>
                  <a:schemeClr val="bg1"/>
                </a:solidFill>
                <a:cs typeface="+mn-ea"/>
              </a:rPr>
              <a:t>阶</a:t>
            </a:r>
            <a:r>
              <a:rPr lang="zh-CN" altLang="en-US" sz="1400" dirty="0" smtClean="0">
                <a:solidFill>
                  <a:schemeClr val="bg1"/>
                </a:solidFill>
                <a:cs typeface="+mn-ea"/>
              </a:rPr>
              <a:t>的</a:t>
            </a:r>
            <a:r>
              <a:rPr lang="zh-CN" altLang="en-US" sz="1400" dirty="0">
                <a:solidFill>
                  <a:schemeClr val="bg1"/>
                </a:solidFill>
                <a:cs typeface="+mn-ea"/>
              </a:rPr>
              <a:t>有</a:t>
            </a:r>
            <a:r>
              <a:rPr lang="zh-CN" altLang="en-US" sz="1400" dirty="0" smtClean="0">
                <a:solidFill>
                  <a:schemeClr val="bg1"/>
                </a:solidFill>
                <a:cs typeface="+mn-ea"/>
              </a:rPr>
              <a:t>向图中</a:t>
            </a:r>
            <a:r>
              <a:rPr lang="zh-CN" altLang="en-US" sz="1400" dirty="0">
                <a:solidFill>
                  <a:schemeClr val="bg1"/>
                </a:solidFill>
                <a:cs typeface="+mn-ea"/>
              </a:rPr>
              <a:t>，若有</a:t>
            </a:r>
            <a:r>
              <a:rPr lang="en-US" altLang="zh-CN" sz="1400" dirty="0">
                <a:solidFill>
                  <a:schemeClr val="bg1"/>
                </a:solidFill>
                <a:cs typeface="+mn-ea"/>
              </a:rPr>
              <a:t>n(n</a:t>
            </a:r>
            <a:r>
              <a:rPr lang="zh-CN" altLang="en-US" sz="1400" dirty="0">
                <a:solidFill>
                  <a:schemeClr val="bg1"/>
                </a:solidFill>
                <a:cs typeface="+mn-ea"/>
              </a:rPr>
              <a:t>−</a:t>
            </a:r>
            <a:r>
              <a:rPr lang="en-US" altLang="zh-CN" sz="1400" dirty="0">
                <a:solidFill>
                  <a:schemeClr val="bg1"/>
                </a:solidFill>
                <a:cs typeface="+mn-ea"/>
              </a:rPr>
              <a:t>1</a:t>
            </a:r>
            <a:r>
              <a:rPr lang="en-US" altLang="zh-CN" sz="1400" dirty="0" smtClean="0">
                <a:solidFill>
                  <a:schemeClr val="bg1"/>
                </a:solidFill>
                <a:cs typeface="+mn-ea"/>
              </a:rPr>
              <a:t>)</a:t>
            </a:r>
            <a:r>
              <a:rPr lang="zh-CN" altLang="en-US" sz="1400" dirty="0" smtClean="0">
                <a:solidFill>
                  <a:schemeClr val="bg1"/>
                </a:solidFill>
                <a:cs typeface="+mn-ea"/>
              </a:rPr>
              <a:t>条</a:t>
            </a:r>
            <a:r>
              <a:rPr lang="zh-CN" altLang="en-US" sz="1400" dirty="0">
                <a:solidFill>
                  <a:schemeClr val="bg1"/>
                </a:solidFill>
                <a:cs typeface="+mn-ea"/>
              </a:rPr>
              <a:t>边，则</a:t>
            </a:r>
            <a:r>
              <a:rPr lang="zh-CN" altLang="en-US" sz="1400" dirty="0" smtClean="0">
                <a:solidFill>
                  <a:schemeClr val="bg1"/>
                </a:solidFill>
                <a:cs typeface="+mn-ea"/>
              </a:rPr>
              <a:t>称为</a:t>
            </a:r>
            <a:r>
              <a:rPr lang="zh-CN" altLang="en-US" sz="1400" b="1" dirty="0" smtClean="0">
                <a:solidFill>
                  <a:schemeClr val="bg1"/>
                </a:solidFill>
                <a:cs typeface="+mn-ea"/>
              </a:rPr>
              <a:t>有向</a:t>
            </a:r>
            <a:r>
              <a:rPr lang="zh-CN" altLang="en-US" sz="1400" b="1" dirty="0">
                <a:solidFill>
                  <a:schemeClr val="bg1"/>
                </a:solidFill>
                <a:cs typeface="+mn-ea"/>
              </a:rPr>
              <a:t>完全图</a:t>
            </a:r>
            <a:r>
              <a:rPr lang="zh-CN" altLang="en-US" sz="1400" dirty="0">
                <a:solidFill>
                  <a:schemeClr val="bg1"/>
                </a:solidFill>
                <a:cs typeface="+mn-ea"/>
              </a:rPr>
              <a:t>。</a:t>
            </a:r>
            <a:endParaRPr lang="en-US" altLang="zh-CN" sz="1400" dirty="0">
              <a:solidFill>
                <a:schemeClr val="bg1"/>
              </a:solidFill>
              <a:cs typeface="+mn-ea"/>
              <a:sym typeface="+mn-lt"/>
            </a:endParaRPr>
          </a:p>
        </p:txBody>
      </p:sp>
      <p:sp>
        <p:nvSpPr>
          <p:cNvPr id="20" name="矩形 19"/>
          <p:cNvSpPr/>
          <p:nvPr/>
        </p:nvSpPr>
        <p:spPr>
          <a:xfrm>
            <a:off x="7929872" y="4669798"/>
            <a:ext cx="3510647"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bg1"/>
                </a:solidFill>
                <a:cs typeface="+mn-ea"/>
              </a:rPr>
              <a:t>完全图边数可以认为是最大的。</a:t>
            </a:r>
            <a:endParaRPr lang="en-US" altLang="zh-CN" sz="1400" dirty="0">
              <a:solidFill>
                <a:schemeClr val="bg1"/>
              </a:solidFill>
              <a:cs typeface="+mn-ea"/>
              <a:sym typeface="+mn-lt"/>
            </a:endParaRPr>
          </a:p>
        </p:txBody>
      </p:sp>
      <p:sp>
        <p:nvSpPr>
          <p:cNvPr id="21" name="矩形 20"/>
          <p:cNvSpPr/>
          <p:nvPr/>
        </p:nvSpPr>
        <p:spPr>
          <a:xfrm>
            <a:off x="7929872" y="4669798"/>
            <a:ext cx="3510647"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cs typeface="+mn-ea"/>
                <a:sym typeface="+mn-lt"/>
              </a:rPr>
              <a:t>边</a:t>
            </a:r>
            <a:r>
              <a:rPr lang="zh-CN" altLang="en-US" sz="1400" dirty="0" smtClean="0">
                <a:solidFill>
                  <a:schemeClr val="bg1"/>
                </a:solidFill>
                <a:cs typeface="+mn-ea"/>
                <a:sym typeface="+mn-lt"/>
              </a:rPr>
              <a:t>数接近完全图边数的图称为</a:t>
            </a:r>
            <a:r>
              <a:rPr lang="zh-CN" altLang="en-US" sz="1400" b="1" dirty="0" smtClean="0">
                <a:solidFill>
                  <a:schemeClr val="bg1"/>
                </a:solidFill>
                <a:cs typeface="+mn-ea"/>
                <a:sym typeface="+mn-lt"/>
              </a:rPr>
              <a:t>稠密图</a:t>
            </a:r>
            <a:r>
              <a:rPr lang="zh-CN" altLang="en-US" sz="1400" dirty="0" smtClean="0">
                <a:solidFill>
                  <a:schemeClr val="bg1"/>
                </a:solidFill>
                <a:cs typeface="+mn-ea"/>
                <a:sym typeface="+mn-lt"/>
              </a:rPr>
              <a:t>。</a:t>
            </a:r>
            <a:endParaRPr lang="en-US" altLang="zh-CN" sz="1400" dirty="0">
              <a:solidFill>
                <a:schemeClr val="bg1"/>
              </a:solidFill>
              <a:cs typeface="+mn-ea"/>
              <a:sym typeface="+mn-lt"/>
            </a:endParaRPr>
          </a:p>
        </p:txBody>
      </p:sp>
      <p:sp>
        <p:nvSpPr>
          <p:cNvPr id="22" name="矩形 21"/>
          <p:cNvSpPr/>
          <p:nvPr/>
        </p:nvSpPr>
        <p:spPr>
          <a:xfrm>
            <a:off x="7929872" y="4676772"/>
            <a:ext cx="3510647" cy="35086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bg1"/>
                </a:solidFill>
                <a:cs typeface="+mn-ea"/>
                <a:sym typeface="+mn-lt"/>
              </a:rPr>
              <a:t>边</a:t>
            </a:r>
            <a:r>
              <a:rPr lang="zh-CN" altLang="en-US" sz="1400" dirty="0" smtClean="0">
                <a:solidFill>
                  <a:schemeClr val="bg1"/>
                </a:solidFill>
                <a:cs typeface="+mn-ea"/>
                <a:sym typeface="+mn-lt"/>
              </a:rPr>
              <a:t>数远远少于完全图边数的图称为</a:t>
            </a:r>
            <a:r>
              <a:rPr lang="zh-CN" altLang="en-US" sz="1400" b="1" dirty="0" smtClean="0">
                <a:solidFill>
                  <a:schemeClr val="bg1"/>
                </a:solidFill>
                <a:cs typeface="+mn-ea"/>
                <a:sym typeface="+mn-lt"/>
              </a:rPr>
              <a:t>稀疏图</a:t>
            </a:r>
            <a:r>
              <a:rPr lang="zh-CN" altLang="en-US" sz="1400" dirty="0" smtClean="0">
                <a:solidFill>
                  <a:schemeClr val="bg1"/>
                </a:solidFill>
                <a:cs typeface="+mn-ea"/>
                <a:sym typeface="+mn-lt"/>
              </a:rPr>
              <a:t>。</a:t>
            </a:r>
            <a:endParaRPr lang="en-US" altLang="zh-CN" sz="1400" dirty="0">
              <a:solidFill>
                <a:schemeClr val="bg1"/>
              </a:solidFill>
              <a:cs typeface="+mn-ea"/>
              <a:sym typeface="+mn-lt"/>
            </a:endParaRPr>
          </a:p>
        </p:txBody>
      </p:sp>
    </p:spTree>
    <p:extLst>
      <p:ext uri="{BB962C8B-B14F-4D97-AF65-F5344CB8AC3E}">
        <p14:creationId xmlns:p14="http://schemas.microsoft.com/office/powerpoint/2010/main" val="321872400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par>
                                <p:cTn id="8" presetID="42"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1000"/>
                                        <p:tgtEl>
                                          <p:spTgt spid="29"/>
                                        </p:tgtEl>
                                      </p:cBhvr>
                                    </p:animEffect>
                                    <p:anim calcmode="lin" valueType="num">
                                      <p:cBhvr>
                                        <p:cTn id="11" dur="1000" fill="hold"/>
                                        <p:tgtEl>
                                          <p:spTgt spid="29"/>
                                        </p:tgtEl>
                                        <p:attrNameLst>
                                          <p:attrName>ppt_x</p:attrName>
                                        </p:attrNameLst>
                                      </p:cBhvr>
                                      <p:tavLst>
                                        <p:tav tm="0">
                                          <p:val>
                                            <p:strVal val="#ppt_x"/>
                                          </p:val>
                                        </p:tav>
                                        <p:tav tm="100000">
                                          <p:val>
                                            <p:strVal val="#ppt_x"/>
                                          </p:val>
                                        </p:tav>
                                      </p:tavLst>
                                    </p:anim>
                                    <p:anim calcmode="lin" valueType="num">
                                      <p:cBhvr>
                                        <p:cTn id="1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fade">
                                      <p:cBhvr>
                                        <p:cTn id="17" dur="1000"/>
                                        <p:tgtEl>
                                          <p:spTgt spid="86"/>
                                        </p:tgtEl>
                                      </p:cBhvr>
                                    </p:animEffect>
                                    <p:anim calcmode="lin" valueType="num">
                                      <p:cBhvr>
                                        <p:cTn id="18" dur="1000" fill="hold"/>
                                        <p:tgtEl>
                                          <p:spTgt spid="86"/>
                                        </p:tgtEl>
                                        <p:attrNameLst>
                                          <p:attrName>ppt_x</p:attrName>
                                        </p:attrNameLst>
                                      </p:cBhvr>
                                      <p:tavLst>
                                        <p:tav tm="0">
                                          <p:val>
                                            <p:strVal val="#ppt_x"/>
                                          </p:val>
                                        </p:tav>
                                        <p:tav tm="100000">
                                          <p:val>
                                            <p:strVal val="#ppt_x"/>
                                          </p:val>
                                        </p:tav>
                                      </p:tavLst>
                                    </p:anim>
                                    <p:anim calcmode="lin" valueType="num">
                                      <p:cBhvr>
                                        <p:cTn id="19" dur="1000" fill="hold"/>
                                        <p:tgtEl>
                                          <p:spTgt spid="8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16" presetClass="entr" presetSubtype="21" fill="hold" grpId="0" nodeType="after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arn(inVertical)">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00"/>
                                        </p:tgtEl>
                                        <p:attrNameLst>
                                          <p:attrName>style.visibility</p:attrName>
                                        </p:attrNameLst>
                                      </p:cBhvr>
                                      <p:to>
                                        <p:strVal val="visible"/>
                                      </p:to>
                                    </p:set>
                                    <p:animEffect transition="in" filter="fade">
                                      <p:cBhvr>
                                        <p:cTn id="33" dur="1000"/>
                                        <p:tgtEl>
                                          <p:spTgt spid="100"/>
                                        </p:tgtEl>
                                      </p:cBhvr>
                                    </p:animEffect>
                                    <p:anim calcmode="lin" valueType="num">
                                      <p:cBhvr>
                                        <p:cTn id="34" dur="1000" fill="hold"/>
                                        <p:tgtEl>
                                          <p:spTgt spid="100"/>
                                        </p:tgtEl>
                                        <p:attrNameLst>
                                          <p:attrName>ppt_x</p:attrName>
                                        </p:attrNameLst>
                                      </p:cBhvr>
                                      <p:tavLst>
                                        <p:tav tm="0">
                                          <p:val>
                                            <p:strVal val="#ppt_x"/>
                                          </p:val>
                                        </p:tav>
                                        <p:tav tm="100000">
                                          <p:val>
                                            <p:strVal val="#ppt_x"/>
                                          </p:val>
                                        </p:tav>
                                      </p:tavLst>
                                    </p:anim>
                                    <p:anim calcmode="lin" valueType="num">
                                      <p:cBhvr>
                                        <p:cTn id="35" dur="1000" fill="hold"/>
                                        <p:tgtEl>
                                          <p:spTgt spid="100"/>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par>
                                <p:cTn id="41" presetID="16" presetClass="entr" presetSubtype="21"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barn(inVertical)">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arn(inVertical)">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xit" presetSubtype="32" fill="hold" grpId="1" nodeType="clickEffect">
                                  <p:stCondLst>
                                    <p:cond delay="0"/>
                                  </p:stCondLst>
                                  <p:childTnLst>
                                    <p:animEffect transition="out" filter="circle(out)">
                                      <p:cBhvr>
                                        <p:cTn id="52" dur="500"/>
                                        <p:tgtEl>
                                          <p:spTgt spid="20"/>
                                        </p:tgtEl>
                                      </p:cBhvr>
                                    </p:animEffect>
                                    <p:set>
                                      <p:cBhvr>
                                        <p:cTn id="53" dur="1" fill="hold">
                                          <p:stCondLst>
                                            <p:cond delay="499"/>
                                          </p:stCondLst>
                                        </p:cTn>
                                        <p:tgtEl>
                                          <p:spTgt spid="20"/>
                                        </p:tgtEl>
                                        <p:attrNameLst>
                                          <p:attrName>style.visibility</p:attrName>
                                        </p:attrNameLst>
                                      </p:cBhvr>
                                      <p:to>
                                        <p:strVal val="hidden"/>
                                      </p:to>
                                    </p:set>
                                  </p:childTnLst>
                                </p:cTn>
                              </p:par>
                              <p:par>
                                <p:cTn id="54" presetID="16" presetClass="entr" presetSubtype="21" fill="hold" grpId="0" nodeType="withEffect">
                                  <p:stCondLst>
                                    <p:cond delay="500"/>
                                  </p:stCondLst>
                                  <p:childTnLst>
                                    <p:set>
                                      <p:cBhvr>
                                        <p:cTn id="55" dur="1" fill="hold">
                                          <p:stCondLst>
                                            <p:cond delay="0"/>
                                          </p:stCondLst>
                                        </p:cTn>
                                        <p:tgtEl>
                                          <p:spTgt spid="21"/>
                                        </p:tgtEl>
                                        <p:attrNameLst>
                                          <p:attrName>style.visibility</p:attrName>
                                        </p:attrNameLst>
                                      </p:cBhvr>
                                      <p:to>
                                        <p:strVal val="visible"/>
                                      </p:to>
                                    </p:set>
                                    <p:animEffect transition="in" filter="barn(inVertical)">
                                      <p:cBhvr>
                                        <p:cTn id="56" dur="500"/>
                                        <p:tgtEl>
                                          <p:spTgt spid="21"/>
                                        </p:tgtEl>
                                      </p:cBhvr>
                                    </p:animEffect>
                                  </p:childTnLst>
                                </p:cTn>
                              </p:par>
                            </p:childTnLst>
                          </p:cTn>
                        </p:par>
                      </p:childTnLst>
                    </p:cTn>
                  </p:par>
                  <p:par>
                    <p:cTn id="57" fill="hold">
                      <p:stCondLst>
                        <p:cond delay="indefinite"/>
                      </p:stCondLst>
                      <p:childTnLst>
                        <p:par>
                          <p:cTn id="58" fill="hold">
                            <p:stCondLst>
                              <p:cond delay="0"/>
                            </p:stCondLst>
                            <p:childTnLst>
                              <p:par>
                                <p:cTn id="59" presetID="6" presetClass="exit" presetSubtype="32" fill="hold" grpId="1" nodeType="clickEffect">
                                  <p:stCondLst>
                                    <p:cond delay="0"/>
                                  </p:stCondLst>
                                  <p:childTnLst>
                                    <p:animEffect transition="out" filter="circle(out)">
                                      <p:cBhvr>
                                        <p:cTn id="60" dur="500"/>
                                        <p:tgtEl>
                                          <p:spTgt spid="21"/>
                                        </p:tgtEl>
                                      </p:cBhvr>
                                    </p:animEffect>
                                    <p:set>
                                      <p:cBhvr>
                                        <p:cTn id="61" dur="1" fill="hold">
                                          <p:stCondLst>
                                            <p:cond delay="499"/>
                                          </p:stCondLst>
                                        </p:cTn>
                                        <p:tgtEl>
                                          <p:spTgt spid="21"/>
                                        </p:tgtEl>
                                        <p:attrNameLst>
                                          <p:attrName>style.visibility</p:attrName>
                                        </p:attrNameLst>
                                      </p:cBhvr>
                                      <p:to>
                                        <p:strVal val="hidden"/>
                                      </p:to>
                                    </p:set>
                                  </p:childTnLst>
                                </p:cTn>
                              </p:par>
                              <p:par>
                                <p:cTn id="62" presetID="16" presetClass="entr" presetSubtype="21" fill="hold" grpId="0" nodeType="withEffect">
                                  <p:stCondLst>
                                    <p:cond delay="500"/>
                                  </p:stCondLst>
                                  <p:childTnLst>
                                    <p:set>
                                      <p:cBhvr>
                                        <p:cTn id="63" dur="1" fill="hold">
                                          <p:stCondLst>
                                            <p:cond delay="0"/>
                                          </p:stCondLst>
                                        </p:cTn>
                                        <p:tgtEl>
                                          <p:spTgt spid="22"/>
                                        </p:tgtEl>
                                        <p:attrNameLst>
                                          <p:attrName>style.visibility</p:attrName>
                                        </p:attrNameLst>
                                      </p:cBhvr>
                                      <p:to>
                                        <p:strVal val="visible"/>
                                      </p:to>
                                    </p:set>
                                    <p:animEffect transition="in" filter="barn(inVertical)">
                                      <p:cBhvr>
                                        <p:cTn id="6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00" grpId="0"/>
      <p:bldP spid="26" grpId="0"/>
      <p:bldP spid="18" grpId="0"/>
      <p:bldP spid="19" grpId="0"/>
      <p:bldP spid="20" grpId="0"/>
      <p:bldP spid="20" grpId="1"/>
      <p:bldP spid="21" grpId="0"/>
      <p:bldP spid="21" grpId="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3103592" y="2100974"/>
            <a:ext cx="3005107" cy="350865"/>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3</a:t>
            </a:r>
            <a:endParaRPr lang="zh-CN" altLang="en-US" sz="1400" dirty="0">
              <a:solidFill>
                <a:schemeClr val="accent1"/>
              </a:solidFill>
              <a:cs typeface="+mn-ea"/>
              <a:sym typeface="+mn-lt"/>
            </a:endParaRPr>
          </a:p>
        </p:txBody>
      </p:sp>
      <p:sp>
        <p:nvSpPr>
          <p:cNvPr id="53" name="矩形 52"/>
          <p:cNvSpPr/>
          <p:nvPr/>
        </p:nvSpPr>
        <p:spPr>
          <a:xfrm>
            <a:off x="3306170" y="1316234"/>
            <a:ext cx="2802529" cy="757130"/>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1</a:t>
            </a:r>
            <a:r>
              <a:rPr lang="zh-CN" altLang="en-US" b="1" dirty="0" smtClean="0">
                <a:solidFill>
                  <a:schemeClr val="tx1">
                    <a:lumMod val="65000"/>
                    <a:lumOff val="35000"/>
                  </a:schemeClr>
                </a:solidFill>
                <a:cs typeface="+mn-ea"/>
                <a:sym typeface="+mn-lt"/>
              </a:rPr>
              <a:t>、若要使该图不再是强连通图，应删去几条边？</a:t>
            </a:r>
            <a:endParaRPr lang="zh-CN" altLang="en-US" b="1" dirty="0">
              <a:solidFill>
                <a:schemeClr val="tx1">
                  <a:lumMod val="65000"/>
                  <a:lumOff val="35000"/>
                </a:schemeClr>
              </a:solidFill>
              <a:cs typeface="+mn-ea"/>
              <a:sym typeface="+mn-lt"/>
            </a:endParaRPr>
          </a:p>
        </p:txBody>
      </p:sp>
      <p:pic>
        <p:nvPicPr>
          <p:cNvPr id="63" name="图片 6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64" name="图片 6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65" name="文本框 6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66" name="矩形 65"/>
          <p:cNvSpPr/>
          <p:nvPr/>
        </p:nvSpPr>
        <p:spPr>
          <a:xfrm>
            <a:off x="1996803" y="776898"/>
            <a:ext cx="3792866" cy="276999"/>
          </a:xfrm>
          <a:prstGeom prst="rect">
            <a:avLst/>
          </a:prstGeom>
        </p:spPr>
        <p:txBody>
          <a:bodyPr wrap="square">
            <a:spAutoFit/>
          </a:bodyPr>
          <a:lstStyle/>
          <a:p>
            <a:pPr>
              <a:defRPr/>
            </a:pPr>
            <a:r>
              <a:rPr lang="en-US" altLang="zh-CN" sz="1200" dirty="0">
                <a:solidFill>
                  <a:schemeClr val="accent3"/>
                </a:solidFill>
                <a:cs typeface="+mn-ea"/>
                <a:sym typeface="+mn-lt"/>
              </a:rPr>
              <a:t>Basic Concepts </a:t>
            </a:r>
            <a:endParaRPr lang="zh-CN" altLang="en-US" sz="1200" dirty="0">
              <a:solidFill>
                <a:schemeClr val="accent3"/>
              </a:solidFill>
              <a:cs typeface="+mn-ea"/>
              <a:sym typeface="+mn-lt"/>
            </a:endParaRPr>
          </a:p>
        </p:txBody>
      </p:sp>
      <p:cxnSp>
        <p:nvCxnSpPr>
          <p:cNvPr id="67" name="直接连接符 6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511354" y="177223"/>
            <a:ext cx="64633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3882" y="1131759"/>
            <a:ext cx="2302289" cy="1824358"/>
          </a:xfrm>
          <a:prstGeom prst="rect">
            <a:avLst/>
          </a:prstGeom>
        </p:spPr>
      </p:pic>
      <p:sp>
        <p:nvSpPr>
          <p:cNvPr id="60" name="矩形 59"/>
          <p:cNvSpPr/>
          <p:nvPr/>
        </p:nvSpPr>
        <p:spPr>
          <a:xfrm>
            <a:off x="1003881" y="2968574"/>
            <a:ext cx="5104817" cy="757130"/>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2</a:t>
            </a:r>
            <a:r>
              <a:rPr lang="zh-CN" altLang="en-US" b="1" dirty="0" smtClean="0">
                <a:solidFill>
                  <a:schemeClr val="tx1">
                    <a:lumMod val="65000"/>
                    <a:lumOff val="35000"/>
                  </a:schemeClr>
                </a:solidFill>
                <a:cs typeface="+mn-ea"/>
                <a:sym typeface="+mn-lt"/>
              </a:rPr>
              <a:t>、</a:t>
            </a:r>
            <a:r>
              <a:rPr lang="en-US" altLang="zh-CN" b="1" dirty="0" smtClean="0">
                <a:solidFill>
                  <a:schemeClr val="tx1">
                    <a:lumMod val="65000"/>
                    <a:lumOff val="35000"/>
                  </a:schemeClr>
                </a:solidFill>
                <a:cs typeface="+mn-ea"/>
                <a:sym typeface="+mn-lt"/>
              </a:rPr>
              <a:t>G</a:t>
            </a:r>
            <a:r>
              <a:rPr lang="zh-CN" altLang="en-US" b="1" dirty="0" smtClean="0">
                <a:solidFill>
                  <a:schemeClr val="tx1">
                    <a:lumMod val="65000"/>
                    <a:lumOff val="35000"/>
                  </a:schemeClr>
                </a:solidFill>
                <a:cs typeface="+mn-ea"/>
                <a:sym typeface="+mn-lt"/>
              </a:rPr>
              <a:t>是一个连通的无向图，共有</a:t>
            </a:r>
            <a:r>
              <a:rPr lang="en-US" altLang="zh-CN" b="1" dirty="0" smtClean="0">
                <a:solidFill>
                  <a:schemeClr val="tx1">
                    <a:lumMod val="65000"/>
                    <a:lumOff val="35000"/>
                  </a:schemeClr>
                </a:solidFill>
                <a:cs typeface="+mn-ea"/>
                <a:sym typeface="+mn-lt"/>
              </a:rPr>
              <a:t>6</a:t>
            </a:r>
            <a:r>
              <a:rPr lang="zh-CN" altLang="en-US" b="1" dirty="0" smtClean="0">
                <a:solidFill>
                  <a:schemeClr val="tx1">
                    <a:lumMod val="65000"/>
                    <a:lumOff val="35000"/>
                  </a:schemeClr>
                </a:solidFill>
                <a:cs typeface="+mn-ea"/>
                <a:sym typeface="+mn-lt"/>
              </a:rPr>
              <a:t>条边，则它至多有几个顶点？</a:t>
            </a:r>
            <a:endParaRPr lang="zh-CN" altLang="en-US" b="1" dirty="0">
              <a:solidFill>
                <a:schemeClr val="tx1">
                  <a:lumMod val="65000"/>
                  <a:lumOff val="35000"/>
                </a:schemeClr>
              </a:solidFill>
              <a:cs typeface="+mn-ea"/>
              <a:sym typeface="+mn-lt"/>
            </a:endParaRPr>
          </a:p>
        </p:txBody>
      </p:sp>
      <p:sp>
        <p:nvSpPr>
          <p:cNvPr id="61" name="矩形 60"/>
          <p:cNvSpPr/>
          <p:nvPr/>
        </p:nvSpPr>
        <p:spPr>
          <a:xfrm>
            <a:off x="3103591" y="3725704"/>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7</a:t>
            </a:r>
            <a:endParaRPr lang="zh-CN" altLang="en-US" sz="1400" dirty="0">
              <a:solidFill>
                <a:schemeClr val="accent1"/>
              </a:solidFill>
              <a:cs typeface="+mn-ea"/>
              <a:sym typeface="+mn-lt"/>
            </a:endParaRPr>
          </a:p>
        </p:txBody>
      </p:sp>
      <p:sp>
        <p:nvSpPr>
          <p:cNvPr id="69" name="矩形 68"/>
          <p:cNvSpPr/>
          <p:nvPr/>
        </p:nvSpPr>
        <p:spPr>
          <a:xfrm>
            <a:off x="1003881" y="4127886"/>
            <a:ext cx="5104817" cy="39613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3</a:t>
            </a:r>
            <a:r>
              <a:rPr lang="zh-CN" altLang="en-US" b="1" dirty="0" smtClean="0">
                <a:solidFill>
                  <a:schemeClr val="tx1">
                    <a:lumMod val="65000"/>
                    <a:lumOff val="35000"/>
                  </a:schemeClr>
                </a:solidFill>
                <a:cs typeface="+mn-ea"/>
                <a:sym typeface="+mn-lt"/>
              </a:rPr>
              <a:t>、</a:t>
            </a:r>
            <a:r>
              <a:rPr lang="en-US" altLang="zh-CN" b="1" dirty="0" smtClean="0">
                <a:solidFill>
                  <a:schemeClr val="tx1">
                    <a:lumMod val="65000"/>
                    <a:lumOff val="35000"/>
                  </a:schemeClr>
                </a:solidFill>
                <a:cs typeface="+mn-ea"/>
                <a:sym typeface="+mn-lt"/>
              </a:rPr>
              <a:t>4</a:t>
            </a:r>
            <a:r>
              <a:rPr lang="zh-CN" altLang="en-US" b="1" dirty="0" smtClean="0">
                <a:solidFill>
                  <a:schemeClr val="tx1">
                    <a:lumMod val="65000"/>
                    <a:lumOff val="35000"/>
                  </a:schemeClr>
                </a:solidFill>
                <a:cs typeface="+mn-ea"/>
                <a:sym typeface="+mn-lt"/>
              </a:rPr>
              <a:t>阶有向完全图的边数为？</a:t>
            </a:r>
            <a:endParaRPr lang="zh-CN" altLang="en-US" b="1" dirty="0">
              <a:solidFill>
                <a:schemeClr val="tx1">
                  <a:lumMod val="65000"/>
                  <a:lumOff val="35000"/>
                </a:schemeClr>
              </a:solidFill>
              <a:cs typeface="+mn-ea"/>
              <a:sym typeface="+mn-lt"/>
            </a:endParaRPr>
          </a:p>
        </p:txBody>
      </p:sp>
      <p:sp>
        <p:nvSpPr>
          <p:cNvPr id="70" name="矩形 69"/>
          <p:cNvSpPr/>
          <p:nvPr/>
        </p:nvSpPr>
        <p:spPr>
          <a:xfrm>
            <a:off x="3103590" y="4552618"/>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12</a:t>
            </a:r>
            <a:endParaRPr lang="zh-CN" altLang="en-US" sz="1400" dirty="0">
              <a:solidFill>
                <a:schemeClr val="accent1"/>
              </a:solidFill>
              <a:cs typeface="+mn-ea"/>
              <a:sym typeface="+mn-lt"/>
            </a:endParaRPr>
          </a:p>
        </p:txBody>
      </p:sp>
      <p:sp>
        <p:nvSpPr>
          <p:cNvPr id="71" name="矩形 70"/>
          <p:cNvSpPr/>
          <p:nvPr/>
        </p:nvSpPr>
        <p:spPr>
          <a:xfrm>
            <a:off x="1003881" y="5004186"/>
            <a:ext cx="5104817" cy="757130"/>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4</a:t>
            </a:r>
            <a:r>
              <a:rPr lang="zh-CN" altLang="en-US" b="1" dirty="0" smtClean="0">
                <a:solidFill>
                  <a:schemeClr val="tx1">
                    <a:lumMod val="65000"/>
                    <a:lumOff val="35000"/>
                  </a:schemeClr>
                </a:solidFill>
                <a:cs typeface="+mn-ea"/>
                <a:sym typeface="+mn-lt"/>
              </a:rPr>
              <a:t>、在有</a:t>
            </a:r>
            <a:r>
              <a:rPr lang="en-US" altLang="zh-CN" b="1" dirty="0" smtClean="0">
                <a:solidFill>
                  <a:schemeClr val="tx1">
                    <a:lumMod val="65000"/>
                    <a:lumOff val="35000"/>
                  </a:schemeClr>
                </a:solidFill>
                <a:cs typeface="+mn-ea"/>
                <a:sym typeface="+mn-lt"/>
              </a:rPr>
              <a:t>n</a:t>
            </a:r>
            <a:r>
              <a:rPr lang="zh-CN" altLang="en-US" b="1" dirty="0" smtClean="0">
                <a:solidFill>
                  <a:schemeClr val="tx1">
                    <a:lumMod val="65000"/>
                    <a:lumOff val="35000"/>
                  </a:schemeClr>
                </a:solidFill>
                <a:cs typeface="+mn-ea"/>
                <a:sym typeface="+mn-lt"/>
              </a:rPr>
              <a:t>个结点的强连通图中，其边数至少有几条？</a:t>
            </a:r>
            <a:endParaRPr lang="zh-CN" altLang="en-US" b="1" dirty="0">
              <a:solidFill>
                <a:schemeClr val="tx1">
                  <a:lumMod val="65000"/>
                  <a:lumOff val="35000"/>
                </a:schemeClr>
              </a:solidFill>
              <a:cs typeface="+mn-ea"/>
              <a:sym typeface="+mn-lt"/>
            </a:endParaRPr>
          </a:p>
        </p:txBody>
      </p:sp>
      <p:sp>
        <p:nvSpPr>
          <p:cNvPr id="72" name="矩形 71"/>
          <p:cNvSpPr/>
          <p:nvPr/>
        </p:nvSpPr>
        <p:spPr>
          <a:xfrm>
            <a:off x="3103588" y="5518686"/>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n</a:t>
            </a:r>
            <a:endParaRPr lang="zh-CN" altLang="en-US" sz="1400" dirty="0">
              <a:solidFill>
                <a:schemeClr val="accent1"/>
              </a:solidFill>
              <a:cs typeface="+mn-ea"/>
              <a:sym typeface="+mn-lt"/>
            </a:endParaRPr>
          </a:p>
        </p:txBody>
      </p:sp>
      <p:sp>
        <p:nvSpPr>
          <p:cNvPr id="73" name="矩形 72"/>
          <p:cNvSpPr/>
          <p:nvPr/>
        </p:nvSpPr>
        <p:spPr>
          <a:xfrm>
            <a:off x="6379204" y="1343844"/>
            <a:ext cx="5104817" cy="728533"/>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5</a:t>
            </a:r>
            <a:r>
              <a:rPr lang="zh-CN" altLang="en-US" b="1" dirty="0" smtClean="0">
                <a:solidFill>
                  <a:schemeClr val="tx1">
                    <a:lumMod val="65000"/>
                    <a:lumOff val="35000"/>
                  </a:schemeClr>
                </a:solidFill>
                <a:cs typeface="+mn-ea"/>
                <a:sym typeface="+mn-lt"/>
              </a:rPr>
              <a:t>、设有向简单图的顶点个数为</a:t>
            </a:r>
            <a:r>
              <a:rPr lang="en-US" altLang="zh-CN" b="1" dirty="0" smtClean="0">
                <a:solidFill>
                  <a:schemeClr val="tx1">
                    <a:lumMod val="65000"/>
                    <a:lumOff val="35000"/>
                  </a:schemeClr>
                </a:solidFill>
                <a:cs typeface="+mn-ea"/>
                <a:sym typeface="+mn-lt"/>
              </a:rPr>
              <a:t>n</a:t>
            </a:r>
            <a:r>
              <a:rPr lang="zh-CN" altLang="en-US" b="1" dirty="0" smtClean="0">
                <a:solidFill>
                  <a:schemeClr val="tx1">
                    <a:lumMod val="65000"/>
                    <a:lumOff val="35000"/>
                  </a:schemeClr>
                </a:solidFill>
                <a:cs typeface="+mn-ea"/>
                <a:sym typeface="+mn-lt"/>
              </a:rPr>
              <a:t>，则该图最多有几条边？</a:t>
            </a:r>
            <a:endParaRPr lang="zh-CN" altLang="en-US" b="1" dirty="0">
              <a:solidFill>
                <a:schemeClr val="tx1">
                  <a:lumMod val="65000"/>
                  <a:lumOff val="35000"/>
                </a:schemeClr>
              </a:solidFill>
              <a:cs typeface="+mn-ea"/>
              <a:sym typeface="+mn-lt"/>
            </a:endParaRPr>
          </a:p>
        </p:txBody>
      </p:sp>
      <p:sp>
        <p:nvSpPr>
          <p:cNvPr id="74" name="矩形 73"/>
          <p:cNvSpPr/>
          <p:nvPr/>
        </p:nvSpPr>
        <p:spPr>
          <a:xfrm>
            <a:off x="8478914" y="2112867"/>
            <a:ext cx="3005107" cy="350865"/>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n(n-1)</a:t>
            </a:r>
            <a:endParaRPr lang="zh-CN" altLang="en-US" sz="1400" dirty="0">
              <a:solidFill>
                <a:schemeClr val="accent1"/>
              </a:solidFill>
              <a:cs typeface="+mn-ea"/>
              <a:sym typeface="+mn-lt"/>
            </a:endParaRPr>
          </a:p>
        </p:txBody>
      </p:sp>
      <p:sp>
        <p:nvSpPr>
          <p:cNvPr id="75" name="矩形 74"/>
          <p:cNvSpPr/>
          <p:nvPr/>
        </p:nvSpPr>
        <p:spPr>
          <a:xfrm>
            <a:off x="6379203" y="2591850"/>
            <a:ext cx="5104817" cy="757130"/>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6</a:t>
            </a:r>
            <a:r>
              <a:rPr lang="zh-CN" altLang="en-US" b="1" dirty="0" smtClean="0">
                <a:solidFill>
                  <a:schemeClr val="tx1">
                    <a:lumMod val="65000"/>
                    <a:lumOff val="35000"/>
                  </a:schemeClr>
                </a:solidFill>
                <a:cs typeface="+mn-ea"/>
                <a:sym typeface="+mn-lt"/>
              </a:rPr>
              <a:t>、要连通具有</a:t>
            </a:r>
            <a:r>
              <a:rPr lang="en-US" altLang="zh-CN" b="1" dirty="0" smtClean="0">
                <a:solidFill>
                  <a:schemeClr val="tx1">
                    <a:lumMod val="65000"/>
                    <a:lumOff val="35000"/>
                  </a:schemeClr>
                </a:solidFill>
                <a:cs typeface="+mn-ea"/>
                <a:sym typeface="+mn-lt"/>
              </a:rPr>
              <a:t>n</a:t>
            </a:r>
            <a:r>
              <a:rPr lang="zh-CN" altLang="en-US" b="1" dirty="0" smtClean="0">
                <a:solidFill>
                  <a:schemeClr val="tx1">
                    <a:lumMod val="65000"/>
                    <a:lumOff val="35000"/>
                  </a:schemeClr>
                </a:solidFill>
                <a:cs typeface="+mn-ea"/>
                <a:sym typeface="+mn-lt"/>
              </a:rPr>
              <a:t>个顶点的无向图，至少需要几条边？</a:t>
            </a:r>
            <a:endParaRPr lang="zh-CN" altLang="en-US" b="1" dirty="0">
              <a:solidFill>
                <a:schemeClr val="tx1">
                  <a:lumMod val="65000"/>
                  <a:lumOff val="35000"/>
                </a:schemeClr>
              </a:solidFill>
              <a:cs typeface="+mn-ea"/>
              <a:sym typeface="+mn-lt"/>
            </a:endParaRPr>
          </a:p>
        </p:txBody>
      </p:sp>
      <p:sp>
        <p:nvSpPr>
          <p:cNvPr id="76" name="矩形 75"/>
          <p:cNvSpPr/>
          <p:nvPr/>
        </p:nvSpPr>
        <p:spPr>
          <a:xfrm>
            <a:off x="8478913" y="3171706"/>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n-1</a:t>
            </a:r>
            <a:endParaRPr lang="zh-CN" altLang="en-US" sz="1400" dirty="0">
              <a:solidFill>
                <a:schemeClr val="accent1"/>
              </a:solidFill>
              <a:cs typeface="+mn-ea"/>
              <a:sym typeface="+mn-lt"/>
            </a:endParaRPr>
          </a:p>
        </p:txBody>
      </p:sp>
      <p:pic>
        <p:nvPicPr>
          <p:cNvPr id="77" name="图片 7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79204" y="3498783"/>
            <a:ext cx="2873362" cy="2752725"/>
          </a:xfrm>
          <a:prstGeom prst="rect">
            <a:avLst/>
          </a:prstGeom>
        </p:spPr>
      </p:pic>
      <p:sp>
        <p:nvSpPr>
          <p:cNvPr id="78" name="矩形 77"/>
          <p:cNvSpPr/>
          <p:nvPr/>
        </p:nvSpPr>
        <p:spPr>
          <a:xfrm>
            <a:off x="9252567" y="3510677"/>
            <a:ext cx="2736234" cy="1421928"/>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smtClean="0">
                <a:solidFill>
                  <a:schemeClr val="tx1">
                    <a:lumMod val="65000"/>
                    <a:lumOff val="35000"/>
                  </a:schemeClr>
                </a:solidFill>
                <a:cs typeface="+mn-ea"/>
                <a:sym typeface="+mn-lt"/>
              </a:rPr>
              <a:t>7</a:t>
            </a:r>
            <a:r>
              <a:rPr lang="zh-CN" altLang="en-US" b="1" dirty="0" smtClean="0">
                <a:solidFill>
                  <a:schemeClr val="tx1">
                    <a:lumMod val="65000"/>
                    <a:lumOff val="35000"/>
                  </a:schemeClr>
                </a:solidFill>
                <a:cs typeface="+mn-ea"/>
                <a:sym typeface="+mn-lt"/>
              </a:rPr>
              <a:t>、图中简单路径的最大权值？</a:t>
            </a:r>
            <a:endParaRPr lang="en-US" altLang="zh-CN" b="1" dirty="0" smtClean="0">
              <a:solidFill>
                <a:schemeClr val="tx1">
                  <a:lumMod val="65000"/>
                  <a:lumOff val="35000"/>
                </a:schemeClr>
              </a:solidFill>
              <a:cs typeface="+mn-ea"/>
              <a:sym typeface="+mn-lt"/>
            </a:endParaRPr>
          </a:p>
          <a:p>
            <a:pPr>
              <a:lnSpc>
                <a:spcPct val="120000"/>
              </a:lnSpc>
            </a:pPr>
            <a:r>
              <a:rPr lang="zh-CN" altLang="en-US" b="1" dirty="0" smtClean="0">
                <a:solidFill>
                  <a:schemeClr val="tx1">
                    <a:lumMod val="65000"/>
                    <a:lumOff val="35000"/>
                  </a:schemeClr>
                </a:solidFill>
                <a:cs typeface="+mn-ea"/>
                <a:sym typeface="+mn-lt"/>
              </a:rPr>
              <a:t>点</a:t>
            </a:r>
            <a:r>
              <a:rPr lang="en-US" altLang="zh-CN" b="1" dirty="0" smtClean="0">
                <a:solidFill>
                  <a:schemeClr val="tx1">
                    <a:lumMod val="65000"/>
                    <a:lumOff val="35000"/>
                  </a:schemeClr>
                </a:solidFill>
                <a:cs typeface="+mn-ea"/>
                <a:sym typeface="+mn-lt"/>
              </a:rPr>
              <a:t>V0</a:t>
            </a:r>
            <a:r>
              <a:rPr lang="zh-CN" altLang="en-US" b="1" dirty="0" smtClean="0">
                <a:solidFill>
                  <a:schemeClr val="tx1">
                    <a:lumMod val="65000"/>
                    <a:lumOff val="35000"/>
                  </a:schemeClr>
                </a:solidFill>
                <a:cs typeface="+mn-ea"/>
                <a:sym typeface="+mn-lt"/>
              </a:rPr>
              <a:t>至点</a:t>
            </a:r>
            <a:r>
              <a:rPr lang="en-US" altLang="zh-CN" b="1" dirty="0" smtClean="0">
                <a:solidFill>
                  <a:schemeClr val="tx1">
                    <a:lumMod val="65000"/>
                    <a:lumOff val="35000"/>
                  </a:schemeClr>
                </a:solidFill>
                <a:cs typeface="+mn-ea"/>
                <a:sym typeface="+mn-lt"/>
              </a:rPr>
              <a:t>V4</a:t>
            </a:r>
            <a:r>
              <a:rPr lang="zh-CN" altLang="en-US" b="1" dirty="0" smtClean="0">
                <a:solidFill>
                  <a:schemeClr val="tx1">
                    <a:lumMod val="65000"/>
                    <a:lumOff val="35000"/>
                  </a:schemeClr>
                </a:solidFill>
                <a:cs typeface="+mn-ea"/>
                <a:sym typeface="+mn-lt"/>
              </a:rPr>
              <a:t>路径的最小权值？</a:t>
            </a:r>
            <a:endParaRPr lang="zh-CN" altLang="en-US" b="1" dirty="0">
              <a:solidFill>
                <a:schemeClr val="tx1">
                  <a:lumMod val="65000"/>
                  <a:lumOff val="35000"/>
                </a:schemeClr>
              </a:solidFill>
              <a:cs typeface="+mn-ea"/>
              <a:sym typeface="+mn-lt"/>
            </a:endParaRPr>
          </a:p>
        </p:txBody>
      </p:sp>
      <p:sp>
        <p:nvSpPr>
          <p:cNvPr id="79" name="矩形 78"/>
          <p:cNvSpPr/>
          <p:nvPr/>
        </p:nvSpPr>
        <p:spPr>
          <a:xfrm>
            <a:off x="8478914" y="4932605"/>
            <a:ext cx="3005107" cy="609398"/>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accent1"/>
                </a:solidFill>
                <a:cs typeface="+mn-ea"/>
                <a:sym typeface="+mn-lt"/>
              </a:rPr>
              <a:t>100</a:t>
            </a:r>
          </a:p>
          <a:p>
            <a:pPr algn="r">
              <a:lnSpc>
                <a:spcPct val="120000"/>
              </a:lnSpc>
            </a:pPr>
            <a:r>
              <a:rPr lang="en-US" altLang="zh-CN" sz="1400" dirty="0" smtClean="0">
                <a:solidFill>
                  <a:schemeClr val="accent1"/>
                </a:solidFill>
                <a:cs typeface="+mn-ea"/>
                <a:sym typeface="+mn-lt"/>
              </a:rPr>
              <a:t>60</a:t>
            </a:r>
            <a:endParaRPr lang="zh-CN" altLang="en-US" sz="1400" dirty="0">
              <a:solidFill>
                <a:schemeClr val="accent1"/>
              </a:solidFill>
              <a:cs typeface="+mn-ea"/>
              <a:sym typeface="+mn-lt"/>
            </a:endParaRPr>
          </a:p>
        </p:txBody>
      </p:sp>
    </p:spTree>
    <p:extLst>
      <p:ext uri="{BB962C8B-B14F-4D97-AF65-F5344CB8AC3E}">
        <p14:creationId xmlns:p14="http://schemas.microsoft.com/office/powerpoint/2010/main" val="1618942846"/>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randombar(horizontal)">
                                      <p:cBhvr>
                                        <p:cTn id="7" dur="500"/>
                                        <p:tgtEl>
                                          <p:spTgt spid="4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1000"/>
                                        <p:tgtEl>
                                          <p:spTgt spid="53"/>
                                        </p:tgtEl>
                                      </p:cBhvr>
                                    </p:animEffect>
                                    <p:anim calcmode="lin" valueType="num">
                                      <p:cBhvr>
                                        <p:cTn id="17" dur="1000" fill="hold"/>
                                        <p:tgtEl>
                                          <p:spTgt spid="53"/>
                                        </p:tgtEl>
                                        <p:attrNameLst>
                                          <p:attrName>ppt_x</p:attrName>
                                        </p:attrNameLst>
                                      </p:cBhvr>
                                      <p:tavLst>
                                        <p:tav tm="0">
                                          <p:val>
                                            <p:strVal val="#ppt_x"/>
                                          </p:val>
                                        </p:tav>
                                        <p:tav tm="100000">
                                          <p:val>
                                            <p:strVal val="#ppt_x"/>
                                          </p:val>
                                        </p:tav>
                                      </p:tavLst>
                                    </p:anim>
                                    <p:anim calcmode="lin" valueType="num">
                                      <p:cBhvr>
                                        <p:cTn id="18" dur="1000" fill="hold"/>
                                        <p:tgtEl>
                                          <p:spTgt spid="5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1000"/>
                                        <p:tgtEl>
                                          <p:spTgt spid="60"/>
                                        </p:tgtEl>
                                      </p:cBhvr>
                                    </p:animEffect>
                                    <p:anim calcmode="lin" valueType="num">
                                      <p:cBhvr>
                                        <p:cTn id="22" dur="1000" fill="hold"/>
                                        <p:tgtEl>
                                          <p:spTgt spid="60"/>
                                        </p:tgtEl>
                                        <p:attrNameLst>
                                          <p:attrName>ppt_x</p:attrName>
                                        </p:attrNameLst>
                                      </p:cBhvr>
                                      <p:tavLst>
                                        <p:tav tm="0">
                                          <p:val>
                                            <p:strVal val="#ppt_x"/>
                                          </p:val>
                                        </p:tav>
                                        <p:tav tm="100000">
                                          <p:val>
                                            <p:strVal val="#ppt_x"/>
                                          </p:val>
                                        </p:tav>
                                      </p:tavLst>
                                    </p:anim>
                                    <p:anim calcmode="lin" valueType="num">
                                      <p:cBhvr>
                                        <p:cTn id="23" dur="1000" fill="hold"/>
                                        <p:tgtEl>
                                          <p:spTgt spid="6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1000"/>
                                        <p:tgtEl>
                                          <p:spTgt spid="69"/>
                                        </p:tgtEl>
                                      </p:cBhvr>
                                    </p:animEffect>
                                    <p:anim calcmode="lin" valueType="num">
                                      <p:cBhvr>
                                        <p:cTn id="27" dur="1000" fill="hold"/>
                                        <p:tgtEl>
                                          <p:spTgt spid="69"/>
                                        </p:tgtEl>
                                        <p:attrNameLst>
                                          <p:attrName>ppt_x</p:attrName>
                                        </p:attrNameLst>
                                      </p:cBhvr>
                                      <p:tavLst>
                                        <p:tav tm="0">
                                          <p:val>
                                            <p:strVal val="#ppt_x"/>
                                          </p:val>
                                        </p:tav>
                                        <p:tav tm="100000">
                                          <p:val>
                                            <p:strVal val="#ppt_x"/>
                                          </p:val>
                                        </p:tav>
                                      </p:tavLst>
                                    </p:anim>
                                    <p:anim calcmode="lin" valueType="num">
                                      <p:cBhvr>
                                        <p:cTn id="28" dur="1000" fill="hold"/>
                                        <p:tgtEl>
                                          <p:spTgt spid="6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1"/>
                                        </p:tgtEl>
                                        <p:attrNameLst>
                                          <p:attrName>style.visibility</p:attrName>
                                        </p:attrNameLst>
                                      </p:cBhvr>
                                      <p:to>
                                        <p:strVal val="visible"/>
                                      </p:to>
                                    </p:set>
                                    <p:animEffect transition="in" filter="fade">
                                      <p:cBhvr>
                                        <p:cTn id="31" dur="1000"/>
                                        <p:tgtEl>
                                          <p:spTgt spid="71"/>
                                        </p:tgtEl>
                                      </p:cBhvr>
                                    </p:animEffect>
                                    <p:anim calcmode="lin" valueType="num">
                                      <p:cBhvr>
                                        <p:cTn id="32" dur="1000" fill="hold"/>
                                        <p:tgtEl>
                                          <p:spTgt spid="71"/>
                                        </p:tgtEl>
                                        <p:attrNameLst>
                                          <p:attrName>ppt_x</p:attrName>
                                        </p:attrNameLst>
                                      </p:cBhvr>
                                      <p:tavLst>
                                        <p:tav tm="0">
                                          <p:val>
                                            <p:strVal val="#ppt_x"/>
                                          </p:val>
                                        </p:tav>
                                        <p:tav tm="100000">
                                          <p:val>
                                            <p:strVal val="#ppt_x"/>
                                          </p:val>
                                        </p:tav>
                                      </p:tavLst>
                                    </p:anim>
                                    <p:anim calcmode="lin" valueType="num">
                                      <p:cBhvr>
                                        <p:cTn id="33" dur="1000" fill="hold"/>
                                        <p:tgtEl>
                                          <p:spTgt spid="7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3"/>
                                        </p:tgtEl>
                                        <p:attrNameLst>
                                          <p:attrName>style.visibility</p:attrName>
                                        </p:attrNameLst>
                                      </p:cBhvr>
                                      <p:to>
                                        <p:strVal val="visible"/>
                                      </p:to>
                                    </p:set>
                                    <p:animEffect transition="in" filter="fade">
                                      <p:cBhvr>
                                        <p:cTn id="36" dur="1000"/>
                                        <p:tgtEl>
                                          <p:spTgt spid="73"/>
                                        </p:tgtEl>
                                      </p:cBhvr>
                                    </p:animEffect>
                                    <p:anim calcmode="lin" valueType="num">
                                      <p:cBhvr>
                                        <p:cTn id="37" dur="1000" fill="hold"/>
                                        <p:tgtEl>
                                          <p:spTgt spid="73"/>
                                        </p:tgtEl>
                                        <p:attrNameLst>
                                          <p:attrName>ppt_x</p:attrName>
                                        </p:attrNameLst>
                                      </p:cBhvr>
                                      <p:tavLst>
                                        <p:tav tm="0">
                                          <p:val>
                                            <p:strVal val="#ppt_x"/>
                                          </p:val>
                                        </p:tav>
                                        <p:tav tm="100000">
                                          <p:val>
                                            <p:strVal val="#ppt_x"/>
                                          </p:val>
                                        </p:tav>
                                      </p:tavLst>
                                    </p:anim>
                                    <p:anim calcmode="lin" valueType="num">
                                      <p:cBhvr>
                                        <p:cTn id="38" dur="1000" fill="hold"/>
                                        <p:tgtEl>
                                          <p:spTgt spid="7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1000"/>
                                        <p:tgtEl>
                                          <p:spTgt spid="75"/>
                                        </p:tgtEl>
                                      </p:cBhvr>
                                    </p:animEffect>
                                    <p:anim calcmode="lin" valueType="num">
                                      <p:cBhvr>
                                        <p:cTn id="42" dur="1000" fill="hold"/>
                                        <p:tgtEl>
                                          <p:spTgt spid="75"/>
                                        </p:tgtEl>
                                        <p:attrNameLst>
                                          <p:attrName>ppt_x</p:attrName>
                                        </p:attrNameLst>
                                      </p:cBhvr>
                                      <p:tavLst>
                                        <p:tav tm="0">
                                          <p:val>
                                            <p:strVal val="#ppt_x"/>
                                          </p:val>
                                        </p:tav>
                                        <p:tav tm="100000">
                                          <p:val>
                                            <p:strVal val="#ppt_x"/>
                                          </p:val>
                                        </p:tav>
                                      </p:tavLst>
                                    </p:anim>
                                    <p:anim calcmode="lin" valueType="num">
                                      <p:cBhvr>
                                        <p:cTn id="43" dur="1000" fill="hold"/>
                                        <p:tgtEl>
                                          <p:spTgt spid="7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1000"/>
                                        <p:tgtEl>
                                          <p:spTgt spid="78"/>
                                        </p:tgtEl>
                                      </p:cBhvr>
                                    </p:animEffect>
                                    <p:anim calcmode="lin" valueType="num">
                                      <p:cBhvr>
                                        <p:cTn id="47" dur="1000" fill="hold"/>
                                        <p:tgtEl>
                                          <p:spTgt spid="78"/>
                                        </p:tgtEl>
                                        <p:attrNameLst>
                                          <p:attrName>ppt_x</p:attrName>
                                        </p:attrNameLst>
                                      </p:cBhvr>
                                      <p:tavLst>
                                        <p:tav tm="0">
                                          <p:val>
                                            <p:strVal val="#ppt_x"/>
                                          </p:val>
                                        </p:tav>
                                        <p:tav tm="100000">
                                          <p:val>
                                            <p:strVal val="#ppt_x"/>
                                          </p:val>
                                        </p:tav>
                                      </p:tavLst>
                                    </p:anim>
                                    <p:anim calcmode="lin" valueType="num">
                                      <p:cBhvr>
                                        <p:cTn id="48" dur="1000" fill="hold"/>
                                        <p:tgtEl>
                                          <p:spTgt spid="7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fade">
                                      <p:cBhvr>
                                        <p:cTn id="51" dur="1000"/>
                                        <p:tgtEl>
                                          <p:spTgt spid="77"/>
                                        </p:tgtEl>
                                      </p:cBhvr>
                                    </p:animEffect>
                                    <p:anim calcmode="lin" valueType="num">
                                      <p:cBhvr>
                                        <p:cTn id="52" dur="1000" fill="hold"/>
                                        <p:tgtEl>
                                          <p:spTgt spid="77"/>
                                        </p:tgtEl>
                                        <p:attrNameLst>
                                          <p:attrName>ppt_x</p:attrName>
                                        </p:attrNameLst>
                                      </p:cBhvr>
                                      <p:tavLst>
                                        <p:tav tm="0">
                                          <p:val>
                                            <p:strVal val="#ppt_x"/>
                                          </p:val>
                                        </p:tav>
                                        <p:tav tm="100000">
                                          <p:val>
                                            <p:strVal val="#ppt_x"/>
                                          </p:val>
                                        </p:tav>
                                      </p:tavLst>
                                    </p:anim>
                                    <p:anim calcmode="lin" valueType="num">
                                      <p:cBhvr>
                                        <p:cTn id="53"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down)">
                                      <p:cBhvr>
                                        <p:cTn id="58" dur="500"/>
                                        <p:tgtEl>
                                          <p:spTgt spid="5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wipe(down)">
                                      <p:cBhvr>
                                        <p:cTn id="63" dur="500"/>
                                        <p:tgtEl>
                                          <p:spTgt spid="6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70"/>
                                        </p:tgtEl>
                                        <p:attrNameLst>
                                          <p:attrName>style.visibility</p:attrName>
                                        </p:attrNameLst>
                                      </p:cBhvr>
                                      <p:to>
                                        <p:strVal val="visible"/>
                                      </p:to>
                                    </p:set>
                                    <p:animEffect transition="in" filter="wipe(down)">
                                      <p:cBhvr>
                                        <p:cTn id="68" dur="500"/>
                                        <p:tgtEl>
                                          <p:spTgt spid="7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72"/>
                                        </p:tgtEl>
                                        <p:attrNameLst>
                                          <p:attrName>style.visibility</p:attrName>
                                        </p:attrNameLst>
                                      </p:cBhvr>
                                      <p:to>
                                        <p:strVal val="visible"/>
                                      </p:to>
                                    </p:set>
                                    <p:animEffect transition="in" filter="wipe(down)">
                                      <p:cBhvr>
                                        <p:cTn id="73" dur="500"/>
                                        <p:tgtEl>
                                          <p:spTgt spid="7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74"/>
                                        </p:tgtEl>
                                        <p:attrNameLst>
                                          <p:attrName>style.visibility</p:attrName>
                                        </p:attrNameLst>
                                      </p:cBhvr>
                                      <p:to>
                                        <p:strVal val="visible"/>
                                      </p:to>
                                    </p:set>
                                    <p:animEffect transition="in" filter="wipe(down)">
                                      <p:cBhvr>
                                        <p:cTn id="78" dur="500"/>
                                        <p:tgtEl>
                                          <p:spTgt spid="74"/>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76"/>
                                        </p:tgtEl>
                                        <p:attrNameLst>
                                          <p:attrName>style.visibility</p:attrName>
                                        </p:attrNameLst>
                                      </p:cBhvr>
                                      <p:to>
                                        <p:strVal val="visible"/>
                                      </p:to>
                                    </p:set>
                                    <p:animEffect transition="in" filter="wipe(down)">
                                      <p:cBhvr>
                                        <p:cTn id="83" dur="500"/>
                                        <p:tgtEl>
                                          <p:spTgt spid="7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79"/>
                                        </p:tgtEl>
                                        <p:attrNameLst>
                                          <p:attrName>style.visibility</p:attrName>
                                        </p:attrNameLst>
                                      </p:cBhvr>
                                      <p:to>
                                        <p:strVal val="visible"/>
                                      </p:to>
                                    </p:set>
                                    <p:animEffect transition="in" filter="wipe(down)">
                                      <p:cBhvr>
                                        <p:cTn id="88"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41" grpId="0"/>
      <p:bldP spid="60" grpId="0"/>
      <p:bldP spid="61" grpId="0"/>
      <p:bldP spid="69" grpId="0"/>
      <p:bldP spid="70" grpId="0"/>
      <p:bldP spid="71" grpId="0"/>
      <p:bldP spid="72" grpId="0"/>
      <p:bldP spid="73" grpId="0"/>
      <p:bldP spid="74" grpId="0"/>
      <p:bldP spid="75" grpId="0"/>
      <p:bldP spid="76" grpId="0"/>
      <p:bldP spid="78" grpId="0"/>
      <p:bldP spid="7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
          <p:cNvSpPr/>
          <p:nvPr/>
        </p:nvSpPr>
        <p:spPr>
          <a:xfrm>
            <a:off x="6108700" y="1333501"/>
            <a:ext cx="6083300" cy="4783144"/>
          </a:xfrm>
          <a:prstGeom prst="rect">
            <a:avLst/>
          </a:prstGeom>
          <a:solidFill>
            <a:srgbClr val="60EEA4">
              <a:alpha val="66667"/>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38" name="图片占位符 37"/>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0" y="1407561"/>
            <a:ext cx="6096000" cy="4042877"/>
          </a:xfrm>
        </p:spPr>
      </p:pic>
      <p:pic>
        <p:nvPicPr>
          <p:cNvPr id="19" name="图片 1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6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a:defRPr/>
            </a:pPr>
            <a:r>
              <a:rPr lang="en-US" altLang="zh-CN" sz="1200" dirty="0">
                <a:solidFill>
                  <a:schemeClr val="accent3"/>
                </a:solidFill>
                <a:cs typeface="+mn-ea"/>
                <a:sym typeface="+mn-lt"/>
              </a:rPr>
              <a:t>Basic Concepts </a:t>
            </a:r>
            <a:endParaRPr lang="zh-CN" altLang="en-US" sz="1200" dirty="0">
              <a:solidFill>
                <a:schemeClr val="accent3"/>
              </a:solidFill>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280522" y="177223"/>
            <a:ext cx="1107996"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欧拉回路</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32" name="组合 31"/>
          <p:cNvGrpSpPr/>
          <p:nvPr/>
        </p:nvGrpSpPr>
        <p:grpSpPr>
          <a:xfrm>
            <a:off x="6784619" y="1717995"/>
            <a:ext cx="4293988" cy="1569660"/>
            <a:chOff x="7248131" y="4027393"/>
            <a:chExt cx="4293988" cy="1569660"/>
          </a:xfrm>
        </p:grpSpPr>
        <p:sp>
          <p:nvSpPr>
            <p:cNvPr id="34"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7"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42" name="矩形 41"/>
            <p:cNvSpPr/>
            <p:nvPr/>
          </p:nvSpPr>
          <p:spPr>
            <a:xfrm>
              <a:off x="8031472" y="4027393"/>
              <a:ext cx="3510647" cy="1569660"/>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smtClean="0">
                  <a:solidFill>
                    <a:srgbClr val="00B0F0"/>
                  </a:solidFill>
                  <a:cs typeface="+mn-ea"/>
                  <a:sym typeface="+mn-lt"/>
                </a:rPr>
                <a:t>欧拉回路</a:t>
              </a:r>
              <a:r>
                <a:rPr lang="en-US" altLang="zh-CN" sz="2400" b="1" dirty="0" smtClean="0">
                  <a:solidFill>
                    <a:srgbClr val="00B0F0"/>
                  </a:solidFill>
                  <a:cs typeface="+mn-ea"/>
                  <a:sym typeface="+mn-lt"/>
                </a:rPr>
                <a:t>(Euler Circuit)</a:t>
              </a:r>
            </a:p>
            <a:p>
              <a:pPr algn="just">
                <a:lnSpc>
                  <a:spcPct val="120000"/>
                </a:lnSpc>
              </a:pPr>
              <a:endParaRPr lang="en-US" altLang="zh-CN" sz="1400" dirty="0">
                <a:solidFill>
                  <a:schemeClr val="bg1"/>
                </a:solidFill>
                <a:cs typeface="+mn-ea"/>
                <a:sym typeface="+mn-lt"/>
              </a:endParaRPr>
            </a:p>
            <a:p>
              <a:pPr algn="just">
                <a:lnSpc>
                  <a:spcPct val="120000"/>
                </a:lnSpc>
              </a:pPr>
              <a:r>
                <a:rPr lang="zh-CN" altLang="en-US" sz="1400" dirty="0" smtClean="0">
                  <a:solidFill>
                    <a:schemeClr val="tx1">
                      <a:lumMod val="50000"/>
                      <a:lumOff val="50000"/>
                    </a:schemeClr>
                  </a:solidFill>
                  <a:cs typeface="+mn-ea"/>
                </a:rPr>
                <a:t>如果一个图存在一笔画，即从某个位置出发能够不重复地经过所有边并且返回起点，那这条路径就叫做欧拉回路。</a:t>
              </a:r>
              <a:endParaRPr lang="zh-CN" altLang="en-US" sz="1400" dirty="0">
                <a:solidFill>
                  <a:schemeClr val="tx1">
                    <a:lumMod val="50000"/>
                    <a:lumOff val="50000"/>
                  </a:schemeClr>
                </a:solidFill>
                <a:cs typeface="+mn-ea"/>
              </a:endParaRPr>
            </a:p>
          </p:txBody>
        </p:sp>
      </p:grpSp>
      <p:sp>
        <p:nvSpPr>
          <p:cNvPr id="45" name="矩形 44"/>
          <p:cNvSpPr/>
          <p:nvPr/>
        </p:nvSpPr>
        <p:spPr>
          <a:xfrm>
            <a:off x="7567959" y="3440055"/>
            <a:ext cx="3510647" cy="1126462"/>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rPr>
              <a:t>我们定义奇点是指跟这个点相连的边数目有奇数个的点。偶点同理。</a:t>
            </a:r>
            <a:endParaRPr lang="en-US" altLang="zh-CN" sz="1400" dirty="0" smtClean="0">
              <a:solidFill>
                <a:schemeClr val="tx1">
                  <a:lumMod val="50000"/>
                  <a:lumOff val="50000"/>
                </a:schemeClr>
              </a:solidFill>
              <a:cs typeface="+mn-ea"/>
            </a:endParaRPr>
          </a:p>
          <a:p>
            <a:pPr algn="just">
              <a:lnSpc>
                <a:spcPct val="120000"/>
              </a:lnSpc>
            </a:pPr>
            <a:r>
              <a:rPr lang="zh-CN" altLang="en-US" sz="1400" dirty="0" smtClean="0">
                <a:solidFill>
                  <a:schemeClr val="tx1">
                    <a:lumMod val="50000"/>
                    <a:lumOff val="50000"/>
                  </a:schemeClr>
                </a:solidFill>
                <a:cs typeface="+mn-ea"/>
              </a:rPr>
              <a:t>对于能够一笔画的图，我们有以下两个定理。</a:t>
            </a:r>
            <a:endParaRPr lang="zh-CN" altLang="en-US" sz="1400" dirty="0">
              <a:solidFill>
                <a:schemeClr val="tx1">
                  <a:lumMod val="50000"/>
                  <a:lumOff val="50000"/>
                </a:schemeClr>
              </a:solidFill>
              <a:cs typeface="+mn-ea"/>
            </a:endParaRPr>
          </a:p>
        </p:txBody>
      </p:sp>
      <p:sp>
        <p:nvSpPr>
          <p:cNvPr id="46" name="矩形 45"/>
          <p:cNvSpPr/>
          <p:nvPr/>
        </p:nvSpPr>
        <p:spPr>
          <a:xfrm>
            <a:off x="7567960" y="4592218"/>
            <a:ext cx="3510647"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rPr>
              <a:t>定理</a:t>
            </a:r>
            <a:r>
              <a:rPr lang="en-US" altLang="zh-CN" sz="1400" dirty="0" smtClean="0">
                <a:solidFill>
                  <a:schemeClr val="tx1">
                    <a:lumMod val="50000"/>
                    <a:lumOff val="50000"/>
                  </a:schemeClr>
                </a:solidFill>
                <a:cs typeface="+mn-ea"/>
              </a:rPr>
              <a:t>1</a:t>
            </a:r>
            <a:r>
              <a:rPr lang="zh-CN" altLang="en-US" sz="1400" dirty="0" smtClean="0">
                <a:solidFill>
                  <a:schemeClr val="tx1">
                    <a:lumMod val="50000"/>
                    <a:lumOff val="50000"/>
                  </a:schemeClr>
                </a:solidFill>
                <a:cs typeface="+mn-ea"/>
              </a:rPr>
              <a:t>：存在欧拉路的条件：图是连通的，有且只有</a:t>
            </a:r>
            <a:r>
              <a:rPr lang="en-US" altLang="zh-CN" sz="1400" dirty="0" smtClean="0">
                <a:solidFill>
                  <a:schemeClr val="tx1">
                    <a:lumMod val="50000"/>
                    <a:lumOff val="50000"/>
                  </a:schemeClr>
                </a:solidFill>
                <a:cs typeface="+mn-ea"/>
              </a:rPr>
              <a:t>2</a:t>
            </a:r>
            <a:r>
              <a:rPr lang="zh-CN" altLang="en-US" sz="1400" dirty="0" smtClean="0">
                <a:solidFill>
                  <a:schemeClr val="tx1">
                    <a:lumMod val="50000"/>
                    <a:lumOff val="50000"/>
                  </a:schemeClr>
                </a:solidFill>
                <a:cs typeface="+mn-ea"/>
              </a:rPr>
              <a:t>个奇点。</a:t>
            </a:r>
            <a:endParaRPr lang="zh-CN" altLang="en-US" sz="1400" dirty="0">
              <a:solidFill>
                <a:schemeClr val="tx1">
                  <a:lumMod val="50000"/>
                  <a:lumOff val="50000"/>
                </a:schemeClr>
              </a:solidFill>
              <a:cs typeface="+mn-ea"/>
            </a:endParaRPr>
          </a:p>
        </p:txBody>
      </p:sp>
      <p:sp>
        <p:nvSpPr>
          <p:cNvPr id="50" name="矩形 49"/>
          <p:cNvSpPr/>
          <p:nvPr/>
        </p:nvSpPr>
        <p:spPr>
          <a:xfrm>
            <a:off x="7567960" y="5201616"/>
            <a:ext cx="3510647" cy="60939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rPr>
              <a:t>定理</a:t>
            </a:r>
            <a:r>
              <a:rPr lang="en-US" altLang="zh-CN" sz="1400" dirty="0" smtClean="0">
                <a:solidFill>
                  <a:schemeClr val="tx1">
                    <a:lumMod val="50000"/>
                    <a:lumOff val="50000"/>
                  </a:schemeClr>
                </a:solidFill>
                <a:cs typeface="+mn-ea"/>
              </a:rPr>
              <a:t>2</a:t>
            </a:r>
            <a:r>
              <a:rPr lang="zh-CN" altLang="en-US" sz="1400" dirty="0" smtClean="0">
                <a:solidFill>
                  <a:schemeClr val="tx1">
                    <a:lumMod val="50000"/>
                    <a:lumOff val="50000"/>
                  </a:schemeClr>
                </a:solidFill>
                <a:cs typeface="+mn-ea"/>
              </a:rPr>
              <a:t>：存在欧拉回路的条件：图是连通的，有</a:t>
            </a:r>
            <a:r>
              <a:rPr lang="en-US" altLang="zh-CN" sz="1400" dirty="0" smtClean="0">
                <a:solidFill>
                  <a:schemeClr val="tx1">
                    <a:lumMod val="50000"/>
                    <a:lumOff val="50000"/>
                  </a:schemeClr>
                </a:solidFill>
                <a:cs typeface="+mn-ea"/>
              </a:rPr>
              <a:t>0</a:t>
            </a:r>
            <a:r>
              <a:rPr lang="zh-CN" altLang="en-US" sz="1400" dirty="0" smtClean="0">
                <a:solidFill>
                  <a:schemeClr val="tx1">
                    <a:lumMod val="50000"/>
                    <a:lumOff val="50000"/>
                  </a:schemeClr>
                </a:solidFill>
                <a:cs typeface="+mn-ea"/>
              </a:rPr>
              <a:t>个奇点。</a:t>
            </a:r>
            <a:endParaRPr lang="zh-CN" altLang="en-US" sz="1400" dirty="0">
              <a:solidFill>
                <a:schemeClr val="tx1">
                  <a:lumMod val="50000"/>
                  <a:lumOff val="50000"/>
                </a:schemeClr>
              </a:solidFill>
              <a:cs typeface="+mn-ea"/>
            </a:endParaRPr>
          </a:p>
        </p:txBody>
      </p:sp>
      <p:cxnSp>
        <p:nvCxnSpPr>
          <p:cNvPr id="51" name="直接连接符 50"/>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12009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randombar(horizontal)">
                                      <p:cBhvr>
                                        <p:cTn id="7" dur="500"/>
                                        <p:tgtEl>
                                          <p:spTgt spid="2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anim calcmode="lin" valueType="num">
                                      <p:cBhvr>
                                        <p:cTn id="12" dur="1000" fill="hold"/>
                                        <p:tgtEl>
                                          <p:spTgt spid="38"/>
                                        </p:tgtEl>
                                        <p:attrNameLst>
                                          <p:attrName>ppt_x</p:attrName>
                                        </p:attrNameLst>
                                      </p:cBhvr>
                                      <p:tavLst>
                                        <p:tav tm="0">
                                          <p:val>
                                            <p:strVal val="#ppt_x"/>
                                          </p:val>
                                        </p:tav>
                                        <p:tav tm="100000">
                                          <p:val>
                                            <p:strVal val="#ppt_x"/>
                                          </p:val>
                                        </p:tav>
                                      </p:tavLst>
                                    </p:anim>
                                    <p:anim calcmode="lin" valueType="num">
                                      <p:cBhvr>
                                        <p:cTn id="13"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500"/>
                                        <p:tgtEl>
                                          <p:spTgt spid="4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5" grpId="0"/>
      <p:bldP spid="46" grpId="0"/>
      <p:bldP spid="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2"/>
          <p:cNvSpPr/>
          <p:nvPr/>
        </p:nvSpPr>
        <p:spPr>
          <a:xfrm>
            <a:off x="6108700" y="1333501"/>
            <a:ext cx="6083300" cy="4783144"/>
          </a:xfrm>
          <a:prstGeom prst="rect">
            <a:avLst/>
          </a:prstGeom>
          <a:solidFill>
            <a:srgbClr val="60EEA4">
              <a:alpha val="66667"/>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pic>
        <p:nvPicPr>
          <p:cNvPr id="93" name="图片 9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94" name="图片 93"/>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95" name="文本框 94"/>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smtClean="0">
                <a:ln>
                  <a:noFill/>
                </a:ln>
                <a:solidFill>
                  <a:srgbClr val="000000">
                    <a:lumMod val="65000"/>
                    <a:lumOff val="35000"/>
                  </a:srgbClr>
                </a:solidFill>
                <a:effectLst/>
                <a:uLnTx/>
                <a:uFillTx/>
                <a:cs typeface="+mn-ea"/>
                <a:sym typeface="+mn-lt"/>
              </a:rPr>
              <a:t>基本概念</a:t>
            </a:r>
            <a:endParaRPr kumimoji="0" lang="zh-CN" altLang="en-US" sz="3200"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96" name="矩形 95"/>
          <p:cNvSpPr/>
          <p:nvPr/>
        </p:nvSpPr>
        <p:spPr>
          <a:xfrm>
            <a:off x="1996803" y="776898"/>
            <a:ext cx="3792866" cy="276999"/>
          </a:xfrm>
          <a:prstGeom prst="rect">
            <a:avLst/>
          </a:prstGeom>
        </p:spPr>
        <p:txBody>
          <a:bodyPr wrap="square">
            <a:spAutoFit/>
          </a:bodyPr>
          <a:lstStyle/>
          <a:p>
            <a:pPr>
              <a:defRPr/>
            </a:pPr>
            <a:r>
              <a:rPr lang="en-US" altLang="zh-CN" sz="1200" dirty="0" smtClean="0">
                <a:solidFill>
                  <a:schemeClr val="accent3"/>
                </a:solidFill>
                <a:cs typeface="+mn-ea"/>
                <a:sym typeface="+mn-lt"/>
              </a:rPr>
              <a:t>Basic </a:t>
            </a:r>
            <a:r>
              <a:rPr lang="en-US" altLang="zh-CN" sz="1200" dirty="0">
                <a:solidFill>
                  <a:schemeClr val="accent3"/>
                </a:solidFill>
                <a:cs typeface="+mn-ea"/>
                <a:sym typeface="+mn-lt"/>
              </a:rPr>
              <a:t>Concepts </a:t>
            </a:r>
            <a:endParaRPr lang="zh-CN" altLang="en-US" sz="1200" dirty="0">
              <a:solidFill>
                <a:schemeClr val="accent3"/>
              </a:solidFill>
              <a:cs typeface="+mn-ea"/>
              <a:sym typeface="+mn-lt"/>
            </a:endParaRPr>
          </a:p>
        </p:txBody>
      </p:sp>
      <p:cxnSp>
        <p:nvCxnSpPr>
          <p:cNvPr id="97" name="直接连接符 96"/>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1007565"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(a)</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100" name="矩形 99"/>
          <p:cNvSpPr/>
          <p:nvPr/>
        </p:nvSpPr>
        <p:spPr>
          <a:xfrm>
            <a:off x="3692708" y="4293412"/>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(b)</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cxnSp>
        <p:nvCxnSpPr>
          <p:cNvPr id="8" name="直接连接符 7"/>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7146531" y="1980384"/>
            <a:ext cx="4293988" cy="1606455"/>
            <a:chOff x="7248131" y="4027393"/>
            <a:chExt cx="4293988" cy="1865126"/>
          </a:xfrm>
        </p:grpSpPr>
        <p:sp>
          <p:nvSpPr>
            <p:cNvPr id="30" name="Oval 10"/>
            <p:cNvSpPr/>
            <p:nvPr/>
          </p:nvSpPr>
          <p:spPr>
            <a:xfrm>
              <a:off x="7248131" y="4029067"/>
              <a:ext cx="607724" cy="607724"/>
            </a:xfrm>
            <a:prstGeom prst="ellipse">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31" name="Freeform: Shape 11"/>
            <p:cNvSpPr>
              <a:spLocks/>
            </p:cNvSpPr>
            <p:nvPr/>
          </p:nvSpPr>
          <p:spPr bwMode="auto">
            <a:xfrm>
              <a:off x="7387204" y="4177694"/>
              <a:ext cx="329573" cy="310468"/>
            </a:xfrm>
            <a:custGeom>
              <a:avLst/>
              <a:gdLst/>
              <a:ahLst/>
              <a:cxnLst>
                <a:cxn ang="0">
                  <a:pos x="63" y="25"/>
                </a:cxn>
                <a:cxn ang="0">
                  <a:pos x="49" y="39"/>
                </a:cxn>
                <a:cxn ang="0">
                  <a:pos x="52" y="57"/>
                </a:cxn>
                <a:cxn ang="0">
                  <a:pos x="52" y="58"/>
                </a:cxn>
                <a:cxn ang="0">
                  <a:pos x="51" y="60"/>
                </a:cxn>
                <a:cxn ang="0">
                  <a:pos x="49" y="60"/>
                </a:cxn>
                <a:cxn ang="0">
                  <a:pos x="32" y="51"/>
                </a:cxn>
                <a:cxn ang="0">
                  <a:pos x="15" y="60"/>
                </a:cxn>
                <a:cxn ang="0">
                  <a:pos x="13" y="60"/>
                </a:cxn>
                <a:cxn ang="0">
                  <a:pos x="12" y="58"/>
                </a:cxn>
                <a:cxn ang="0">
                  <a:pos x="12" y="57"/>
                </a:cxn>
                <a:cxn ang="0">
                  <a:pos x="15" y="39"/>
                </a:cxn>
                <a:cxn ang="0">
                  <a:pos x="1" y="25"/>
                </a:cxn>
                <a:cxn ang="0">
                  <a:pos x="0" y="23"/>
                </a:cxn>
                <a:cxn ang="0">
                  <a:pos x="3" y="22"/>
                </a:cxn>
                <a:cxn ang="0">
                  <a:pos x="22" y="19"/>
                </a:cxn>
                <a:cxn ang="0">
                  <a:pos x="30" y="1"/>
                </a:cxn>
                <a:cxn ang="0">
                  <a:pos x="32" y="0"/>
                </a:cxn>
                <a:cxn ang="0">
                  <a:pos x="34" y="1"/>
                </a:cxn>
                <a:cxn ang="0">
                  <a:pos x="42" y="19"/>
                </a:cxn>
                <a:cxn ang="0">
                  <a:pos x="61" y="22"/>
                </a:cxn>
                <a:cxn ang="0">
                  <a:pos x="64" y="23"/>
                </a:cxn>
                <a:cxn ang="0">
                  <a:pos x="63" y="25"/>
                </a:cxn>
              </a:cxnLst>
              <a:rect l="0" t="0" r="r" b="b"/>
              <a:pathLst>
                <a:path w="64" h="60">
                  <a:moveTo>
                    <a:pt x="63" y="25"/>
                  </a:moveTo>
                  <a:cubicBezTo>
                    <a:pt x="49" y="39"/>
                    <a:pt x="49" y="39"/>
                    <a:pt x="49" y="39"/>
                  </a:cubicBezTo>
                  <a:cubicBezTo>
                    <a:pt x="52" y="57"/>
                    <a:pt x="52" y="57"/>
                    <a:pt x="52" y="57"/>
                  </a:cubicBezTo>
                  <a:cubicBezTo>
                    <a:pt x="52" y="58"/>
                    <a:pt x="52" y="58"/>
                    <a:pt x="52" y="58"/>
                  </a:cubicBezTo>
                  <a:cubicBezTo>
                    <a:pt x="52" y="59"/>
                    <a:pt x="52" y="60"/>
                    <a:pt x="51" y="60"/>
                  </a:cubicBezTo>
                  <a:cubicBezTo>
                    <a:pt x="50" y="60"/>
                    <a:pt x="50" y="60"/>
                    <a:pt x="49" y="60"/>
                  </a:cubicBezTo>
                  <a:cubicBezTo>
                    <a:pt x="32" y="51"/>
                    <a:pt x="32" y="51"/>
                    <a:pt x="32" y="51"/>
                  </a:cubicBezTo>
                  <a:cubicBezTo>
                    <a:pt x="15" y="60"/>
                    <a:pt x="15" y="60"/>
                    <a:pt x="15" y="60"/>
                  </a:cubicBezTo>
                  <a:cubicBezTo>
                    <a:pt x="14" y="60"/>
                    <a:pt x="14" y="60"/>
                    <a:pt x="13" y="60"/>
                  </a:cubicBezTo>
                  <a:cubicBezTo>
                    <a:pt x="12" y="60"/>
                    <a:pt x="12" y="59"/>
                    <a:pt x="12" y="58"/>
                  </a:cubicBezTo>
                  <a:cubicBezTo>
                    <a:pt x="12" y="58"/>
                    <a:pt x="12" y="58"/>
                    <a:pt x="12" y="57"/>
                  </a:cubicBezTo>
                  <a:cubicBezTo>
                    <a:pt x="15" y="39"/>
                    <a:pt x="15" y="39"/>
                    <a:pt x="15" y="39"/>
                  </a:cubicBezTo>
                  <a:cubicBezTo>
                    <a:pt x="1" y="25"/>
                    <a:pt x="1" y="25"/>
                    <a:pt x="1" y="25"/>
                  </a:cubicBezTo>
                  <a:cubicBezTo>
                    <a:pt x="1" y="25"/>
                    <a:pt x="0" y="24"/>
                    <a:pt x="0" y="23"/>
                  </a:cubicBezTo>
                  <a:cubicBezTo>
                    <a:pt x="0" y="22"/>
                    <a:pt x="2" y="22"/>
                    <a:pt x="3" y="22"/>
                  </a:cubicBezTo>
                  <a:cubicBezTo>
                    <a:pt x="22" y="19"/>
                    <a:pt x="22" y="19"/>
                    <a:pt x="22" y="19"/>
                  </a:cubicBezTo>
                  <a:cubicBezTo>
                    <a:pt x="30" y="1"/>
                    <a:pt x="30" y="1"/>
                    <a:pt x="30" y="1"/>
                  </a:cubicBezTo>
                  <a:cubicBezTo>
                    <a:pt x="31" y="1"/>
                    <a:pt x="31" y="0"/>
                    <a:pt x="32" y="0"/>
                  </a:cubicBezTo>
                  <a:cubicBezTo>
                    <a:pt x="33" y="0"/>
                    <a:pt x="34" y="1"/>
                    <a:pt x="34" y="1"/>
                  </a:cubicBezTo>
                  <a:cubicBezTo>
                    <a:pt x="42" y="19"/>
                    <a:pt x="42" y="19"/>
                    <a:pt x="42" y="19"/>
                  </a:cubicBezTo>
                  <a:cubicBezTo>
                    <a:pt x="61" y="22"/>
                    <a:pt x="61" y="22"/>
                    <a:pt x="61" y="22"/>
                  </a:cubicBezTo>
                  <a:cubicBezTo>
                    <a:pt x="62" y="22"/>
                    <a:pt x="64" y="22"/>
                    <a:pt x="64" y="23"/>
                  </a:cubicBezTo>
                  <a:cubicBezTo>
                    <a:pt x="64" y="24"/>
                    <a:pt x="63" y="25"/>
                    <a:pt x="63" y="25"/>
                  </a:cubicBezTo>
                  <a:close/>
                </a:path>
              </a:pathLst>
            </a:custGeom>
            <a:solidFill>
              <a:schemeClr val="bg1"/>
            </a:solidFill>
            <a:ln w="9525">
              <a:noFill/>
              <a:round/>
              <a:headEnd/>
              <a:tailEnd/>
            </a:ln>
          </p:spPr>
          <p:txBody>
            <a:bodyPr anchor="ctr"/>
            <a:lstStyle/>
            <a:p>
              <a:pPr algn="ctr"/>
              <a:endParaRPr dirty="0">
                <a:cs typeface="+mn-ea"/>
                <a:sym typeface="+mn-lt"/>
              </a:endParaRPr>
            </a:p>
          </p:txBody>
        </p:sp>
        <p:sp>
          <p:nvSpPr>
            <p:cNvPr id="32" name="矩形 31"/>
            <p:cNvSpPr/>
            <p:nvPr/>
          </p:nvSpPr>
          <p:spPr>
            <a:xfrm>
              <a:off x="8031472" y="4027393"/>
              <a:ext cx="3510647" cy="1865126"/>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000" b="1" dirty="0" smtClean="0">
                  <a:solidFill>
                    <a:srgbClr val="00B0F0"/>
                  </a:solidFill>
                  <a:cs typeface="+mn-ea"/>
                  <a:sym typeface="+mn-lt"/>
                </a:rPr>
                <a:t>哈密尔顿回路</a:t>
              </a:r>
              <a:endParaRPr lang="en-US" altLang="zh-CN" sz="2000" b="1" dirty="0" smtClean="0">
                <a:solidFill>
                  <a:srgbClr val="00B0F0"/>
                </a:solidFill>
                <a:cs typeface="+mn-ea"/>
                <a:sym typeface="+mn-lt"/>
              </a:endParaRPr>
            </a:p>
            <a:p>
              <a:pPr algn="just">
                <a:lnSpc>
                  <a:spcPct val="120000"/>
                </a:lnSpc>
              </a:pPr>
              <a:r>
                <a:rPr lang="en-US" altLang="zh-CN" sz="2000" b="1" dirty="0" smtClean="0">
                  <a:solidFill>
                    <a:srgbClr val="00B0F0"/>
                  </a:solidFill>
                  <a:cs typeface="+mn-ea"/>
                  <a:sym typeface="+mn-lt"/>
                </a:rPr>
                <a:t>(Hamilton Circuit)</a:t>
              </a:r>
            </a:p>
            <a:p>
              <a:pPr algn="just">
                <a:lnSpc>
                  <a:spcPct val="120000"/>
                </a:lnSpc>
              </a:pPr>
              <a:endParaRPr lang="en-US" altLang="zh-CN" sz="1400" dirty="0">
                <a:solidFill>
                  <a:schemeClr val="bg1"/>
                </a:solidFill>
                <a:cs typeface="+mn-ea"/>
                <a:sym typeface="+mn-lt"/>
              </a:endParaRPr>
            </a:p>
            <a:p>
              <a:pPr algn="just">
                <a:lnSpc>
                  <a:spcPct val="120000"/>
                </a:lnSpc>
              </a:pPr>
              <a:r>
                <a:rPr lang="zh-CN" altLang="en-US" sz="1400" dirty="0" smtClean="0">
                  <a:solidFill>
                    <a:schemeClr val="tx1">
                      <a:lumMod val="50000"/>
                      <a:lumOff val="50000"/>
                    </a:schemeClr>
                  </a:solidFill>
                  <a:cs typeface="+mn-ea"/>
                </a:rPr>
                <a:t>指不重复地经过所有点，且最后还能回到起点的回路。</a:t>
              </a:r>
              <a:endParaRPr lang="zh-CN" altLang="en-US" sz="1400" dirty="0">
                <a:solidFill>
                  <a:schemeClr val="tx1">
                    <a:lumMod val="50000"/>
                    <a:lumOff val="50000"/>
                  </a:schemeClr>
                </a:solidFill>
                <a:cs typeface="+mn-ea"/>
              </a:endParaRPr>
            </a:p>
            <a:p>
              <a:pPr algn="just">
                <a:lnSpc>
                  <a:spcPct val="120000"/>
                </a:lnSpc>
              </a:pPr>
              <a:endParaRPr lang="zh-CN" altLang="en-US" sz="1400" dirty="0">
                <a:solidFill>
                  <a:schemeClr val="bg1"/>
                </a:solidFill>
                <a:cs typeface="+mn-ea"/>
              </a:endParaRPr>
            </a:p>
          </p:txBody>
        </p:sp>
      </p:grpSp>
      <p:sp>
        <p:nvSpPr>
          <p:cNvPr id="26" name="文本框 2919"/>
          <p:cNvSpPr txBox="1"/>
          <p:nvPr/>
        </p:nvSpPr>
        <p:spPr>
          <a:xfrm>
            <a:off x="10057216" y="189738"/>
            <a:ext cx="1569661" cy="369332"/>
          </a:xfrm>
          <a:prstGeom prst="rect">
            <a:avLst/>
          </a:prstGeom>
          <a:noFill/>
        </p:spPr>
        <p:txBody>
          <a:bodyPr wrap="none" rtlCol="0">
            <a:spAutoFit/>
            <a:scene3d>
              <a:camera prst="orthographicFront"/>
              <a:lightRig rig="threePt" dir="t"/>
            </a:scene3d>
            <a:sp3d extrusionH="12700"/>
          </a:bodyPr>
          <a:lstStyle/>
          <a:p>
            <a:pPr algn="ctr"/>
            <a:r>
              <a:rPr lang="zh-CN" altLang="en-US" smtClean="0">
                <a:solidFill>
                  <a:schemeClr val="bg1"/>
                </a:solidFill>
                <a:effectLst>
                  <a:outerShdw blurRad="203200" dist="38100" dir="5400000" algn="t" rotWithShape="0">
                    <a:prstClr val="black">
                      <a:alpha val="83000"/>
                    </a:prstClr>
                  </a:outerShdw>
                </a:effectLst>
                <a:cs typeface="+mn-ea"/>
                <a:sym typeface="+mn-lt"/>
              </a:rPr>
              <a:t>哈密尔顿回路</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4262" y="2205697"/>
            <a:ext cx="2188580" cy="1965904"/>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3236" y="2359092"/>
            <a:ext cx="1814189" cy="1629605"/>
          </a:xfrm>
          <a:prstGeom prst="rect">
            <a:avLst/>
          </a:prstGeom>
        </p:spPr>
      </p:pic>
      <p:sp>
        <p:nvSpPr>
          <p:cNvPr id="19" name="矩形 18"/>
          <p:cNvSpPr/>
          <p:nvPr/>
        </p:nvSpPr>
        <p:spPr>
          <a:xfrm>
            <a:off x="7146531" y="3586839"/>
            <a:ext cx="4293988" cy="2031325"/>
          </a:xfrm>
          <a:prstGeom prst="rect">
            <a:avLst/>
          </a:prstGeom>
        </p:spPr>
        <p:txBody>
          <a:bodyPr wrap="square">
            <a:spAutoFit/>
            <a:scene3d>
              <a:camera prst="orthographicFront"/>
              <a:lightRig rig="threePt" dir="t"/>
            </a:scene3d>
            <a:sp3d contourW="12700"/>
          </a:bodyPr>
          <a:lstStyle/>
          <a:p>
            <a:r>
              <a:rPr lang="zh-CN" altLang="en-US" sz="1400" dirty="0" smtClean="0">
                <a:solidFill>
                  <a:schemeClr val="tx1">
                    <a:lumMod val="50000"/>
                    <a:lumOff val="50000"/>
                  </a:schemeClr>
                </a:solidFill>
                <a:cs typeface="+mn-ea"/>
              </a:rPr>
              <a:t>对于</a:t>
            </a:r>
            <a:r>
              <a:rPr lang="zh-CN" altLang="en-US" sz="1400" dirty="0">
                <a:solidFill>
                  <a:schemeClr val="tx1">
                    <a:lumMod val="50000"/>
                    <a:lumOff val="50000"/>
                  </a:schemeClr>
                </a:solidFill>
                <a:cs typeface="+mn-ea"/>
              </a:rPr>
              <a:t>欧拉回路，我们可以轻而易举地回答，但是我们却很难解决哈密顿回路问题，实际上它是一个</a:t>
            </a:r>
            <a:r>
              <a:rPr lang="en-US" altLang="zh-CN" sz="1400" dirty="0">
                <a:solidFill>
                  <a:schemeClr val="tx1">
                    <a:lumMod val="50000"/>
                    <a:lumOff val="50000"/>
                  </a:schemeClr>
                </a:solidFill>
                <a:cs typeface="+mn-ea"/>
              </a:rPr>
              <a:t>NP</a:t>
            </a:r>
            <a:r>
              <a:rPr lang="zh-CN" altLang="en-US" sz="1400" dirty="0">
                <a:solidFill>
                  <a:schemeClr val="tx1">
                    <a:lumMod val="50000"/>
                    <a:lumOff val="50000"/>
                  </a:schemeClr>
                </a:solidFill>
                <a:cs typeface="+mn-ea"/>
              </a:rPr>
              <a:t>完全问题</a:t>
            </a:r>
            <a:r>
              <a:rPr lang="zh-CN" altLang="en-US" sz="1400" dirty="0" smtClean="0">
                <a:solidFill>
                  <a:schemeClr val="tx1">
                    <a:lumMod val="50000"/>
                    <a:lumOff val="50000"/>
                  </a:schemeClr>
                </a:solidFill>
                <a:cs typeface="+mn-ea"/>
              </a:rPr>
              <a:t>。</a:t>
            </a:r>
            <a:endParaRPr lang="en-US" altLang="zh-CN" sz="1400" dirty="0" smtClean="0">
              <a:solidFill>
                <a:schemeClr val="tx1">
                  <a:lumMod val="50000"/>
                  <a:lumOff val="50000"/>
                </a:schemeClr>
              </a:solidFill>
              <a:cs typeface="+mn-ea"/>
            </a:endParaRPr>
          </a:p>
          <a:p>
            <a:r>
              <a:rPr lang="zh-CN" altLang="en-US" sz="1400" dirty="0" smtClean="0">
                <a:solidFill>
                  <a:schemeClr val="tx1">
                    <a:lumMod val="50000"/>
                    <a:lumOff val="50000"/>
                  </a:schemeClr>
                </a:solidFill>
                <a:cs typeface="+mn-ea"/>
              </a:rPr>
              <a:t>这源自</a:t>
            </a:r>
            <a:r>
              <a:rPr lang="en-US" altLang="zh-CN" sz="1400" dirty="0">
                <a:solidFill>
                  <a:schemeClr val="tx1">
                    <a:lumMod val="50000"/>
                    <a:lumOff val="50000"/>
                  </a:schemeClr>
                </a:solidFill>
                <a:cs typeface="+mn-ea"/>
              </a:rPr>
              <a:t>1857</a:t>
            </a:r>
            <a:r>
              <a:rPr lang="zh-CN" altLang="en-US" sz="1400" dirty="0">
                <a:solidFill>
                  <a:schemeClr val="tx1">
                    <a:lumMod val="50000"/>
                    <a:lumOff val="50000"/>
                  </a:schemeClr>
                </a:solidFill>
                <a:cs typeface="+mn-ea"/>
              </a:rPr>
              <a:t>年爱尔兰数学家威廉</a:t>
            </a:r>
            <a:r>
              <a:rPr lang="en-US" altLang="zh-CN" sz="1400" dirty="0">
                <a:solidFill>
                  <a:schemeClr val="tx1">
                    <a:lumMod val="50000"/>
                    <a:lumOff val="50000"/>
                  </a:schemeClr>
                </a:solidFill>
                <a:cs typeface="+mn-ea"/>
              </a:rPr>
              <a:t>·</a:t>
            </a:r>
            <a:r>
              <a:rPr lang="zh-CN" altLang="en-US" sz="1400" dirty="0">
                <a:solidFill>
                  <a:schemeClr val="tx1">
                    <a:lumMod val="50000"/>
                    <a:lumOff val="50000"/>
                  </a:schemeClr>
                </a:solidFill>
                <a:cs typeface="+mn-ea"/>
              </a:rPr>
              <a:t>罗万</a:t>
            </a:r>
            <a:r>
              <a:rPr lang="en-US" altLang="zh-CN" sz="1400" dirty="0">
                <a:solidFill>
                  <a:schemeClr val="tx1">
                    <a:lumMod val="50000"/>
                    <a:lumOff val="50000"/>
                  </a:schemeClr>
                </a:solidFill>
                <a:cs typeface="+mn-ea"/>
              </a:rPr>
              <a:t>·</a:t>
            </a:r>
            <a:r>
              <a:rPr lang="zh-CN" altLang="en-US" sz="1400" dirty="0" smtClean="0">
                <a:solidFill>
                  <a:schemeClr val="tx1">
                    <a:lumMod val="50000"/>
                    <a:lumOff val="50000"/>
                  </a:schemeClr>
                </a:solidFill>
                <a:cs typeface="+mn-ea"/>
              </a:rPr>
              <a:t>哈密尔顿</a:t>
            </a:r>
            <a:r>
              <a:rPr lang="zh-CN" altLang="en-US" sz="1400" dirty="0">
                <a:solidFill>
                  <a:schemeClr val="tx1">
                    <a:lumMod val="50000"/>
                    <a:lumOff val="50000"/>
                  </a:schemeClr>
                </a:solidFill>
                <a:cs typeface="+mn-ea"/>
              </a:rPr>
              <a:t>爵士发明的智力题。</a:t>
            </a:r>
            <a:r>
              <a:rPr lang="zh-CN" altLang="en-US" sz="1400" dirty="0" smtClean="0">
                <a:solidFill>
                  <a:schemeClr val="tx1">
                    <a:lumMod val="50000"/>
                    <a:lumOff val="50000"/>
                  </a:schemeClr>
                </a:solidFill>
                <a:cs typeface="+mn-ea"/>
              </a:rPr>
              <a:t>哈密尔顿</a:t>
            </a:r>
            <a:r>
              <a:rPr lang="zh-CN" altLang="en-US" sz="1400" dirty="0">
                <a:solidFill>
                  <a:schemeClr val="tx1">
                    <a:lumMod val="50000"/>
                    <a:lumOff val="50000"/>
                  </a:schemeClr>
                </a:solidFill>
                <a:cs typeface="+mn-ea"/>
              </a:rPr>
              <a:t>的智力题用到了木质十二面体（如</a:t>
            </a:r>
            <a:r>
              <a:rPr lang="zh-CN" altLang="en-US" sz="1400" dirty="0" smtClean="0">
                <a:solidFill>
                  <a:schemeClr val="tx1">
                    <a:lumMod val="50000"/>
                    <a:lumOff val="50000"/>
                  </a:schemeClr>
                </a:solidFill>
                <a:cs typeface="+mn-ea"/>
              </a:rPr>
              <a:t>图</a:t>
            </a:r>
            <a:r>
              <a:rPr lang="en-US" altLang="zh-CN" sz="1400" dirty="0" smtClean="0">
                <a:solidFill>
                  <a:schemeClr val="tx1">
                    <a:lumMod val="50000"/>
                    <a:lumOff val="50000"/>
                  </a:schemeClr>
                </a:solidFill>
                <a:cs typeface="+mn-ea"/>
              </a:rPr>
              <a:t>(a</a:t>
            </a:r>
            <a:r>
              <a:rPr lang="en-US" altLang="zh-CN" sz="1400" dirty="0">
                <a:solidFill>
                  <a:schemeClr val="tx1">
                    <a:lumMod val="50000"/>
                    <a:lumOff val="50000"/>
                  </a:schemeClr>
                </a:solidFill>
                <a:cs typeface="+mn-ea"/>
              </a:rPr>
              <a:t>)</a:t>
            </a:r>
            <a:r>
              <a:rPr lang="zh-CN" altLang="en-US" sz="1400" dirty="0">
                <a:solidFill>
                  <a:schemeClr val="tx1">
                    <a:lumMod val="50000"/>
                    <a:lumOff val="50000"/>
                  </a:schemeClr>
                </a:solidFill>
                <a:cs typeface="+mn-ea"/>
              </a:rPr>
              <a:t>所示，十二面体有</a:t>
            </a:r>
            <a:r>
              <a:rPr lang="en-US" altLang="zh-CN" sz="1400" dirty="0">
                <a:solidFill>
                  <a:schemeClr val="tx1">
                    <a:lumMod val="50000"/>
                    <a:lumOff val="50000"/>
                  </a:schemeClr>
                </a:solidFill>
                <a:cs typeface="+mn-ea"/>
              </a:rPr>
              <a:t>12</a:t>
            </a:r>
            <a:r>
              <a:rPr lang="zh-CN" altLang="en-US" sz="1400" dirty="0">
                <a:solidFill>
                  <a:schemeClr val="tx1">
                    <a:lumMod val="50000"/>
                    <a:lumOff val="50000"/>
                  </a:schemeClr>
                </a:solidFill>
                <a:cs typeface="+mn-ea"/>
              </a:rPr>
              <a:t>个正五边形表面</a:t>
            </a:r>
            <a:r>
              <a:rPr lang="zh-CN" altLang="en-US" sz="1400" dirty="0" smtClean="0">
                <a:solidFill>
                  <a:schemeClr val="tx1">
                    <a:lumMod val="50000"/>
                    <a:lumOff val="50000"/>
                  </a:schemeClr>
                </a:solidFill>
                <a:cs typeface="+mn-ea"/>
              </a:rPr>
              <a:t>）。</a:t>
            </a:r>
            <a:r>
              <a:rPr lang="zh-CN" altLang="en-US" sz="1400" dirty="0">
                <a:solidFill>
                  <a:schemeClr val="tx1">
                    <a:lumMod val="50000"/>
                    <a:lumOff val="50000"/>
                  </a:schemeClr>
                </a:solidFill>
                <a:cs typeface="+mn-ea"/>
              </a:rPr>
              <a:t>十二面体的</a:t>
            </a:r>
            <a:r>
              <a:rPr lang="en-US" altLang="zh-CN" sz="1400" dirty="0">
                <a:solidFill>
                  <a:schemeClr val="tx1">
                    <a:lumMod val="50000"/>
                    <a:lumOff val="50000"/>
                  </a:schemeClr>
                </a:solidFill>
                <a:cs typeface="+mn-ea"/>
              </a:rPr>
              <a:t>20</a:t>
            </a:r>
            <a:r>
              <a:rPr lang="zh-CN" altLang="en-US" sz="1400" dirty="0">
                <a:solidFill>
                  <a:schemeClr val="tx1">
                    <a:lumMod val="50000"/>
                    <a:lumOff val="50000"/>
                  </a:schemeClr>
                </a:solidFill>
                <a:cs typeface="+mn-ea"/>
              </a:rPr>
              <a:t>个顶点用世界上的不同城市标记。智力题要求从一个城市开始，沿十二面体的边旅行，访问其他</a:t>
            </a:r>
            <a:r>
              <a:rPr lang="en-US" altLang="zh-CN" sz="1400" dirty="0">
                <a:solidFill>
                  <a:schemeClr val="tx1">
                    <a:lumMod val="50000"/>
                    <a:lumOff val="50000"/>
                  </a:schemeClr>
                </a:solidFill>
                <a:cs typeface="+mn-ea"/>
              </a:rPr>
              <a:t>19</a:t>
            </a:r>
            <a:r>
              <a:rPr lang="zh-CN" altLang="en-US" sz="1400" dirty="0">
                <a:solidFill>
                  <a:schemeClr val="tx1">
                    <a:lumMod val="50000"/>
                    <a:lumOff val="50000"/>
                  </a:schemeClr>
                </a:solidFill>
                <a:cs typeface="+mn-ea"/>
              </a:rPr>
              <a:t>个城市，每个恰好一次，最终回到第一个城市</a:t>
            </a:r>
            <a:r>
              <a:rPr lang="zh-CN" altLang="en-US" sz="1400" dirty="0" smtClean="0">
                <a:solidFill>
                  <a:schemeClr val="tx1">
                    <a:lumMod val="50000"/>
                    <a:lumOff val="50000"/>
                  </a:schemeClr>
                </a:solidFill>
                <a:cs typeface="+mn-ea"/>
              </a:rPr>
              <a:t>。</a:t>
            </a:r>
            <a:endParaRPr lang="zh-CN" altLang="en-US" sz="1400" dirty="0">
              <a:solidFill>
                <a:schemeClr val="tx1">
                  <a:lumMod val="50000"/>
                  <a:lumOff val="50000"/>
                </a:schemeClr>
              </a:solidFill>
              <a:cs typeface="+mn-ea"/>
            </a:endParaRPr>
          </a:p>
        </p:txBody>
      </p:sp>
      <p:sp>
        <p:nvSpPr>
          <p:cNvPr id="20" name="矩形 19"/>
          <p:cNvSpPr/>
          <p:nvPr/>
        </p:nvSpPr>
        <p:spPr>
          <a:xfrm>
            <a:off x="7146531" y="3586839"/>
            <a:ext cx="4293988" cy="2246769"/>
          </a:xfrm>
          <a:prstGeom prst="rect">
            <a:avLst/>
          </a:prstGeom>
        </p:spPr>
        <p:txBody>
          <a:bodyPr wrap="square">
            <a:spAutoFit/>
            <a:scene3d>
              <a:camera prst="orthographicFront"/>
              <a:lightRig rig="threePt" dir="t"/>
            </a:scene3d>
            <a:sp3d contourW="12700"/>
          </a:bodyPr>
          <a:lstStyle/>
          <a:p>
            <a:r>
              <a:rPr lang="zh-CN" altLang="en-US" sz="1400" dirty="0">
                <a:solidFill>
                  <a:schemeClr val="tx1">
                    <a:lumMod val="50000"/>
                    <a:lumOff val="50000"/>
                  </a:schemeClr>
                </a:solidFill>
                <a:cs typeface="+mn-ea"/>
              </a:rPr>
              <a:t>因为作者不可能向每位读者提供带钉子和细线的木质十二面体，所以考虑了一个等价的问题：对</a:t>
            </a:r>
            <a:r>
              <a:rPr lang="zh-CN" altLang="en-US" sz="1400" dirty="0" smtClean="0">
                <a:solidFill>
                  <a:schemeClr val="tx1">
                    <a:lumMod val="50000"/>
                    <a:lumOff val="50000"/>
                  </a:schemeClr>
                </a:solidFill>
                <a:cs typeface="+mn-ea"/>
              </a:rPr>
              <a:t>图</a:t>
            </a:r>
            <a:r>
              <a:rPr lang="en-US" altLang="zh-CN" sz="1400" dirty="0" smtClean="0">
                <a:solidFill>
                  <a:schemeClr val="tx1">
                    <a:lumMod val="50000"/>
                    <a:lumOff val="50000"/>
                  </a:schemeClr>
                </a:solidFill>
                <a:cs typeface="+mn-ea"/>
              </a:rPr>
              <a:t>(b</a:t>
            </a:r>
            <a:r>
              <a:rPr lang="en-US" altLang="zh-CN" sz="1400" dirty="0">
                <a:solidFill>
                  <a:schemeClr val="tx1">
                    <a:lumMod val="50000"/>
                    <a:lumOff val="50000"/>
                  </a:schemeClr>
                </a:solidFill>
                <a:cs typeface="+mn-ea"/>
              </a:rPr>
              <a:t>)</a:t>
            </a:r>
            <a:r>
              <a:rPr lang="zh-CN" altLang="en-US" sz="1400" dirty="0">
                <a:solidFill>
                  <a:schemeClr val="tx1">
                    <a:lumMod val="50000"/>
                    <a:lumOff val="50000"/>
                  </a:schemeClr>
                </a:solidFill>
                <a:cs typeface="+mn-ea"/>
              </a:rPr>
              <a:t>的图是否具有恰好经过每个顶点一次的回路？它就是对原题的解，因为这个平面图同构于十二面体顶点和边</a:t>
            </a:r>
            <a:r>
              <a:rPr lang="zh-CN" altLang="en-US" sz="1400" dirty="0" smtClean="0">
                <a:solidFill>
                  <a:schemeClr val="tx1">
                    <a:lumMod val="50000"/>
                    <a:lumOff val="50000"/>
                  </a:schemeClr>
                </a:solidFill>
                <a:cs typeface="+mn-ea"/>
              </a:rPr>
              <a:t>。</a:t>
            </a:r>
            <a:endParaRPr lang="en-US" altLang="zh-CN" sz="1400" dirty="0" smtClean="0">
              <a:solidFill>
                <a:schemeClr val="tx1">
                  <a:lumMod val="50000"/>
                  <a:lumOff val="50000"/>
                </a:schemeClr>
              </a:solidFill>
              <a:cs typeface="+mn-ea"/>
            </a:endParaRPr>
          </a:p>
          <a:p>
            <a:r>
              <a:rPr lang="zh-CN" altLang="en-US" sz="1400" dirty="0">
                <a:solidFill>
                  <a:schemeClr val="tx1">
                    <a:lumMod val="50000"/>
                    <a:lumOff val="50000"/>
                  </a:schemeClr>
                </a:solidFill>
                <a:cs typeface="+mn-ea"/>
              </a:rPr>
              <a:t>著名的</a:t>
            </a:r>
            <a:r>
              <a:rPr lang="zh-CN" altLang="en-US" sz="1400" b="1" dirty="0">
                <a:solidFill>
                  <a:schemeClr val="tx1">
                    <a:lumMod val="50000"/>
                    <a:lumOff val="50000"/>
                  </a:schemeClr>
                </a:solidFill>
                <a:cs typeface="+mn-ea"/>
              </a:rPr>
              <a:t>旅行商问题</a:t>
            </a:r>
            <a:r>
              <a:rPr lang="en-US" altLang="zh-CN" sz="1400" b="1" dirty="0">
                <a:solidFill>
                  <a:schemeClr val="tx1">
                    <a:lumMod val="50000"/>
                    <a:lumOff val="50000"/>
                  </a:schemeClr>
                </a:solidFill>
                <a:cs typeface="+mn-ea"/>
              </a:rPr>
              <a:t>(TSP)</a:t>
            </a:r>
            <a:r>
              <a:rPr lang="zh-CN" altLang="en-US" sz="1400" dirty="0">
                <a:solidFill>
                  <a:schemeClr val="tx1">
                    <a:lumMod val="50000"/>
                    <a:lumOff val="50000"/>
                  </a:schemeClr>
                </a:solidFill>
                <a:cs typeface="+mn-ea"/>
              </a:rPr>
              <a:t>要求旅行商访问一组城市所应当选取的最短路线。这个问题可以归结为求完全图的哈密顿回路，使这个回路的边的权重和尽可能的小</a:t>
            </a:r>
            <a:r>
              <a:rPr lang="zh-CN" altLang="en-US" sz="1400" dirty="0" smtClean="0">
                <a:solidFill>
                  <a:schemeClr val="tx1">
                    <a:lumMod val="50000"/>
                    <a:lumOff val="50000"/>
                  </a:schemeClr>
                </a:solidFill>
                <a:cs typeface="+mn-ea"/>
              </a:rPr>
              <a:t>。</a:t>
            </a:r>
            <a:endParaRPr lang="en-US" altLang="zh-CN" sz="1400" dirty="0" smtClean="0">
              <a:solidFill>
                <a:schemeClr val="tx1">
                  <a:lumMod val="50000"/>
                  <a:lumOff val="50000"/>
                </a:schemeClr>
              </a:solidFill>
              <a:cs typeface="+mn-ea"/>
            </a:endParaRPr>
          </a:p>
          <a:p>
            <a:r>
              <a:rPr lang="zh-CN" altLang="en-US" sz="1400" dirty="0">
                <a:solidFill>
                  <a:schemeClr val="tx1">
                    <a:lumMod val="50000"/>
                    <a:lumOff val="50000"/>
                  </a:schemeClr>
                </a:solidFill>
                <a:cs typeface="+mn-ea"/>
              </a:rPr>
              <a:t>在实际应用中，我们使用的启发式搜索等</a:t>
            </a:r>
            <a:r>
              <a:rPr lang="zh-CN" altLang="en-US" sz="1400" b="1" dirty="0">
                <a:solidFill>
                  <a:schemeClr val="tx1">
                    <a:lumMod val="50000"/>
                    <a:lumOff val="50000"/>
                  </a:schemeClr>
                </a:solidFill>
                <a:cs typeface="+mn-ea"/>
              </a:rPr>
              <a:t>近似算法</a:t>
            </a:r>
            <a:r>
              <a:rPr lang="zh-CN" altLang="en-US" sz="1400" dirty="0">
                <a:solidFill>
                  <a:schemeClr val="tx1">
                    <a:lumMod val="50000"/>
                    <a:lumOff val="50000"/>
                  </a:schemeClr>
                </a:solidFill>
                <a:cs typeface="+mn-ea"/>
              </a:rPr>
              <a:t>，可以完全求解城市数量上万的实例，并且甚至能在误差</a:t>
            </a:r>
            <a:r>
              <a:rPr lang="en-US" altLang="zh-CN" sz="1400" dirty="0">
                <a:solidFill>
                  <a:schemeClr val="tx1">
                    <a:lumMod val="50000"/>
                    <a:lumOff val="50000"/>
                  </a:schemeClr>
                </a:solidFill>
                <a:cs typeface="+mn-ea"/>
              </a:rPr>
              <a:t>1%</a:t>
            </a:r>
            <a:r>
              <a:rPr lang="zh-CN" altLang="en-US" sz="1400" dirty="0">
                <a:solidFill>
                  <a:schemeClr val="tx1">
                    <a:lumMod val="50000"/>
                    <a:lumOff val="50000"/>
                  </a:schemeClr>
                </a:solidFill>
                <a:cs typeface="+mn-ea"/>
              </a:rPr>
              <a:t>范围内估计上百万个城市的问题。</a:t>
            </a:r>
          </a:p>
        </p:txBody>
      </p:sp>
    </p:spTree>
    <p:extLst>
      <p:ext uri="{BB962C8B-B14F-4D97-AF65-F5344CB8AC3E}">
        <p14:creationId xmlns:p14="http://schemas.microsoft.com/office/powerpoint/2010/main" val="199287464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86"/>
                                        </p:tgtEl>
                                        <p:attrNameLst>
                                          <p:attrName>style.visibility</p:attrName>
                                        </p:attrNameLst>
                                      </p:cBhvr>
                                      <p:to>
                                        <p:strVal val="visible"/>
                                      </p:to>
                                    </p:set>
                                    <p:animEffect transition="in" filter="fade">
                                      <p:cBhvr>
                                        <p:cTn id="16" dur="1000"/>
                                        <p:tgtEl>
                                          <p:spTgt spid="86"/>
                                        </p:tgtEl>
                                      </p:cBhvr>
                                    </p:animEffect>
                                    <p:anim calcmode="lin" valueType="num">
                                      <p:cBhvr>
                                        <p:cTn id="17" dur="1000" fill="hold"/>
                                        <p:tgtEl>
                                          <p:spTgt spid="86"/>
                                        </p:tgtEl>
                                        <p:attrNameLst>
                                          <p:attrName>ppt_x</p:attrName>
                                        </p:attrNameLst>
                                      </p:cBhvr>
                                      <p:tavLst>
                                        <p:tav tm="0">
                                          <p:val>
                                            <p:strVal val="#ppt_x"/>
                                          </p:val>
                                        </p:tav>
                                        <p:tav tm="100000">
                                          <p:val>
                                            <p:strVal val="#ppt_x"/>
                                          </p:val>
                                        </p:tav>
                                      </p:tavLst>
                                    </p:anim>
                                    <p:anim calcmode="lin" valueType="num">
                                      <p:cBhvr>
                                        <p:cTn id="18" dur="1000" fill="hold"/>
                                        <p:tgtEl>
                                          <p:spTgt spid="86"/>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0"/>
                                        </p:tgtEl>
                                        <p:attrNameLst>
                                          <p:attrName>style.visibility</p:attrName>
                                        </p:attrNameLst>
                                      </p:cBhvr>
                                      <p:to>
                                        <p:strVal val="visible"/>
                                      </p:to>
                                    </p:set>
                                    <p:animEffect transition="in" filter="fade">
                                      <p:cBhvr>
                                        <p:cTn id="26" dur="1000"/>
                                        <p:tgtEl>
                                          <p:spTgt spid="100"/>
                                        </p:tgtEl>
                                      </p:cBhvr>
                                    </p:animEffect>
                                    <p:anim calcmode="lin" valueType="num">
                                      <p:cBhvr>
                                        <p:cTn id="27" dur="1000" fill="hold"/>
                                        <p:tgtEl>
                                          <p:spTgt spid="100"/>
                                        </p:tgtEl>
                                        <p:attrNameLst>
                                          <p:attrName>ppt_x</p:attrName>
                                        </p:attrNameLst>
                                      </p:cBhvr>
                                      <p:tavLst>
                                        <p:tav tm="0">
                                          <p:val>
                                            <p:strVal val="#ppt_x"/>
                                          </p:val>
                                        </p:tav>
                                        <p:tav tm="100000">
                                          <p:val>
                                            <p:strVal val="#ppt_x"/>
                                          </p:val>
                                        </p:tav>
                                      </p:tavLst>
                                    </p:anim>
                                    <p:anim calcmode="lin" valueType="num">
                                      <p:cBhvr>
                                        <p:cTn id="28" dur="1000" fill="hold"/>
                                        <p:tgtEl>
                                          <p:spTgt spid="10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1000"/>
                                        <p:tgtEl>
                                          <p:spTgt spid="29"/>
                                        </p:tgtEl>
                                      </p:cBhvr>
                                    </p:animEffect>
                                    <p:anim calcmode="lin" valueType="num">
                                      <p:cBhvr>
                                        <p:cTn id="34" dur="1000" fill="hold"/>
                                        <p:tgtEl>
                                          <p:spTgt spid="29"/>
                                        </p:tgtEl>
                                        <p:attrNameLst>
                                          <p:attrName>ppt_x</p:attrName>
                                        </p:attrNameLst>
                                      </p:cBhvr>
                                      <p:tavLst>
                                        <p:tav tm="0">
                                          <p:val>
                                            <p:strVal val="#ppt_x"/>
                                          </p:val>
                                        </p:tav>
                                        <p:tav tm="100000">
                                          <p:val>
                                            <p:strVal val="#ppt_x"/>
                                          </p:val>
                                        </p:tav>
                                      </p:tavLst>
                                    </p:anim>
                                    <p:anim calcmode="lin" valueType="num">
                                      <p:cBhvr>
                                        <p:cTn id="3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1000"/>
                                        <p:tgtEl>
                                          <p:spTgt spid="19"/>
                                        </p:tgtEl>
                                      </p:cBhvr>
                                    </p:animEffect>
                                    <p:anim calcmode="lin" valueType="num">
                                      <p:cBhvr>
                                        <p:cTn id="41" dur="1000" fill="hold"/>
                                        <p:tgtEl>
                                          <p:spTgt spid="19"/>
                                        </p:tgtEl>
                                        <p:attrNameLst>
                                          <p:attrName>ppt_x</p:attrName>
                                        </p:attrNameLst>
                                      </p:cBhvr>
                                      <p:tavLst>
                                        <p:tav tm="0">
                                          <p:val>
                                            <p:strVal val="#ppt_x"/>
                                          </p:val>
                                        </p:tav>
                                        <p:tav tm="100000">
                                          <p:val>
                                            <p:strVal val="#ppt_x"/>
                                          </p:val>
                                        </p:tav>
                                      </p:tavLst>
                                    </p:anim>
                                    <p:anim calcmode="lin" valueType="num">
                                      <p:cBhvr>
                                        <p:cTn id="42"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9"/>
                                        </p:tgtEl>
                                        <p:attrNameLst>
                                          <p:attrName>style.visibility</p:attrName>
                                        </p:attrNameLst>
                                      </p:cBhvr>
                                      <p:to>
                                        <p:strVal val="hidden"/>
                                      </p:to>
                                    </p:set>
                                  </p:childTnLst>
                                </p:cTn>
                              </p:par>
                            </p:childTnLst>
                          </p:cTn>
                        </p:par>
                        <p:par>
                          <p:cTn id="47" fill="hold">
                            <p:stCondLst>
                              <p:cond delay="0"/>
                            </p:stCondLst>
                            <p:childTnLst>
                              <p:par>
                                <p:cTn id="48" presetID="42" presetClass="entr" presetSubtype="0"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1000"/>
                                        <p:tgtEl>
                                          <p:spTgt spid="20"/>
                                        </p:tgtEl>
                                      </p:cBhvr>
                                    </p:animEffect>
                                    <p:anim calcmode="lin" valueType="num">
                                      <p:cBhvr>
                                        <p:cTn id="51" dur="1000" fill="hold"/>
                                        <p:tgtEl>
                                          <p:spTgt spid="20"/>
                                        </p:tgtEl>
                                        <p:attrNameLst>
                                          <p:attrName>ppt_x</p:attrName>
                                        </p:attrNameLst>
                                      </p:cBhvr>
                                      <p:tavLst>
                                        <p:tav tm="0">
                                          <p:val>
                                            <p:strVal val="#ppt_x"/>
                                          </p:val>
                                        </p:tav>
                                        <p:tav tm="100000">
                                          <p:val>
                                            <p:strVal val="#ppt_x"/>
                                          </p:val>
                                        </p:tav>
                                      </p:tavLst>
                                    </p:anim>
                                    <p:anim calcmode="lin" valueType="num">
                                      <p:cBhvr>
                                        <p:cTn id="5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00" grpId="0"/>
      <p:bldP spid="26" grpId="0"/>
      <p:bldP spid="19" grpId="0"/>
      <p:bldP spid="19" grpId="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2346266" cy="1738323"/>
          </a:xfrm>
          <a:prstGeom prst="rect">
            <a:avLst/>
          </a:prstGeom>
        </p:spPr>
      </p:pic>
      <p:pic>
        <p:nvPicPr>
          <p:cNvPr id="38" name="图片占位符 37"/>
          <p:cNvPicPr>
            <a:picLocks noGrp="1" noChangeAspect="1"/>
          </p:cNvPicPr>
          <p:nvPr>
            <p:ph type="pic" sz="quarter" idx="10"/>
          </p:nvPr>
        </p:nvPicPr>
        <p:blipFill>
          <a:blip r:embed="rId4">
            <a:extLst>
              <a:ext uri="{28A0092B-C50C-407E-A947-70E740481C1C}">
                <a14:useLocalDpi xmlns:a14="http://schemas.microsoft.com/office/drawing/2010/main" val="0"/>
              </a:ext>
            </a:extLst>
          </a:blip>
          <a:stretch>
            <a:fillRect/>
          </a:stretch>
        </p:blipFill>
        <p:spPr>
          <a:xfrm>
            <a:off x="1173133" y="1672046"/>
            <a:ext cx="1999553" cy="3512729"/>
          </a:xfrm>
        </p:spPr>
      </p:pic>
      <p:pic>
        <p:nvPicPr>
          <p:cNvPr id="20" name="图片 19"/>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sp>
        <p:nvSpPr>
          <p:cNvPr id="21" name="文本框 21"/>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基本概念</a:t>
            </a:r>
            <a:endParaRPr lang="zh-CN" altLang="en-US" sz="3200" dirty="0">
              <a:solidFill>
                <a:schemeClr val="tx1">
                  <a:lumMod val="65000"/>
                  <a:lumOff val="35000"/>
                </a:schemeClr>
              </a:solidFill>
              <a:cs typeface="+mn-ea"/>
              <a:sym typeface="+mn-lt"/>
            </a:endParaRPr>
          </a:p>
        </p:txBody>
      </p:sp>
      <p:sp>
        <p:nvSpPr>
          <p:cNvPr id="24" name="矩形 23"/>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200" dirty="0" smtClean="0">
                <a:solidFill>
                  <a:schemeClr val="accent3"/>
                </a:solidFill>
                <a:cs typeface="+mn-ea"/>
                <a:sym typeface="+mn-lt"/>
              </a:rPr>
              <a:t>Basic Concepts </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26" name="直接连接符 25"/>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文本框 2919"/>
          <p:cNvSpPr txBox="1"/>
          <p:nvPr/>
        </p:nvSpPr>
        <p:spPr>
          <a:xfrm>
            <a:off x="10511356" y="177223"/>
            <a:ext cx="646332"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2" name="矩形 21"/>
          <p:cNvSpPr/>
          <p:nvPr/>
        </p:nvSpPr>
        <p:spPr>
          <a:xfrm>
            <a:off x="6308154" y="2150283"/>
            <a:ext cx="3898900"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tx1">
                    <a:lumMod val="65000"/>
                    <a:lumOff val="35000"/>
                  </a:schemeClr>
                </a:solidFill>
                <a:cs typeface="+mn-ea"/>
                <a:sym typeface="+mn-lt"/>
              </a:rPr>
              <a:t>如左</a:t>
            </a:r>
            <a:r>
              <a:rPr lang="zh-CN" altLang="en-US" b="1" dirty="0" smtClean="0">
                <a:solidFill>
                  <a:schemeClr val="tx1">
                    <a:lumMod val="65000"/>
                    <a:lumOff val="35000"/>
                  </a:schemeClr>
                </a:solidFill>
                <a:cs typeface="+mn-ea"/>
                <a:sym typeface="+mn-lt"/>
              </a:rPr>
              <a:t>图，是否都是欧拉回路？</a:t>
            </a:r>
            <a:endParaRPr lang="zh-CN" altLang="en-US" b="1" dirty="0">
              <a:solidFill>
                <a:schemeClr val="tx1">
                  <a:lumMod val="65000"/>
                  <a:lumOff val="35000"/>
                </a:schemeClr>
              </a:solidFill>
              <a:cs typeface="+mn-ea"/>
              <a:sym typeface="+mn-lt"/>
            </a:endParaRPr>
          </a:p>
        </p:txBody>
      </p:sp>
      <p:sp>
        <p:nvSpPr>
          <p:cNvPr id="25" name="矩形 24"/>
          <p:cNvSpPr/>
          <p:nvPr/>
        </p:nvSpPr>
        <p:spPr>
          <a:xfrm>
            <a:off x="6308154" y="3205418"/>
            <a:ext cx="3898900"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如果是欧拉回路，你能给出其路径吗？</a:t>
            </a:r>
            <a:endParaRPr lang="zh-CN" altLang="en-US" b="1" dirty="0">
              <a:solidFill>
                <a:schemeClr val="tx1">
                  <a:lumMod val="65000"/>
                  <a:lumOff val="35000"/>
                </a:schemeClr>
              </a:solidFill>
              <a:cs typeface="+mn-ea"/>
              <a:sym typeface="+mn-lt"/>
            </a:endParaRPr>
          </a:p>
        </p:txBody>
      </p:sp>
      <p:sp>
        <p:nvSpPr>
          <p:cNvPr id="29" name="矩形 28"/>
          <p:cNvSpPr/>
          <p:nvPr/>
        </p:nvSpPr>
        <p:spPr>
          <a:xfrm>
            <a:off x="6755051" y="5506792"/>
            <a:ext cx="3005107" cy="327077"/>
          </a:xfrm>
          <a:prstGeom prst="rect">
            <a:avLst/>
          </a:prstGeom>
        </p:spPr>
        <p:txBody>
          <a:bodyPr wrap="square">
            <a:spAutoFit/>
            <a:scene3d>
              <a:camera prst="orthographicFront"/>
              <a:lightRig rig="threePt" dir="t"/>
            </a:scene3d>
            <a:sp3d contourW="12700"/>
          </a:bodyPr>
          <a:lstStyle/>
          <a:p>
            <a:pPr algn="r">
              <a:lnSpc>
                <a:spcPct val="120000"/>
              </a:lnSpc>
            </a:pPr>
            <a:r>
              <a:rPr lang="en-US" altLang="zh-CN" sz="1400" dirty="0" smtClean="0">
                <a:solidFill>
                  <a:schemeClr val="tx1">
                    <a:lumMod val="50000"/>
                    <a:lumOff val="50000"/>
                  </a:schemeClr>
                </a:solidFill>
                <a:cs typeface="+mn-ea"/>
                <a:sym typeface="+mn-lt"/>
              </a:rPr>
              <a:t>3</a:t>
            </a:r>
            <a:endParaRPr lang="zh-CN" altLang="en-US" sz="1400" dirty="0">
              <a:solidFill>
                <a:schemeClr val="tx1">
                  <a:lumMod val="50000"/>
                  <a:lumOff val="50000"/>
                </a:schemeClr>
              </a:solidFill>
              <a:cs typeface="+mn-ea"/>
              <a:sym typeface="+mn-lt"/>
            </a:endParaRPr>
          </a:p>
        </p:txBody>
      </p:sp>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6676" y="1482725"/>
            <a:ext cx="2114550" cy="3714750"/>
          </a:xfrm>
          <a:prstGeom prst="rect">
            <a:avLst/>
          </a:prstGeom>
        </p:spPr>
      </p:pic>
    </p:spTree>
    <p:extLst>
      <p:ext uri="{BB962C8B-B14F-4D97-AF65-F5344CB8AC3E}">
        <p14:creationId xmlns:p14="http://schemas.microsoft.com/office/powerpoint/2010/main" val="3812867988"/>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1000"/>
                                        <p:tgtEl>
                                          <p:spTgt spid="38"/>
                                        </p:tgtEl>
                                      </p:cBhvr>
                                    </p:animEffect>
                                    <p:anim calcmode="lin" valueType="num">
                                      <p:cBhvr>
                                        <p:cTn id="19" dur="1000" fill="hold"/>
                                        <p:tgtEl>
                                          <p:spTgt spid="38"/>
                                        </p:tgtEl>
                                        <p:attrNameLst>
                                          <p:attrName>ppt_x</p:attrName>
                                        </p:attrNameLst>
                                      </p:cBhvr>
                                      <p:tavLst>
                                        <p:tav tm="0">
                                          <p:val>
                                            <p:strVal val="#ppt_x"/>
                                          </p:val>
                                        </p:tav>
                                        <p:tav tm="100000">
                                          <p:val>
                                            <p:strVal val="#ppt_x"/>
                                          </p:val>
                                        </p:tav>
                                      </p:tavLst>
                                    </p:anim>
                                    <p:anim calcmode="lin" valueType="num">
                                      <p:cBhvr>
                                        <p:cTn id="20"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arn(inVertical)">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barn(inVertical)">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2"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10" name="组合 9"/>
          <p:cNvGrpSpPr/>
          <p:nvPr/>
        </p:nvGrpSpPr>
        <p:grpSpPr>
          <a:xfrm>
            <a:off x="2292553" y="2016125"/>
            <a:ext cx="2514600" cy="2514600"/>
            <a:chOff x="4838700" y="1089025"/>
            <a:chExt cx="2514600" cy="2514600"/>
          </a:xfrm>
          <a:effectLst>
            <a:outerShdw blurRad="279400" sx="102000" sy="102000" algn="ctr" rotWithShape="0">
              <a:prstClr val="black">
                <a:alpha val="40000"/>
              </a:prstClr>
            </a:outerShdw>
          </a:effectLst>
        </p:grpSpPr>
        <p:sp>
          <p:nvSpPr>
            <p:cNvPr id="9" name="椭圆 8"/>
            <p:cNvSpPr/>
            <p:nvPr/>
          </p:nvSpPr>
          <p:spPr>
            <a:xfrm>
              <a:off x="4838700" y="1089025"/>
              <a:ext cx="2514600" cy="2514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8" name="椭圆 7"/>
            <p:cNvSpPr/>
            <p:nvPr/>
          </p:nvSpPr>
          <p:spPr>
            <a:xfrm>
              <a:off x="5067300" y="1317625"/>
              <a:ext cx="2057400" cy="2057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11" name="文本框 10"/>
          <p:cNvSpPr txBox="1"/>
          <p:nvPr/>
        </p:nvSpPr>
        <p:spPr>
          <a:xfrm>
            <a:off x="3029520" y="2765593"/>
            <a:ext cx="104067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1" i="0" u="none" strike="noStrike" kern="1200" cap="none" spc="0" normalizeH="0" baseline="0" noProof="0" dirty="0">
                <a:ln>
                  <a:noFill/>
                </a:ln>
                <a:solidFill>
                  <a:srgbClr val="FF5C00"/>
                </a:solidFill>
                <a:effectLst/>
                <a:uLnTx/>
                <a:uFillTx/>
                <a:cs typeface="+mn-ea"/>
                <a:sym typeface="+mn-lt"/>
              </a:rPr>
              <a:t>02</a:t>
            </a:r>
            <a:endParaRPr kumimoji="0" lang="zh-CN" altLang="en-US" sz="6000" b="1" i="0" u="none" strike="noStrike" kern="1200" cap="none" spc="0" normalizeH="0" baseline="0" noProof="0" dirty="0">
              <a:ln>
                <a:noFill/>
              </a:ln>
              <a:solidFill>
                <a:srgbClr val="FF5C00"/>
              </a:solidFill>
              <a:effectLst/>
              <a:uLnTx/>
              <a:uFillTx/>
              <a:cs typeface="+mn-ea"/>
              <a:sym typeface="+mn-lt"/>
            </a:endParaRPr>
          </a:p>
        </p:txBody>
      </p:sp>
      <p:sp>
        <p:nvSpPr>
          <p:cNvPr id="12" name="文本框 11"/>
          <p:cNvSpPr txBox="1"/>
          <p:nvPr/>
        </p:nvSpPr>
        <p:spPr>
          <a:xfrm>
            <a:off x="5998172" y="2533875"/>
            <a:ext cx="2236510" cy="707886"/>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000" b="0" i="0" u="none" strike="noStrike" kern="1200" cap="none" spc="0" normalizeH="0" baseline="0" noProof="0" dirty="0" smtClean="0">
                <a:ln>
                  <a:noFill/>
                </a:ln>
                <a:solidFill>
                  <a:srgbClr val="FFFFFF"/>
                </a:solidFill>
                <a:effectLst>
                  <a:outerShdw blurRad="203200" dist="38100" dir="5400000" algn="t" rotWithShape="0">
                    <a:prstClr val="black">
                      <a:alpha val="83000"/>
                    </a:prstClr>
                  </a:outerShdw>
                </a:effectLst>
                <a:uLnTx/>
                <a:uFillTx/>
                <a:cs typeface="+mn-ea"/>
                <a:sym typeface="+mn-lt"/>
              </a:rPr>
              <a:t>存储结构</a:t>
            </a:r>
            <a:endParaRPr kumimoji="0" lang="zh-CN" altLang="en-US" sz="40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sp>
        <p:nvSpPr>
          <p:cNvPr id="13" name="矩形 12"/>
          <p:cNvSpPr/>
          <p:nvPr/>
        </p:nvSpPr>
        <p:spPr>
          <a:xfrm>
            <a:off x="5023420" y="3254461"/>
            <a:ext cx="4626465" cy="978729"/>
          </a:xfrm>
          <a:prstGeom prst="rect">
            <a:avLst/>
          </a:prstGeom>
          <a:noFill/>
        </p:spPr>
        <p:txBody>
          <a:bodyPr wrap="square" rtlCol="0">
            <a:spAutoFit/>
            <a:scene3d>
              <a:camera prst="orthographicFront"/>
              <a:lightRig rig="threePt" dir="t"/>
            </a:scene3d>
            <a:sp3d extrusionH="127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200" dirty="0" smtClean="0">
                <a:solidFill>
                  <a:srgbClr val="FFFFFF"/>
                </a:solidFill>
                <a:effectLst>
                  <a:outerShdw blurRad="203200" dist="38100" dir="5400000" algn="t" rotWithShape="0">
                    <a:prstClr val="black">
                      <a:alpha val="83000"/>
                    </a:prstClr>
                  </a:outerShdw>
                </a:effectLst>
                <a:cs typeface="+mn-ea"/>
                <a:sym typeface="+mn-lt"/>
              </a:rPr>
              <a:t>图的存储结构较为复杂，因为图中的顶点具有相对概念，没有固定的位置。</a:t>
            </a:r>
            <a:endParaRPr lang="en-US" altLang="zh-CN" sz="1200" dirty="0" smtClean="0">
              <a:solidFill>
                <a:srgbClr val="FFFFFF"/>
              </a:solidFill>
              <a:effectLst>
                <a:outerShdw blurRad="203200" dist="38100" dir="5400000" algn="t" rotWithShape="0">
                  <a:prstClr val="black">
                    <a:alpha val="83000"/>
                  </a:prstClr>
                </a:outerShdw>
              </a:effectLst>
              <a:cs typeface="+mn-ea"/>
              <a:sym typeface="+mn-lt"/>
            </a:endParaRPr>
          </a:p>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200" dirty="0" smtClean="0">
                <a:solidFill>
                  <a:srgbClr val="FFFFFF"/>
                </a:solidFill>
                <a:effectLst>
                  <a:outerShdw blurRad="203200" dist="38100" dir="5400000" algn="t" rotWithShape="0">
                    <a:prstClr val="black">
                      <a:alpha val="83000"/>
                    </a:prstClr>
                  </a:outerShdw>
                </a:effectLst>
                <a:cs typeface="+mn-ea"/>
                <a:sym typeface="+mn-lt"/>
              </a:rPr>
              <a:t>我们通过把顶点和边的集合储存起来，达成存储图中所有数据的目的。</a:t>
            </a:r>
            <a:endParaRPr kumimoji="0" lang="zh-CN" altLang="en-US" sz="12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spTree>
    <p:extLst>
      <p:ext uri="{BB962C8B-B14F-4D97-AF65-F5344CB8AC3E}">
        <p14:creationId xmlns:p14="http://schemas.microsoft.com/office/powerpoint/2010/main" val="198538721"/>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Rectangle 2"/>
              <p:cNvSpPr/>
              <p:nvPr/>
            </p:nvSpPr>
            <p:spPr>
              <a:xfrm>
                <a:off x="754771" y="2196701"/>
                <a:ext cx="10848650" cy="966951"/>
              </a:xfrm>
              <a:prstGeom prst="rect">
                <a:avLst/>
              </a:prstGeom>
              <a:solidFill>
                <a:srgbClr val="3A69EE">
                  <a:alpha val="47451"/>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14:m>
                  <m:oMathPara xmlns:m="http://schemas.openxmlformats.org/officeDocument/2006/math">
                    <m:oMathParaPr>
                      <m:jc m:val="centerGroup"/>
                    </m:oMathParaPr>
                    <m:oMath xmlns:m="http://schemas.openxmlformats.org/officeDocument/2006/math">
                      <m:r>
                        <m:rPr>
                          <m:sty m:val="p"/>
                        </m:rPr>
                        <a:rPr lang="en-US" altLang="zh-CN" dirty="0" smtClean="0">
                          <a:latin typeface="Cambria Math"/>
                          <a:cs typeface="+mn-ea"/>
                          <a:sym typeface="+mn-lt"/>
                        </a:rPr>
                        <m:t>a</m:t>
                      </m:r>
                      <m:r>
                        <m:rPr>
                          <m:sty m:val="p"/>
                        </m:rPr>
                        <a:rPr lang="en-US" altLang="zh-CN" b="0" i="0" baseline="-25000" dirty="0" smtClean="0">
                          <a:latin typeface="Cambria Math"/>
                          <a:cs typeface="+mn-ea"/>
                          <a:sym typeface="+mn-lt"/>
                        </a:rPr>
                        <m:t>ij</m:t>
                      </m:r>
                      <m:r>
                        <a:rPr lang="en-US" altLang="zh-CN" b="0" i="0" dirty="0" smtClean="0">
                          <a:latin typeface="Cambria Math"/>
                          <a:cs typeface="+mn-ea"/>
                          <a:sym typeface="+mn-lt"/>
                        </a:rPr>
                        <m:t>=</m:t>
                      </m:r>
                      <m:d>
                        <m:dPr>
                          <m:begChr m:val="{"/>
                          <m:endChr m:val=""/>
                          <m:ctrlPr>
                            <a:rPr lang="en-US" altLang="zh-CN" b="0" i="1" dirty="0" smtClean="0">
                              <a:latin typeface="Cambria Math"/>
                              <a:cs typeface="+mn-ea"/>
                              <a:sym typeface="+mn-lt"/>
                            </a:rPr>
                          </m:ctrlPr>
                        </m:dPr>
                        <m:e>
                          <m:eqArr>
                            <m:eqArrPr>
                              <m:ctrlPr>
                                <a:rPr lang="en-US" altLang="zh-CN" b="0" i="1" dirty="0" smtClean="0">
                                  <a:latin typeface="Cambria Math"/>
                                  <a:cs typeface="+mn-ea"/>
                                  <a:sym typeface="+mn-lt"/>
                                </a:rPr>
                              </m:ctrlPr>
                            </m:eqArrPr>
                            <m:e>
                              <m:m>
                                <m:mPr>
                                  <m:mcs>
                                    <m:mc>
                                      <m:mcPr>
                                        <m:count m:val="2"/>
                                        <m:mcJc m:val="center"/>
                                      </m:mcPr>
                                    </m:mc>
                                  </m:mcs>
                                  <m:ctrlPr>
                                    <a:rPr lang="en-US" altLang="zh-CN" b="0" i="1" dirty="0" smtClean="0">
                                      <a:latin typeface="Cambria Math"/>
                                      <a:cs typeface="+mn-ea"/>
                                      <a:sym typeface="+mn-lt"/>
                                    </a:rPr>
                                  </m:ctrlPr>
                                </m:mPr>
                                <m:mr>
                                  <m:e>
                                    <m:r>
                                      <m:rPr>
                                        <m:brk m:alnAt="7"/>
                                      </m:rPr>
                                      <a:rPr lang="en-US" altLang="zh-CN" b="0" i="1" dirty="0" smtClean="0">
                                        <a:latin typeface="Cambria Math"/>
                                        <a:cs typeface="+mn-ea"/>
                                        <a:sym typeface="+mn-lt"/>
                                      </a:rPr>
                                      <m:t>1</m:t>
                                    </m:r>
                                  </m:e>
                                  <m:e>
                                    <m:r>
                                      <a:rPr lang="zh-CN" altLang="en-US" i="1" dirty="0">
                                        <a:latin typeface="Cambria Math"/>
                                        <a:cs typeface="+mn-ea"/>
                                        <a:sym typeface="+mn-lt"/>
                                      </a:rPr>
                                      <m:t>无向图存在</m:t>
                                    </m:r>
                                    <m:r>
                                      <a:rPr lang="zh-CN" altLang="en-US" b="0" i="1" dirty="0" smtClean="0">
                                        <a:latin typeface="Cambria Math"/>
                                        <a:cs typeface="+mn-ea"/>
                                        <a:sym typeface="+mn-lt"/>
                                      </a:rPr>
                                      <m:t>边</m:t>
                                    </m:r>
                                    <m:d>
                                      <m:dPr>
                                        <m:ctrlPr>
                                          <a:rPr lang="en-US" altLang="zh-CN" b="0" i="1" dirty="0" smtClean="0">
                                            <a:latin typeface="Cambria Math"/>
                                            <a:cs typeface="+mn-ea"/>
                                            <a:sym typeface="+mn-lt"/>
                                          </a:rPr>
                                        </m:ctrlPr>
                                      </m:dPr>
                                      <m:e>
                                        <m:r>
                                          <a:rPr lang="en-US" altLang="zh-CN" b="0" i="1" dirty="0" smtClean="0">
                                            <a:latin typeface="Cambria Math"/>
                                            <a:cs typeface="+mn-ea"/>
                                            <a:sym typeface="+mn-lt"/>
                                          </a:rPr>
                                          <m:t>𝑣</m:t>
                                        </m:r>
                                        <m:r>
                                          <a:rPr lang="en-US" altLang="zh-CN" b="0" i="1" baseline="-25000"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𝑣𝑗</m:t>
                                        </m:r>
                                      </m:e>
                                    </m:d>
                                    <m:r>
                                      <a:rPr lang="zh-CN" altLang="en-US" b="0" i="1" dirty="0" smtClean="0">
                                        <a:latin typeface="Cambria Math"/>
                                        <a:cs typeface="+mn-ea"/>
                                        <a:sym typeface="+mn-lt"/>
                                      </a:rPr>
                                      <m:t>，</m:t>
                                    </m:r>
                                    <m:r>
                                      <a:rPr lang="zh-CN" altLang="en-US" i="1" dirty="0">
                                        <a:latin typeface="Cambria Math"/>
                                        <a:cs typeface="+mn-ea"/>
                                        <a:sym typeface="+mn-lt"/>
                                      </a:rPr>
                                      <m:t>有向图存在</m:t>
                                    </m:r>
                                    <m:r>
                                      <a:rPr lang="zh-CN" altLang="en-US" b="0" i="1" dirty="0" smtClean="0">
                                        <a:latin typeface="Cambria Math"/>
                                        <a:cs typeface="+mn-ea"/>
                                        <a:sym typeface="+mn-lt"/>
                                      </a:rPr>
                                      <m:t>弧</m:t>
                                    </m:r>
                                    <m:r>
                                      <a:rPr lang="en-US" altLang="zh-CN" b="0" i="1" dirty="0" smtClean="0">
                                        <a:latin typeface="Cambria Math"/>
                                        <a:cs typeface="+mn-ea"/>
                                        <a:sym typeface="+mn-lt"/>
                                      </a:rPr>
                                      <m:t>&lt;</m:t>
                                    </m:r>
                                    <m:r>
                                      <a:rPr lang="en-US" altLang="zh-CN" b="0" i="1" dirty="0" smtClean="0">
                                        <a:latin typeface="Cambria Math"/>
                                        <a:cs typeface="+mn-ea"/>
                                        <a:sym typeface="+mn-lt"/>
                                      </a:rPr>
                                      <m:t>𝑣𝑖</m:t>
                                    </m:r>
                                    <m:r>
                                      <a:rPr lang="en-US" altLang="zh-CN" b="0" i="1" dirty="0" smtClean="0">
                                        <a:latin typeface="Cambria Math"/>
                                        <a:cs typeface="+mn-ea"/>
                                        <a:sym typeface="+mn-lt"/>
                                      </a:rPr>
                                      <m:t>,</m:t>
                                    </m:r>
                                    <m:r>
                                      <a:rPr lang="en-US" altLang="zh-CN" b="0" i="1" dirty="0" smtClean="0">
                                        <a:latin typeface="Cambria Math"/>
                                        <a:cs typeface="+mn-ea"/>
                                        <a:sym typeface="+mn-lt"/>
                                      </a:rPr>
                                      <m:t>𝑣𝑗</m:t>
                                    </m:r>
                                    <m:r>
                                      <a:rPr lang="en-US" altLang="zh-CN" b="0" i="1" dirty="0" smtClean="0">
                                        <a:latin typeface="Cambria Math"/>
                                        <a:cs typeface="+mn-ea"/>
                                        <a:sym typeface="+mn-lt"/>
                                      </a:rPr>
                                      <m:t>&gt;</m:t>
                                    </m:r>
                                  </m:e>
                                </m:mr>
                              </m:m>
                            </m:e>
                            <m:e>
                              <m:m>
                                <m:mPr>
                                  <m:mcs>
                                    <m:mc>
                                      <m:mcPr>
                                        <m:count m:val="2"/>
                                        <m:mcJc m:val="center"/>
                                      </m:mcPr>
                                    </m:mc>
                                  </m:mcs>
                                  <m:ctrlPr>
                                    <a:rPr lang="en-US" altLang="zh-CN" i="1" smtClean="0">
                                      <a:latin typeface="Cambria Math"/>
                                    </a:rPr>
                                  </m:ctrlPr>
                                </m:mPr>
                                <m:mr>
                                  <m:e>
                                    <m:r>
                                      <m:rPr>
                                        <m:brk m:alnAt="7"/>
                                      </m:rPr>
                                      <a:rPr lang="en-US" altLang="zh-CN" b="0" i="1" smtClean="0">
                                        <a:latin typeface="Cambria Math"/>
                                      </a:rPr>
                                      <m:t> </m:t>
                                    </m:r>
                                    <m:r>
                                      <a:rPr lang="en-US" altLang="zh-CN" b="0" i="1" smtClean="0">
                                        <a:latin typeface="Cambria Math"/>
                                      </a:rPr>
                                      <m:t> 0</m:t>
                                    </m:r>
                                    <m:r>
                                      <m:rPr>
                                        <m:brk m:alnAt="7"/>
                                      </m:rPr>
                                      <a:rPr lang="zh-CN" altLang="en-US" b="0" i="1" smtClean="0">
                                        <a:latin typeface="Cambria Math"/>
                                      </a:rPr>
                                      <m:t>或</m:t>
                                    </m:r>
                                    <m:r>
                                      <a:rPr lang="zh-CN" altLang="en-US" b="0" i="1" smtClean="0">
                                        <a:latin typeface="Cambria Math"/>
                                      </a:rPr>
                                      <m:t>∞</m:t>
                                    </m:r>
                                  </m:e>
                                  <m:e>
                                    <m:r>
                                      <a:rPr lang="zh-CN" altLang="en-US" i="1" smtClean="0">
                                        <a:latin typeface="Cambria Math"/>
                                      </a:rPr>
                                      <m:t>无边</m:t>
                                    </m:r>
                                    <m:r>
                                      <a:rPr lang="en-US" altLang="zh-CN" b="0" i="1" smtClean="0">
                                        <a:latin typeface="Cambria Math"/>
                                      </a:rPr>
                                      <m:t>                                                                             </m:t>
                                    </m:r>
                                  </m:e>
                                </m:mr>
                              </m:m>
                            </m:e>
                          </m:eqArr>
                          <m:r>
                            <a:rPr lang="en-US" altLang="zh-CN" b="0" i="1" smtClean="0">
                              <a:latin typeface="Cambria Math"/>
                            </a:rPr>
                            <m:t> </m:t>
                          </m:r>
                        </m:e>
                      </m:d>
                    </m:oMath>
                  </m:oMathPara>
                </a14:m>
                <a:endParaRPr dirty="0">
                  <a:cs typeface="+mn-ea"/>
                  <a:sym typeface="+mn-lt"/>
                </a:endParaRPr>
              </a:p>
            </p:txBody>
          </p:sp>
        </mc:Choice>
        <mc:Fallback xmlns="">
          <p:sp>
            <p:nvSpPr>
              <p:cNvPr id="10" name="Rectangle 2"/>
              <p:cNvSpPr>
                <a:spLocks noRot="1" noChangeAspect="1" noMove="1" noResize="1" noEditPoints="1" noAdjustHandles="1" noChangeArrowheads="1" noChangeShapeType="1" noTextEdit="1"/>
              </p:cNvSpPr>
              <p:nvPr/>
            </p:nvSpPr>
            <p:spPr>
              <a:xfrm>
                <a:off x="754771" y="2196701"/>
                <a:ext cx="10848650" cy="966951"/>
              </a:xfrm>
              <a:prstGeom prst="rect">
                <a:avLst/>
              </a:prstGeom>
              <a:blipFill rotWithShape="1">
                <a:blip r:embed="rId3"/>
                <a:stretch>
                  <a:fillRect/>
                </a:stretch>
              </a:blipFill>
              <a:ln>
                <a:noFill/>
              </a:ln>
              <a:effectLst/>
            </p:spPr>
            <p:txBody>
              <a:bodyPr/>
              <a:lstStyle/>
              <a:p>
                <a:r>
                  <a:rPr lang="zh-CN" altLang="en-US">
                    <a:noFill/>
                  </a:rPr>
                  <a:t> </a:t>
                </a:r>
              </a:p>
            </p:txBody>
          </p:sp>
        </mc:Fallback>
      </mc:AlternateContent>
      <p:pic>
        <p:nvPicPr>
          <p:cNvPr id="29" name="图片 2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28" name="图片 27"/>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27" name="矩形 26"/>
          <p:cNvSpPr/>
          <p:nvPr/>
        </p:nvSpPr>
        <p:spPr>
          <a:xfrm>
            <a:off x="754771" y="1329337"/>
            <a:ext cx="10682458" cy="683264"/>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dirty="0" smtClean="0">
                <a:cs typeface="+mn-ea"/>
                <a:sym typeface="+mn-lt"/>
              </a:rPr>
              <a:t>	</a:t>
            </a:r>
            <a:r>
              <a:rPr lang="zh-CN" altLang="en-US" sz="1600" dirty="0" smtClean="0">
                <a:cs typeface="+mn-ea"/>
                <a:sym typeface="+mn-lt"/>
              </a:rPr>
              <a:t>邻接矩阵是表示图中顶点之间相邻关系的矩阵。用一个一维数组存储图中顶点的信息，用一个二维数组</a:t>
            </a:r>
            <a:r>
              <a:rPr lang="en-US" altLang="zh-CN" sz="1600" dirty="0" smtClean="0">
                <a:cs typeface="+mn-ea"/>
                <a:sym typeface="+mn-lt"/>
              </a:rPr>
              <a:t>(</a:t>
            </a:r>
            <a:r>
              <a:rPr lang="zh-CN" altLang="en-US" sz="1600" dirty="0" smtClean="0">
                <a:cs typeface="+mn-ea"/>
                <a:sym typeface="+mn-lt"/>
              </a:rPr>
              <a:t>邻接矩阵</a:t>
            </a:r>
            <a:r>
              <a:rPr lang="en-US" altLang="zh-CN" sz="1600" dirty="0" smtClean="0">
                <a:cs typeface="+mn-ea"/>
                <a:sym typeface="+mn-lt"/>
              </a:rPr>
              <a:t>)</a:t>
            </a:r>
            <a:r>
              <a:rPr lang="zh-CN" altLang="en-US" sz="1600" dirty="0" smtClean="0">
                <a:cs typeface="+mn-ea"/>
                <a:sym typeface="+mn-lt"/>
              </a:rPr>
              <a:t>存储图中边</a:t>
            </a:r>
            <a:r>
              <a:rPr lang="en-US" altLang="zh-CN" sz="1600" dirty="0" smtClean="0">
                <a:cs typeface="+mn-ea"/>
                <a:sym typeface="+mn-lt"/>
              </a:rPr>
              <a:t>/</a:t>
            </a:r>
            <a:r>
              <a:rPr lang="zh-CN" altLang="en-US" sz="1600" dirty="0" smtClean="0">
                <a:cs typeface="+mn-ea"/>
                <a:sym typeface="+mn-lt"/>
              </a:rPr>
              <a:t>弧的信息。设</a:t>
            </a:r>
            <a:r>
              <a:rPr lang="en-US" altLang="zh-CN" sz="1600" dirty="0" smtClean="0">
                <a:cs typeface="+mn-ea"/>
                <a:sym typeface="+mn-lt"/>
              </a:rPr>
              <a:t>G=(V,E)</a:t>
            </a:r>
            <a:r>
              <a:rPr lang="zh-CN" altLang="en-US" sz="1600" dirty="0" smtClean="0">
                <a:cs typeface="+mn-ea"/>
                <a:sym typeface="+mn-lt"/>
              </a:rPr>
              <a:t>是具有</a:t>
            </a:r>
            <a:r>
              <a:rPr lang="en-US" altLang="zh-CN" sz="1600" dirty="0" smtClean="0">
                <a:cs typeface="+mn-ea"/>
                <a:sym typeface="+mn-lt"/>
              </a:rPr>
              <a:t>n</a:t>
            </a:r>
            <a:r>
              <a:rPr lang="zh-CN" altLang="en-US" sz="1600" dirty="0" smtClean="0">
                <a:cs typeface="+mn-ea"/>
                <a:sym typeface="+mn-lt"/>
              </a:rPr>
              <a:t>个顶点的图，则</a:t>
            </a:r>
            <a:r>
              <a:rPr lang="en-US" altLang="zh-CN" sz="1600" dirty="0" smtClean="0">
                <a:cs typeface="+mn-ea"/>
                <a:sym typeface="+mn-lt"/>
              </a:rPr>
              <a:t>G</a:t>
            </a:r>
            <a:r>
              <a:rPr lang="zh-CN" altLang="en-US" sz="1600" dirty="0" smtClean="0">
                <a:cs typeface="+mn-ea"/>
                <a:sym typeface="+mn-lt"/>
              </a:rPr>
              <a:t>的邻接矩阵是具有如下性质的</a:t>
            </a:r>
            <a:r>
              <a:rPr lang="en-US" altLang="zh-CN" sz="1600" dirty="0" smtClean="0">
                <a:cs typeface="+mn-ea"/>
                <a:sym typeface="+mn-lt"/>
              </a:rPr>
              <a:t>n</a:t>
            </a:r>
            <a:r>
              <a:rPr lang="zh-CN" altLang="en-US" sz="1600" dirty="0" smtClean="0">
                <a:cs typeface="+mn-ea"/>
                <a:sym typeface="+mn-lt"/>
              </a:rPr>
              <a:t>阶方阵</a:t>
            </a:r>
            <a:r>
              <a:rPr lang="en-US" altLang="zh-CN" sz="1600" dirty="0" smtClean="0">
                <a:cs typeface="+mn-ea"/>
                <a:sym typeface="+mn-lt"/>
              </a:rPr>
              <a:t>A</a:t>
            </a:r>
            <a:r>
              <a:rPr lang="en-US" altLang="zh-CN" sz="1600" baseline="-25000" dirty="0" smtClean="0">
                <a:cs typeface="+mn-ea"/>
                <a:sym typeface="+mn-lt"/>
              </a:rPr>
              <a:t>n×n</a:t>
            </a:r>
            <a:r>
              <a:rPr lang="zh-CN" altLang="en-US" sz="1600" dirty="0" smtClean="0">
                <a:cs typeface="+mn-ea"/>
                <a:sym typeface="+mn-lt"/>
              </a:rPr>
              <a:t>：</a:t>
            </a:r>
            <a:endParaRPr lang="zh-CN" altLang="en-US" sz="1600" dirty="0">
              <a:cs typeface="+mn-ea"/>
              <a:sym typeface="+mn-lt"/>
            </a:endParaRPr>
          </a:p>
        </p:txBody>
      </p:sp>
      <p:sp>
        <p:nvSpPr>
          <p:cNvPr id="30"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1" name="矩形 30"/>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32" name="直接连接符 31"/>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文本框 2919"/>
          <p:cNvSpPr txBox="1"/>
          <p:nvPr/>
        </p:nvSpPr>
        <p:spPr>
          <a:xfrm>
            <a:off x="10280521" y="177223"/>
            <a:ext cx="1107997"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邻接矩阵</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2" name="组合 1"/>
          <p:cNvGrpSpPr/>
          <p:nvPr/>
        </p:nvGrpSpPr>
        <p:grpSpPr>
          <a:xfrm>
            <a:off x="754771" y="3163652"/>
            <a:ext cx="5424325" cy="1342799"/>
            <a:chOff x="754771" y="3163652"/>
            <a:chExt cx="5424325" cy="1342799"/>
          </a:xfrm>
        </p:grpSpPr>
        <p:sp>
          <p:nvSpPr>
            <p:cNvPr id="11" name="Rectangle 2"/>
            <p:cNvSpPr/>
            <p:nvPr/>
          </p:nvSpPr>
          <p:spPr>
            <a:xfrm>
              <a:off x="754771" y="3163652"/>
              <a:ext cx="5424325" cy="1342799"/>
            </a:xfrm>
            <a:prstGeom prst="rect">
              <a:avLst/>
            </a:prstGeom>
            <a:solidFill>
              <a:srgbClr val="FC28D4">
                <a:alpha val="1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3" name="矩形 12"/>
            <p:cNvSpPr/>
            <p:nvPr/>
          </p:nvSpPr>
          <p:spPr>
            <a:xfrm>
              <a:off x="1032580" y="3493419"/>
              <a:ext cx="4868706" cy="683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smtClean="0">
                  <a:cs typeface="+mn-ea"/>
                  <a:sym typeface="+mn-lt"/>
                </a:rPr>
                <a:t>对于无向图，</a:t>
              </a:r>
              <a:r>
                <a:rPr lang="en-US" altLang="zh-CN" sz="1600" dirty="0" smtClean="0">
                  <a:cs typeface="+mn-ea"/>
                  <a:sym typeface="+mn-lt"/>
                </a:rPr>
                <a:t>(v</a:t>
              </a:r>
              <a:r>
                <a:rPr lang="en-US" altLang="zh-CN" sz="1600" baseline="-25000" dirty="0" smtClean="0">
                  <a:cs typeface="+mn-ea"/>
                  <a:sym typeface="+mn-lt"/>
                </a:rPr>
                <a:t>i</a:t>
              </a:r>
              <a:r>
                <a:rPr lang="zh-CN" altLang="en-US" sz="1600" dirty="0" smtClean="0">
                  <a:cs typeface="+mn-ea"/>
                  <a:sym typeface="+mn-lt"/>
                </a:rPr>
                <a:t>，</a:t>
              </a:r>
              <a:r>
                <a:rPr lang="en-US" altLang="zh-CN" sz="1600" dirty="0" smtClean="0">
                  <a:cs typeface="+mn-ea"/>
                  <a:sym typeface="+mn-lt"/>
                </a:rPr>
                <a:t>v</a:t>
              </a:r>
              <a:r>
                <a:rPr lang="en-US" altLang="zh-CN" sz="1600" baseline="-25000" dirty="0" smtClean="0">
                  <a:cs typeface="+mn-ea"/>
                  <a:sym typeface="+mn-lt"/>
                </a:rPr>
                <a:t>j</a:t>
              </a:r>
              <a:r>
                <a:rPr lang="en-US" altLang="zh-CN" sz="1600" dirty="0" smtClean="0">
                  <a:cs typeface="+mn-ea"/>
                  <a:sym typeface="+mn-lt"/>
                </a:rPr>
                <a:t>)</a:t>
              </a:r>
              <a:r>
                <a:rPr lang="zh-CN" altLang="en-US" sz="1600" dirty="0" smtClean="0">
                  <a:cs typeface="+mn-ea"/>
                  <a:sym typeface="+mn-lt"/>
                </a:rPr>
                <a:t>和</a:t>
              </a:r>
              <a:r>
                <a:rPr lang="en-US" altLang="zh-CN" sz="1600" dirty="0" smtClean="0">
                  <a:cs typeface="+mn-ea"/>
                  <a:sym typeface="+mn-lt"/>
                </a:rPr>
                <a:t>(v</a:t>
              </a:r>
              <a:r>
                <a:rPr lang="en-US" altLang="zh-CN" sz="1600" baseline="-25000" dirty="0" smtClean="0">
                  <a:cs typeface="+mn-ea"/>
                  <a:sym typeface="+mn-lt"/>
                </a:rPr>
                <a:t>j</a:t>
              </a:r>
              <a:r>
                <a:rPr lang="zh-CN" altLang="en-US" sz="1600" dirty="0" smtClean="0">
                  <a:cs typeface="+mn-ea"/>
                  <a:sym typeface="+mn-lt"/>
                </a:rPr>
                <a:t>，</a:t>
              </a:r>
              <a:r>
                <a:rPr lang="en-US" altLang="zh-CN" sz="1600" dirty="0" smtClean="0">
                  <a:cs typeface="+mn-ea"/>
                  <a:sym typeface="+mn-lt"/>
                </a:rPr>
                <a:t>v</a:t>
              </a:r>
              <a:r>
                <a:rPr lang="en-US" altLang="zh-CN" sz="1600" baseline="-25000" dirty="0" smtClean="0">
                  <a:cs typeface="+mn-ea"/>
                  <a:sym typeface="+mn-lt"/>
                </a:rPr>
                <a:t>i</a:t>
              </a:r>
              <a:r>
                <a:rPr lang="en-US" altLang="zh-CN" sz="1600" dirty="0" smtClean="0">
                  <a:cs typeface="+mn-ea"/>
                  <a:sym typeface="+mn-lt"/>
                </a:rPr>
                <a:t>)</a:t>
              </a:r>
              <a:r>
                <a:rPr lang="zh-CN" altLang="en-US" sz="1600" dirty="0" smtClean="0">
                  <a:cs typeface="+mn-ea"/>
                  <a:sym typeface="+mn-lt"/>
                </a:rPr>
                <a:t>表示同一条边，因此在邻接矩阵中</a:t>
              </a:r>
              <a:r>
                <a:rPr lang="en-US" altLang="zh-CN" sz="1600" dirty="0" smtClean="0">
                  <a:cs typeface="+mn-ea"/>
                  <a:sym typeface="+mn-lt"/>
                </a:rPr>
                <a:t>a</a:t>
              </a:r>
              <a:r>
                <a:rPr lang="en-US" altLang="zh-CN" sz="1600" baseline="-25000" dirty="0" smtClean="0">
                  <a:cs typeface="+mn-ea"/>
                  <a:sym typeface="+mn-lt"/>
                </a:rPr>
                <a:t>ij</a:t>
              </a:r>
              <a:r>
                <a:rPr lang="en-US" altLang="zh-CN" sz="1600" dirty="0" smtClean="0">
                  <a:cs typeface="+mn-ea"/>
                  <a:sym typeface="+mn-lt"/>
                </a:rPr>
                <a:t>=a</a:t>
              </a:r>
              <a:r>
                <a:rPr lang="en-US" altLang="zh-CN" sz="1600" baseline="-25000" dirty="0" smtClean="0">
                  <a:cs typeface="+mn-ea"/>
                  <a:sym typeface="+mn-lt"/>
                </a:rPr>
                <a:t>ji</a:t>
              </a:r>
              <a:r>
                <a:rPr lang="zh-CN" altLang="en-US" sz="1600" dirty="0" smtClean="0">
                  <a:cs typeface="+mn-ea"/>
                  <a:sym typeface="+mn-lt"/>
                </a:rPr>
                <a:t>。</a:t>
              </a:r>
              <a:endParaRPr lang="zh-CN" altLang="en-US" sz="1600" dirty="0">
                <a:cs typeface="+mn-ea"/>
                <a:sym typeface="+mn-lt"/>
              </a:endParaRPr>
            </a:p>
          </p:txBody>
        </p:sp>
      </p:grpSp>
      <p:grpSp>
        <p:nvGrpSpPr>
          <p:cNvPr id="3" name="组合 2"/>
          <p:cNvGrpSpPr/>
          <p:nvPr/>
        </p:nvGrpSpPr>
        <p:grpSpPr>
          <a:xfrm>
            <a:off x="6179096" y="3163652"/>
            <a:ext cx="5424325" cy="1342799"/>
            <a:chOff x="6179096" y="3163652"/>
            <a:chExt cx="5424325" cy="1342799"/>
          </a:xfrm>
        </p:grpSpPr>
        <p:sp>
          <p:nvSpPr>
            <p:cNvPr id="12" name="Rectangle 2"/>
            <p:cNvSpPr/>
            <p:nvPr/>
          </p:nvSpPr>
          <p:spPr>
            <a:xfrm>
              <a:off x="6179096" y="3163652"/>
              <a:ext cx="5424325" cy="1342799"/>
            </a:xfrm>
            <a:prstGeom prst="rect">
              <a:avLst/>
            </a:prstGeom>
            <a:solidFill>
              <a:srgbClr val="4AF80C">
                <a:alpha val="47451"/>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4" name="矩形 13"/>
            <p:cNvSpPr/>
            <p:nvPr/>
          </p:nvSpPr>
          <p:spPr>
            <a:xfrm>
              <a:off x="6497260" y="3493419"/>
              <a:ext cx="4868706" cy="683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smtClean="0">
                  <a:cs typeface="+mn-ea"/>
                  <a:sym typeface="+mn-lt"/>
                </a:rPr>
                <a:t>对于有向图，弧</a:t>
              </a:r>
              <a:r>
                <a:rPr lang="en-US" altLang="zh-CN" sz="1600" dirty="0" smtClean="0">
                  <a:cs typeface="+mn-ea"/>
                  <a:sym typeface="+mn-lt"/>
                </a:rPr>
                <a:t>&lt;v</a:t>
              </a:r>
              <a:r>
                <a:rPr lang="en-US" altLang="zh-CN" sz="1600" baseline="-25000" dirty="0" smtClean="0">
                  <a:cs typeface="+mn-ea"/>
                  <a:sym typeface="+mn-lt"/>
                </a:rPr>
                <a:t>i</a:t>
              </a:r>
              <a:r>
                <a:rPr lang="zh-CN" altLang="en-US" sz="1600" dirty="0" smtClean="0">
                  <a:cs typeface="+mn-ea"/>
                  <a:sym typeface="+mn-lt"/>
                </a:rPr>
                <a:t>，</a:t>
              </a:r>
              <a:r>
                <a:rPr lang="en-US" altLang="zh-CN" sz="1600" dirty="0" smtClean="0">
                  <a:cs typeface="+mn-ea"/>
                  <a:sym typeface="+mn-lt"/>
                </a:rPr>
                <a:t>v</a:t>
              </a:r>
              <a:r>
                <a:rPr lang="en-US" altLang="zh-CN" sz="1600" baseline="-25000" dirty="0" smtClean="0">
                  <a:cs typeface="+mn-ea"/>
                  <a:sym typeface="+mn-lt"/>
                </a:rPr>
                <a:t>j</a:t>
              </a:r>
              <a:r>
                <a:rPr lang="en-US" altLang="zh-CN" sz="1600" dirty="0" smtClean="0">
                  <a:cs typeface="+mn-ea"/>
                  <a:sym typeface="+mn-lt"/>
                </a:rPr>
                <a:t>&gt;</a:t>
              </a:r>
              <a:r>
                <a:rPr lang="zh-CN" altLang="en-US" sz="1600" dirty="0" smtClean="0">
                  <a:cs typeface="+mn-ea"/>
                  <a:sym typeface="+mn-lt"/>
                </a:rPr>
                <a:t>和</a:t>
              </a:r>
              <a:r>
                <a:rPr lang="en-US" altLang="zh-CN" sz="1600" dirty="0" smtClean="0">
                  <a:cs typeface="+mn-ea"/>
                  <a:sym typeface="+mn-lt"/>
                </a:rPr>
                <a:t>&lt;v</a:t>
              </a:r>
              <a:r>
                <a:rPr lang="en-US" altLang="zh-CN" sz="1600" baseline="-25000" dirty="0" smtClean="0">
                  <a:cs typeface="+mn-ea"/>
                  <a:sym typeface="+mn-lt"/>
                </a:rPr>
                <a:t>j</a:t>
              </a:r>
              <a:r>
                <a:rPr lang="zh-CN" altLang="en-US" sz="1600" dirty="0" smtClean="0">
                  <a:cs typeface="+mn-ea"/>
                  <a:sym typeface="+mn-lt"/>
                </a:rPr>
                <a:t>，</a:t>
              </a:r>
              <a:r>
                <a:rPr lang="en-US" altLang="zh-CN" sz="1600" dirty="0" smtClean="0">
                  <a:cs typeface="+mn-ea"/>
                  <a:sym typeface="+mn-lt"/>
                </a:rPr>
                <a:t>v</a:t>
              </a:r>
              <a:r>
                <a:rPr lang="en-US" altLang="zh-CN" sz="1600" baseline="-25000" dirty="0" smtClean="0">
                  <a:cs typeface="+mn-ea"/>
                  <a:sym typeface="+mn-lt"/>
                </a:rPr>
                <a:t>i</a:t>
              </a:r>
              <a:r>
                <a:rPr lang="en-US" altLang="zh-CN" sz="1600" dirty="0" smtClean="0">
                  <a:cs typeface="+mn-ea"/>
                  <a:sym typeface="+mn-lt"/>
                </a:rPr>
                <a:t>&gt;</a:t>
              </a:r>
              <a:r>
                <a:rPr lang="zh-CN" altLang="en-US" sz="1600" dirty="0" smtClean="0">
                  <a:cs typeface="+mn-ea"/>
                  <a:sym typeface="+mn-lt"/>
                </a:rPr>
                <a:t>表示方向不同的两条弧，所以</a:t>
              </a:r>
              <a:r>
                <a:rPr lang="en-US" altLang="zh-CN" sz="1600" dirty="0" smtClean="0">
                  <a:cs typeface="+mn-ea"/>
                  <a:sym typeface="+mn-lt"/>
                </a:rPr>
                <a:t>a</a:t>
              </a:r>
              <a:r>
                <a:rPr lang="en-US" altLang="zh-CN" sz="1600" baseline="-25000" dirty="0" smtClean="0">
                  <a:cs typeface="+mn-ea"/>
                  <a:sym typeface="+mn-lt"/>
                </a:rPr>
                <a:t>ij</a:t>
              </a:r>
              <a:r>
                <a:rPr lang="zh-CN" altLang="en-US" sz="1600" dirty="0" smtClean="0">
                  <a:cs typeface="+mn-ea"/>
                  <a:sym typeface="+mn-lt"/>
                </a:rPr>
                <a:t>≠</a:t>
              </a:r>
              <a:r>
                <a:rPr lang="en-US" altLang="zh-CN" sz="1600" dirty="0" smtClean="0">
                  <a:cs typeface="+mn-ea"/>
                  <a:sym typeface="+mn-lt"/>
                </a:rPr>
                <a:t>a</a:t>
              </a:r>
              <a:r>
                <a:rPr lang="en-US" altLang="zh-CN" sz="1600" baseline="-25000" dirty="0" smtClean="0">
                  <a:cs typeface="+mn-ea"/>
                  <a:sym typeface="+mn-lt"/>
                </a:rPr>
                <a:t>ji</a:t>
              </a:r>
              <a:r>
                <a:rPr lang="zh-CN" altLang="en-US" sz="1600" dirty="0" smtClean="0">
                  <a:cs typeface="+mn-ea"/>
                  <a:sym typeface="+mn-lt"/>
                </a:rPr>
                <a:t>。</a:t>
              </a:r>
              <a:endParaRPr lang="zh-CN" altLang="en-US" sz="1600" dirty="0">
                <a:cs typeface="+mn-ea"/>
                <a:sym typeface="+mn-lt"/>
              </a:endParaRPr>
            </a:p>
          </p:txBody>
        </p:sp>
      </p:grpSp>
      <p:grpSp>
        <p:nvGrpSpPr>
          <p:cNvPr id="4" name="组合 3"/>
          <p:cNvGrpSpPr/>
          <p:nvPr/>
        </p:nvGrpSpPr>
        <p:grpSpPr>
          <a:xfrm>
            <a:off x="754771" y="4506451"/>
            <a:ext cx="10848650" cy="1187669"/>
            <a:chOff x="754771" y="4506451"/>
            <a:chExt cx="10848650" cy="1187669"/>
          </a:xfrm>
        </p:grpSpPr>
        <p:sp>
          <p:nvSpPr>
            <p:cNvPr id="19" name="Rectangle 2"/>
            <p:cNvSpPr/>
            <p:nvPr/>
          </p:nvSpPr>
          <p:spPr>
            <a:xfrm>
              <a:off x="754771" y="4506451"/>
              <a:ext cx="10848650" cy="1187669"/>
            </a:xfrm>
            <a:prstGeom prst="rect">
              <a:avLst/>
            </a:prstGeom>
            <a:solidFill>
              <a:schemeClr val="accent2">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5" name="矩形 14"/>
            <p:cNvSpPr/>
            <p:nvPr/>
          </p:nvSpPr>
          <p:spPr>
            <a:xfrm>
              <a:off x="920963" y="4771380"/>
              <a:ext cx="10682458" cy="683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smtClean="0">
                  <a:cs typeface="+mn-ea"/>
                  <a:sym typeface="+mn-lt"/>
                </a:rPr>
                <a:t>邻接矩阵是存储边信息的矩阵，顶点则用矩阵的下标表示。</a:t>
              </a:r>
              <a:endParaRPr lang="en-US" altLang="zh-CN" sz="1600" dirty="0" smtClean="0">
                <a:cs typeface="+mn-ea"/>
                <a:sym typeface="+mn-lt"/>
              </a:endParaRPr>
            </a:p>
            <a:p>
              <a:pPr algn="just">
                <a:lnSpc>
                  <a:spcPct val="120000"/>
                </a:lnSpc>
              </a:pPr>
              <a:r>
                <a:rPr lang="zh-CN" altLang="en-US" sz="1600" dirty="0" smtClean="0">
                  <a:cs typeface="+mn-ea"/>
                  <a:sym typeface="+mn-lt"/>
                </a:rPr>
                <a:t>在图的顶点确定的情况下，其邻接矩阵表示是</a:t>
              </a:r>
              <a:r>
                <a:rPr lang="zh-CN" altLang="en-US" sz="1600" b="1" dirty="0" smtClean="0">
                  <a:cs typeface="+mn-ea"/>
                  <a:sym typeface="+mn-lt"/>
                </a:rPr>
                <a:t>唯一</a:t>
              </a:r>
              <a:r>
                <a:rPr lang="zh-CN" altLang="en-US" sz="1600" dirty="0" smtClean="0">
                  <a:cs typeface="+mn-ea"/>
                  <a:sym typeface="+mn-lt"/>
                </a:rPr>
                <a:t>的。</a:t>
              </a:r>
              <a:endParaRPr lang="zh-CN" altLang="en-US" sz="1600" dirty="0">
                <a:cs typeface="+mn-ea"/>
                <a:sym typeface="+mn-lt"/>
              </a:endParaRPr>
            </a:p>
          </p:txBody>
        </p:sp>
      </p:grpSp>
    </p:spTree>
    <p:extLst>
      <p:ext uri="{BB962C8B-B14F-4D97-AF65-F5344CB8AC3E}">
        <p14:creationId xmlns:p14="http://schemas.microsoft.com/office/powerpoint/2010/main" val="133310864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792324" y="4197130"/>
            <a:ext cx="2473855" cy="962022"/>
            <a:chOff x="7692478" y="1678126"/>
            <a:chExt cx="2473855" cy="962022"/>
          </a:xfrm>
        </p:grpSpPr>
        <p:sp>
          <p:nvSpPr>
            <p:cNvPr id="26" name="矩形 25"/>
            <p:cNvSpPr/>
            <p:nvPr/>
          </p:nvSpPr>
          <p:spPr>
            <a:xfrm>
              <a:off x="7692478" y="2030750"/>
              <a:ext cx="2473855" cy="609398"/>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1400" dirty="0" smtClean="0">
                  <a:solidFill>
                    <a:srgbClr val="00B0F0"/>
                  </a:solidFill>
                  <a:cs typeface="+mn-ea"/>
                  <a:sym typeface="+mn-lt"/>
                </a:rPr>
                <a:t>V1=1,V2=2,V3=3,</a:t>
              </a:r>
            </a:p>
            <a:p>
              <a:pPr algn="ctr">
                <a:lnSpc>
                  <a:spcPct val="120000"/>
                </a:lnSpc>
              </a:pPr>
              <a:r>
                <a:rPr lang="en-US" altLang="zh-CN" sz="1400" dirty="0" smtClean="0">
                  <a:solidFill>
                    <a:srgbClr val="00B0F0"/>
                  </a:solidFill>
                  <a:cs typeface="+mn-ea"/>
                  <a:sym typeface="+mn-lt"/>
                </a:rPr>
                <a:t>V4=4,V5=5</a:t>
              </a:r>
              <a:endParaRPr lang="zh-CN" altLang="en-US" sz="1400" dirty="0">
                <a:solidFill>
                  <a:srgbClr val="00B0F0"/>
                </a:solidFill>
                <a:cs typeface="+mn-ea"/>
                <a:sym typeface="+mn-lt"/>
              </a:endParaRPr>
            </a:p>
          </p:txBody>
        </p:sp>
        <p:sp>
          <p:nvSpPr>
            <p:cNvPr id="27" name="矩形 26"/>
            <p:cNvSpPr/>
            <p:nvPr/>
          </p:nvSpPr>
          <p:spPr>
            <a:xfrm>
              <a:off x="7808418"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smtClean="0">
                  <a:solidFill>
                    <a:schemeClr val="tx1">
                      <a:lumMod val="65000"/>
                      <a:lumOff val="35000"/>
                    </a:schemeClr>
                  </a:solidFill>
                  <a:cs typeface="+mn-ea"/>
                  <a:sym typeface="+mn-lt"/>
                </a:rPr>
                <a:t>结点表示</a:t>
              </a:r>
              <a:endParaRPr lang="zh-CN" altLang="en-US" b="1" dirty="0">
                <a:solidFill>
                  <a:schemeClr val="tx1">
                    <a:lumMod val="65000"/>
                    <a:lumOff val="35000"/>
                  </a:schemeClr>
                </a:solidFill>
                <a:cs typeface="+mn-ea"/>
                <a:sym typeface="+mn-lt"/>
              </a:endParaRPr>
            </a:p>
          </p:txBody>
        </p:sp>
      </p:grpSp>
      <p:sp>
        <p:nvSpPr>
          <p:cNvPr id="29" name="矩形 28"/>
          <p:cNvSpPr/>
          <p:nvPr/>
        </p:nvSpPr>
        <p:spPr>
          <a:xfrm>
            <a:off x="3404270" y="4549754"/>
            <a:ext cx="2473855" cy="8679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smtClean="0">
                <a:cs typeface="+mn-ea"/>
                <a:sym typeface="+mn-lt"/>
              </a:rPr>
              <a:t>无向图的邻接矩阵是以主对角线对称的，第</a:t>
            </a:r>
            <a:r>
              <a:rPr lang="en-US" altLang="zh-CN" sz="1400" dirty="0" smtClean="0">
                <a:cs typeface="+mn-ea"/>
                <a:sym typeface="+mn-lt"/>
              </a:rPr>
              <a:t>i</a:t>
            </a:r>
            <a:r>
              <a:rPr lang="zh-CN" altLang="en-US" sz="1400" dirty="0" smtClean="0">
                <a:cs typeface="+mn-ea"/>
                <a:sym typeface="+mn-lt"/>
              </a:rPr>
              <a:t>行</a:t>
            </a:r>
            <a:r>
              <a:rPr lang="en-US" altLang="zh-CN" sz="1400" dirty="0" smtClean="0">
                <a:cs typeface="+mn-ea"/>
                <a:sym typeface="+mn-lt"/>
              </a:rPr>
              <a:t>(</a:t>
            </a:r>
            <a:r>
              <a:rPr lang="zh-CN" altLang="en-US" sz="1400" dirty="0" smtClean="0">
                <a:cs typeface="+mn-ea"/>
                <a:sym typeface="+mn-lt"/>
              </a:rPr>
              <a:t>列</a:t>
            </a:r>
            <a:r>
              <a:rPr lang="en-US" altLang="zh-CN" sz="1400" dirty="0" smtClean="0">
                <a:cs typeface="+mn-ea"/>
                <a:sym typeface="+mn-lt"/>
              </a:rPr>
              <a:t>)1</a:t>
            </a:r>
            <a:r>
              <a:rPr lang="zh-CN" altLang="en-US" sz="1400" dirty="0" smtClean="0">
                <a:cs typeface="+mn-ea"/>
                <a:sym typeface="+mn-lt"/>
              </a:rPr>
              <a:t>的个数就是顶点</a:t>
            </a:r>
            <a:r>
              <a:rPr lang="en-US" altLang="zh-CN" sz="1400" dirty="0" smtClean="0">
                <a:cs typeface="+mn-ea"/>
                <a:sym typeface="+mn-lt"/>
              </a:rPr>
              <a:t>v</a:t>
            </a:r>
            <a:r>
              <a:rPr lang="en-US" altLang="zh-CN" sz="1400" baseline="-25000" dirty="0" smtClean="0">
                <a:cs typeface="+mn-ea"/>
                <a:sym typeface="+mn-lt"/>
              </a:rPr>
              <a:t>i</a:t>
            </a:r>
            <a:r>
              <a:rPr lang="zh-CN" altLang="en-US" sz="1400" dirty="0" smtClean="0">
                <a:cs typeface="+mn-ea"/>
                <a:sym typeface="+mn-lt"/>
              </a:rPr>
              <a:t>的度。即：</a:t>
            </a:r>
            <a:endParaRPr lang="zh-CN" altLang="en-US" sz="1400" dirty="0">
              <a:cs typeface="+mn-ea"/>
              <a:sym typeface="+mn-lt"/>
            </a:endParaRPr>
          </a:p>
        </p:txBody>
      </p:sp>
      <p:grpSp>
        <p:nvGrpSpPr>
          <p:cNvPr id="34" name="组合 33"/>
          <p:cNvGrpSpPr/>
          <p:nvPr/>
        </p:nvGrpSpPr>
        <p:grpSpPr>
          <a:xfrm>
            <a:off x="8821914" y="4197130"/>
            <a:ext cx="2473855" cy="1220554"/>
            <a:chOff x="7692478" y="1678126"/>
            <a:chExt cx="2473855" cy="1220554"/>
          </a:xfrm>
        </p:grpSpPr>
        <p:sp>
          <p:nvSpPr>
            <p:cNvPr id="35" name="矩形 34"/>
            <p:cNvSpPr/>
            <p:nvPr/>
          </p:nvSpPr>
          <p:spPr>
            <a:xfrm>
              <a:off x="7692478" y="2030750"/>
              <a:ext cx="2473855" cy="867930"/>
            </a:xfrm>
            <a:prstGeom prst="rect">
              <a:avLst/>
            </a:prstGeom>
          </p:spPr>
          <p:txBody>
            <a:bodyPr wrap="square">
              <a:spAutoFit/>
              <a:scene3d>
                <a:camera prst="orthographicFront"/>
                <a:lightRig rig="threePt" dir="t"/>
              </a:scene3d>
              <a:sp3d contourW="12700"/>
            </a:bodyPr>
            <a:lstStyle/>
            <a:p>
              <a:pPr algn="ctr">
                <a:lnSpc>
                  <a:spcPct val="120000"/>
                </a:lnSpc>
              </a:pPr>
              <a:r>
                <a:rPr lang="en-US" altLang="zh-CN" sz="1400" dirty="0" smtClean="0">
                  <a:solidFill>
                    <a:srgbClr val="00B0F0"/>
                  </a:solidFill>
                  <a:cs typeface="+mn-ea"/>
                  <a:sym typeface="+mn-lt"/>
                </a:rPr>
                <a:t>D(1)=2	D(2)=3</a:t>
              </a:r>
              <a:endParaRPr lang="en-US" altLang="zh-CN" sz="1400" dirty="0">
                <a:solidFill>
                  <a:srgbClr val="00B0F0"/>
                </a:solidFill>
                <a:cs typeface="+mn-ea"/>
                <a:sym typeface="+mn-lt"/>
              </a:endParaRPr>
            </a:p>
            <a:p>
              <a:pPr algn="ctr">
                <a:lnSpc>
                  <a:spcPct val="120000"/>
                </a:lnSpc>
              </a:pPr>
              <a:r>
                <a:rPr lang="en-US" altLang="zh-CN" sz="1400" dirty="0" smtClean="0">
                  <a:solidFill>
                    <a:srgbClr val="00B0F0"/>
                  </a:solidFill>
                  <a:cs typeface="+mn-ea"/>
                  <a:sym typeface="+mn-lt"/>
                </a:rPr>
                <a:t>D(3)=2	D(4)=3</a:t>
              </a:r>
            </a:p>
            <a:p>
              <a:pPr algn="ctr">
                <a:lnSpc>
                  <a:spcPct val="120000"/>
                </a:lnSpc>
              </a:pPr>
              <a:r>
                <a:rPr lang="en-US" altLang="zh-CN" sz="1400" dirty="0" smtClean="0">
                  <a:solidFill>
                    <a:srgbClr val="00B0F0"/>
                  </a:solidFill>
                  <a:cs typeface="+mn-ea"/>
                  <a:sym typeface="+mn-lt"/>
                </a:rPr>
                <a:t>D(5)=2</a:t>
              </a:r>
            </a:p>
          </p:txBody>
        </p:sp>
        <p:sp>
          <p:nvSpPr>
            <p:cNvPr id="36" name="矩形 35"/>
            <p:cNvSpPr/>
            <p:nvPr/>
          </p:nvSpPr>
          <p:spPr>
            <a:xfrm>
              <a:off x="7808418" y="1678126"/>
              <a:ext cx="2241974" cy="42473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smtClean="0">
                  <a:solidFill>
                    <a:schemeClr val="tx1">
                      <a:lumMod val="65000"/>
                      <a:lumOff val="35000"/>
                    </a:schemeClr>
                  </a:solidFill>
                  <a:cs typeface="+mn-ea"/>
                  <a:sym typeface="+mn-lt"/>
                </a:rPr>
                <a:t>如上图</a:t>
              </a:r>
              <a:endParaRPr lang="zh-CN" altLang="en-US" b="1" dirty="0">
                <a:solidFill>
                  <a:schemeClr val="tx1">
                    <a:lumMod val="65000"/>
                    <a:lumOff val="35000"/>
                  </a:schemeClr>
                </a:solidFill>
                <a:cs typeface="+mn-ea"/>
                <a:sym typeface="+mn-lt"/>
              </a:endParaRPr>
            </a:p>
          </p:txBody>
        </p:sp>
      </p:grpSp>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934273" y="177223"/>
            <a:ext cx="1800494"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无向图邻接矩阵</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6" name="组合 5"/>
          <p:cNvGrpSpPr/>
          <p:nvPr/>
        </p:nvGrpSpPr>
        <p:grpSpPr>
          <a:xfrm>
            <a:off x="783129" y="1370022"/>
            <a:ext cx="3491488" cy="2457775"/>
            <a:chOff x="1164129" y="1370022"/>
            <a:chExt cx="3491488" cy="2457775"/>
          </a:xfrm>
        </p:grpSpPr>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4129" y="1370022"/>
              <a:ext cx="3491488" cy="2061641"/>
            </a:xfrm>
            <a:prstGeom prst="rect">
              <a:avLst/>
            </a:prstGeom>
          </p:spPr>
        </p:pic>
        <p:sp>
          <p:nvSpPr>
            <p:cNvPr id="42" name="矩形 41"/>
            <p:cNvSpPr/>
            <p:nvPr/>
          </p:nvSpPr>
          <p:spPr>
            <a:xfrm>
              <a:off x="1580970" y="3431663"/>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b="1" noProof="0" dirty="0" smtClean="0">
                  <a:solidFill>
                    <a:srgbClr val="000000">
                      <a:lumMod val="65000"/>
                      <a:lumOff val="35000"/>
                    </a:srgbClr>
                  </a:solidFill>
                  <a:cs typeface="+mn-ea"/>
                  <a:sym typeface="+mn-lt"/>
                </a:rPr>
                <a:t>无向图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nvGrpSpPr>
          <p:cNvPr id="7" name="组合 6"/>
          <p:cNvGrpSpPr/>
          <p:nvPr/>
        </p:nvGrpSpPr>
        <p:grpSpPr>
          <a:xfrm>
            <a:off x="4465117" y="1560676"/>
            <a:ext cx="3929922" cy="2267121"/>
            <a:chOff x="4891992" y="1560676"/>
            <a:chExt cx="3929922" cy="2267121"/>
          </a:xfrm>
        </p:grpSpPr>
        <mc:AlternateContent xmlns:mc="http://schemas.openxmlformats.org/markup-compatibility/2006" xmlns:a14="http://schemas.microsoft.com/office/drawing/2010/main">
          <mc:Choice Requires="a14">
            <p:sp>
              <p:nvSpPr>
                <p:cNvPr id="4" name="TextBox 3"/>
                <p:cNvSpPr txBox="1"/>
                <p:nvPr/>
              </p:nvSpPr>
              <p:spPr>
                <a:xfrm>
                  <a:off x="4891992" y="1560676"/>
                  <a:ext cx="3929922" cy="1680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US" altLang="zh-CN" i="1" smtClean="0">
                                <a:latin typeface="Cambria Math"/>
                              </a:rPr>
                            </m:ctrlPr>
                          </m:mPr>
                          <m:mr>
                            <m:e/>
                            <m:e>
                              <m:m>
                                <m:mPr>
                                  <m:mcs>
                                    <m:mc>
                                      <m:mcPr>
                                        <m:count m:val="3"/>
                                        <m:mcJc m:val="center"/>
                                      </m:mcPr>
                                    </m:mc>
                                  </m:mcs>
                                  <m:ctrlPr>
                                    <a:rPr lang="en-US" altLang="zh-CN" i="1" smtClean="0">
                                      <a:latin typeface="Cambria Math"/>
                                    </a:rPr>
                                  </m:ctrlPr>
                                </m:mPr>
                                <m:mr>
                                  <m:e>
                                    <m:r>
                                      <m:rPr>
                                        <m:brk m:alnAt="7"/>
                                      </m:rPr>
                                      <a:rPr lang="en-US" altLang="zh-CN" b="0" i="1" smtClean="0">
                                        <a:latin typeface="Cambria Math"/>
                                      </a:rPr>
                                      <m:t> </m:t>
                                    </m:r>
                                    <m:r>
                                      <a:rPr lang="en-US" altLang="zh-CN" b="0" i="1" smtClean="0">
                                        <a:latin typeface="Cambria Math"/>
                                      </a:rPr>
                                      <m:t> </m:t>
                                    </m:r>
                                    <m:r>
                                      <m:rPr>
                                        <m:sty m:val="p"/>
                                      </m:rPr>
                                      <a:rPr lang="en-US" altLang="zh-CN" i="1">
                                        <a:latin typeface="Cambria Math"/>
                                      </a:rPr>
                                      <m:t>v</m:t>
                                    </m:r>
                                    <m:r>
                                      <a:rPr lang="en-US" altLang="zh-CN" i="1">
                                        <a:latin typeface="Cambria Math"/>
                                      </a:rPr>
                                      <m:t>1 </m:t>
                                    </m:r>
                                  </m:e>
                                  <m:e>
                                    <m:r>
                                      <a:rPr lang="en-US" altLang="zh-CN" b="0" i="1" smtClean="0">
                                        <a:latin typeface="Cambria Math"/>
                                      </a:rPr>
                                      <m:t> </m:t>
                                    </m:r>
                                    <m:r>
                                      <a:rPr lang="en-US" altLang="zh-CN" b="0" i="1" smtClean="0">
                                        <a:latin typeface="Cambria Math"/>
                                      </a:rPr>
                                      <m:t>𝑣</m:t>
                                    </m:r>
                                    <m:r>
                                      <a:rPr lang="en-US" altLang="zh-CN" b="0" i="1" smtClean="0">
                                        <a:latin typeface="Cambria Math"/>
                                      </a:rPr>
                                      <m:t>2   </m:t>
                                    </m:r>
                                  </m:e>
                                  <m:e>
                                    <m:m>
                                      <m:mPr>
                                        <m:mcs>
                                          <m:mc>
                                            <m:mcPr>
                                              <m:count m:val="3"/>
                                              <m:mcJc m:val="center"/>
                                            </m:mcPr>
                                          </m:mc>
                                        </m:mcs>
                                        <m:ctrlPr>
                                          <a:rPr lang="en-US" altLang="zh-CN" i="1" smtClean="0">
                                            <a:latin typeface="Cambria Math"/>
                                          </a:rPr>
                                        </m:ctrlPr>
                                      </m:mPr>
                                      <m:mr>
                                        <m:e>
                                          <m:r>
                                            <m:rPr>
                                              <m:brk m:alnAt="7"/>
                                            </m:rPr>
                                            <a:rPr lang="en-US" altLang="zh-CN" b="0" i="1" smtClean="0">
                                              <a:latin typeface="Cambria Math"/>
                                            </a:rPr>
                                            <m:t>𝑣</m:t>
                                          </m:r>
                                          <m:r>
                                            <a:rPr lang="en-US" altLang="zh-CN" b="0" i="1" smtClean="0">
                                              <a:latin typeface="Cambria Math"/>
                                            </a:rPr>
                                            <m:t>3  </m:t>
                                          </m:r>
                                        </m:e>
                                        <m:e>
                                          <m:r>
                                            <a:rPr lang="en-US" altLang="zh-CN" b="0" i="1" smtClean="0">
                                              <a:latin typeface="Cambria Math"/>
                                            </a:rPr>
                                            <m:t> </m:t>
                                          </m:r>
                                          <m:r>
                                            <a:rPr lang="en-US" altLang="zh-CN" b="0" i="1" smtClean="0">
                                              <a:latin typeface="Cambria Math"/>
                                            </a:rPr>
                                            <m:t>𝑣</m:t>
                                          </m:r>
                                          <m:r>
                                            <a:rPr lang="en-US" altLang="zh-CN" b="0" i="1" smtClean="0">
                                              <a:latin typeface="Cambria Math"/>
                                            </a:rPr>
                                            <m:t>4</m:t>
                                          </m:r>
                                        </m:e>
                                        <m:e>
                                          <m:r>
                                            <a:rPr lang="en-US" altLang="zh-CN" b="0" i="1" smtClean="0">
                                              <a:latin typeface="Cambria Math"/>
                                            </a:rPr>
                                            <m:t>  </m:t>
                                          </m:r>
                                          <m:r>
                                            <a:rPr lang="en-US" altLang="zh-CN" b="0" i="1" smtClean="0">
                                              <a:latin typeface="Cambria Math"/>
                                            </a:rPr>
                                            <m:t>𝑣</m:t>
                                          </m:r>
                                          <m:r>
                                            <a:rPr lang="en-US" altLang="zh-CN" b="0" i="1" smtClean="0">
                                              <a:latin typeface="Cambria Math"/>
                                            </a:rPr>
                                            <m:t>5</m:t>
                                          </m:r>
                                        </m:e>
                                      </m:mr>
                                    </m:m>
                                  </m:e>
                                </m:mr>
                              </m:m>
                            </m:e>
                          </m:mr>
                          <m:mr>
                            <m:e>
                              <m:m>
                                <m:mPr>
                                  <m:mcs>
                                    <m:mc>
                                      <m:mcPr>
                                        <m:count m:val="1"/>
                                        <m:mcJc m:val="center"/>
                                      </m:mcPr>
                                    </m:mc>
                                  </m:mcs>
                                  <m:ctrlPr>
                                    <a:rPr lang="en-US" altLang="zh-CN" i="1" smtClean="0">
                                      <a:latin typeface="Cambria Math"/>
                                    </a:rPr>
                                  </m:ctrlPr>
                                </m:mPr>
                                <m:mr>
                                  <m:e>
                                    <m:r>
                                      <m:rPr>
                                        <m:brk m:alnAt="7"/>
                                      </m:rPr>
                                      <a:rPr lang="en-US" altLang="zh-CN" b="0" i="1" smtClean="0">
                                        <a:latin typeface="Cambria Math"/>
                                      </a:rPr>
                                      <m:t>𝑣</m:t>
                                    </m:r>
                                    <m:r>
                                      <a:rPr lang="en-US" altLang="zh-CN" b="0" i="1" smtClean="0">
                                        <a:latin typeface="Cambria Math"/>
                                      </a:rPr>
                                      <m:t>1</m:t>
                                    </m:r>
                                  </m:e>
                                </m:mr>
                                <m:mr>
                                  <m:e>
                                    <m:r>
                                      <a:rPr lang="en-US" altLang="zh-CN" b="0" i="1" smtClean="0">
                                        <a:latin typeface="Cambria Math"/>
                                      </a:rPr>
                                      <m:t>𝑣</m:t>
                                    </m:r>
                                    <m:r>
                                      <a:rPr lang="en-US" altLang="zh-CN" b="0" i="1" smtClean="0">
                                        <a:latin typeface="Cambria Math"/>
                                      </a:rPr>
                                      <m:t>2</m:t>
                                    </m:r>
                                  </m:e>
                                </m:mr>
                                <m:mr>
                                  <m:e>
                                    <m:m>
                                      <m:mPr>
                                        <m:mcs>
                                          <m:mc>
                                            <m:mcPr>
                                              <m:count m:val="1"/>
                                              <m:mcJc m:val="center"/>
                                            </m:mcPr>
                                          </m:mc>
                                        </m:mcs>
                                        <m:ctrlPr>
                                          <a:rPr lang="en-US" altLang="zh-CN" i="1" smtClean="0">
                                            <a:latin typeface="Cambria Math"/>
                                          </a:rPr>
                                        </m:ctrlPr>
                                      </m:mPr>
                                      <m:mr>
                                        <m:e>
                                          <m:r>
                                            <m:rPr>
                                              <m:brk m:alnAt="7"/>
                                            </m:rPr>
                                            <a:rPr lang="en-US" altLang="zh-CN" b="0" i="1" smtClean="0">
                                              <a:latin typeface="Cambria Math"/>
                                            </a:rPr>
                                            <m:t>𝑣</m:t>
                                          </m:r>
                                          <m:r>
                                            <a:rPr lang="en-US" altLang="zh-CN" b="0" i="1" smtClean="0">
                                              <a:latin typeface="Cambria Math"/>
                                            </a:rPr>
                                            <m:t>3</m:t>
                                          </m:r>
                                        </m:e>
                                      </m:mr>
                                      <m:mr>
                                        <m:e>
                                          <m:r>
                                            <a:rPr lang="en-US" altLang="zh-CN" b="0" i="1" smtClean="0">
                                              <a:latin typeface="Cambria Math"/>
                                            </a:rPr>
                                            <m:t>𝑣</m:t>
                                          </m:r>
                                          <m:r>
                                            <a:rPr lang="en-US" altLang="zh-CN" b="0" i="1" smtClean="0">
                                              <a:latin typeface="Cambria Math"/>
                                            </a:rPr>
                                            <m:t>4</m:t>
                                          </m:r>
                                        </m:e>
                                      </m:mr>
                                      <m:mr>
                                        <m:e>
                                          <m:r>
                                            <a:rPr lang="en-US" altLang="zh-CN" b="0" i="1" smtClean="0">
                                              <a:latin typeface="Cambria Math"/>
                                            </a:rPr>
                                            <m:t>𝑣</m:t>
                                          </m:r>
                                          <m:r>
                                            <a:rPr lang="en-US" altLang="zh-CN" b="0" i="1" smtClean="0">
                                              <a:latin typeface="Cambria Math"/>
                                            </a:rPr>
                                            <m:t>5</m:t>
                                          </m:r>
                                        </m:e>
                                      </m:mr>
                                    </m:m>
                                  </m:e>
                                </m:mr>
                              </m:m>
                            </m:e>
                            <m:e>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𝑎</m:t>
                                              </m:r>
                                              <m:r>
                                                <a:rPr lang="en-US" altLang="zh-CN" b="0" i="1" smtClean="0">
                                                  <a:latin typeface="Cambria Math"/>
                                                </a:rPr>
                                                <m:t>11</m:t>
                                              </m:r>
                                            </m:e>
                                            <m:e>
                                              <m:r>
                                                <a:rPr lang="en-US" altLang="zh-CN" b="0" i="1" smtClean="0">
                                                  <a:latin typeface="Cambria Math"/>
                                                </a:rPr>
                                                <m:t>𝑎</m:t>
                                              </m:r>
                                              <m:r>
                                                <a:rPr lang="en-US" altLang="zh-CN" b="0" i="1" smtClean="0">
                                                  <a:latin typeface="Cambria Math"/>
                                                </a:rPr>
                                                <m:t>12</m:t>
                                              </m:r>
                                            </m:e>
                                          </m:mr>
                                          <m:mr>
                                            <m:e>
                                              <m:r>
                                                <a:rPr lang="en-US" altLang="zh-CN" b="0" i="1" smtClean="0">
                                                  <a:latin typeface="Cambria Math"/>
                                                </a:rPr>
                                                <m:t>𝑎</m:t>
                                              </m:r>
                                              <m:r>
                                                <a:rPr lang="en-US" altLang="zh-CN" b="0" i="1" smtClean="0">
                                                  <a:latin typeface="Cambria Math"/>
                                                </a:rPr>
                                                <m:t>21</m:t>
                                              </m:r>
                                            </m:e>
                                            <m:e>
                                              <m:r>
                                                <a:rPr lang="en-US" altLang="zh-CN" b="0" i="1" smtClean="0">
                                                  <a:latin typeface="Cambria Math"/>
                                                </a:rPr>
                                                <m:t>𝑎</m:t>
                                              </m:r>
                                              <m:r>
                                                <a:rPr lang="en-US" altLang="zh-CN" b="0" i="1" smtClean="0">
                                                  <a:latin typeface="Cambria Math"/>
                                                </a:rPr>
                                                <m:t>22</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𝑎</m:t>
                                              </m:r>
                                              <m:r>
                                                <a:rPr lang="en-US" altLang="zh-CN" b="0" i="1" smtClean="0">
                                                  <a:latin typeface="Cambria Math"/>
                                                </a:rPr>
                                                <m:t>13</m:t>
                                              </m:r>
                                            </m:e>
                                            <m:e>
                                              <m:r>
                                                <a:rPr lang="en-US" altLang="zh-CN" b="0" i="1" smtClean="0">
                                                  <a:latin typeface="Cambria Math"/>
                                                </a:rPr>
                                                <m:t>𝑎</m:t>
                                              </m:r>
                                              <m:r>
                                                <a:rPr lang="en-US" altLang="zh-CN" b="0" i="1" smtClean="0">
                                                  <a:latin typeface="Cambria Math"/>
                                                </a:rPr>
                                                <m:t>14</m:t>
                                              </m:r>
                                            </m:e>
                                            <m:e>
                                              <m:r>
                                                <a:rPr lang="en-US" altLang="zh-CN" b="0" i="1" smtClean="0">
                                                  <a:latin typeface="Cambria Math"/>
                                                </a:rPr>
                                                <m:t>𝑎</m:t>
                                              </m:r>
                                              <m:r>
                                                <a:rPr lang="en-US" altLang="zh-CN" b="0" i="1" smtClean="0">
                                                  <a:latin typeface="Cambria Math"/>
                                                </a:rPr>
                                                <m:t>15</m:t>
                                              </m:r>
                                            </m:e>
                                          </m:mr>
                                          <m:mr>
                                            <m:e>
                                              <m:r>
                                                <a:rPr lang="en-US" altLang="zh-CN" b="0" i="1" smtClean="0">
                                                  <a:latin typeface="Cambria Math"/>
                                                </a:rPr>
                                                <m:t>𝑎</m:t>
                                              </m:r>
                                              <m:r>
                                                <a:rPr lang="en-US" altLang="zh-CN" b="0" i="1" smtClean="0">
                                                  <a:latin typeface="Cambria Math"/>
                                                </a:rPr>
                                                <m:t>23</m:t>
                                              </m:r>
                                            </m:e>
                                            <m:e>
                                              <m:r>
                                                <a:rPr lang="en-US" altLang="zh-CN" b="0" i="1" smtClean="0">
                                                  <a:latin typeface="Cambria Math"/>
                                                </a:rPr>
                                                <m:t>𝑎</m:t>
                                              </m:r>
                                              <m:r>
                                                <a:rPr lang="en-US" altLang="zh-CN" b="0" i="1" smtClean="0">
                                                  <a:latin typeface="Cambria Math"/>
                                                </a:rPr>
                                                <m:t>24</m:t>
                                              </m:r>
                                            </m:e>
                                            <m:e>
                                              <m:r>
                                                <a:rPr lang="en-US" altLang="zh-CN" b="0" i="1" smtClean="0">
                                                  <a:latin typeface="Cambria Math"/>
                                                </a:rPr>
                                                <m:t>𝑎</m:t>
                                              </m:r>
                                              <m:r>
                                                <a:rPr lang="en-US" altLang="zh-CN" b="0" i="1" smtClean="0">
                                                  <a:latin typeface="Cambria Math"/>
                                                </a:rPr>
                                                <m:t>25</m:t>
                                              </m:r>
                                            </m:e>
                                          </m:mr>
                                        </m:m>
                                      </m:e>
                                    </m:m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𝑎</m:t>
                                              </m:r>
                                              <m:r>
                                                <a:rPr lang="en-US" altLang="zh-CN" b="0" i="1" smtClean="0">
                                                  <a:latin typeface="Cambria Math"/>
                                                </a:rPr>
                                                <m:t>31</m:t>
                                              </m:r>
                                            </m:e>
                                            <m:e>
                                              <m:r>
                                                <a:rPr lang="en-US" altLang="zh-CN" b="0" i="1" smtClean="0">
                                                  <a:latin typeface="Cambria Math"/>
                                                </a:rPr>
                                                <m:t>𝑎</m:t>
                                              </m:r>
                                              <m:r>
                                                <a:rPr lang="en-US" altLang="zh-CN" b="0" i="1" smtClean="0">
                                                  <a:latin typeface="Cambria Math"/>
                                                </a:rPr>
                                                <m:t>32</m:t>
                                              </m:r>
                                            </m:e>
                                          </m:mr>
                                          <m:mr>
                                            <m:e>
                                              <m:r>
                                                <a:rPr lang="en-US" altLang="zh-CN" b="0" i="1" smtClean="0">
                                                  <a:latin typeface="Cambria Math"/>
                                                </a:rPr>
                                                <m:t>𝑎</m:t>
                                              </m:r>
                                              <m:r>
                                                <a:rPr lang="en-US" altLang="zh-CN" b="0" i="1" smtClean="0">
                                                  <a:latin typeface="Cambria Math"/>
                                                </a:rPr>
                                                <m:t>41</m:t>
                                              </m:r>
                                            </m:e>
                                            <m:e>
                                              <m:r>
                                                <a:rPr lang="en-US" altLang="zh-CN" b="0" i="1" smtClean="0">
                                                  <a:latin typeface="Cambria Math"/>
                                                </a:rPr>
                                                <m:t>𝑎</m:t>
                                              </m:r>
                                              <m:r>
                                                <a:rPr lang="en-US" altLang="zh-CN" b="0" i="1" smtClean="0">
                                                  <a:latin typeface="Cambria Math"/>
                                                </a:rPr>
                                                <m:t>42</m:t>
                                              </m:r>
                                            </m:e>
                                          </m:mr>
                                          <m:mr>
                                            <m:e>
                                              <m:r>
                                                <a:rPr lang="en-US" altLang="zh-CN" b="0" i="1" smtClean="0">
                                                  <a:latin typeface="Cambria Math"/>
                                                </a:rPr>
                                                <m:t>𝑎</m:t>
                                              </m:r>
                                              <m:r>
                                                <a:rPr lang="en-US" altLang="zh-CN" b="0" i="1" smtClean="0">
                                                  <a:latin typeface="Cambria Math"/>
                                                </a:rPr>
                                                <m:t>51</m:t>
                                              </m:r>
                                            </m:e>
                                            <m:e>
                                              <m:r>
                                                <a:rPr lang="en-US" altLang="zh-CN" b="0" i="1" smtClean="0">
                                                  <a:latin typeface="Cambria Math"/>
                                                </a:rPr>
                                                <m:t>𝑎</m:t>
                                              </m:r>
                                              <m:r>
                                                <a:rPr lang="en-US" altLang="zh-CN" b="0" i="1" smtClean="0">
                                                  <a:latin typeface="Cambria Math"/>
                                                </a:rPr>
                                                <m:t>52</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𝑎</m:t>
                                              </m:r>
                                              <m:r>
                                                <a:rPr lang="en-US" altLang="zh-CN" b="0" i="1" smtClean="0">
                                                  <a:latin typeface="Cambria Math"/>
                                                </a:rPr>
                                                <m:t>33</m:t>
                                              </m:r>
                                            </m:e>
                                            <m:e>
                                              <m:r>
                                                <a:rPr lang="en-US" altLang="zh-CN" b="0" i="1" smtClean="0">
                                                  <a:latin typeface="Cambria Math"/>
                                                </a:rPr>
                                                <m:t>𝑎</m:t>
                                              </m:r>
                                              <m:r>
                                                <a:rPr lang="en-US" altLang="zh-CN" b="0" i="1" smtClean="0">
                                                  <a:latin typeface="Cambria Math"/>
                                                </a:rPr>
                                                <m:t>34</m:t>
                                              </m:r>
                                            </m:e>
                                            <m:e>
                                              <m:r>
                                                <a:rPr lang="en-US" altLang="zh-CN" b="0" i="1" smtClean="0">
                                                  <a:latin typeface="Cambria Math"/>
                                                </a:rPr>
                                                <m:t>𝑎</m:t>
                                              </m:r>
                                              <m:r>
                                                <a:rPr lang="en-US" altLang="zh-CN" b="0" i="1" smtClean="0">
                                                  <a:latin typeface="Cambria Math"/>
                                                </a:rPr>
                                                <m:t>35</m:t>
                                              </m:r>
                                            </m:e>
                                          </m:mr>
                                          <m:mr>
                                            <m:e>
                                              <m:r>
                                                <a:rPr lang="en-US" altLang="zh-CN" b="0" i="1" smtClean="0">
                                                  <a:latin typeface="Cambria Math"/>
                                                </a:rPr>
                                                <m:t>𝑎</m:t>
                                              </m:r>
                                              <m:r>
                                                <a:rPr lang="en-US" altLang="zh-CN" b="0" i="1" smtClean="0">
                                                  <a:latin typeface="Cambria Math"/>
                                                </a:rPr>
                                                <m:t>43</m:t>
                                              </m:r>
                                            </m:e>
                                            <m:e>
                                              <m:r>
                                                <a:rPr lang="en-US" altLang="zh-CN" b="0" i="1" smtClean="0">
                                                  <a:latin typeface="Cambria Math"/>
                                                </a:rPr>
                                                <m:t>𝑎</m:t>
                                              </m:r>
                                              <m:r>
                                                <a:rPr lang="en-US" altLang="zh-CN" b="0" i="1" smtClean="0">
                                                  <a:latin typeface="Cambria Math"/>
                                                </a:rPr>
                                                <m:t>44</m:t>
                                              </m:r>
                                            </m:e>
                                            <m:e>
                                              <m:r>
                                                <a:rPr lang="en-US" altLang="zh-CN" b="0" i="1" smtClean="0">
                                                  <a:latin typeface="Cambria Math"/>
                                                </a:rPr>
                                                <m:t>𝑎</m:t>
                                              </m:r>
                                              <m:r>
                                                <a:rPr lang="en-US" altLang="zh-CN" b="0" i="1" smtClean="0">
                                                  <a:latin typeface="Cambria Math"/>
                                                </a:rPr>
                                                <m:t>45</m:t>
                                              </m:r>
                                            </m:e>
                                          </m:mr>
                                          <m:mr>
                                            <m:e>
                                              <m:r>
                                                <a:rPr lang="en-US" altLang="zh-CN" b="0" i="1" smtClean="0">
                                                  <a:latin typeface="Cambria Math"/>
                                                </a:rPr>
                                                <m:t>𝑎</m:t>
                                              </m:r>
                                              <m:r>
                                                <a:rPr lang="en-US" altLang="zh-CN" b="0" i="1" smtClean="0">
                                                  <a:latin typeface="Cambria Math"/>
                                                </a:rPr>
                                                <m:t>53</m:t>
                                              </m:r>
                                            </m:e>
                                            <m:e>
                                              <m:r>
                                                <a:rPr lang="en-US" altLang="zh-CN" b="0" i="1" smtClean="0">
                                                  <a:latin typeface="Cambria Math"/>
                                                </a:rPr>
                                                <m:t>𝑎</m:t>
                                              </m:r>
                                              <m:r>
                                                <a:rPr lang="en-US" altLang="zh-CN" b="0" i="1" smtClean="0">
                                                  <a:latin typeface="Cambria Math"/>
                                                </a:rPr>
                                                <m:t>54</m:t>
                                              </m:r>
                                            </m:e>
                                            <m:e>
                                              <m:r>
                                                <a:rPr lang="en-US" altLang="zh-CN" b="0" i="1" smtClean="0">
                                                  <a:latin typeface="Cambria Math"/>
                                                </a:rPr>
                                                <m:t>𝑎</m:t>
                                              </m:r>
                                              <m:r>
                                                <a:rPr lang="en-US" altLang="zh-CN" b="0" i="1" smtClean="0">
                                                  <a:latin typeface="Cambria Math"/>
                                                </a:rPr>
                                                <m:t>55</m:t>
                                              </m:r>
                                            </m:e>
                                          </m:mr>
                                        </m:m>
                                      </m:e>
                                    </m:mr>
                                  </m:m>
                                </m:e>
                              </m:d>
                            </m:e>
                          </m:mr>
                        </m:m>
                      </m:oMath>
                    </m:oMathPara>
                  </a14:m>
                  <a:endParaRPr lang="zh-CN" alt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4891992" y="1560676"/>
                  <a:ext cx="3929922" cy="1680332"/>
                </a:xfrm>
                <a:prstGeom prst="rect">
                  <a:avLst/>
                </a:prstGeom>
                <a:blipFill rotWithShape="1">
                  <a:blip r:embed="rId6"/>
                  <a:stretch>
                    <a:fillRect/>
                  </a:stretch>
                </a:blipFill>
              </p:spPr>
              <p:txBody>
                <a:bodyPr/>
                <a:lstStyle/>
                <a:p>
                  <a:r>
                    <a:rPr lang="zh-CN" altLang="en-US">
                      <a:noFill/>
                    </a:rPr>
                    <a:t> </a:t>
                  </a:r>
                </a:p>
              </p:txBody>
            </p:sp>
          </mc:Fallback>
        </mc:AlternateContent>
        <p:sp>
          <p:nvSpPr>
            <p:cNvPr id="43" name="矩形 42"/>
            <p:cNvSpPr/>
            <p:nvPr/>
          </p:nvSpPr>
          <p:spPr>
            <a:xfrm>
              <a:off x="5648670" y="3403065"/>
              <a:ext cx="2241974" cy="42473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构造五行五列的方阵</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nvGrpSpPr>
          <p:cNvPr id="12" name="组合 11"/>
          <p:cNvGrpSpPr/>
          <p:nvPr/>
        </p:nvGrpSpPr>
        <p:grpSpPr>
          <a:xfrm>
            <a:off x="8499634" y="1834720"/>
            <a:ext cx="2436486" cy="2007376"/>
            <a:chOff x="8499634" y="1834720"/>
            <a:chExt cx="2436486" cy="2007376"/>
          </a:xfrm>
        </p:grpSpPr>
        <mc:AlternateContent xmlns:mc="http://schemas.openxmlformats.org/markup-compatibility/2006" xmlns:a14="http://schemas.microsoft.com/office/drawing/2010/main">
          <mc:Choice Requires="a14">
            <p:sp>
              <p:nvSpPr>
                <p:cNvPr id="11" name="TextBox 10"/>
                <p:cNvSpPr txBox="1"/>
                <p:nvPr/>
              </p:nvSpPr>
              <p:spPr>
                <a:xfrm>
                  <a:off x="8499634" y="1834720"/>
                  <a:ext cx="2436486" cy="14073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m:t>
                                        </m:r>
                                      </m:e>
                                    </m:mr>
                                    <m:mr>
                                      <m:e>
                                        <m:r>
                                          <a:rPr lang="en-US" altLang="zh-CN" b="0" i="1" smtClean="0">
                                            <a:latin typeface="Cambria Math"/>
                                          </a:rPr>
                                          <m:t>1</m:t>
                                        </m:r>
                                      </m:e>
                                      <m:e>
                                        <m:r>
                                          <a:rPr lang="en-US" altLang="zh-CN" b="0" i="1" smtClean="0">
                                            <a:latin typeface="Cambria Math"/>
                                          </a:rPr>
                                          <m:t>0</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1</m:t>
                                        </m:r>
                                      </m:e>
                                      <m:e>
                                        <m:r>
                                          <a:rPr lang="en-US" altLang="zh-CN" b="0" i="1" smtClean="0">
                                            <a:latin typeface="Cambria Math"/>
                                          </a:rPr>
                                          <m:t>0</m:t>
                                        </m:r>
                                      </m:e>
                                      <m:e>
                                        <m:r>
                                          <a:rPr lang="en-US" altLang="zh-CN" b="0" i="1" smtClean="0">
                                            <a:latin typeface="Cambria Math"/>
                                          </a:rPr>
                                          <m:t>0</m:t>
                                        </m:r>
                                      </m:e>
                                    </m:mr>
                                    <m:mr>
                                      <m:e>
                                        <m:r>
                                          <a:rPr lang="en-US" altLang="zh-CN" b="0" i="1" smtClean="0">
                                            <a:latin typeface="Cambria Math"/>
                                          </a:rPr>
                                          <m:t>0</m:t>
                                        </m:r>
                                      </m:e>
                                      <m:e>
                                        <m:r>
                                          <a:rPr lang="en-US" altLang="zh-CN" b="0" i="1" smtClean="0">
                                            <a:latin typeface="Cambria Math"/>
                                          </a:rPr>
                                          <m:t>1</m:t>
                                        </m:r>
                                      </m:e>
                                      <m:e>
                                        <m:r>
                                          <a:rPr lang="en-US" altLang="zh-CN" b="0" i="1" smtClean="0">
                                            <a:latin typeface="Cambria Math"/>
                                          </a:rPr>
                                          <m:t>1</m:t>
                                        </m:r>
                                      </m:e>
                                    </m:mr>
                                  </m:m>
                                </m:e>
                              </m:m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1</m:t>
                                        </m:r>
                                      </m:e>
                                      <m:e>
                                        <m:r>
                                          <a:rPr lang="en-US" altLang="zh-CN" b="0" i="1" smtClean="0">
                                            <a:latin typeface="Cambria Math"/>
                                          </a:rPr>
                                          <m:t>0</m:t>
                                        </m:r>
                                      </m:e>
                                    </m:mr>
                                    <m:mr>
                                      <m:e>
                                        <m:r>
                                          <a:rPr lang="en-US" altLang="zh-CN" b="0" i="1" smtClean="0">
                                            <a:latin typeface="Cambria Math"/>
                                          </a:rPr>
                                          <m:t>0</m:t>
                                        </m:r>
                                      </m:e>
                                      <m:e>
                                        <m:r>
                                          <a:rPr lang="en-US" altLang="zh-CN" b="0" i="1" smtClean="0">
                                            <a:latin typeface="Cambria Math"/>
                                          </a:rPr>
                                          <m:t>1</m:t>
                                        </m:r>
                                      </m:e>
                                    </m:mr>
                                    <m:mr>
                                      <m:e>
                                        <m:r>
                                          <a:rPr lang="en-US" altLang="zh-CN" b="0" i="1" smtClean="0">
                                            <a:latin typeface="Cambria Math"/>
                                          </a:rPr>
                                          <m:t>0</m:t>
                                        </m:r>
                                      </m:e>
                                      <m:e>
                                        <m:r>
                                          <a:rPr lang="en-US" altLang="zh-CN" b="0" i="1" smtClean="0">
                                            <a:latin typeface="Cambria Math"/>
                                          </a:rPr>
                                          <m:t>1</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m:t>
                                        </m:r>
                                      </m:e>
                                      <m:e>
                                        <m:r>
                                          <a:rPr lang="en-US" altLang="zh-CN" b="0" i="1" smtClean="0">
                                            <a:latin typeface="Cambria Math"/>
                                          </a:rPr>
                                          <m:t>0</m:t>
                                        </m:r>
                                      </m:e>
                                    </m:mr>
                                    <m:mr>
                                      <m:e>
                                        <m:r>
                                          <a:rPr lang="en-US" altLang="zh-CN" b="0" i="1" smtClean="0">
                                            <a:latin typeface="Cambria Math"/>
                                          </a:rPr>
                                          <m:t>1</m:t>
                                        </m:r>
                                      </m:e>
                                      <m:e>
                                        <m:r>
                                          <a:rPr lang="en-US" altLang="zh-CN" b="0" i="1" smtClean="0">
                                            <a:latin typeface="Cambria Math"/>
                                          </a:rPr>
                                          <m:t>0</m:t>
                                        </m:r>
                                      </m:e>
                                      <m:e>
                                        <m:r>
                                          <a:rPr lang="en-US" altLang="zh-CN" b="0" i="1" smtClean="0">
                                            <a:latin typeface="Cambria Math"/>
                                          </a:rPr>
                                          <m:t>1</m:t>
                                        </m:r>
                                      </m:e>
                                    </m:mr>
                                    <m:mr>
                                      <m:e>
                                        <m:r>
                                          <a:rPr lang="en-US" altLang="zh-CN" b="0" i="1" smtClean="0">
                                            <a:latin typeface="Cambria Math"/>
                                          </a:rPr>
                                          <m:t>0</m:t>
                                        </m:r>
                                      </m:e>
                                      <m:e>
                                        <m:r>
                                          <a:rPr lang="en-US" altLang="zh-CN" b="0" i="1" smtClean="0">
                                            <a:latin typeface="Cambria Math"/>
                                          </a:rPr>
                                          <m:t>1</m:t>
                                        </m:r>
                                      </m:e>
                                      <m:e>
                                        <m:r>
                                          <a:rPr lang="en-US" altLang="zh-CN" b="0" i="1" smtClean="0">
                                            <a:latin typeface="Cambria Math"/>
                                          </a:rPr>
                                          <m:t>0</m:t>
                                        </m:r>
                                      </m:e>
                                    </m:mr>
                                  </m:m>
                                </m:e>
                              </m:mr>
                            </m:m>
                          </m:e>
                        </m:d>
                      </m:oMath>
                    </m:oMathPara>
                  </a14:m>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8499634" y="1834720"/>
                  <a:ext cx="2436486" cy="1407373"/>
                </a:xfrm>
                <a:prstGeom prst="rect">
                  <a:avLst/>
                </a:prstGeom>
                <a:blipFill rotWithShape="1">
                  <a:blip r:embed="rId7"/>
                  <a:stretch>
                    <a:fillRect/>
                  </a:stretch>
                </a:blipFill>
              </p:spPr>
              <p:txBody>
                <a:bodyPr/>
                <a:lstStyle/>
                <a:p>
                  <a:r>
                    <a:rPr lang="zh-CN" altLang="en-US">
                      <a:noFill/>
                    </a:rPr>
                    <a:t> </a:t>
                  </a:r>
                </a:p>
              </p:txBody>
            </p:sp>
          </mc:Fallback>
        </mc:AlternateContent>
        <p:sp>
          <p:nvSpPr>
            <p:cNvPr id="44" name="矩形 43"/>
            <p:cNvSpPr/>
            <p:nvPr/>
          </p:nvSpPr>
          <p:spPr>
            <a:xfrm>
              <a:off x="8596890" y="3417364"/>
              <a:ext cx="2241974" cy="42473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无向图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的邻接矩阵</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mc:AlternateContent xmlns:mc="http://schemas.openxmlformats.org/markup-compatibility/2006" xmlns:a14="http://schemas.microsoft.com/office/drawing/2010/main">
        <mc:Choice Requires="a14">
          <p:sp>
            <p:nvSpPr>
              <p:cNvPr id="13" name="TextBox 12"/>
              <p:cNvSpPr txBox="1"/>
              <p:nvPr/>
            </p:nvSpPr>
            <p:spPr>
              <a:xfrm>
                <a:off x="6501445" y="4621862"/>
                <a:ext cx="1982787"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𝐷</m:t>
                      </m:r>
                      <m:d>
                        <m:dPr>
                          <m:ctrlPr>
                            <a:rPr lang="en-US" altLang="zh-CN" b="0" i="1" smtClean="0">
                              <a:latin typeface="Cambria Math"/>
                            </a:rPr>
                          </m:ctrlPr>
                        </m:dPr>
                        <m:e>
                          <m:r>
                            <a:rPr lang="en-US" altLang="zh-CN" b="0" i="1" smtClean="0">
                              <a:latin typeface="Cambria Math"/>
                            </a:rPr>
                            <m:t>𝑣</m:t>
                          </m:r>
                          <m:r>
                            <a:rPr lang="en-US" altLang="zh-CN" b="0" i="1" baseline="-25000" smtClean="0">
                              <a:latin typeface="Cambria Math"/>
                            </a:rPr>
                            <m:t>𝑖</m:t>
                          </m:r>
                        </m:e>
                      </m:d>
                      <m:r>
                        <a:rPr lang="en-US" altLang="zh-CN" b="0" i="1" smtClean="0">
                          <a:latin typeface="Cambria Math"/>
                        </a:rPr>
                        <m:t>=</m:t>
                      </m:r>
                      <m:nary>
                        <m:naryPr>
                          <m:chr m:val="∑"/>
                          <m:ctrlPr>
                            <a:rPr lang="en-US" altLang="zh-CN" b="0" i="1" smtClean="0">
                              <a:latin typeface="Cambria Math"/>
                            </a:rPr>
                          </m:ctrlPr>
                        </m:naryPr>
                        <m:sub>
                          <m:r>
                            <m:rPr>
                              <m:brk m:alnAt="23"/>
                            </m:rPr>
                            <a:rPr lang="en-US" altLang="zh-CN" b="0" i="1" smtClean="0">
                              <a:latin typeface="Cambria Math"/>
                            </a:rPr>
                            <m:t>𝑗</m:t>
                          </m:r>
                          <m:r>
                            <a:rPr lang="en-US" altLang="zh-CN" b="0" i="1" smtClean="0">
                              <a:latin typeface="Cambria Math"/>
                            </a:rPr>
                            <m:t>=1</m:t>
                          </m:r>
                        </m:sub>
                        <m:sup>
                          <m:r>
                            <a:rPr lang="en-US" altLang="zh-CN" b="0" i="1" smtClean="0">
                              <a:latin typeface="Cambria Math"/>
                            </a:rPr>
                            <m:t>𝑛</m:t>
                          </m:r>
                        </m:sup>
                        <m:e>
                          <m:r>
                            <a:rPr lang="en-US" altLang="zh-CN" b="0" i="1" smtClean="0">
                              <a:latin typeface="Cambria Math"/>
                            </a:rPr>
                            <m:t>𝑎</m:t>
                          </m:r>
                          <m:r>
                            <a:rPr lang="en-US" altLang="zh-CN" b="0" i="1" smtClean="0">
                              <a:latin typeface="Cambria Math"/>
                            </a:rPr>
                            <m:t>[</m:t>
                          </m:r>
                          <m:r>
                            <a:rPr lang="en-US" altLang="zh-CN" b="0" i="1" smtClean="0">
                              <a:latin typeface="Cambria Math"/>
                            </a:rPr>
                            <m:t>𝑖</m:t>
                          </m:r>
                          <m:r>
                            <a:rPr lang="en-US" altLang="zh-CN" b="0" i="1" smtClean="0">
                              <a:latin typeface="Cambria Math"/>
                            </a:rPr>
                            <m:t>,</m:t>
                          </m:r>
                          <m:r>
                            <a:rPr lang="en-US" altLang="zh-CN" b="0" i="1" smtClean="0">
                              <a:latin typeface="Cambria Math"/>
                            </a:rPr>
                            <m:t>𝑗</m:t>
                          </m:r>
                          <m:r>
                            <a:rPr lang="en-US" altLang="zh-CN" b="0" i="1" smtClean="0">
                              <a:latin typeface="Cambria Math"/>
                            </a:rPr>
                            <m:t>]</m:t>
                          </m:r>
                        </m:e>
                      </m:nary>
                    </m:oMath>
                  </m:oMathPara>
                </a14:m>
                <a:endParaRPr lang="zh-CN" alt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6501445" y="4621862"/>
                <a:ext cx="1982787" cy="879856"/>
              </a:xfrm>
              <a:prstGeom prst="rect">
                <a:avLst/>
              </a:prstGeom>
              <a:blipFill rotWithShape="1">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84361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1000"/>
                                        <p:tgtEl>
                                          <p:spTgt spid="25"/>
                                        </p:tgtEl>
                                      </p:cBhvr>
                                    </p:animEffect>
                                    <p:anim calcmode="lin" valueType="num">
                                      <p:cBhvr>
                                        <p:cTn id="35" dur="1000" fill="hold"/>
                                        <p:tgtEl>
                                          <p:spTgt spid="25"/>
                                        </p:tgtEl>
                                        <p:attrNameLst>
                                          <p:attrName>ppt_x</p:attrName>
                                        </p:attrNameLst>
                                      </p:cBhvr>
                                      <p:tavLst>
                                        <p:tav tm="0">
                                          <p:val>
                                            <p:strVal val="#ppt_x"/>
                                          </p:val>
                                        </p:tav>
                                        <p:tav tm="100000">
                                          <p:val>
                                            <p:strVal val="#ppt_x"/>
                                          </p:val>
                                        </p:tav>
                                      </p:tavLst>
                                    </p:anim>
                                    <p:anim calcmode="lin" valueType="num">
                                      <p:cBhvr>
                                        <p:cTn id="3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42"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000"/>
                                        <p:tgtEl>
                                          <p:spTgt spid="13"/>
                                        </p:tgtEl>
                                      </p:cBhvr>
                                    </p:animEffect>
                                    <p:anim calcmode="lin" valueType="num">
                                      <p:cBhvr>
                                        <p:cTn id="48" dur="1000" fill="hold"/>
                                        <p:tgtEl>
                                          <p:spTgt spid="13"/>
                                        </p:tgtEl>
                                        <p:attrNameLst>
                                          <p:attrName>ppt_x</p:attrName>
                                        </p:attrNameLst>
                                      </p:cBhvr>
                                      <p:tavLst>
                                        <p:tav tm="0">
                                          <p:val>
                                            <p:strVal val="#ppt_x"/>
                                          </p:val>
                                        </p:tav>
                                        <p:tav tm="100000">
                                          <p:val>
                                            <p:strVal val="#ppt_x"/>
                                          </p:val>
                                        </p:tav>
                                      </p:tavLst>
                                    </p:anim>
                                    <p:anim calcmode="lin" valueType="num">
                                      <p:cBhvr>
                                        <p:cTn id="4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1000"/>
                                        <p:tgtEl>
                                          <p:spTgt spid="34"/>
                                        </p:tgtEl>
                                      </p:cBhvr>
                                    </p:animEffect>
                                    <p:anim calcmode="lin" valueType="num">
                                      <p:cBhvr>
                                        <p:cTn id="55" dur="1000" fill="hold"/>
                                        <p:tgtEl>
                                          <p:spTgt spid="34"/>
                                        </p:tgtEl>
                                        <p:attrNameLst>
                                          <p:attrName>ppt_x</p:attrName>
                                        </p:attrNameLst>
                                      </p:cBhvr>
                                      <p:tavLst>
                                        <p:tav tm="0">
                                          <p:val>
                                            <p:strVal val="#ppt_x"/>
                                          </p:val>
                                        </p:tav>
                                        <p:tav tm="100000">
                                          <p:val>
                                            <p:strVal val="#ppt_x"/>
                                          </p:val>
                                        </p:tav>
                                      </p:tavLst>
                                    </p:anim>
                                    <p:anim calcmode="lin" valueType="num">
                                      <p:cBhvr>
                                        <p:cTn id="5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5671226" y="1370018"/>
            <a:ext cx="5816580" cy="1236231"/>
            <a:chOff x="7692478" y="1678126"/>
            <a:chExt cx="2434267" cy="542312"/>
          </a:xfrm>
        </p:grpSpPr>
        <p:sp>
          <p:nvSpPr>
            <p:cNvPr id="26" name="矩形 25"/>
            <p:cNvSpPr/>
            <p:nvPr/>
          </p:nvSpPr>
          <p:spPr>
            <a:xfrm>
              <a:off x="7692478" y="1839693"/>
              <a:ext cx="2434267" cy="380745"/>
            </a:xfrm>
            <a:prstGeom prst="rect">
              <a:avLst/>
            </a:prstGeom>
          </p:spPr>
          <p:txBody>
            <a:bodyPr wrap="square">
              <a:spAutoFit/>
              <a:scene3d>
                <a:camera prst="orthographicFront"/>
                <a:lightRig rig="threePt" dir="t"/>
              </a:scene3d>
              <a:sp3d contourW="12700"/>
            </a:bodyPr>
            <a:lstStyle/>
            <a:p>
              <a:pPr>
                <a:lnSpc>
                  <a:spcPct val="120000"/>
                </a:lnSpc>
              </a:pPr>
              <a:r>
                <a:rPr lang="en-US" altLang="zh-CN" sz="1400" dirty="0" smtClean="0">
                  <a:solidFill>
                    <a:srgbClr val="FF0000"/>
                  </a:solidFill>
                  <a:cs typeface="+mn-ea"/>
                  <a:sym typeface="+mn-lt"/>
                </a:rPr>
                <a:t>	</a:t>
              </a:r>
              <a:r>
                <a:rPr lang="zh-CN" altLang="en-US" sz="1400" dirty="0" smtClean="0">
                  <a:solidFill>
                    <a:srgbClr val="FF0000"/>
                  </a:solidFill>
                  <a:cs typeface="+mn-ea"/>
                  <a:sym typeface="+mn-lt"/>
                </a:rPr>
                <a:t>□第</a:t>
              </a:r>
              <a:r>
                <a:rPr lang="en-US" altLang="zh-CN" sz="1400" dirty="0" smtClean="0">
                  <a:solidFill>
                    <a:srgbClr val="FF0000"/>
                  </a:solidFill>
                  <a:cs typeface="+mn-ea"/>
                  <a:sym typeface="+mn-lt"/>
                </a:rPr>
                <a:t>i</a:t>
              </a:r>
              <a:r>
                <a:rPr lang="zh-CN" altLang="en-US" sz="1400" dirty="0" smtClean="0">
                  <a:solidFill>
                    <a:srgbClr val="FF0000"/>
                  </a:solidFill>
                  <a:cs typeface="+mn-ea"/>
                  <a:sym typeface="+mn-lt"/>
                </a:rPr>
                <a:t>行中</a:t>
              </a:r>
              <a:r>
                <a:rPr lang="en-US" altLang="zh-CN" sz="1400" dirty="0" smtClean="0">
                  <a:solidFill>
                    <a:srgbClr val="FF0000"/>
                  </a:solidFill>
                  <a:cs typeface="+mn-ea"/>
                  <a:sym typeface="+mn-lt"/>
                </a:rPr>
                <a:t>1</a:t>
              </a:r>
              <a:r>
                <a:rPr lang="zh-CN" altLang="en-US" sz="1400" dirty="0" smtClean="0">
                  <a:solidFill>
                    <a:srgbClr val="FF0000"/>
                  </a:solidFill>
                  <a:cs typeface="+mn-ea"/>
                  <a:sym typeface="+mn-lt"/>
                </a:rPr>
                <a:t>的个数就是顶点</a:t>
              </a:r>
              <a:r>
                <a:rPr lang="en-US" altLang="zh-CN" sz="1400" dirty="0" smtClean="0">
                  <a:solidFill>
                    <a:srgbClr val="FF0000"/>
                  </a:solidFill>
                  <a:cs typeface="+mn-ea"/>
                  <a:sym typeface="+mn-lt"/>
                </a:rPr>
                <a:t>i</a:t>
              </a:r>
              <a:r>
                <a:rPr lang="zh-CN" altLang="en-US" sz="1400" dirty="0" smtClean="0">
                  <a:solidFill>
                    <a:srgbClr val="FF0000"/>
                  </a:solidFill>
                  <a:cs typeface="+mn-ea"/>
                  <a:sym typeface="+mn-lt"/>
                </a:rPr>
                <a:t>的出度。</a:t>
              </a:r>
              <a:endParaRPr lang="en-US" altLang="zh-CN" sz="1400" dirty="0" smtClean="0">
                <a:solidFill>
                  <a:srgbClr val="FF0000"/>
                </a:solidFill>
                <a:cs typeface="+mn-ea"/>
                <a:sym typeface="+mn-lt"/>
              </a:endParaRPr>
            </a:p>
            <a:p>
              <a:pPr>
                <a:lnSpc>
                  <a:spcPct val="120000"/>
                </a:lnSpc>
              </a:pPr>
              <a:r>
                <a:rPr lang="en-US" altLang="zh-CN" sz="1400" dirty="0" smtClean="0">
                  <a:solidFill>
                    <a:srgbClr val="FF0000"/>
                  </a:solidFill>
                  <a:cs typeface="+mn-ea"/>
                  <a:sym typeface="+mn-lt"/>
                </a:rPr>
                <a:t>	</a:t>
              </a:r>
              <a:r>
                <a:rPr lang="zh-CN" altLang="en-US" sz="1400" dirty="0" smtClean="0">
                  <a:solidFill>
                    <a:srgbClr val="FF0000"/>
                  </a:solidFill>
                  <a:cs typeface="+mn-ea"/>
                  <a:sym typeface="+mn-lt"/>
                </a:rPr>
                <a:t>□第</a:t>
              </a:r>
              <a:r>
                <a:rPr lang="en-US" altLang="zh-CN" sz="1400" dirty="0" smtClean="0">
                  <a:solidFill>
                    <a:srgbClr val="FF0000"/>
                  </a:solidFill>
                  <a:cs typeface="+mn-ea"/>
                  <a:sym typeface="+mn-lt"/>
                </a:rPr>
                <a:t>j</a:t>
              </a:r>
              <a:r>
                <a:rPr lang="zh-CN" altLang="en-US" sz="1400" dirty="0" smtClean="0">
                  <a:solidFill>
                    <a:srgbClr val="FF0000"/>
                  </a:solidFill>
                  <a:cs typeface="+mn-ea"/>
                  <a:sym typeface="+mn-lt"/>
                </a:rPr>
                <a:t>列中</a:t>
              </a:r>
              <a:r>
                <a:rPr lang="en-US" altLang="zh-CN" sz="1400" dirty="0" smtClean="0">
                  <a:solidFill>
                    <a:srgbClr val="FF0000"/>
                  </a:solidFill>
                  <a:cs typeface="+mn-ea"/>
                  <a:sym typeface="+mn-lt"/>
                </a:rPr>
                <a:t>1</a:t>
              </a:r>
              <a:r>
                <a:rPr lang="zh-CN" altLang="en-US" sz="1400" dirty="0" smtClean="0">
                  <a:solidFill>
                    <a:srgbClr val="FF0000"/>
                  </a:solidFill>
                  <a:cs typeface="+mn-ea"/>
                  <a:sym typeface="+mn-lt"/>
                </a:rPr>
                <a:t>的个数就是顶点</a:t>
              </a:r>
              <a:r>
                <a:rPr lang="en-US" altLang="zh-CN" sz="1400" dirty="0" smtClean="0">
                  <a:solidFill>
                    <a:srgbClr val="FF0000"/>
                  </a:solidFill>
                  <a:cs typeface="+mn-ea"/>
                  <a:sym typeface="+mn-lt"/>
                </a:rPr>
                <a:t>j</a:t>
              </a:r>
              <a:r>
                <a:rPr lang="zh-CN" altLang="en-US" sz="1400" dirty="0" smtClean="0">
                  <a:solidFill>
                    <a:srgbClr val="FF0000"/>
                  </a:solidFill>
                  <a:cs typeface="+mn-ea"/>
                  <a:sym typeface="+mn-lt"/>
                </a:rPr>
                <a:t>的入度。</a:t>
              </a:r>
              <a:endParaRPr lang="en-US" altLang="zh-CN" sz="1400" dirty="0" smtClean="0">
                <a:solidFill>
                  <a:srgbClr val="FF0000"/>
                </a:solidFill>
                <a:cs typeface="+mn-ea"/>
                <a:sym typeface="+mn-lt"/>
              </a:endParaRPr>
            </a:p>
            <a:p>
              <a:pPr>
                <a:lnSpc>
                  <a:spcPct val="120000"/>
                </a:lnSpc>
              </a:pPr>
              <a:r>
                <a:rPr lang="en-US" altLang="zh-CN" sz="1400" dirty="0" smtClean="0">
                  <a:solidFill>
                    <a:srgbClr val="FF0000"/>
                  </a:solidFill>
                  <a:cs typeface="+mn-ea"/>
                  <a:sym typeface="+mn-lt"/>
                </a:rPr>
                <a:t>	</a:t>
              </a:r>
              <a:r>
                <a:rPr lang="zh-CN" altLang="en-US" sz="1400" dirty="0" smtClean="0">
                  <a:solidFill>
                    <a:srgbClr val="FF0000"/>
                  </a:solidFill>
                  <a:cs typeface="+mn-ea"/>
                  <a:sym typeface="+mn-lt"/>
                </a:rPr>
                <a:t>□有向图中各顶点的入度之和等于出度之和。</a:t>
              </a:r>
              <a:endParaRPr lang="en-US" altLang="zh-CN" sz="1400" dirty="0" smtClean="0">
                <a:solidFill>
                  <a:srgbClr val="FF0000"/>
                </a:solidFill>
                <a:cs typeface="+mn-ea"/>
                <a:sym typeface="+mn-lt"/>
              </a:endParaRPr>
            </a:p>
          </p:txBody>
        </p:sp>
        <p:sp>
          <p:nvSpPr>
            <p:cNvPr id="27" name="矩形 26"/>
            <p:cNvSpPr/>
            <p:nvPr/>
          </p:nvSpPr>
          <p:spPr>
            <a:xfrm>
              <a:off x="7692478" y="1678126"/>
              <a:ext cx="2434267" cy="14412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smtClean="0">
                  <a:cs typeface="+mn-ea"/>
                  <a:sym typeface="+mn-lt"/>
                </a:rPr>
                <a:t>有向图的邻接矩阵可能是不对称的。在有向图中：</a:t>
              </a:r>
              <a:endParaRPr lang="zh-CN" altLang="en-US" sz="1400" b="1" dirty="0">
                <a:cs typeface="+mn-ea"/>
                <a:sym typeface="+mn-lt"/>
              </a:endParaRPr>
            </a:p>
          </p:txBody>
        </p:sp>
      </p:grpSp>
      <p:grpSp>
        <p:nvGrpSpPr>
          <p:cNvPr id="34" name="组合 33"/>
          <p:cNvGrpSpPr/>
          <p:nvPr/>
        </p:nvGrpSpPr>
        <p:grpSpPr>
          <a:xfrm>
            <a:off x="5679017" y="3893601"/>
            <a:ext cx="5221640" cy="1809726"/>
            <a:chOff x="7692478" y="1453772"/>
            <a:chExt cx="2473855" cy="1528213"/>
          </a:xfrm>
        </p:grpSpPr>
        <p:sp>
          <p:nvSpPr>
            <p:cNvPr id="35" name="矩形 34"/>
            <p:cNvSpPr/>
            <p:nvPr/>
          </p:nvSpPr>
          <p:spPr>
            <a:xfrm>
              <a:off x="7692478" y="2030750"/>
              <a:ext cx="2473855" cy="951235"/>
            </a:xfrm>
            <a:prstGeom prst="rect">
              <a:avLst/>
            </a:prstGeom>
          </p:spPr>
          <p:txBody>
            <a:bodyPr wrap="square">
              <a:spAutoFit/>
              <a:scene3d>
                <a:camera prst="orthographicFront"/>
                <a:lightRig rig="threePt" dir="t"/>
              </a:scene3d>
              <a:sp3d contourW="12700"/>
            </a:bodyPr>
            <a:lstStyle/>
            <a:p>
              <a:pPr>
                <a:lnSpc>
                  <a:spcPct val="120000"/>
                </a:lnSpc>
              </a:pPr>
              <a:r>
                <a:rPr lang="en-US" altLang="zh-CN" sz="1400" dirty="0" smtClean="0">
                  <a:cs typeface="+mn-ea"/>
                  <a:sym typeface="+mn-lt"/>
                </a:rPr>
                <a:t>	D(1)=</a:t>
              </a:r>
              <a:r>
                <a:rPr lang="en-US" altLang="zh-CN" sz="1400" dirty="0" smtClean="0">
                  <a:solidFill>
                    <a:schemeClr val="accent1"/>
                  </a:solidFill>
                  <a:cs typeface="+mn-ea"/>
                  <a:sym typeface="+mn-lt"/>
                </a:rPr>
                <a:t>OD(1)</a:t>
              </a:r>
              <a:r>
                <a:rPr lang="en-US" altLang="zh-CN" sz="1400" dirty="0" smtClean="0">
                  <a:cs typeface="+mn-ea"/>
                  <a:sym typeface="+mn-lt"/>
                </a:rPr>
                <a:t>+</a:t>
              </a:r>
              <a:r>
                <a:rPr lang="en-US" altLang="zh-CN" sz="1400" dirty="0" smtClean="0">
                  <a:solidFill>
                    <a:srgbClr val="7030A0"/>
                  </a:solidFill>
                  <a:cs typeface="+mn-ea"/>
                  <a:sym typeface="+mn-lt"/>
                </a:rPr>
                <a:t>ID(1)</a:t>
              </a:r>
              <a:r>
                <a:rPr lang="en-US" altLang="zh-CN" sz="1400" dirty="0" smtClean="0">
                  <a:cs typeface="+mn-ea"/>
                  <a:sym typeface="+mn-lt"/>
                </a:rPr>
                <a:t>=2+1=3</a:t>
              </a:r>
            </a:p>
            <a:p>
              <a:pPr>
                <a:lnSpc>
                  <a:spcPct val="120000"/>
                </a:lnSpc>
              </a:pPr>
              <a:r>
                <a:rPr lang="en-US" altLang="zh-CN" sz="1400" dirty="0" smtClean="0">
                  <a:cs typeface="+mn-ea"/>
                  <a:sym typeface="+mn-lt"/>
                </a:rPr>
                <a:t>	D(2)=</a:t>
              </a:r>
              <a:r>
                <a:rPr lang="en-US" altLang="zh-CN" sz="1400" dirty="0" smtClean="0">
                  <a:solidFill>
                    <a:schemeClr val="accent1"/>
                  </a:solidFill>
                  <a:cs typeface="+mn-ea"/>
                  <a:sym typeface="+mn-lt"/>
                </a:rPr>
                <a:t>OD(2)</a:t>
              </a:r>
              <a:r>
                <a:rPr lang="en-US" altLang="zh-CN" sz="1400" dirty="0" smtClean="0">
                  <a:cs typeface="+mn-ea"/>
                  <a:sym typeface="+mn-lt"/>
                </a:rPr>
                <a:t>+</a:t>
              </a:r>
              <a:r>
                <a:rPr lang="en-US" altLang="zh-CN" sz="1400" dirty="0" smtClean="0">
                  <a:solidFill>
                    <a:srgbClr val="7030A0"/>
                  </a:solidFill>
                  <a:cs typeface="+mn-ea"/>
                  <a:sym typeface="+mn-lt"/>
                </a:rPr>
                <a:t>ID(2)</a:t>
              </a:r>
              <a:r>
                <a:rPr lang="en-US" altLang="zh-CN" sz="1400" dirty="0" smtClean="0">
                  <a:cs typeface="+mn-ea"/>
                  <a:sym typeface="+mn-lt"/>
                </a:rPr>
                <a:t>=1+2=3</a:t>
              </a:r>
            </a:p>
            <a:p>
              <a:pPr>
                <a:lnSpc>
                  <a:spcPct val="120000"/>
                </a:lnSpc>
              </a:pPr>
              <a:r>
                <a:rPr lang="en-US" altLang="zh-CN" sz="1400" dirty="0" smtClean="0">
                  <a:cs typeface="+mn-ea"/>
                  <a:sym typeface="+mn-lt"/>
                </a:rPr>
                <a:t>	D(3)=</a:t>
              </a:r>
              <a:r>
                <a:rPr lang="en-US" altLang="zh-CN" sz="1400" dirty="0" smtClean="0">
                  <a:solidFill>
                    <a:schemeClr val="accent1"/>
                  </a:solidFill>
                  <a:cs typeface="+mn-ea"/>
                  <a:sym typeface="+mn-lt"/>
                </a:rPr>
                <a:t>OD(3)</a:t>
              </a:r>
              <a:r>
                <a:rPr lang="en-US" altLang="zh-CN" sz="1400" dirty="0" smtClean="0">
                  <a:cs typeface="+mn-ea"/>
                  <a:sym typeface="+mn-lt"/>
                </a:rPr>
                <a:t>+</a:t>
              </a:r>
              <a:r>
                <a:rPr lang="en-US" altLang="zh-CN" sz="1400" dirty="0" smtClean="0">
                  <a:solidFill>
                    <a:srgbClr val="7030A0"/>
                  </a:solidFill>
                  <a:cs typeface="+mn-ea"/>
                  <a:sym typeface="+mn-lt"/>
                </a:rPr>
                <a:t>ID(3)</a:t>
              </a:r>
              <a:r>
                <a:rPr lang="en-US" altLang="zh-CN" sz="1400" dirty="0" smtClean="0">
                  <a:cs typeface="+mn-ea"/>
                  <a:sym typeface="+mn-lt"/>
                </a:rPr>
                <a:t>=1+2=3</a:t>
              </a:r>
            </a:p>
            <a:p>
              <a:pPr>
                <a:lnSpc>
                  <a:spcPct val="120000"/>
                </a:lnSpc>
              </a:pPr>
              <a:r>
                <a:rPr lang="en-US" altLang="zh-CN" sz="1400" dirty="0" smtClean="0">
                  <a:cs typeface="+mn-ea"/>
                  <a:sym typeface="+mn-lt"/>
                </a:rPr>
                <a:t>	D(4)=</a:t>
              </a:r>
              <a:r>
                <a:rPr lang="en-US" altLang="zh-CN" sz="1400" dirty="0" smtClean="0">
                  <a:solidFill>
                    <a:schemeClr val="accent1"/>
                  </a:solidFill>
                  <a:cs typeface="+mn-ea"/>
                  <a:sym typeface="+mn-lt"/>
                </a:rPr>
                <a:t>OD(4)</a:t>
              </a:r>
              <a:r>
                <a:rPr lang="en-US" altLang="zh-CN" sz="1400" dirty="0" smtClean="0">
                  <a:cs typeface="+mn-ea"/>
                  <a:sym typeface="+mn-lt"/>
                </a:rPr>
                <a:t>+</a:t>
              </a:r>
              <a:r>
                <a:rPr lang="en-US" altLang="zh-CN" sz="1400" dirty="0" smtClean="0">
                  <a:solidFill>
                    <a:srgbClr val="7030A0"/>
                  </a:solidFill>
                  <a:cs typeface="+mn-ea"/>
                  <a:sym typeface="+mn-lt"/>
                </a:rPr>
                <a:t>ID(4)</a:t>
              </a:r>
              <a:r>
                <a:rPr lang="en-US" altLang="zh-CN" sz="1400" dirty="0" smtClean="0">
                  <a:cs typeface="+mn-ea"/>
                  <a:sym typeface="+mn-lt"/>
                </a:rPr>
                <a:t>=2+1=3</a:t>
              </a:r>
              <a:endParaRPr lang="en-US" altLang="zh-CN" sz="1400" dirty="0">
                <a:cs typeface="+mn-ea"/>
                <a:sym typeface="+mn-lt"/>
              </a:endParaRPr>
            </a:p>
          </p:txBody>
        </p:sp>
        <p:sp>
          <p:nvSpPr>
            <p:cNvPr id="36" name="矩形 35"/>
            <p:cNvSpPr/>
            <p:nvPr/>
          </p:nvSpPr>
          <p:spPr>
            <a:xfrm>
              <a:off x="7808418" y="1453772"/>
              <a:ext cx="2241974" cy="57697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cs typeface="+mn-ea"/>
                  <a:sym typeface="+mn-lt"/>
                </a:rPr>
                <a:t>有向图</a:t>
              </a:r>
              <a:r>
                <a:rPr lang="zh-CN" altLang="en-US" sz="1400" dirty="0" smtClean="0">
                  <a:cs typeface="+mn-ea"/>
                  <a:sym typeface="+mn-lt"/>
                </a:rPr>
                <a:t>的度数总和等于入度之和</a:t>
              </a:r>
              <a:r>
                <a:rPr lang="en-US" altLang="zh-CN" sz="1400" dirty="0" smtClean="0">
                  <a:cs typeface="+mn-ea"/>
                  <a:sym typeface="+mn-lt"/>
                </a:rPr>
                <a:t>+</a:t>
              </a:r>
              <a:r>
                <a:rPr lang="zh-CN" altLang="en-US" sz="1400" dirty="0" smtClean="0">
                  <a:cs typeface="+mn-ea"/>
                  <a:sym typeface="+mn-lt"/>
                </a:rPr>
                <a:t>出度之和。</a:t>
              </a:r>
              <a:endParaRPr lang="zh-CN" altLang="en-US" sz="1400" b="1" dirty="0">
                <a:cs typeface="+mn-ea"/>
                <a:sym typeface="+mn-lt"/>
              </a:endParaRPr>
            </a:p>
            <a:p>
              <a:pPr>
                <a:lnSpc>
                  <a:spcPct val="120000"/>
                </a:lnSpc>
              </a:pPr>
              <a:r>
                <a:rPr lang="zh-CN" altLang="en-US" b="1" dirty="0" smtClean="0">
                  <a:solidFill>
                    <a:schemeClr val="tx1">
                      <a:lumMod val="65000"/>
                      <a:lumOff val="35000"/>
                    </a:schemeClr>
                  </a:solidFill>
                  <a:cs typeface="+mn-ea"/>
                  <a:sym typeface="+mn-lt"/>
                </a:rPr>
                <a:t>如左图</a:t>
              </a:r>
              <a:endParaRPr lang="zh-CN" altLang="en-US" b="1" dirty="0">
                <a:solidFill>
                  <a:schemeClr val="tx1">
                    <a:lumMod val="65000"/>
                    <a:lumOff val="35000"/>
                  </a:schemeClr>
                </a:solidFill>
                <a:cs typeface="+mn-ea"/>
                <a:sym typeface="+mn-lt"/>
              </a:endParaRPr>
            </a:p>
          </p:txBody>
        </p:sp>
      </p:grpSp>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934274" y="177223"/>
            <a:ext cx="180049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有向图邻接矩阵</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6" name="组合 5"/>
          <p:cNvGrpSpPr/>
          <p:nvPr/>
        </p:nvGrpSpPr>
        <p:grpSpPr>
          <a:xfrm>
            <a:off x="783129" y="1370022"/>
            <a:ext cx="3491487" cy="2486373"/>
            <a:chOff x="1164129" y="1370022"/>
            <a:chExt cx="3491487" cy="2486373"/>
          </a:xfrm>
        </p:grpSpPr>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4129" y="1370022"/>
              <a:ext cx="3491487" cy="2061641"/>
            </a:xfrm>
            <a:prstGeom prst="rect">
              <a:avLst/>
            </a:prstGeom>
          </p:spPr>
        </p:pic>
        <p:sp>
          <p:nvSpPr>
            <p:cNvPr id="42" name="矩形 41"/>
            <p:cNvSpPr/>
            <p:nvPr/>
          </p:nvSpPr>
          <p:spPr>
            <a:xfrm>
              <a:off x="1788886" y="3431663"/>
              <a:ext cx="2241974" cy="42473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b="1" dirty="0">
                  <a:solidFill>
                    <a:srgbClr val="000000">
                      <a:lumMod val="65000"/>
                      <a:lumOff val="35000"/>
                    </a:srgbClr>
                  </a:solidFill>
                  <a:cs typeface="+mn-ea"/>
                  <a:sym typeface="+mn-lt"/>
                </a:rPr>
                <a:t>有</a:t>
              </a:r>
              <a:r>
                <a:rPr lang="zh-CN" altLang="en-US" b="1" noProof="0" dirty="0" smtClean="0">
                  <a:solidFill>
                    <a:srgbClr val="000000">
                      <a:lumMod val="65000"/>
                      <a:lumOff val="35000"/>
                    </a:srgbClr>
                  </a:solidFill>
                  <a:cs typeface="+mn-ea"/>
                  <a:sym typeface="+mn-lt"/>
                </a:rPr>
                <a:t>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nvGrpSpPr>
          <p:cNvPr id="12" name="组合 11"/>
          <p:cNvGrpSpPr/>
          <p:nvPr/>
        </p:nvGrpSpPr>
        <p:grpSpPr>
          <a:xfrm>
            <a:off x="1310629" y="4270467"/>
            <a:ext cx="2436486" cy="1582645"/>
            <a:chOff x="8499634" y="1834719"/>
            <a:chExt cx="2436486" cy="1582645"/>
          </a:xfrm>
        </p:grpSpPr>
        <mc:AlternateContent xmlns:mc="http://schemas.openxmlformats.org/markup-compatibility/2006" xmlns:a14="http://schemas.microsoft.com/office/drawing/2010/main">
          <mc:Choice Requires="a14">
            <p:sp>
              <p:nvSpPr>
                <p:cNvPr id="11" name="TextBox 10"/>
                <p:cNvSpPr txBox="1"/>
                <p:nvPr/>
              </p:nvSpPr>
              <p:spPr>
                <a:xfrm>
                  <a:off x="8499634" y="1834719"/>
                  <a:ext cx="2436486" cy="10559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m:t>
                                        </m:r>
                                      </m:e>
                                    </m:mr>
                                    <m:mr>
                                      <m:e>
                                        <m:r>
                                          <a:rPr lang="en-US" altLang="zh-CN" b="0" i="1" smtClean="0">
                                            <a:latin typeface="Cambria Math"/>
                                          </a:rPr>
                                          <m:t>0</m:t>
                                        </m:r>
                                      </m:e>
                                      <m:e>
                                        <m:r>
                                          <a:rPr lang="en-US" altLang="zh-CN" b="0" i="1" smtClean="0">
                                            <a:latin typeface="Cambria Math"/>
                                          </a:rPr>
                                          <m:t>0</m:t>
                                        </m:r>
                                      </m:e>
                                    </m:mr>
                                  </m:m>
                                </m:e>
                                <m:e>
                                  <m:m>
                                    <m:mPr>
                                      <m:mcs>
                                        <m:mc>
                                          <m:mcPr>
                                            <m:count m:val="2"/>
                                            <m:mcJc m:val="center"/>
                                          </m:mcPr>
                                        </m:mc>
                                      </m:mcs>
                                      <m:ctrlPr>
                                        <a:rPr lang="en-US" altLang="zh-CN" b="0" i="1" smtClean="0">
                                          <a:latin typeface="Cambria Math"/>
                                        </a:rPr>
                                      </m:ctrlPr>
                                    </m:mPr>
                                    <m:mr>
                                      <m:e>
                                        <m:r>
                                          <m:rPr>
                                            <m:brk m:alnAt="7"/>
                                          </m:rPr>
                                          <a:rPr lang="en-US" altLang="zh-CN" b="0" i="1" smtClean="0">
                                            <a:latin typeface="Cambria Math"/>
                                          </a:rPr>
                                          <m:t>0</m:t>
                                        </m:r>
                                      </m:e>
                                      <m:e>
                                        <m:r>
                                          <a:rPr lang="en-US" altLang="zh-CN" b="0" i="1" smtClean="0">
                                            <a:latin typeface="Cambria Math"/>
                                          </a:rPr>
                                          <m:t>1</m:t>
                                        </m:r>
                                      </m:e>
                                    </m:mr>
                                    <m:mr>
                                      <m:e>
                                        <m:r>
                                          <a:rPr lang="en-US" altLang="zh-CN" b="0" i="1" smtClean="0">
                                            <a:latin typeface="Cambria Math"/>
                                          </a:rPr>
                                          <m:t>1</m:t>
                                        </m:r>
                                      </m:e>
                                      <m:e>
                                        <m:r>
                                          <a:rPr lang="en-US" altLang="zh-CN" b="0" i="1" smtClean="0">
                                            <a:latin typeface="Cambria Math"/>
                                          </a:rPr>
                                          <m:t>0</m:t>
                                        </m:r>
                                      </m:e>
                                    </m:mr>
                                  </m:m>
                                </m:e>
                              </m:mr>
                              <m:mr>
                                <m:e>
                                  <m:m>
                                    <m:mPr>
                                      <m:mcs>
                                        <m:mc>
                                          <m:mcPr>
                                            <m:count m:val="2"/>
                                            <m:mcJc m:val="center"/>
                                          </m:mcPr>
                                        </m:mc>
                                      </m:mcs>
                                      <m:ctrlPr>
                                        <a:rPr lang="en-US" altLang="zh-CN" b="0" i="1" smtClean="0">
                                          <a:latin typeface="Cambria Math"/>
                                        </a:rPr>
                                      </m:ctrlPr>
                                    </m:mPr>
                                    <m:mr>
                                      <m:e>
                                        <m:r>
                                          <m:rPr>
                                            <m:brk m:alnAt="7"/>
                                          </m:rPr>
                                          <a:rPr lang="en-US" altLang="zh-CN" b="0" i="1" smtClean="0">
                                            <a:latin typeface="Cambria Math"/>
                                          </a:rPr>
                                          <m:t>1</m:t>
                                        </m:r>
                                      </m:e>
                                      <m:e>
                                        <m:r>
                                          <a:rPr lang="en-US" altLang="zh-CN" b="0" i="1" smtClean="0">
                                            <a:latin typeface="Cambria Math"/>
                                          </a:rPr>
                                          <m:t>0</m:t>
                                        </m:r>
                                      </m:e>
                                    </m:mr>
                                    <m:mr>
                                      <m:e>
                                        <m:r>
                                          <a:rPr lang="en-US" altLang="zh-CN" b="0" i="1" smtClean="0">
                                            <a:latin typeface="Cambria Math"/>
                                          </a:rPr>
                                          <m:t>0</m:t>
                                        </m:r>
                                      </m:e>
                                      <m:e>
                                        <m:r>
                                          <a:rPr lang="en-US" altLang="zh-CN" b="0" i="1" smtClean="0">
                                            <a:latin typeface="Cambria Math"/>
                                          </a:rPr>
                                          <m:t>1</m:t>
                                        </m:r>
                                      </m:e>
                                    </m:mr>
                                  </m:m>
                                </m:e>
                                <m:e>
                                  <m:m>
                                    <m:mPr>
                                      <m:mcs>
                                        <m:mc>
                                          <m:mcPr>
                                            <m:count m:val="2"/>
                                            <m:mcJc m:val="center"/>
                                          </m:mcPr>
                                        </m:mc>
                                      </m:mcs>
                                      <m:ctrlPr>
                                        <a:rPr lang="en-US" altLang="zh-CN" b="0" i="1" smtClean="0">
                                          <a:latin typeface="Cambria Math"/>
                                        </a:rPr>
                                      </m:ctrlPr>
                                    </m:mPr>
                                    <m:mr>
                                      <m:e>
                                        <m:r>
                                          <m:rPr>
                                            <m:brk m:alnAt="7"/>
                                          </m:rPr>
                                          <a:rPr lang="en-US" altLang="zh-CN" b="0" i="1" smtClean="0">
                                            <a:latin typeface="Cambria Math"/>
                                          </a:rPr>
                                          <m:t>0</m:t>
                                        </m:r>
                                      </m:e>
                                      <m:e>
                                        <m:r>
                                          <a:rPr lang="en-US" altLang="zh-CN" b="0" i="1" smtClean="0">
                                            <a:latin typeface="Cambria Math"/>
                                          </a:rPr>
                                          <m:t>0</m:t>
                                        </m:r>
                                      </m:e>
                                    </m:mr>
                                    <m:mr>
                                      <m:e>
                                        <m:r>
                                          <a:rPr lang="en-US" altLang="zh-CN" b="0" i="1" smtClean="0">
                                            <a:latin typeface="Cambria Math"/>
                                          </a:rPr>
                                          <m:t>1</m:t>
                                        </m:r>
                                      </m:e>
                                      <m:e>
                                        <m:r>
                                          <a:rPr lang="en-US" altLang="zh-CN" b="0" i="1" smtClean="0">
                                            <a:latin typeface="Cambria Math"/>
                                          </a:rPr>
                                          <m:t>0</m:t>
                                        </m:r>
                                      </m:e>
                                    </m:mr>
                                  </m:m>
                                </m:e>
                              </m:mr>
                            </m:m>
                          </m:e>
                        </m:d>
                      </m:oMath>
                    </m:oMathPara>
                  </a14:m>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8499634" y="1834719"/>
                  <a:ext cx="2436486" cy="1055995"/>
                </a:xfrm>
                <a:prstGeom prst="rect">
                  <a:avLst/>
                </a:prstGeom>
                <a:blipFill rotWithShape="1">
                  <a:blip r:embed="rId6"/>
                  <a:stretch>
                    <a:fillRect/>
                  </a:stretch>
                </a:blipFill>
              </p:spPr>
              <p:txBody>
                <a:bodyPr/>
                <a:lstStyle/>
                <a:p>
                  <a:r>
                    <a:rPr lang="zh-CN" altLang="en-US">
                      <a:noFill/>
                    </a:rPr>
                    <a:t> </a:t>
                  </a:r>
                </a:p>
              </p:txBody>
            </p:sp>
          </mc:Fallback>
        </mc:AlternateContent>
        <p:sp>
          <p:nvSpPr>
            <p:cNvPr id="44" name="矩形 43"/>
            <p:cNvSpPr/>
            <p:nvPr/>
          </p:nvSpPr>
          <p:spPr>
            <a:xfrm>
              <a:off x="8596890" y="2992632"/>
              <a:ext cx="2241974" cy="42473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有向图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的邻接矩阵</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mc:AlternateContent xmlns:mc="http://schemas.openxmlformats.org/markup-compatibility/2006" xmlns:a14="http://schemas.microsoft.com/office/drawing/2010/main">
        <mc:Choice Requires="a14">
          <p:sp>
            <p:nvSpPr>
              <p:cNvPr id="13" name="TextBox 12"/>
              <p:cNvSpPr txBox="1"/>
              <p:nvPr/>
            </p:nvSpPr>
            <p:spPr>
              <a:xfrm>
                <a:off x="5671226" y="2606249"/>
                <a:ext cx="2138278"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𝑂𝐷</m:t>
                      </m:r>
                      <m:d>
                        <m:dPr>
                          <m:ctrlPr>
                            <a:rPr lang="en-US" altLang="zh-CN" b="0" i="1" smtClean="0">
                              <a:latin typeface="Cambria Math"/>
                            </a:rPr>
                          </m:ctrlPr>
                        </m:dPr>
                        <m:e>
                          <m:r>
                            <a:rPr lang="en-US" altLang="zh-CN" b="0" i="1" smtClean="0">
                              <a:latin typeface="Cambria Math"/>
                            </a:rPr>
                            <m:t>𝑣</m:t>
                          </m:r>
                          <m:r>
                            <a:rPr lang="en-US" altLang="zh-CN" b="0" i="1" baseline="-25000" smtClean="0">
                              <a:latin typeface="Cambria Math"/>
                            </a:rPr>
                            <m:t>𝑖</m:t>
                          </m:r>
                        </m:e>
                      </m:d>
                      <m:r>
                        <a:rPr lang="en-US" altLang="zh-CN" b="0" i="1" smtClean="0">
                          <a:latin typeface="Cambria Math"/>
                        </a:rPr>
                        <m:t>=</m:t>
                      </m:r>
                      <m:nary>
                        <m:naryPr>
                          <m:chr m:val="∑"/>
                          <m:ctrlPr>
                            <a:rPr lang="en-US" altLang="zh-CN" b="0" i="1" smtClean="0">
                              <a:latin typeface="Cambria Math"/>
                            </a:rPr>
                          </m:ctrlPr>
                        </m:naryPr>
                        <m:sub>
                          <m:r>
                            <m:rPr>
                              <m:brk m:alnAt="23"/>
                            </m:rPr>
                            <a:rPr lang="en-US" altLang="zh-CN" b="0" i="1" smtClean="0">
                              <a:latin typeface="Cambria Math"/>
                            </a:rPr>
                            <m:t>𝑗</m:t>
                          </m:r>
                          <m:r>
                            <a:rPr lang="en-US" altLang="zh-CN" b="0" i="1" smtClean="0">
                              <a:latin typeface="Cambria Math"/>
                            </a:rPr>
                            <m:t>=1</m:t>
                          </m:r>
                        </m:sub>
                        <m:sup>
                          <m:r>
                            <a:rPr lang="en-US" altLang="zh-CN" b="0" i="1" smtClean="0">
                              <a:latin typeface="Cambria Math"/>
                            </a:rPr>
                            <m:t>𝑛</m:t>
                          </m:r>
                        </m:sup>
                        <m:e>
                          <m:r>
                            <a:rPr lang="en-US" altLang="zh-CN" b="0" i="1" smtClean="0">
                              <a:latin typeface="Cambria Math"/>
                            </a:rPr>
                            <m:t>𝑎</m:t>
                          </m:r>
                          <m:r>
                            <a:rPr lang="en-US" altLang="zh-CN" b="0" i="1" smtClean="0">
                              <a:latin typeface="Cambria Math"/>
                            </a:rPr>
                            <m:t>[</m:t>
                          </m:r>
                          <m:r>
                            <a:rPr lang="en-US" altLang="zh-CN" b="0" i="1" smtClean="0">
                              <a:latin typeface="Cambria Math"/>
                            </a:rPr>
                            <m:t>𝑖</m:t>
                          </m:r>
                          <m:r>
                            <a:rPr lang="en-US" altLang="zh-CN" b="0" i="1" smtClean="0">
                              <a:latin typeface="Cambria Math"/>
                            </a:rPr>
                            <m:t>,</m:t>
                          </m:r>
                          <m:r>
                            <a:rPr lang="en-US" altLang="zh-CN" b="0" i="1" smtClean="0">
                              <a:latin typeface="Cambria Math"/>
                            </a:rPr>
                            <m:t>𝑗</m:t>
                          </m:r>
                          <m:r>
                            <a:rPr lang="en-US" altLang="zh-CN" b="0" i="1" smtClean="0">
                              <a:latin typeface="Cambria Math"/>
                            </a:rPr>
                            <m:t>]</m:t>
                          </m:r>
                        </m:e>
                      </m:nary>
                    </m:oMath>
                  </m:oMathPara>
                </a14:m>
                <a:endParaRPr lang="zh-CN" alt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5671226" y="2606249"/>
                <a:ext cx="2138278" cy="879856"/>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8821914" y="2606249"/>
                <a:ext cx="2070952"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𝐼𝐷</m:t>
                      </m:r>
                      <m:d>
                        <m:dPr>
                          <m:ctrlPr>
                            <a:rPr lang="en-US" altLang="zh-CN" b="0" i="1" smtClean="0">
                              <a:latin typeface="Cambria Math"/>
                            </a:rPr>
                          </m:ctrlPr>
                        </m:dPr>
                        <m:e>
                          <m:r>
                            <a:rPr lang="en-US" altLang="zh-CN" b="0" i="1" smtClean="0">
                              <a:latin typeface="Cambria Math"/>
                            </a:rPr>
                            <m:t>𝑣</m:t>
                          </m:r>
                          <m:r>
                            <a:rPr lang="en-US" altLang="zh-CN" b="0" i="1" baseline="-25000" smtClean="0">
                              <a:latin typeface="Cambria Math"/>
                            </a:rPr>
                            <m:t>𝑖</m:t>
                          </m:r>
                        </m:e>
                      </m:d>
                      <m:r>
                        <a:rPr lang="en-US" altLang="zh-CN" b="0" i="1" smtClean="0">
                          <a:latin typeface="Cambria Math"/>
                        </a:rPr>
                        <m:t>=</m:t>
                      </m:r>
                      <m:nary>
                        <m:naryPr>
                          <m:chr m:val="∑"/>
                          <m:ctrlPr>
                            <a:rPr lang="en-US" altLang="zh-CN" b="0" i="1" smtClean="0">
                              <a:latin typeface="Cambria Math"/>
                            </a:rPr>
                          </m:ctrlPr>
                        </m:naryPr>
                        <m:sub>
                          <m:r>
                            <m:rPr>
                              <m:brk m:alnAt="23"/>
                            </m:rPr>
                            <a:rPr lang="en-US" altLang="zh-CN" b="0" i="1" smtClean="0">
                              <a:latin typeface="Cambria Math"/>
                            </a:rPr>
                            <m:t>𝑗</m:t>
                          </m:r>
                          <m:r>
                            <a:rPr lang="en-US" altLang="zh-CN" b="0" i="1" smtClean="0">
                              <a:latin typeface="Cambria Math"/>
                            </a:rPr>
                            <m:t>=1</m:t>
                          </m:r>
                        </m:sub>
                        <m:sup>
                          <m:r>
                            <a:rPr lang="en-US" altLang="zh-CN" b="0" i="1" smtClean="0">
                              <a:latin typeface="Cambria Math"/>
                            </a:rPr>
                            <m:t>𝑛</m:t>
                          </m:r>
                        </m:sup>
                        <m:e>
                          <m:r>
                            <a:rPr lang="en-US" altLang="zh-CN" b="0" i="1" smtClean="0">
                              <a:latin typeface="Cambria Math"/>
                            </a:rPr>
                            <m:t>𝑎</m:t>
                          </m:r>
                          <m:r>
                            <a:rPr lang="en-US" altLang="zh-CN" b="0" i="1" smtClean="0">
                              <a:latin typeface="Cambria Math"/>
                            </a:rPr>
                            <m:t>[</m:t>
                          </m:r>
                          <m:r>
                            <a:rPr lang="en-US" altLang="zh-CN" b="0" i="1" smtClean="0">
                              <a:latin typeface="Cambria Math"/>
                            </a:rPr>
                            <m:t>𝑗</m:t>
                          </m:r>
                          <m:r>
                            <a:rPr lang="en-US" altLang="zh-CN" b="0" i="1" smtClean="0">
                              <a:latin typeface="Cambria Math"/>
                            </a:rPr>
                            <m:t>,</m:t>
                          </m:r>
                          <m:r>
                            <a:rPr lang="en-US" altLang="zh-CN" b="0" i="1" smtClean="0">
                              <a:latin typeface="Cambria Math"/>
                            </a:rPr>
                            <m:t>𝑖</m:t>
                          </m:r>
                          <m:r>
                            <a:rPr lang="en-US" altLang="zh-CN" b="0" i="1" smtClean="0">
                              <a:latin typeface="Cambria Math"/>
                            </a:rPr>
                            <m:t>]</m:t>
                          </m:r>
                        </m:e>
                      </m:nary>
                    </m:oMath>
                  </m:oMathPara>
                </a14:m>
                <a:endParaRPr lang="zh-CN" alt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8821914" y="2606249"/>
                <a:ext cx="2070952" cy="879856"/>
              </a:xfrm>
              <a:prstGeom prst="rect">
                <a:avLst/>
              </a:prstGeom>
              <a:blipFill rotWithShape="1">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38547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42" presetClass="entr" presetSubtype="0"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1000"/>
                                        <p:tgtEl>
                                          <p:spTgt spid="28"/>
                                        </p:tgtEl>
                                      </p:cBhvr>
                                    </p:animEffect>
                                    <p:anim calcmode="lin" valueType="num">
                                      <p:cBhvr>
                                        <p:cTn id="41" dur="1000" fill="hold"/>
                                        <p:tgtEl>
                                          <p:spTgt spid="28"/>
                                        </p:tgtEl>
                                        <p:attrNameLst>
                                          <p:attrName>ppt_x</p:attrName>
                                        </p:attrNameLst>
                                      </p:cBhvr>
                                      <p:tavLst>
                                        <p:tav tm="0">
                                          <p:val>
                                            <p:strVal val="#ppt_x"/>
                                          </p:val>
                                        </p:tav>
                                        <p:tav tm="100000">
                                          <p:val>
                                            <p:strVal val="#ppt_x"/>
                                          </p:val>
                                        </p:tav>
                                      </p:tavLst>
                                    </p:anim>
                                    <p:anim calcmode="lin" valueType="num">
                                      <p:cBhvr>
                                        <p:cTn id="4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3" grpId="0"/>
      <p:bldP spid="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025779" y="4507448"/>
            <a:ext cx="5092667" cy="328551"/>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smtClean="0">
                <a:cs typeface="+mn-ea"/>
                <a:sym typeface="+mn-lt"/>
              </a:rPr>
              <a:t>因为不考虑顶点到自身的边或弧，所以邻接矩阵的</a:t>
            </a:r>
            <a:r>
              <a:rPr lang="zh-CN" altLang="en-US" sz="1400" dirty="0" smtClean="0">
                <a:solidFill>
                  <a:srgbClr val="FF0000"/>
                </a:solidFill>
                <a:cs typeface="+mn-ea"/>
                <a:sym typeface="+mn-lt"/>
              </a:rPr>
              <a:t>对角线为</a:t>
            </a:r>
            <a:r>
              <a:rPr lang="en-US" altLang="zh-CN" sz="1400" dirty="0" smtClean="0">
                <a:solidFill>
                  <a:srgbClr val="FF0000"/>
                </a:solidFill>
                <a:cs typeface="+mn-ea"/>
                <a:sym typeface="+mn-lt"/>
              </a:rPr>
              <a:t>0</a:t>
            </a:r>
            <a:r>
              <a:rPr lang="zh-CN" altLang="en-US" sz="1400" dirty="0" smtClean="0">
                <a:cs typeface="+mn-ea"/>
                <a:sym typeface="+mn-lt"/>
              </a:rPr>
              <a:t>。</a:t>
            </a:r>
            <a:endParaRPr lang="zh-CN" altLang="en-US" sz="1400" dirty="0">
              <a:cs typeface="+mn-ea"/>
              <a:sym typeface="+mn-lt"/>
            </a:endParaRPr>
          </a:p>
        </p:txBody>
      </p:sp>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934274" y="177223"/>
            <a:ext cx="180049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带权值邻接矩阵</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8" name="组合 7"/>
          <p:cNvGrpSpPr/>
          <p:nvPr/>
        </p:nvGrpSpPr>
        <p:grpSpPr>
          <a:xfrm>
            <a:off x="920387" y="1370022"/>
            <a:ext cx="2801139" cy="2829139"/>
            <a:chOff x="920387" y="1370022"/>
            <a:chExt cx="2801139" cy="2829139"/>
          </a:xfrm>
        </p:grpSpPr>
        <p:sp>
          <p:nvSpPr>
            <p:cNvPr id="26" name="矩形 25"/>
            <p:cNvSpPr/>
            <p:nvPr/>
          </p:nvSpPr>
          <p:spPr>
            <a:xfrm>
              <a:off x="920387" y="3848296"/>
              <a:ext cx="2801139" cy="35086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cs typeface="+mn-ea"/>
                  <a:sym typeface="+mn-lt"/>
                </a:rPr>
                <a:t>每条边上带有权的图就叫做网。</a:t>
              </a:r>
            </a:p>
          </p:txBody>
        </p:sp>
        <p:grpSp>
          <p:nvGrpSpPr>
            <p:cNvPr id="6" name="组合 5"/>
            <p:cNvGrpSpPr/>
            <p:nvPr/>
          </p:nvGrpSpPr>
          <p:grpSpPr>
            <a:xfrm>
              <a:off x="1184022" y="1370022"/>
              <a:ext cx="2273869" cy="2457775"/>
              <a:chOff x="1565022" y="1370022"/>
              <a:chExt cx="2273869" cy="2457775"/>
            </a:xfrm>
          </p:grpSpPr>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5022" y="1370022"/>
                <a:ext cx="2273869" cy="2061641"/>
              </a:xfrm>
              <a:prstGeom prst="rect">
                <a:avLst/>
              </a:prstGeom>
            </p:spPr>
          </p:pic>
          <p:sp>
            <p:nvSpPr>
              <p:cNvPr id="42" name="矩形 41"/>
              <p:cNvSpPr/>
              <p:nvPr/>
            </p:nvSpPr>
            <p:spPr>
              <a:xfrm>
                <a:off x="1580970" y="3431663"/>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b="1" dirty="0" smtClean="0">
                    <a:solidFill>
                      <a:srgbClr val="000000">
                        <a:lumMod val="65000"/>
                        <a:lumOff val="35000"/>
                      </a:srgbClr>
                    </a:solidFill>
                    <a:cs typeface="+mn-ea"/>
                    <a:sym typeface="+mn-lt"/>
                  </a:rPr>
                  <a:t>有向图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grpSp>
        <p:nvGrpSpPr>
          <p:cNvPr id="5" name="组合 4"/>
          <p:cNvGrpSpPr/>
          <p:nvPr/>
        </p:nvGrpSpPr>
        <p:grpSpPr>
          <a:xfrm>
            <a:off x="5221795" y="2305072"/>
            <a:ext cx="2241974" cy="1494127"/>
            <a:chOff x="5221795" y="2305072"/>
            <a:chExt cx="2241974" cy="1494127"/>
          </a:xfrm>
        </p:grpSpPr>
        <p:sp>
          <p:nvSpPr>
            <p:cNvPr id="43" name="矩形 42"/>
            <p:cNvSpPr/>
            <p:nvPr/>
          </p:nvSpPr>
          <p:spPr>
            <a:xfrm>
              <a:off x="5221795" y="3403065"/>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顶点数组</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71353" y="2305072"/>
              <a:ext cx="1942857" cy="466667"/>
            </a:xfrm>
            <a:prstGeom prst="rect">
              <a:avLst/>
            </a:prstGeom>
          </p:spPr>
        </p:pic>
      </p:grpSp>
      <p:grpSp>
        <p:nvGrpSpPr>
          <p:cNvPr id="9" name="组合 8"/>
          <p:cNvGrpSpPr/>
          <p:nvPr/>
        </p:nvGrpSpPr>
        <p:grpSpPr>
          <a:xfrm>
            <a:off x="8317307" y="1834720"/>
            <a:ext cx="2801139" cy="2598629"/>
            <a:chOff x="8317307" y="1834720"/>
            <a:chExt cx="2801139" cy="2598629"/>
          </a:xfrm>
        </p:grpSpPr>
        <p:grpSp>
          <p:nvGrpSpPr>
            <p:cNvPr id="12" name="组合 11"/>
            <p:cNvGrpSpPr/>
            <p:nvPr/>
          </p:nvGrpSpPr>
          <p:grpSpPr>
            <a:xfrm>
              <a:off x="8499634" y="1834720"/>
              <a:ext cx="2436486" cy="1978778"/>
              <a:chOff x="8499634" y="1834720"/>
              <a:chExt cx="2436486" cy="1978778"/>
            </a:xfrm>
          </p:grpSpPr>
          <mc:AlternateContent xmlns:mc="http://schemas.openxmlformats.org/markup-compatibility/2006" xmlns:a14="http://schemas.microsoft.com/office/drawing/2010/main">
            <mc:Choice Requires="a14">
              <p:sp>
                <p:nvSpPr>
                  <p:cNvPr id="11" name="TextBox 10"/>
                  <p:cNvSpPr txBox="1"/>
                  <p:nvPr/>
                </p:nvSpPr>
                <p:spPr>
                  <a:xfrm>
                    <a:off x="8499634" y="1834720"/>
                    <a:ext cx="2436486" cy="14073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0</m:t>
                                          </m:r>
                                        </m:e>
                                        <m:e>
                                          <m:r>
                                            <a:rPr lang="zh-CN" altLang="en-US" b="0" i="1" smtClean="0">
                                              <a:latin typeface="Cambria Math"/>
                                            </a:rPr>
                                            <m:t>∞</m:t>
                                          </m:r>
                                        </m:e>
                                      </m:mr>
                                      <m:mr>
                                        <m:e>
                                          <m:r>
                                            <a:rPr lang="en-US" altLang="zh-CN" b="0" i="1" smtClean="0">
                                              <a:latin typeface="Cambria Math"/>
                                            </a:rPr>
                                            <m:t>9</m:t>
                                          </m:r>
                                        </m:e>
                                        <m:e>
                                          <m:r>
                                            <a:rPr lang="en-US" altLang="zh-CN" b="0" i="1" smtClean="0">
                                              <a:latin typeface="Cambria Math"/>
                                            </a:rPr>
                                            <m:t>0</m:t>
                                          </m:r>
                                        </m:e>
                                      </m:mr>
                                    </m:m>
                                  </m:e>
                                  <m:e>
                                    <m:m>
                                      <m:mPr>
                                        <m:mcs>
                                          <m:mc>
                                            <m:mcPr>
                                              <m:count m:val="3"/>
                                              <m:mcJc m:val="center"/>
                                            </m:mcPr>
                                          </m:mc>
                                        </m:mcs>
                                        <m:ctrlPr>
                                          <a:rPr lang="en-US" altLang="zh-CN" i="1" smtClean="0">
                                            <a:latin typeface="Cambria Math"/>
                                          </a:rPr>
                                        </m:ctrlPr>
                                      </m:mPr>
                                      <m:mr>
                                        <m:e>
                                          <m:r>
                                            <a:rPr lang="zh-CN" altLang="en-US" i="1">
                                              <a:latin typeface="Cambria Math"/>
                                            </a:rPr>
                                            <m:t>∞</m:t>
                                          </m:r>
                                        </m:e>
                                        <m:e>
                                          <m:r>
                                            <a:rPr lang="zh-CN" altLang="en-US" i="1">
                                              <a:latin typeface="Cambria Math"/>
                                            </a:rPr>
                                            <m:t>∞</m:t>
                                          </m:r>
                                        </m:e>
                                        <m:e>
                                          <m:r>
                                            <a:rPr lang="en-US" altLang="zh-CN" b="0" i="1" smtClean="0">
                                              <a:latin typeface="Cambria Math"/>
                                            </a:rPr>
                                            <m:t>6</m:t>
                                          </m:r>
                                        </m:e>
                                      </m:mr>
                                      <m:mr>
                                        <m:e>
                                          <m:r>
                                            <a:rPr lang="en-US" altLang="zh-CN" b="0" i="1" smtClean="0">
                                              <a:latin typeface="Cambria Math"/>
                                            </a:rPr>
                                            <m:t>3</m:t>
                                          </m:r>
                                        </m:e>
                                        <m:e>
                                          <m:r>
                                            <a:rPr lang="zh-CN" altLang="en-US" i="1">
                                              <a:latin typeface="Cambria Math"/>
                                            </a:rPr>
                                            <m:t>∞</m:t>
                                          </m:r>
                                        </m:e>
                                        <m:e>
                                          <m:r>
                                            <a:rPr lang="zh-CN" altLang="en-US" i="1">
                                              <a:latin typeface="Cambria Math"/>
                                            </a:rPr>
                                            <m:t>∞</m:t>
                                          </m:r>
                                        </m:e>
                                      </m:mr>
                                    </m:m>
                                  </m:e>
                                </m:m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2</m:t>
                                          </m:r>
                                        </m:e>
                                        <m:e>
                                          <m:r>
                                            <a:rPr lang="zh-CN" altLang="en-US" i="1">
                                              <a:latin typeface="Cambria Math"/>
                                            </a:rPr>
                                            <m:t>∞</m:t>
                                          </m:r>
                                        </m:e>
                                      </m:mr>
                                      <m:mr>
                                        <m:e>
                                          <m:r>
                                            <a:rPr lang="zh-CN" altLang="en-US" i="1">
                                              <a:latin typeface="Cambria Math"/>
                                            </a:rPr>
                                            <m:t>∞</m:t>
                                          </m:r>
                                        </m:e>
                                        <m:e>
                                          <m:r>
                                            <a:rPr lang="zh-CN" altLang="en-US" i="1">
                                              <a:latin typeface="Cambria Math"/>
                                            </a:rPr>
                                            <m:t>∞</m:t>
                                          </m:r>
                                        </m:e>
                                      </m:mr>
                                      <m:mr>
                                        <m:e>
                                          <m:r>
                                            <a:rPr lang="zh-CN" altLang="en-US" i="1">
                                              <a:latin typeface="Cambria Math"/>
                                            </a:rPr>
                                            <m:t>∞</m:t>
                                          </m:r>
                                        </m:e>
                                        <m:e>
                                          <m:r>
                                            <a:rPr lang="zh-CN" altLang="en-US" i="1">
                                              <a:latin typeface="Cambria Math"/>
                                            </a:rPr>
                                            <m:t>∞</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5</m:t>
                                          </m:r>
                                        </m:e>
                                        <m:e>
                                          <m:r>
                                            <a:rPr lang="zh-CN" altLang="en-US" i="1">
                                              <a:latin typeface="Cambria Math"/>
                                            </a:rPr>
                                            <m:t>∞</m:t>
                                          </m:r>
                                        </m:e>
                                      </m:mr>
                                      <m:mr>
                                        <m:e>
                                          <m:r>
                                            <a:rPr lang="zh-CN" altLang="en-US" i="1">
                                              <a:latin typeface="Cambria Math"/>
                                            </a:rPr>
                                            <m:t>∞</m:t>
                                          </m:r>
                                        </m:e>
                                        <m:e>
                                          <m:r>
                                            <a:rPr lang="en-US" altLang="zh-CN" b="0" i="1" smtClean="0">
                                              <a:latin typeface="Cambria Math"/>
                                            </a:rPr>
                                            <m:t>0</m:t>
                                          </m:r>
                                        </m:e>
                                        <m:e>
                                          <m:r>
                                            <a:rPr lang="en-US" altLang="zh-CN" b="0" i="1" smtClean="0">
                                              <a:latin typeface="Cambria Math"/>
                                            </a:rPr>
                                            <m:t>1</m:t>
                                          </m:r>
                                        </m:e>
                                      </m:mr>
                                      <m:mr>
                                        <m:e>
                                          <m:r>
                                            <a:rPr lang="zh-CN" altLang="en-US" i="1">
                                              <a:latin typeface="Cambria Math"/>
                                            </a:rPr>
                                            <m:t>∞</m:t>
                                          </m:r>
                                        </m:e>
                                        <m:e>
                                          <m:r>
                                            <a:rPr lang="zh-CN" altLang="en-US" i="1">
                                              <a:latin typeface="Cambria Math"/>
                                            </a:rPr>
                                            <m:t>∞</m:t>
                                          </m:r>
                                        </m:e>
                                        <m:e>
                                          <m:r>
                                            <a:rPr lang="en-US" altLang="zh-CN" b="0" i="1" smtClean="0">
                                              <a:latin typeface="Cambria Math"/>
                                            </a:rPr>
                                            <m:t>0</m:t>
                                          </m:r>
                                        </m:e>
                                      </m:mr>
                                    </m:m>
                                  </m:e>
                                </m:mr>
                              </m:m>
                            </m:e>
                          </m:d>
                        </m:oMath>
                      </m:oMathPara>
                    </a14:m>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8499634" y="1834720"/>
                    <a:ext cx="2436486" cy="1407373"/>
                  </a:xfrm>
                  <a:prstGeom prst="rect">
                    <a:avLst/>
                  </a:prstGeom>
                  <a:blipFill rotWithShape="1">
                    <a:blip r:embed="rId10"/>
                    <a:stretch>
                      <a:fillRect/>
                    </a:stretch>
                  </a:blipFill>
                </p:spPr>
                <p:txBody>
                  <a:bodyPr/>
                  <a:lstStyle/>
                  <a:p>
                    <a:r>
                      <a:rPr lang="zh-CN" altLang="en-US">
                        <a:noFill/>
                      </a:rPr>
                      <a:t> </a:t>
                    </a:r>
                  </a:p>
                </p:txBody>
              </p:sp>
            </mc:Fallback>
          </mc:AlternateContent>
          <p:sp>
            <p:nvSpPr>
              <p:cNvPr id="44" name="矩形 43"/>
              <p:cNvSpPr/>
              <p:nvPr/>
            </p:nvSpPr>
            <p:spPr>
              <a:xfrm>
                <a:off x="8596890" y="3417364"/>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有向图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的邻接矩阵</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sp>
          <p:nvSpPr>
            <p:cNvPr id="28" name="矩形 27"/>
            <p:cNvSpPr/>
            <p:nvPr/>
          </p:nvSpPr>
          <p:spPr>
            <a:xfrm>
              <a:off x="8317307" y="3846265"/>
              <a:ext cx="2801139" cy="58708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smtClean="0">
                  <a:cs typeface="+mn-ea"/>
                  <a:sym typeface="+mn-lt"/>
                </a:rPr>
                <a:t>这里</a:t>
              </a:r>
              <a:r>
                <a:rPr lang="en-US" altLang="zh-CN" sz="1400" dirty="0" smtClean="0">
                  <a:cs typeface="+mn-ea"/>
                  <a:sym typeface="+mn-lt"/>
                </a:rPr>
                <a:t>’</a:t>
              </a:r>
              <a:r>
                <a:rPr lang="zh-CN" altLang="en-US" sz="1400" dirty="0" smtClean="0">
                  <a:cs typeface="+mn-ea"/>
                  <a:sym typeface="+mn-lt"/>
                </a:rPr>
                <a:t>∞</a:t>
              </a:r>
              <a:r>
                <a:rPr lang="en-US" altLang="zh-CN" sz="1400" dirty="0" smtClean="0">
                  <a:cs typeface="+mn-ea"/>
                  <a:sym typeface="+mn-lt"/>
                </a:rPr>
                <a:t>’</a:t>
              </a:r>
              <a:r>
                <a:rPr lang="zh-CN" altLang="en-US" sz="1400" dirty="0" smtClean="0">
                  <a:cs typeface="+mn-ea"/>
                  <a:sym typeface="+mn-lt"/>
                </a:rPr>
                <a:t>表示一个计算机允许的，大于所有边上权值的值</a:t>
              </a:r>
              <a:endParaRPr lang="zh-CN" altLang="en-US" sz="1400" dirty="0">
                <a:cs typeface="+mn-ea"/>
                <a:sym typeface="+mn-lt"/>
              </a:endParaRPr>
            </a:p>
          </p:txBody>
        </p:sp>
      </p:grpSp>
      <mc:AlternateContent xmlns:mc="http://schemas.openxmlformats.org/markup-compatibility/2006" xmlns:a14="http://schemas.microsoft.com/office/drawing/2010/main">
        <mc:Choice Requires="a14">
          <p:sp>
            <p:nvSpPr>
              <p:cNvPr id="10" name="矩形 9"/>
              <p:cNvSpPr/>
              <p:nvPr/>
            </p:nvSpPr>
            <p:spPr>
              <a:xfrm>
                <a:off x="581179" y="4618463"/>
                <a:ext cx="4859214" cy="100277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m:rPr>
                          <m:sty m:val="p"/>
                        </m:rPr>
                        <a:rPr lang="en-US" altLang="zh-CN" dirty="0" smtClean="0">
                          <a:latin typeface="Cambria Math"/>
                          <a:cs typeface="+mn-ea"/>
                          <a:sym typeface="+mn-lt"/>
                        </a:rPr>
                        <m:t>a</m:t>
                      </m:r>
                      <m:r>
                        <m:rPr>
                          <m:sty m:val="p"/>
                        </m:rPr>
                        <a:rPr lang="en-US" altLang="zh-CN" baseline="-25000" dirty="0">
                          <a:latin typeface="Cambria Math"/>
                          <a:cs typeface="+mn-ea"/>
                          <a:sym typeface="+mn-lt"/>
                        </a:rPr>
                        <m:t>ij</m:t>
                      </m:r>
                      <m:r>
                        <a:rPr lang="en-US" altLang="zh-CN" dirty="0">
                          <a:latin typeface="Cambria Math"/>
                          <a:cs typeface="+mn-ea"/>
                          <a:sym typeface="+mn-lt"/>
                        </a:rPr>
                        <m:t>=</m:t>
                      </m:r>
                      <m:d>
                        <m:dPr>
                          <m:begChr m:val="{"/>
                          <m:endChr m:val=""/>
                          <m:ctrlPr>
                            <a:rPr lang="ar-AE" altLang="zh-CN" i="1" dirty="0">
                              <a:latin typeface="Cambria Math"/>
                              <a:cs typeface="+mn-ea"/>
                              <a:sym typeface="+mn-lt"/>
                            </a:rPr>
                          </m:ctrlPr>
                        </m:dPr>
                        <m:e>
                          <m:m>
                            <m:mPr>
                              <m:mcs>
                                <m:mc>
                                  <m:mcPr>
                                    <m:count m:val="2"/>
                                    <m:mcJc m:val="center"/>
                                  </m:mcPr>
                                </m:mc>
                              </m:mcs>
                              <m:ctrlPr>
                                <a:rPr lang="ar-AE" altLang="zh-CN" i="1" dirty="0" smtClean="0">
                                  <a:latin typeface="Cambria Math"/>
                                  <a:cs typeface="+mn-ea"/>
                                  <a:sym typeface="+mn-lt"/>
                                </a:rPr>
                              </m:ctrlPr>
                            </m:mPr>
                            <m:mr>
                              <m:e>
                                <m:r>
                                  <m:rPr>
                                    <m:brk m:alnAt="7"/>
                                  </m:rPr>
                                  <a:rPr lang="en-US" altLang="zh-CN" b="0" i="1" dirty="0" smtClean="0">
                                    <a:latin typeface="Cambria Math"/>
                                    <a:cs typeface="+mn-ea"/>
                                    <a:sym typeface="+mn-lt"/>
                                  </a:rPr>
                                  <m:t>𝑊</m:t>
                                </m:r>
                                <m:r>
                                  <m:rPr>
                                    <m:brk m:alnAt="7"/>
                                  </m:rPr>
                                  <a:rPr lang="en-US" altLang="zh-CN" b="0" i="1" dirty="0" smtClean="0">
                                    <a:latin typeface="Cambria Math"/>
                                    <a:cs typeface="+mn-ea"/>
                                    <a:sym typeface="+mn-lt"/>
                                  </a:rPr>
                                  <m:t>(</m:t>
                                </m:r>
                                <m:r>
                                  <m:rPr>
                                    <m:brk m:alnAt="7"/>
                                  </m:rPr>
                                  <a:rPr lang="en-US" altLang="zh-CN" b="0" i="1" dirty="0" smtClean="0">
                                    <a:latin typeface="Cambria Math"/>
                                    <a:cs typeface="+mn-ea"/>
                                    <a:sym typeface="+mn-lt"/>
                                  </a:rPr>
                                  <m:t>𝑖</m:t>
                                </m:r>
                                <m:r>
                                  <m:rPr>
                                    <m:brk m:alnAt="7"/>
                                  </m:rPr>
                                  <a:rPr lang="en-US" altLang="zh-CN" b="0" i="1" dirty="0" smtClean="0">
                                    <a:latin typeface="Cambria Math"/>
                                    <a:cs typeface="+mn-ea"/>
                                    <a:sym typeface="+mn-lt"/>
                                  </a:rPr>
                                  <m:t>,</m:t>
                                </m:r>
                                <m:r>
                                  <m:rPr>
                                    <m:brk m:alnAt="7"/>
                                  </m:rPr>
                                  <a:rPr lang="en-US" altLang="zh-CN" b="0" i="1" dirty="0" smtClean="0">
                                    <a:latin typeface="Cambria Math"/>
                                    <a:cs typeface="+mn-ea"/>
                                    <a:sym typeface="+mn-lt"/>
                                  </a:rPr>
                                  <m:t>𝑗</m:t>
                                </m:r>
                                <m:r>
                                  <m:rPr>
                                    <m:brk m:alnAt="7"/>
                                  </m:rPr>
                                  <a:rPr lang="en-US" altLang="zh-CN" b="0" i="1" dirty="0" smtClean="0">
                                    <a:latin typeface="Cambria Math"/>
                                    <a:cs typeface="+mn-ea"/>
                                    <a:sym typeface="+mn-lt"/>
                                  </a:rPr>
                                  <m:t>)</m:t>
                                </m:r>
                              </m:e>
                              <m:e>
                                <m:r>
                                  <a:rPr lang="en-US" altLang="zh-CN" b="0" i="1"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𝑗</m:t>
                                </m:r>
                                <m:r>
                                  <a:rPr lang="zh-CN" altLang="en-US" b="0" i="1" dirty="0" smtClean="0">
                                    <a:latin typeface="Cambria Math"/>
                                    <a:cs typeface="+mn-ea"/>
                                    <a:sym typeface="+mn-lt"/>
                                  </a:rPr>
                                  <m:t>且</m:t>
                                </m:r>
                                <m:r>
                                  <a:rPr lang="en-US" altLang="zh-CN" b="0" i="1" dirty="0" smtClean="0">
                                    <a:latin typeface="Cambria Math"/>
                                    <a:cs typeface="+mn-ea"/>
                                    <a:sym typeface="+mn-lt"/>
                                  </a:rPr>
                                  <m:t>&lt;</m:t>
                                </m:r>
                                <m:r>
                                  <a:rPr lang="en-US" altLang="zh-CN" b="0" i="1"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𝑗</m:t>
                                </m:r>
                                <m:r>
                                  <a:rPr lang="en-US" altLang="zh-CN" b="0" i="1" dirty="0" smtClean="0">
                                    <a:latin typeface="Cambria Math"/>
                                    <a:cs typeface="+mn-ea"/>
                                    <a:sym typeface="+mn-lt"/>
                                  </a:rPr>
                                  <m:t>&gt;∈</m:t>
                                </m:r>
                                <m:r>
                                  <a:rPr lang="en-US" altLang="zh-CN" b="0" i="1" dirty="0" smtClean="0">
                                    <a:latin typeface="Cambria Math"/>
                                    <a:cs typeface="+mn-ea"/>
                                    <a:sym typeface="+mn-lt"/>
                                  </a:rPr>
                                  <m:t>𝐸</m:t>
                                </m:r>
                                <m:r>
                                  <a:rPr lang="zh-CN" altLang="en-US" b="0" i="1" dirty="0" smtClean="0">
                                    <a:latin typeface="Cambria Math"/>
                                    <a:cs typeface="+mn-ea"/>
                                    <a:sym typeface="+mn-lt"/>
                                  </a:rPr>
                                  <m:t>或</m:t>
                                </m:r>
                                <m:d>
                                  <m:dPr>
                                    <m:ctrlPr>
                                      <a:rPr lang="en-US" altLang="zh-CN" b="0" i="1" dirty="0" smtClean="0">
                                        <a:latin typeface="Cambria Math"/>
                                        <a:cs typeface="+mn-ea"/>
                                        <a:sym typeface="+mn-lt"/>
                                      </a:rPr>
                                    </m:ctrlPr>
                                  </m:dPr>
                                  <m:e>
                                    <m:r>
                                      <a:rPr lang="en-US" altLang="zh-CN" b="0" i="1"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𝑗</m:t>
                                    </m:r>
                                  </m:e>
                                </m:d>
                                <m:r>
                                  <a:rPr lang="zh-CN" altLang="en-US" b="0" i="1" dirty="0" smtClean="0">
                                    <a:latin typeface="Cambria Math"/>
                                    <a:cs typeface="+mn-ea"/>
                                    <a:sym typeface="+mn-lt"/>
                                  </a:rPr>
                                  <m:t>∈</m:t>
                                </m:r>
                                <m:r>
                                  <a:rPr lang="en-US" altLang="zh-CN" b="0" i="1" dirty="0" smtClean="0">
                                    <a:latin typeface="Cambria Math"/>
                                    <a:cs typeface="+mn-ea"/>
                                    <a:sym typeface="+mn-lt"/>
                                  </a:rPr>
                                  <m:t>𝐸</m:t>
                                </m:r>
                              </m:e>
                            </m:mr>
                            <m:mr>
                              <m:e>
                                <m:r>
                                  <a:rPr lang="en-US" altLang="zh-CN" b="0" i="1" dirty="0" smtClean="0">
                                    <a:latin typeface="Cambria Math"/>
                                    <a:cs typeface="+mn-ea"/>
                                    <a:sym typeface="+mn-lt"/>
                                  </a:rPr>
                                  <m:t>0</m:t>
                                </m:r>
                              </m:e>
                              <m:e>
                                <m:r>
                                  <a:rPr lang="en-US" altLang="zh-CN" b="0" i="1"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𝑗</m:t>
                                </m:r>
                                <m:r>
                                  <a:rPr lang="en-US" altLang="zh-CN" b="0" i="1" dirty="0" smtClean="0">
                                    <a:latin typeface="Cambria Math"/>
                                    <a:cs typeface="+mn-ea"/>
                                    <a:sym typeface="+mn-lt"/>
                                  </a:rPr>
                                  <m:t>[对角线</m:t>
                                </m:r>
                                <m:r>
                                  <a:rPr lang="en-US" altLang="zh-CN" b="0" i="1" dirty="0" smtClean="0">
                                    <a:latin typeface="Cambria Math"/>
                                    <a:cs typeface="+mn-ea"/>
                                    <a:sym typeface="+mn-lt"/>
                                  </a:rPr>
                                  <m:t>] </m:t>
                                </m:r>
                              </m:e>
                            </m:mr>
                            <m:mr>
                              <m:e>
                                <m:r>
                                  <a:rPr lang="zh-CN" altLang="en-US" b="0" i="1" dirty="0" smtClean="0">
                                    <a:latin typeface="Cambria Math"/>
                                    <a:cs typeface="+mn-ea"/>
                                    <a:sym typeface="+mn-lt"/>
                                  </a:rPr>
                                  <m:t>∞</m:t>
                                </m:r>
                              </m:e>
                              <m:e>
                                <m:r>
                                  <a:rPr lang="en-US" altLang="zh-CN" b="0" i="1" dirty="0" smtClean="0">
                                    <a:latin typeface="Cambria Math"/>
                                    <a:cs typeface="+mn-ea"/>
                                    <a:sym typeface="+mn-lt"/>
                                  </a:rPr>
                                  <m:t>𝑖</m:t>
                                </m:r>
                                <m:r>
                                  <a:rPr lang="en-US" altLang="zh-CN" b="0" i="1" dirty="0" smtClean="0">
                                    <a:latin typeface="Cambria Math"/>
                                    <a:cs typeface="+mn-ea"/>
                                    <a:sym typeface="+mn-lt"/>
                                  </a:rPr>
                                  <m:t>!=</m:t>
                                </m:r>
                                <m:r>
                                  <a:rPr lang="en-US" altLang="zh-CN" b="0" i="1" dirty="0" smtClean="0">
                                    <a:latin typeface="Cambria Math"/>
                                    <a:cs typeface="+mn-ea"/>
                                    <a:sym typeface="+mn-lt"/>
                                  </a:rPr>
                                  <m:t>𝑗</m:t>
                                </m:r>
                                <m:r>
                                  <a:rPr lang="zh-CN" altLang="en-US" b="0" i="1" dirty="0" smtClean="0">
                                    <a:latin typeface="Cambria Math"/>
                                    <a:cs typeface="+mn-ea"/>
                                    <a:sym typeface="+mn-lt"/>
                                  </a:rPr>
                                  <m:t>，</m:t>
                                </m:r>
                                <m:r>
                                  <a:rPr lang="zh-CN" altLang="en-US" i="1" dirty="0">
                                    <a:latin typeface="Cambria Math"/>
                                    <a:cs typeface="+mn-ea"/>
                                    <a:sym typeface="+mn-lt"/>
                                  </a:rPr>
                                  <m:t>反之</m:t>
                                </m:r>
                              </m:e>
                            </m:mr>
                          </m:m>
                          <m:r>
                            <a:rPr lang="ar-AE" altLang="zh-CN" i="1">
                              <a:latin typeface="Cambria Math"/>
                            </a:rPr>
                            <m:t> </m:t>
                          </m:r>
                        </m:e>
                      </m:d>
                    </m:oMath>
                  </m:oMathPara>
                </a14:m>
                <a:endParaRPr lang="ar-AE" altLang="zh-CN" dirty="0">
                  <a:cs typeface="+mn-ea"/>
                  <a:sym typeface="+mn-lt"/>
                </a:endParaRPr>
              </a:p>
            </p:txBody>
          </p:sp>
        </mc:Choice>
        <mc:Fallback xmlns="">
          <p:sp>
            <p:nvSpPr>
              <p:cNvPr id="10" name="矩形 9"/>
              <p:cNvSpPr>
                <a:spLocks noRot="1" noChangeAspect="1" noMove="1" noResize="1" noEditPoints="1" noAdjustHandles="1" noChangeArrowheads="1" noChangeShapeType="1" noTextEdit="1"/>
              </p:cNvSpPr>
              <p:nvPr/>
            </p:nvSpPr>
            <p:spPr>
              <a:xfrm>
                <a:off x="581179" y="4618463"/>
                <a:ext cx="4859214" cy="1002775"/>
              </a:xfrm>
              <a:prstGeom prst="rect">
                <a:avLst/>
              </a:prstGeom>
              <a:blipFill rotWithShape="1">
                <a:blip r:embed="rId11"/>
                <a:stretch>
                  <a:fillRect/>
                </a:stretch>
              </a:blipFill>
            </p:spPr>
            <p:txBody>
              <a:bodyPr/>
              <a:lstStyle/>
              <a:p>
                <a:r>
                  <a:rPr lang="zh-CN" altLang="en-US">
                    <a:noFill/>
                  </a:rPr>
                  <a:t> </a:t>
                </a:r>
              </a:p>
            </p:txBody>
          </p:sp>
        </mc:Fallback>
      </mc:AlternateContent>
      <p:sp>
        <p:nvSpPr>
          <p:cNvPr id="27" name="矩形 26"/>
          <p:cNvSpPr/>
          <p:nvPr/>
        </p:nvSpPr>
        <p:spPr>
          <a:xfrm>
            <a:off x="5530387" y="5031266"/>
            <a:ext cx="6083450" cy="6093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smtClean="0">
                <a:cs typeface="+mn-ea"/>
                <a:sym typeface="+mn-lt"/>
              </a:rPr>
              <a:t>无向图的邻接矩阵是对称矩阵，</a:t>
            </a:r>
            <a:r>
              <a:rPr lang="en-US" altLang="zh-CN" sz="1400" dirty="0" smtClean="0">
                <a:cs typeface="+mn-ea"/>
                <a:sym typeface="+mn-lt"/>
              </a:rPr>
              <a:t>n</a:t>
            </a:r>
            <a:r>
              <a:rPr lang="zh-CN" altLang="en-US" sz="1400" dirty="0" smtClean="0">
                <a:cs typeface="+mn-ea"/>
                <a:sym typeface="+mn-lt"/>
              </a:rPr>
              <a:t>个顶点的无向图需要</a:t>
            </a:r>
            <a:r>
              <a:rPr lang="en-US" altLang="zh-CN" sz="1400" dirty="0" smtClean="0">
                <a:cs typeface="+mn-ea"/>
                <a:sym typeface="+mn-lt"/>
              </a:rPr>
              <a:t>n×(n+1)/2</a:t>
            </a:r>
            <a:r>
              <a:rPr lang="zh-CN" altLang="en-US" sz="1400" dirty="0" smtClean="0">
                <a:cs typeface="+mn-ea"/>
                <a:sym typeface="+mn-lt"/>
              </a:rPr>
              <a:t>的存储空间；</a:t>
            </a:r>
            <a:endParaRPr lang="en-US" altLang="zh-CN" sz="1400" dirty="0" smtClean="0">
              <a:cs typeface="+mn-ea"/>
              <a:sym typeface="+mn-lt"/>
            </a:endParaRPr>
          </a:p>
          <a:p>
            <a:pPr algn="ctr">
              <a:lnSpc>
                <a:spcPct val="120000"/>
              </a:lnSpc>
            </a:pPr>
            <a:r>
              <a:rPr lang="zh-CN" altLang="en-US" sz="1400" dirty="0" smtClean="0">
                <a:cs typeface="+mn-ea"/>
                <a:sym typeface="+mn-lt"/>
              </a:rPr>
              <a:t>有向图的邻接矩阵不一定对称，</a:t>
            </a:r>
            <a:r>
              <a:rPr lang="en-US" altLang="zh-CN" sz="1400" dirty="0" smtClean="0">
                <a:cs typeface="+mn-ea"/>
                <a:sym typeface="+mn-lt"/>
              </a:rPr>
              <a:t>n</a:t>
            </a:r>
            <a:r>
              <a:rPr lang="zh-CN" altLang="en-US" sz="1400" dirty="0" smtClean="0">
                <a:cs typeface="+mn-ea"/>
                <a:sym typeface="+mn-lt"/>
              </a:rPr>
              <a:t>个顶点的有向图需要</a:t>
            </a:r>
            <a:r>
              <a:rPr lang="en-US" altLang="zh-CN" sz="1400" dirty="0" smtClean="0">
                <a:cs typeface="+mn-ea"/>
                <a:sym typeface="+mn-lt"/>
              </a:rPr>
              <a:t>n×n</a:t>
            </a:r>
            <a:r>
              <a:rPr lang="zh-CN" altLang="en-US" sz="1400" dirty="0" smtClean="0">
                <a:cs typeface="+mn-ea"/>
                <a:sym typeface="+mn-lt"/>
              </a:rPr>
              <a:t>的存储空间。</a:t>
            </a:r>
            <a:endParaRPr lang="zh-CN" altLang="en-US" sz="1400" dirty="0">
              <a:cs typeface="+mn-ea"/>
              <a:sym typeface="+mn-lt"/>
            </a:endParaRPr>
          </a:p>
        </p:txBody>
      </p:sp>
    </p:spTree>
    <p:extLst>
      <p:ext uri="{BB962C8B-B14F-4D97-AF65-F5344CB8AC3E}">
        <p14:creationId xmlns:p14="http://schemas.microsoft.com/office/powerpoint/2010/main" val="71278511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1000"/>
                                        <p:tgtEl>
                                          <p:spTgt spid="29"/>
                                        </p:tgtEl>
                                      </p:cBhvr>
                                    </p:animEffect>
                                    <p:anim calcmode="lin" valueType="num">
                                      <p:cBhvr>
                                        <p:cTn id="36" dur="1000" fill="hold"/>
                                        <p:tgtEl>
                                          <p:spTgt spid="29"/>
                                        </p:tgtEl>
                                        <p:attrNameLst>
                                          <p:attrName>ppt_x</p:attrName>
                                        </p:attrNameLst>
                                      </p:cBhvr>
                                      <p:tavLst>
                                        <p:tav tm="0">
                                          <p:val>
                                            <p:strVal val="#ppt_x"/>
                                          </p:val>
                                        </p:tav>
                                        <p:tav tm="100000">
                                          <p:val>
                                            <p:strVal val="#ppt_x"/>
                                          </p:val>
                                        </p:tav>
                                      </p:tavLst>
                                    </p:anim>
                                    <p:anim calcmode="lin" valueType="num">
                                      <p:cBhvr>
                                        <p:cTn id="3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1000"/>
                                        <p:tgtEl>
                                          <p:spTgt spid="27"/>
                                        </p:tgtEl>
                                      </p:cBhvr>
                                    </p:animEffect>
                                    <p:anim calcmode="lin" valueType="num">
                                      <p:cBhvr>
                                        <p:cTn id="43" dur="1000" fill="hold"/>
                                        <p:tgtEl>
                                          <p:spTgt spid="27"/>
                                        </p:tgtEl>
                                        <p:attrNameLst>
                                          <p:attrName>ppt_x</p:attrName>
                                        </p:attrNameLst>
                                      </p:cBhvr>
                                      <p:tavLst>
                                        <p:tav tm="0">
                                          <p:val>
                                            <p:strVal val="#ppt_x"/>
                                          </p:val>
                                        </p:tav>
                                        <p:tav tm="100000">
                                          <p:val>
                                            <p:strVal val="#ppt_x"/>
                                          </p:val>
                                        </p:tav>
                                      </p:tavLst>
                                    </p:anim>
                                    <p:anim calcmode="lin" valueType="num">
                                      <p:cBhvr>
                                        <p:cTn id="4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1" grpId="0"/>
      <p:bldP spid="10" grpId="0"/>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243" y="1452736"/>
            <a:ext cx="6441986" cy="2111645"/>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7643497" y="3978452"/>
                <a:ext cx="3441071" cy="14073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𝐺</m:t>
                      </m:r>
                      <m:d>
                        <m:dPr>
                          <m:ctrlPr>
                            <a:rPr lang="en-US" altLang="zh-CN" b="0" i="1" smtClean="0">
                              <a:latin typeface="Cambria Math"/>
                            </a:rPr>
                          </m:ctrlPr>
                        </m:dPr>
                        <m:e>
                          <m:r>
                            <a:rPr lang="en-US" altLang="zh-CN" b="0" i="1" smtClean="0">
                              <a:latin typeface="Cambria Math"/>
                            </a:rPr>
                            <m:t>𝐶</m:t>
                          </m:r>
                        </m:e>
                      </m:d>
                      <m:r>
                        <a:rPr lang="en-US" altLang="zh-CN" b="0" i="1" smtClean="0">
                          <a:latin typeface="Cambria Math"/>
                        </a:rPr>
                        <m:t>=</m:t>
                      </m:r>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5</m:t>
                                      </m:r>
                                    </m:e>
                                  </m:mr>
                                  <m:mr>
                                    <m:e>
                                      <m:r>
                                        <a:rPr lang="en-US" altLang="zh-CN" b="0" i="1" smtClean="0">
                                          <a:latin typeface="Cambria Math"/>
                                        </a:rPr>
                                        <m:t>5</m:t>
                                      </m:r>
                                    </m:e>
                                    <m:e>
                                      <m:r>
                                        <a:rPr lang="en-US" altLang="zh-CN" b="0" i="1" smtClean="0">
                                          <a:latin typeface="Cambria Math"/>
                                        </a:rPr>
                                        <m:t>0</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8</m:t>
                                      </m:r>
                                    </m:e>
                                    <m:e>
                                      <m:r>
                                        <a:rPr lang="zh-CN" altLang="en-US" i="1">
                                          <a:latin typeface="Cambria Math"/>
                                        </a:rPr>
                                        <m:t>∞</m:t>
                                      </m:r>
                                    </m:e>
                                    <m:e>
                                      <m:r>
                                        <a:rPr lang="en-US" altLang="zh-CN" b="0" i="1" smtClean="0">
                                          <a:latin typeface="Cambria Math"/>
                                        </a:rPr>
                                        <m:t>3</m:t>
                                      </m:r>
                                    </m:e>
                                  </m:mr>
                                  <m:mr>
                                    <m:e>
                                      <m:r>
                                        <a:rPr lang="en-US" altLang="zh-CN" b="0" i="1" smtClean="0">
                                          <a:latin typeface="Cambria Math"/>
                                        </a:rPr>
                                        <m:t>2</m:t>
                                      </m:r>
                                    </m:e>
                                    <m:e>
                                      <m:r>
                                        <a:rPr lang="zh-CN" altLang="en-US" i="1">
                                          <a:latin typeface="Cambria Math"/>
                                        </a:rPr>
                                        <m:t>∞</m:t>
                                      </m:r>
                                    </m:e>
                                    <m:e>
                                      <m:r>
                                        <a:rPr lang="en-US" altLang="zh-CN" b="0" i="1" smtClean="0">
                                          <a:latin typeface="Cambria Math"/>
                                        </a:rPr>
                                        <m:t>6</m:t>
                                      </m:r>
                                    </m:e>
                                  </m:mr>
                                </m:m>
                              </m:e>
                            </m:m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8</m:t>
                                      </m:r>
                                    </m:e>
                                    <m:e>
                                      <m:r>
                                        <a:rPr lang="en-US" altLang="zh-CN" b="0" i="1" smtClean="0">
                                          <a:latin typeface="Cambria Math"/>
                                        </a:rPr>
                                        <m:t>2</m:t>
                                      </m:r>
                                    </m:e>
                                  </m:mr>
                                  <m:mr>
                                    <m:e>
                                      <m:r>
                                        <a:rPr lang="zh-CN" altLang="en-US" i="1">
                                          <a:latin typeface="Cambria Math"/>
                                        </a:rPr>
                                        <m:t>∞</m:t>
                                      </m:r>
                                    </m:e>
                                    <m:e>
                                      <m:r>
                                        <a:rPr lang="zh-CN" altLang="en-US" i="1">
                                          <a:latin typeface="Cambria Math"/>
                                        </a:rPr>
                                        <m:t>∞</m:t>
                                      </m:r>
                                    </m:e>
                                  </m:mr>
                                  <m:mr>
                                    <m:e>
                                      <m:r>
                                        <a:rPr lang="en-US" altLang="zh-CN" b="0" i="1" smtClean="0">
                                          <a:latin typeface="Cambria Math"/>
                                        </a:rPr>
                                        <m:t>3</m:t>
                                      </m:r>
                                    </m:e>
                                    <m:e>
                                      <m:r>
                                        <a:rPr lang="en-US" altLang="zh-CN" b="0" i="1" smtClean="0">
                                          <a:latin typeface="Cambria Math"/>
                                        </a:rPr>
                                        <m:t>6</m:t>
                                      </m:r>
                                    </m:e>
                                  </m:mr>
                                </m:m>
                              </m:e>
                              <m:e>
                                <m:m>
                                  <m:mPr>
                                    <m:mcs>
                                      <m:mc>
                                        <m:mcPr>
                                          <m:count m:val="3"/>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10</m:t>
                                      </m:r>
                                    </m:e>
                                    <m:e>
                                      <m:r>
                                        <a:rPr lang="en-US" altLang="zh-CN" b="0" i="1" smtClean="0">
                                          <a:latin typeface="Cambria Math"/>
                                        </a:rPr>
                                        <m:t>4</m:t>
                                      </m:r>
                                    </m:e>
                                  </m:mr>
                                  <m:mr>
                                    <m:e>
                                      <m:r>
                                        <a:rPr lang="en-US" altLang="zh-CN" b="0" i="1" smtClean="0">
                                          <a:latin typeface="Cambria Math"/>
                                        </a:rPr>
                                        <m:t>10</m:t>
                                      </m:r>
                                    </m:e>
                                    <m:e>
                                      <m:r>
                                        <a:rPr lang="en-US" altLang="zh-CN" b="0" i="1" smtClean="0">
                                          <a:latin typeface="Cambria Math"/>
                                        </a:rPr>
                                        <m:t>0</m:t>
                                      </m:r>
                                    </m:e>
                                    <m:e>
                                      <m:r>
                                        <a:rPr lang="en-US" altLang="zh-CN" b="0" i="1" smtClean="0">
                                          <a:latin typeface="Cambria Math"/>
                                        </a:rPr>
                                        <m:t>11</m:t>
                                      </m:r>
                                    </m:e>
                                  </m:mr>
                                  <m:mr>
                                    <m:e>
                                      <m:r>
                                        <a:rPr lang="en-US" altLang="zh-CN" b="0" i="1" smtClean="0">
                                          <a:latin typeface="Cambria Math"/>
                                        </a:rPr>
                                        <m:t>4</m:t>
                                      </m:r>
                                    </m:e>
                                    <m:e>
                                      <m:r>
                                        <a:rPr lang="en-US" altLang="zh-CN" b="0" i="1" smtClean="0">
                                          <a:latin typeface="Cambria Math"/>
                                        </a:rPr>
                                        <m:t>11</m:t>
                                      </m:r>
                                    </m:e>
                                    <m:e>
                                      <m:r>
                                        <a:rPr lang="en-US" altLang="zh-CN" b="0" i="1" smtClean="0">
                                          <a:latin typeface="Cambria Math"/>
                                        </a:rPr>
                                        <m:t>0</m:t>
                                      </m:r>
                                    </m:e>
                                  </m:mr>
                                </m:m>
                              </m:e>
                            </m:mr>
                          </m:m>
                        </m:e>
                      </m:d>
                    </m:oMath>
                  </m:oMathPara>
                </a14:m>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7643497" y="3978452"/>
                <a:ext cx="3441071" cy="1407373"/>
              </a:xfrm>
              <a:prstGeom prst="rect">
                <a:avLst/>
              </a:prstGeom>
              <a:blipFill rotWithShape="1">
                <a:blip r:embed="rId6"/>
                <a:stretch>
                  <a:fillRect/>
                </a:stretch>
              </a:blipFill>
            </p:spPr>
            <p:txBody>
              <a:bodyPr/>
              <a:lstStyle/>
              <a:p>
                <a:r>
                  <a:rPr lang="zh-CN" altLang="en-US">
                    <a:noFill/>
                  </a:rPr>
                  <a:t> </a:t>
                </a:r>
              </a:p>
            </p:txBody>
          </p:sp>
        </mc:Fallback>
      </mc:AlternateContent>
      <p:sp>
        <p:nvSpPr>
          <p:cNvPr id="24" name="矩形 23"/>
          <p:cNvSpPr/>
          <p:nvPr/>
        </p:nvSpPr>
        <p:spPr>
          <a:xfrm>
            <a:off x="7114229" y="2296192"/>
            <a:ext cx="4499608"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tx1">
                    <a:lumMod val="65000"/>
                    <a:lumOff val="35000"/>
                  </a:schemeClr>
                </a:solidFill>
                <a:cs typeface="+mn-ea"/>
                <a:sym typeface="+mn-lt"/>
              </a:rPr>
              <a:t>如左</a:t>
            </a:r>
            <a:r>
              <a:rPr lang="zh-CN" altLang="en-US" b="1" dirty="0" smtClean="0">
                <a:solidFill>
                  <a:schemeClr val="tx1">
                    <a:lumMod val="65000"/>
                    <a:lumOff val="35000"/>
                  </a:schemeClr>
                </a:solidFill>
                <a:cs typeface="+mn-ea"/>
                <a:sym typeface="+mn-lt"/>
              </a:rPr>
              <a:t>图，画出</a:t>
            </a:r>
            <a:r>
              <a:rPr lang="en-US" altLang="zh-CN" b="1" dirty="0" smtClean="0">
                <a:solidFill>
                  <a:schemeClr val="tx1">
                    <a:lumMod val="65000"/>
                    <a:lumOff val="35000"/>
                  </a:schemeClr>
                </a:solidFill>
                <a:cs typeface="+mn-ea"/>
                <a:sym typeface="+mn-lt"/>
              </a:rPr>
              <a:t>3</a:t>
            </a:r>
            <a:r>
              <a:rPr lang="zh-CN" altLang="en-US" b="1" dirty="0" smtClean="0">
                <a:solidFill>
                  <a:schemeClr val="tx1">
                    <a:lumMod val="65000"/>
                    <a:lumOff val="35000"/>
                  </a:schemeClr>
                </a:solidFill>
                <a:cs typeface="+mn-ea"/>
                <a:sym typeface="+mn-lt"/>
              </a:rPr>
              <a:t>图各自对应的邻接矩阵。</a:t>
            </a:r>
            <a:endParaRPr lang="zh-CN" altLang="en-US" b="1" dirty="0">
              <a:solidFill>
                <a:schemeClr val="tx1">
                  <a:lumMod val="65000"/>
                  <a:lumOff val="35000"/>
                </a:schemeClr>
              </a:solidFill>
              <a:cs typeface="+mn-ea"/>
              <a:sym typeface="+mn-lt"/>
            </a:endParaRPr>
          </a:p>
        </p:txBody>
      </p:sp>
      <mc:AlternateContent xmlns:mc="http://schemas.openxmlformats.org/markup-compatibility/2006" xmlns:a14="http://schemas.microsoft.com/office/drawing/2010/main">
        <mc:Choice Requires="a14">
          <p:sp>
            <p:nvSpPr>
              <p:cNvPr id="30" name="TextBox 29"/>
              <p:cNvSpPr txBox="1"/>
              <p:nvPr/>
            </p:nvSpPr>
            <p:spPr>
              <a:xfrm>
                <a:off x="672243" y="4154142"/>
                <a:ext cx="2582607" cy="10559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𝐺</m:t>
                      </m:r>
                      <m:d>
                        <m:dPr>
                          <m:ctrlPr>
                            <a:rPr lang="en-US" altLang="zh-CN" b="0" i="1" smtClean="0">
                              <a:latin typeface="Cambria Math"/>
                            </a:rPr>
                          </m:ctrlPr>
                        </m:dPr>
                        <m:e>
                          <m:r>
                            <a:rPr lang="en-US" altLang="zh-CN" b="0" i="1" smtClean="0">
                              <a:latin typeface="Cambria Math"/>
                            </a:rPr>
                            <m:t>𝐴</m:t>
                          </m:r>
                        </m:e>
                      </m:d>
                      <m:r>
                        <a:rPr lang="en-US" altLang="zh-CN" b="0" i="1" smtClean="0">
                          <a:latin typeface="Cambria Math"/>
                        </a:rPr>
                        <m:t>=</m:t>
                      </m:r>
                      <m:d>
                        <m:dPr>
                          <m:ctrlPr>
                            <a:rPr lang="en-US" altLang="zh-CN" i="1" smtClean="0">
                              <a:latin typeface="Cambria Math"/>
                            </a:rPr>
                          </m:ctrlPr>
                        </m:dPr>
                        <m:e>
                          <m:m>
                            <m:mPr>
                              <m:mcs>
                                <m:mc>
                                  <m:mcPr>
                                    <m:count m:val="2"/>
                                    <m:mcJc m:val="center"/>
                                  </m:mcPr>
                                </m:mc>
                              </m:mcs>
                              <m:ctrlPr>
                                <a:rPr lang="en-US" altLang="zh-CN" i="1" smtClean="0">
                                  <a:latin typeface="Cambria Math"/>
                                </a:rPr>
                              </m:ctrlPr>
                            </m:mPr>
                            <m:mr>
                              <m:e>
                                <m:m>
                                  <m:mPr>
                                    <m:mcs>
                                      <m:mc>
                                        <m:mcPr>
                                          <m:count m:val="2"/>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m:t>
                                      </m:r>
                                    </m:e>
                                  </m:mr>
                                  <m:mr>
                                    <m:e>
                                      <m:r>
                                        <a:rPr lang="en-US" altLang="zh-CN" b="0" i="1" smtClean="0">
                                          <a:latin typeface="Cambria Math"/>
                                        </a:rPr>
                                        <m:t>1</m:t>
                                      </m:r>
                                    </m:e>
                                    <m:e>
                                      <m:r>
                                        <a:rPr lang="en-US" altLang="zh-CN" b="0" i="1" smtClean="0">
                                          <a:latin typeface="Cambria Math"/>
                                        </a:rPr>
                                        <m:t>0</m:t>
                                      </m:r>
                                    </m:e>
                                  </m:mr>
                                </m:m>
                              </m:e>
                              <m:e>
                                <m:m>
                                  <m:mPr>
                                    <m:mcs>
                                      <m:mc>
                                        <m:mcPr>
                                          <m:count m:val="2"/>
                                          <m:mcJc m:val="center"/>
                                        </m:mcPr>
                                      </m:mc>
                                    </m:mcs>
                                    <m:ctrlPr>
                                      <a:rPr lang="en-US" altLang="zh-CN" b="0" i="1" smtClean="0">
                                        <a:latin typeface="Cambria Math"/>
                                      </a:rPr>
                                    </m:ctrlPr>
                                  </m:mPr>
                                  <m:mr>
                                    <m:e>
                                      <m:r>
                                        <m:rPr>
                                          <m:brk m:alnAt="7"/>
                                        </m:rPr>
                                        <a:rPr lang="en-US" altLang="zh-CN" b="0" i="1" smtClean="0">
                                          <a:latin typeface="Cambria Math"/>
                                        </a:rPr>
                                        <m:t>1</m:t>
                                      </m:r>
                                    </m:e>
                                    <m:e>
                                      <m:r>
                                        <a:rPr lang="en-US" altLang="zh-CN" b="0" i="1" smtClean="0">
                                          <a:latin typeface="Cambria Math"/>
                                        </a:rPr>
                                        <m:t>1</m:t>
                                      </m:r>
                                    </m:e>
                                  </m:mr>
                                  <m:mr>
                                    <m:e>
                                      <m:r>
                                        <a:rPr lang="en-US" altLang="zh-CN" b="0" i="1" smtClean="0">
                                          <a:latin typeface="Cambria Math"/>
                                        </a:rPr>
                                        <m:t>1</m:t>
                                      </m:r>
                                    </m:e>
                                    <m:e>
                                      <m:r>
                                        <a:rPr lang="en-US" altLang="zh-CN" b="0" i="1" smtClean="0">
                                          <a:latin typeface="Cambria Math"/>
                                        </a:rPr>
                                        <m:t>1</m:t>
                                      </m:r>
                                    </m:e>
                                  </m:mr>
                                </m:m>
                              </m:e>
                            </m:mr>
                            <m:mr>
                              <m:e>
                                <m:m>
                                  <m:mPr>
                                    <m:mcs>
                                      <m:mc>
                                        <m:mcPr>
                                          <m:count m:val="2"/>
                                          <m:mcJc m:val="center"/>
                                        </m:mcPr>
                                      </m:mc>
                                    </m:mcs>
                                    <m:ctrlPr>
                                      <a:rPr lang="en-US" altLang="zh-CN" b="0" i="1" smtClean="0">
                                        <a:latin typeface="Cambria Math"/>
                                      </a:rPr>
                                    </m:ctrlPr>
                                  </m:mPr>
                                  <m:mr>
                                    <m:e>
                                      <m:r>
                                        <m:rPr>
                                          <m:brk m:alnAt="7"/>
                                        </m:rPr>
                                        <a:rPr lang="en-US" altLang="zh-CN" b="0" i="1" smtClean="0">
                                          <a:latin typeface="Cambria Math"/>
                                        </a:rPr>
                                        <m:t>1</m:t>
                                      </m:r>
                                    </m:e>
                                    <m:e>
                                      <m:r>
                                        <a:rPr lang="en-US" altLang="zh-CN" b="0" i="1" smtClean="0">
                                          <a:latin typeface="Cambria Math"/>
                                        </a:rPr>
                                        <m:t>1</m:t>
                                      </m:r>
                                    </m:e>
                                  </m:mr>
                                  <m:mr>
                                    <m:e>
                                      <m:r>
                                        <a:rPr lang="en-US" altLang="zh-CN" b="0" i="1" smtClean="0">
                                          <a:latin typeface="Cambria Math"/>
                                        </a:rPr>
                                        <m:t>1</m:t>
                                      </m:r>
                                    </m:e>
                                    <m:e>
                                      <m:r>
                                        <a:rPr lang="en-US" altLang="zh-CN" b="0" i="1" smtClean="0">
                                          <a:latin typeface="Cambria Math"/>
                                        </a:rPr>
                                        <m:t>1</m:t>
                                      </m:r>
                                    </m:e>
                                  </m:mr>
                                </m:m>
                              </m:e>
                              <m:e>
                                <m:m>
                                  <m:mPr>
                                    <m:mcs>
                                      <m:mc>
                                        <m:mcPr>
                                          <m:count m:val="2"/>
                                          <m:mcJc m:val="center"/>
                                        </m:mcPr>
                                      </m:mc>
                                    </m:mcs>
                                    <m:ctrlPr>
                                      <a:rPr lang="en-US" altLang="zh-CN" b="0" i="1" smtClean="0">
                                        <a:latin typeface="Cambria Math"/>
                                      </a:rPr>
                                    </m:ctrlPr>
                                  </m:mPr>
                                  <m:mr>
                                    <m:e>
                                      <m:r>
                                        <m:rPr>
                                          <m:brk m:alnAt="7"/>
                                        </m:rPr>
                                        <a:rPr lang="en-US" altLang="zh-CN" b="0" i="1" smtClean="0">
                                          <a:latin typeface="Cambria Math"/>
                                        </a:rPr>
                                        <m:t>0</m:t>
                                      </m:r>
                                    </m:e>
                                    <m:e>
                                      <m:r>
                                        <a:rPr lang="en-US" altLang="zh-CN" b="0" i="1" smtClean="0">
                                          <a:latin typeface="Cambria Math"/>
                                        </a:rPr>
                                        <m:t>0</m:t>
                                      </m:r>
                                    </m:e>
                                  </m:mr>
                                  <m:mr>
                                    <m:e>
                                      <m:r>
                                        <a:rPr lang="en-US" altLang="zh-CN" b="0" i="1" smtClean="0">
                                          <a:latin typeface="Cambria Math"/>
                                        </a:rPr>
                                        <m:t>0</m:t>
                                      </m:r>
                                    </m:e>
                                    <m:e>
                                      <m:r>
                                        <a:rPr lang="en-US" altLang="zh-CN" b="0" i="1" smtClean="0">
                                          <a:latin typeface="Cambria Math"/>
                                        </a:rPr>
                                        <m:t>0</m:t>
                                      </m:r>
                                    </m:e>
                                  </m:mr>
                                </m:m>
                              </m:e>
                            </m:mr>
                          </m:m>
                        </m:e>
                      </m:d>
                    </m:oMath>
                  </m:oMathPara>
                </a14:m>
                <a:endParaRPr lang="zh-CN" alt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672243" y="4154142"/>
                <a:ext cx="2582607" cy="105599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379922" y="4258656"/>
                <a:ext cx="2582607" cy="8469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a:rPr>
                        <m:t>𝐺</m:t>
                      </m:r>
                      <m:d>
                        <m:dPr>
                          <m:ctrlPr>
                            <a:rPr lang="en-US" altLang="zh-CN" b="0" i="1" smtClean="0">
                              <a:latin typeface="Cambria Math"/>
                            </a:rPr>
                          </m:ctrlPr>
                        </m:dPr>
                        <m:e>
                          <m:r>
                            <a:rPr lang="en-US" altLang="zh-CN" b="0" i="1" smtClean="0">
                              <a:latin typeface="Cambria Math"/>
                            </a:rPr>
                            <m:t>𝐵</m:t>
                          </m:r>
                        </m:e>
                      </m:d>
                      <m:r>
                        <a:rPr lang="en-US" altLang="zh-CN" b="0" i="1" smtClean="0">
                          <a:latin typeface="Cambria Math"/>
                        </a:rPr>
                        <m:t>=</m:t>
                      </m:r>
                      <m:d>
                        <m:dPr>
                          <m:ctrlPr>
                            <a:rPr lang="en-US" altLang="zh-CN" i="1" smtClean="0">
                              <a:latin typeface="Cambria Math"/>
                            </a:rPr>
                          </m:ctrlPr>
                        </m:dPr>
                        <m:e>
                          <m:m>
                            <m:mPr>
                              <m:mcs>
                                <m:mc>
                                  <m:mcPr>
                                    <m:count m:val="3"/>
                                    <m:mcJc m:val="center"/>
                                  </m:mcPr>
                                </m:mc>
                              </m:mcs>
                              <m:ctrlPr>
                                <a:rPr lang="en-US" altLang="zh-CN" i="1" smtClean="0">
                                  <a:latin typeface="Cambria Math"/>
                                </a:rPr>
                              </m:ctrlPr>
                            </m:mPr>
                            <m:mr>
                              <m:e>
                                <m:r>
                                  <m:rPr>
                                    <m:brk m:alnAt="7"/>
                                  </m:rPr>
                                  <a:rPr lang="en-US" altLang="zh-CN" b="0" i="1" smtClean="0">
                                    <a:latin typeface="Cambria Math"/>
                                  </a:rPr>
                                  <m:t>0</m:t>
                                </m:r>
                              </m:e>
                              <m:e>
                                <m:r>
                                  <a:rPr lang="en-US" altLang="zh-CN" b="0" i="1" smtClean="0">
                                    <a:latin typeface="Cambria Math"/>
                                  </a:rPr>
                                  <m:t>1</m:t>
                                </m:r>
                              </m:e>
                              <m:e>
                                <m:r>
                                  <a:rPr lang="en-US" altLang="zh-CN" b="0" i="1" smtClean="0">
                                    <a:latin typeface="Cambria Math"/>
                                  </a:rPr>
                                  <m:t>1</m:t>
                                </m:r>
                              </m:e>
                            </m:mr>
                            <m:mr>
                              <m:e>
                                <m:r>
                                  <a:rPr lang="en-US" altLang="zh-CN" b="0" i="1" smtClean="0">
                                    <a:latin typeface="Cambria Math"/>
                                  </a:rPr>
                                  <m:t>0</m:t>
                                </m:r>
                              </m:e>
                              <m:e>
                                <m:r>
                                  <a:rPr lang="en-US" altLang="zh-CN" b="0" i="1" smtClean="0">
                                    <a:latin typeface="Cambria Math"/>
                                  </a:rPr>
                                  <m:t>0</m:t>
                                </m:r>
                              </m:e>
                              <m:e>
                                <m:r>
                                  <a:rPr lang="en-US" altLang="zh-CN" b="0" i="1" smtClean="0">
                                    <a:latin typeface="Cambria Math"/>
                                  </a:rPr>
                                  <m:t>1</m:t>
                                </m:r>
                              </m:e>
                            </m:mr>
                            <m:mr>
                              <m:e>
                                <m:r>
                                  <a:rPr lang="en-US" altLang="zh-CN" b="0" i="1" smtClean="0">
                                    <a:latin typeface="Cambria Math"/>
                                  </a:rPr>
                                  <m:t>0</m:t>
                                </m:r>
                              </m:e>
                              <m:e>
                                <m:r>
                                  <a:rPr lang="en-US" altLang="zh-CN" b="0" i="1" smtClean="0">
                                    <a:latin typeface="Cambria Math"/>
                                  </a:rPr>
                                  <m:t>1</m:t>
                                </m:r>
                              </m:e>
                              <m:e>
                                <m:r>
                                  <a:rPr lang="en-US" altLang="zh-CN" b="0" i="1" smtClean="0">
                                    <a:latin typeface="Cambria Math"/>
                                  </a:rPr>
                                  <m:t>0</m:t>
                                </m:r>
                              </m:e>
                            </m:mr>
                          </m:m>
                        </m:e>
                      </m:d>
                    </m:oMath>
                  </m:oMathPara>
                </a14:m>
                <a:endParaRPr lang="zh-CN" alt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4379922" y="4258656"/>
                <a:ext cx="2582607" cy="846963"/>
              </a:xfrm>
              <a:prstGeom prst="rect">
                <a:avLst/>
              </a:prstGeom>
              <a:blipFill rotWithShape="1">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68674610"/>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1000"/>
                                        <p:tgtEl>
                                          <p:spTgt spid="30"/>
                                        </p:tgtEl>
                                      </p:cBhvr>
                                    </p:animEffect>
                                    <p:anim calcmode="lin" valueType="num">
                                      <p:cBhvr>
                                        <p:cTn id="22" dur="1000" fill="hold"/>
                                        <p:tgtEl>
                                          <p:spTgt spid="30"/>
                                        </p:tgtEl>
                                        <p:attrNameLst>
                                          <p:attrName>ppt_x</p:attrName>
                                        </p:attrNameLst>
                                      </p:cBhvr>
                                      <p:tavLst>
                                        <p:tav tm="0">
                                          <p:val>
                                            <p:strVal val="#ppt_x"/>
                                          </p:val>
                                        </p:tav>
                                        <p:tav tm="100000">
                                          <p:val>
                                            <p:strVal val="#ppt_x"/>
                                          </p:val>
                                        </p:tav>
                                      </p:tavLst>
                                    </p:anim>
                                    <p:anim calcmode="lin" valueType="num">
                                      <p:cBhvr>
                                        <p:cTn id="23"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anim calcmode="lin" valueType="num">
                                      <p:cBhvr>
                                        <p:cTn id="29" dur="1000" fill="hold"/>
                                        <p:tgtEl>
                                          <p:spTgt spid="32"/>
                                        </p:tgtEl>
                                        <p:attrNameLst>
                                          <p:attrName>ppt_x</p:attrName>
                                        </p:attrNameLst>
                                      </p:cBhvr>
                                      <p:tavLst>
                                        <p:tav tm="0">
                                          <p:val>
                                            <p:strVal val="#ppt_x"/>
                                          </p:val>
                                        </p:tav>
                                        <p:tav tm="100000">
                                          <p:val>
                                            <p:strVal val="#ppt_x"/>
                                          </p:val>
                                        </p:tav>
                                      </p:tavLst>
                                    </p:anim>
                                    <p:anim calcmode="lin" valueType="num">
                                      <p:cBhvr>
                                        <p:cTn id="3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1" grpId="0"/>
      <p:bldP spid="24" grpId="0"/>
      <p:bldP spid="30"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780387" y="177223"/>
            <a:ext cx="2108269"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邻接矩阵</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参考程序</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9" name="矩形 18"/>
          <p:cNvSpPr/>
          <p:nvPr/>
        </p:nvSpPr>
        <p:spPr>
          <a:xfrm>
            <a:off x="706354" y="1221921"/>
            <a:ext cx="4964872" cy="4616648"/>
          </a:xfrm>
          <a:prstGeom prst="rect">
            <a:avLst/>
          </a:prstGeom>
        </p:spPr>
        <p:txBody>
          <a:bodyPr wrap="square">
            <a:spAutoFit/>
            <a:scene3d>
              <a:camera prst="orthographicFront"/>
              <a:lightRig rig="threePt" dir="t"/>
            </a:scene3d>
            <a:sp3d contourW="12700"/>
          </a:bodyPr>
          <a:lstStyle/>
          <a:p>
            <a:r>
              <a:rPr lang="zh-CN" altLang="en-US" sz="1400" dirty="0" smtClean="0">
                <a:cs typeface="+mn-ea"/>
              </a:rPr>
              <a:t>#</a:t>
            </a:r>
            <a:r>
              <a:rPr lang="zh-CN" altLang="en-US" sz="1400" dirty="0">
                <a:cs typeface="+mn-ea"/>
              </a:rPr>
              <a:t>include&lt;iostream&gt;</a:t>
            </a:r>
          </a:p>
          <a:p>
            <a:r>
              <a:rPr lang="zh-CN" altLang="en-US" sz="1400" dirty="0">
                <a:cs typeface="+mn-ea"/>
              </a:rPr>
              <a:t>using namespace std;</a:t>
            </a:r>
          </a:p>
          <a:p>
            <a:r>
              <a:rPr lang="zh-CN" altLang="en-US" sz="1400" dirty="0">
                <a:cs typeface="+mn-ea"/>
              </a:rPr>
              <a:t>int i,j,k,e,n;</a:t>
            </a:r>
          </a:p>
          <a:p>
            <a:r>
              <a:rPr lang="zh-CN" altLang="en-US" sz="1400" dirty="0">
                <a:cs typeface="+mn-ea"/>
              </a:rPr>
              <a:t>double g[101][101];</a:t>
            </a:r>
          </a:p>
          <a:p>
            <a:r>
              <a:rPr lang="zh-CN" altLang="en-US" sz="1400" dirty="0">
                <a:cs typeface="+mn-ea"/>
              </a:rPr>
              <a:t>double w;</a:t>
            </a:r>
          </a:p>
          <a:p>
            <a:r>
              <a:rPr lang="zh-CN" altLang="en-US" sz="1400" dirty="0">
                <a:cs typeface="+mn-ea"/>
              </a:rPr>
              <a:t>int main()</a:t>
            </a:r>
          </a:p>
          <a:p>
            <a:r>
              <a:rPr lang="zh-CN" altLang="en-US" sz="1400" dirty="0" smtClean="0">
                <a:cs typeface="+mn-ea"/>
              </a:rPr>
              <a:t>{</a:t>
            </a:r>
            <a:r>
              <a:rPr lang="en-US" altLang="zh-CN" sz="1400" dirty="0">
                <a:cs typeface="+mn-ea"/>
              </a:rPr>
              <a:t> </a:t>
            </a:r>
            <a:r>
              <a:rPr lang="en-US" altLang="zh-CN" sz="1400" dirty="0" smtClean="0">
                <a:cs typeface="+mn-ea"/>
              </a:rPr>
              <a:t>  </a:t>
            </a:r>
            <a:r>
              <a:rPr lang="zh-CN" altLang="en-US" sz="1400" dirty="0" smtClean="0">
                <a:cs typeface="+mn-ea"/>
              </a:rPr>
              <a:t>int </a:t>
            </a:r>
            <a:r>
              <a:rPr lang="zh-CN" altLang="en-US" sz="1400" dirty="0">
                <a:cs typeface="+mn-ea"/>
              </a:rPr>
              <a:t>i,j;</a:t>
            </a:r>
          </a:p>
          <a:p>
            <a:r>
              <a:rPr lang="zh-CN" altLang="en-US" sz="1400" dirty="0">
                <a:cs typeface="+mn-ea"/>
              </a:rPr>
              <a:t>    for (i = 1; i &lt;= n; i++)</a:t>
            </a:r>
          </a:p>
          <a:p>
            <a:r>
              <a:rPr lang="zh-CN" altLang="en-US" sz="1400" dirty="0">
                <a:cs typeface="+mn-ea"/>
              </a:rPr>
              <a:t>      for (j = 1; j &lt;= n; j++)</a:t>
            </a:r>
          </a:p>
          <a:p>
            <a:r>
              <a:rPr lang="zh-CN" altLang="en-US" sz="1400" dirty="0">
                <a:cs typeface="+mn-ea"/>
              </a:rPr>
              <a:t>        g[i][j] = 0x7</a:t>
            </a:r>
            <a:r>
              <a:rPr lang="zh-CN" altLang="en-US" sz="1400" dirty="0" smtClean="0">
                <a:cs typeface="+mn-ea"/>
              </a:rPr>
              <a:t>fffffff;  </a:t>
            </a:r>
            <a:endParaRPr lang="en-US" altLang="zh-CN" sz="1400" dirty="0" smtClean="0">
              <a:cs typeface="+mn-ea"/>
            </a:endParaRPr>
          </a:p>
          <a:p>
            <a:r>
              <a:rPr lang="en-US" altLang="zh-CN" sz="1400" dirty="0" smtClean="0">
                <a:solidFill>
                  <a:srgbClr val="3A69EE"/>
                </a:solidFill>
                <a:cs typeface="+mn-ea"/>
              </a:rPr>
              <a:t>       </a:t>
            </a:r>
            <a:r>
              <a:rPr lang="zh-CN" altLang="en-US" sz="1400" dirty="0" smtClean="0">
                <a:solidFill>
                  <a:srgbClr val="3A69EE"/>
                </a:solidFill>
                <a:cs typeface="+mn-ea"/>
              </a:rPr>
              <a:t>//</a:t>
            </a:r>
            <a:r>
              <a:rPr lang="zh-CN" altLang="en-US" sz="1400" dirty="0">
                <a:solidFill>
                  <a:srgbClr val="3A69EE"/>
                </a:solidFill>
                <a:cs typeface="+mn-ea"/>
              </a:rPr>
              <a:t>初始化，对于不带权的图g[i][j]=0，表示没有边连通</a:t>
            </a:r>
            <a:r>
              <a:rPr lang="zh-CN" altLang="en-US" sz="1400" dirty="0" smtClean="0">
                <a:solidFill>
                  <a:srgbClr val="3A69EE"/>
                </a:solidFill>
                <a:cs typeface="+mn-ea"/>
              </a:rPr>
              <a:t>。</a:t>
            </a:r>
            <a:endParaRPr lang="en-US" altLang="zh-CN" sz="1400" dirty="0" smtClean="0">
              <a:solidFill>
                <a:srgbClr val="3A69EE"/>
              </a:solidFill>
              <a:cs typeface="+mn-ea"/>
            </a:endParaRPr>
          </a:p>
          <a:p>
            <a:r>
              <a:rPr lang="en-US" altLang="zh-CN" sz="1400" dirty="0" smtClean="0">
                <a:solidFill>
                  <a:srgbClr val="3A69EE"/>
                </a:solidFill>
                <a:cs typeface="+mn-ea"/>
              </a:rPr>
              <a:t>       //</a:t>
            </a:r>
            <a:r>
              <a:rPr lang="zh-CN" altLang="en-US" sz="1400" dirty="0" smtClean="0">
                <a:solidFill>
                  <a:srgbClr val="3A69EE"/>
                </a:solidFill>
                <a:cs typeface="+mn-ea"/>
              </a:rPr>
              <a:t>这里</a:t>
            </a:r>
            <a:r>
              <a:rPr lang="zh-CN" altLang="en-US" sz="1400" dirty="0">
                <a:solidFill>
                  <a:srgbClr val="3A69EE"/>
                </a:solidFill>
                <a:cs typeface="+mn-ea"/>
              </a:rPr>
              <a:t>用0x7fffffff代替无穷大。</a:t>
            </a:r>
          </a:p>
          <a:p>
            <a:r>
              <a:rPr lang="zh-CN" altLang="en-US" sz="1400" dirty="0">
                <a:cs typeface="+mn-ea"/>
              </a:rPr>
              <a:t>    cin &gt;&gt; e;</a:t>
            </a:r>
          </a:p>
          <a:p>
            <a:r>
              <a:rPr lang="zh-CN" altLang="en-US" sz="1400" dirty="0">
                <a:cs typeface="+mn-ea"/>
              </a:rPr>
              <a:t>    for (k = 1; k &lt;= e; k++)</a:t>
            </a:r>
          </a:p>
          <a:p>
            <a:r>
              <a:rPr lang="zh-CN" altLang="en-US" sz="1400" dirty="0">
                <a:cs typeface="+mn-ea"/>
              </a:rPr>
              <a:t>    </a:t>
            </a:r>
            <a:r>
              <a:rPr lang="zh-CN" altLang="en-US" sz="1400" dirty="0" smtClean="0">
                <a:cs typeface="+mn-ea"/>
              </a:rPr>
              <a:t>{    cin </a:t>
            </a:r>
            <a:r>
              <a:rPr lang="zh-CN" altLang="en-US" sz="1400" dirty="0">
                <a:cs typeface="+mn-ea"/>
              </a:rPr>
              <a:t>&gt;&gt; i &gt;&gt; j &gt;&gt; w;             </a:t>
            </a:r>
            <a:r>
              <a:rPr lang="zh-CN" altLang="en-US" sz="1400" dirty="0">
                <a:solidFill>
                  <a:srgbClr val="3A69EE"/>
                </a:solidFill>
                <a:cs typeface="+mn-ea"/>
              </a:rPr>
              <a:t>//读入两个顶点序号及权值</a:t>
            </a:r>
          </a:p>
          <a:p>
            <a:r>
              <a:rPr lang="zh-CN" altLang="en-US" sz="1400" dirty="0">
                <a:cs typeface="+mn-ea"/>
              </a:rPr>
              <a:t>         g[i][j] = w; </a:t>
            </a:r>
            <a:r>
              <a:rPr lang="zh-CN" altLang="en-US" sz="1400" dirty="0" smtClean="0">
                <a:cs typeface="+mn-ea"/>
              </a:rPr>
              <a:t>    </a:t>
            </a:r>
            <a:r>
              <a:rPr lang="zh-CN" altLang="en-US" sz="1400" dirty="0" smtClean="0">
                <a:solidFill>
                  <a:srgbClr val="3A69EE"/>
                </a:solidFill>
                <a:cs typeface="+mn-ea"/>
              </a:rPr>
              <a:t>//</a:t>
            </a:r>
            <a:r>
              <a:rPr lang="zh-CN" altLang="en-US" sz="1400" dirty="0">
                <a:solidFill>
                  <a:srgbClr val="3A69EE"/>
                </a:solidFill>
                <a:cs typeface="+mn-ea"/>
              </a:rPr>
              <a:t>对于不带权的图g[i][j]=1</a:t>
            </a:r>
          </a:p>
          <a:p>
            <a:r>
              <a:rPr lang="zh-CN" altLang="en-US" sz="1400" dirty="0">
                <a:cs typeface="+mn-ea"/>
              </a:rPr>
              <a:t>         g[j][i] = </a:t>
            </a:r>
            <a:r>
              <a:rPr lang="zh-CN" altLang="en-US" sz="1400" dirty="0" smtClean="0">
                <a:cs typeface="+mn-ea"/>
              </a:rPr>
              <a:t>w</a:t>
            </a:r>
            <a:r>
              <a:rPr lang="zh-CN" altLang="en-US" sz="1400" dirty="0">
                <a:cs typeface="+mn-ea"/>
              </a:rPr>
              <a:t>; </a:t>
            </a:r>
            <a:r>
              <a:rPr lang="zh-CN" altLang="en-US" sz="1400" dirty="0" smtClean="0">
                <a:cs typeface="+mn-ea"/>
              </a:rPr>
              <a:t>    </a:t>
            </a:r>
            <a:r>
              <a:rPr lang="zh-CN" altLang="en-US" sz="1400" dirty="0" smtClean="0">
                <a:solidFill>
                  <a:srgbClr val="3A69EE"/>
                </a:solidFill>
                <a:cs typeface="+mn-ea"/>
              </a:rPr>
              <a:t>//无向图对称,</a:t>
            </a:r>
            <a:r>
              <a:rPr lang="zh-CN" altLang="en-US" sz="1400" dirty="0">
                <a:solidFill>
                  <a:srgbClr val="3A69EE"/>
                </a:solidFill>
                <a:cs typeface="+mn-ea"/>
              </a:rPr>
              <a:t>如果是有向图则不要有这句！</a:t>
            </a:r>
          </a:p>
          <a:p>
            <a:r>
              <a:rPr lang="zh-CN" altLang="en-US" sz="1400" dirty="0">
                <a:cs typeface="+mn-ea"/>
              </a:rPr>
              <a:t>    } </a:t>
            </a:r>
          </a:p>
          <a:p>
            <a:r>
              <a:rPr lang="zh-CN" altLang="en-US" sz="1400" dirty="0">
                <a:cs typeface="+mn-ea"/>
              </a:rPr>
              <a:t>    …………</a:t>
            </a:r>
          </a:p>
          <a:p>
            <a:r>
              <a:rPr lang="zh-CN" altLang="en-US" sz="1400" dirty="0">
                <a:cs typeface="+mn-ea"/>
              </a:rPr>
              <a:t>    return 0;</a:t>
            </a:r>
          </a:p>
          <a:p>
            <a:r>
              <a:rPr lang="zh-CN" altLang="en-US" sz="1400" dirty="0" smtClean="0">
                <a:cs typeface="+mn-ea"/>
              </a:rPr>
              <a:t>}</a:t>
            </a:r>
            <a:endParaRPr lang="zh-CN" altLang="en-US" sz="1400" dirty="0">
              <a:cs typeface="+mn-ea"/>
            </a:endParaRPr>
          </a:p>
        </p:txBody>
      </p:sp>
      <p:sp>
        <p:nvSpPr>
          <p:cNvPr id="20" name="矩形 19"/>
          <p:cNvSpPr/>
          <p:nvPr/>
        </p:nvSpPr>
        <p:spPr>
          <a:xfrm>
            <a:off x="6711191" y="2807624"/>
            <a:ext cx="4964872" cy="120032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cs typeface="+mn-ea"/>
                <a:sym typeface="+mn-lt"/>
              </a:rPr>
              <a:t>建立邻接矩阵时，要注意：</a:t>
            </a:r>
            <a:endParaRPr lang="en-US" altLang="zh-CN" b="1" dirty="0">
              <a:solidFill>
                <a:schemeClr val="tx1">
                  <a:lumMod val="65000"/>
                  <a:lumOff val="35000"/>
                </a:schemeClr>
              </a:solidFill>
              <a:cs typeface="+mn-ea"/>
              <a:sym typeface="+mn-lt"/>
            </a:endParaRPr>
          </a:p>
          <a:p>
            <a:pPr algn="just">
              <a:lnSpc>
                <a:spcPct val="120000"/>
              </a:lnSpc>
            </a:pPr>
            <a:r>
              <a:rPr lang="zh-CN" altLang="en-US" sz="1400" dirty="0" smtClean="0">
                <a:solidFill>
                  <a:schemeClr val="tx1">
                    <a:lumMod val="50000"/>
                    <a:lumOff val="50000"/>
                  </a:schemeClr>
                </a:solidFill>
                <a:cs typeface="+mn-ea"/>
                <a:sym typeface="+mn-lt"/>
              </a:rPr>
              <a:t>如果是</a:t>
            </a:r>
            <a:r>
              <a:rPr lang="en-US" altLang="zh-CN" sz="1400" dirty="0" smtClean="0">
                <a:solidFill>
                  <a:schemeClr val="tx1">
                    <a:lumMod val="50000"/>
                    <a:lumOff val="50000"/>
                  </a:schemeClr>
                </a:solidFill>
                <a:cs typeface="+mn-ea"/>
                <a:sym typeface="+mn-lt"/>
              </a:rPr>
              <a:t>int</a:t>
            </a:r>
            <a:r>
              <a:rPr lang="zh-CN" altLang="en-US" sz="1400" dirty="0" smtClean="0">
                <a:solidFill>
                  <a:schemeClr val="tx1">
                    <a:lumMod val="50000"/>
                    <a:lumOff val="50000"/>
                  </a:schemeClr>
                </a:solidFill>
                <a:cs typeface="+mn-ea"/>
                <a:sym typeface="+mn-lt"/>
              </a:rPr>
              <a:t>数组，可采用</a:t>
            </a:r>
            <a:r>
              <a:rPr lang="en-US" altLang="zh-CN" sz="1400" dirty="0" smtClean="0">
                <a:solidFill>
                  <a:schemeClr val="tx1">
                    <a:lumMod val="50000"/>
                    <a:lumOff val="50000"/>
                  </a:schemeClr>
                </a:solidFill>
                <a:cs typeface="+mn-ea"/>
                <a:sym typeface="+mn-lt"/>
              </a:rPr>
              <a:t>memset(g,0x7f,sizeof(g))</a:t>
            </a:r>
            <a:r>
              <a:rPr lang="zh-CN" altLang="en-US" sz="1400" dirty="0" smtClean="0">
                <a:solidFill>
                  <a:schemeClr val="tx1">
                    <a:lumMod val="50000"/>
                    <a:lumOff val="50000"/>
                  </a:schemeClr>
                </a:solidFill>
                <a:cs typeface="+mn-ea"/>
                <a:sym typeface="+mn-lt"/>
              </a:rPr>
              <a:t>全部初始化为一个很大的数</a:t>
            </a:r>
            <a:r>
              <a:rPr lang="en-US" altLang="zh-CN" sz="1400" dirty="0" smtClean="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略</a:t>
            </a:r>
            <a:r>
              <a:rPr lang="zh-CN" altLang="en-US" sz="1400" dirty="0" smtClean="0">
                <a:solidFill>
                  <a:schemeClr val="tx1">
                    <a:lumMod val="50000"/>
                    <a:lumOff val="50000"/>
                  </a:schemeClr>
                </a:solidFill>
                <a:cs typeface="+mn-ea"/>
                <a:sym typeface="+mn-lt"/>
              </a:rPr>
              <a:t>小于</a:t>
            </a:r>
            <a:r>
              <a:rPr lang="en-US" altLang="zh-CN" sz="1400" dirty="0" smtClean="0">
                <a:solidFill>
                  <a:schemeClr val="tx1">
                    <a:lumMod val="50000"/>
                    <a:lumOff val="50000"/>
                  </a:schemeClr>
                </a:solidFill>
                <a:cs typeface="+mn-ea"/>
                <a:sym typeface="+mn-lt"/>
              </a:rPr>
              <a:t>0x7fffffff)</a:t>
            </a:r>
            <a:r>
              <a:rPr lang="zh-CN" altLang="en-US" sz="1400" dirty="0" smtClean="0">
                <a:solidFill>
                  <a:schemeClr val="tx1">
                    <a:lumMod val="50000"/>
                    <a:lumOff val="50000"/>
                  </a:schemeClr>
                </a:solidFill>
                <a:cs typeface="+mn-ea"/>
                <a:sym typeface="+mn-lt"/>
              </a:rPr>
              <a:t>；</a:t>
            </a:r>
            <a:endParaRPr lang="en-US" altLang="zh-CN" sz="1400" dirty="0" smtClean="0">
              <a:solidFill>
                <a:schemeClr val="tx1">
                  <a:lumMod val="50000"/>
                  <a:lumOff val="50000"/>
                </a:schemeClr>
              </a:solidFill>
              <a:cs typeface="+mn-ea"/>
              <a:sym typeface="+mn-lt"/>
            </a:endParaRPr>
          </a:p>
          <a:p>
            <a:pPr algn="just">
              <a:lnSpc>
                <a:spcPct val="120000"/>
              </a:lnSpc>
            </a:pPr>
            <a:r>
              <a:rPr lang="zh-CN" altLang="en-US" sz="1400" dirty="0" smtClean="0">
                <a:solidFill>
                  <a:schemeClr val="tx1">
                    <a:lumMod val="50000"/>
                    <a:lumOff val="50000"/>
                  </a:schemeClr>
                </a:solidFill>
                <a:cs typeface="+mn-ea"/>
                <a:sym typeface="+mn-lt"/>
              </a:rPr>
              <a:t>采用</a:t>
            </a:r>
            <a:r>
              <a:rPr lang="en-US" altLang="zh-CN" sz="1400" dirty="0" smtClean="0">
                <a:solidFill>
                  <a:schemeClr val="tx1">
                    <a:lumMod val="50000"/>
                    <a:lumOff val="50000"/>
                  </a:schemeClr>
                </a:solidFill>
                <a:cs typeface="+mn-ea"/>
                <a:sym typeface="+mn-lt"/>
              </a:rPr>
              <a:t>memset(g,0,sizeof(g))</a:t>
            </a:r>
            <a:r>
              <a:rPr lang="zh-CN" altLang="en-US" sz="1400" dirty="0" smtClean="0">
                <a:solidFill>
                  <a:schemeClr val="tx1">
                    <a:lumMod val="50000"/>
                    <a:lumOff val="50000"/>
                  </a:schemeClr>
                </a:solidFill>
                <a:cs typeface="+mn-ea"/>
                <a:sym typeface="+mn-lt"/>
              </a:rPr>
              <a:t>则可全部清零</a:t>
            </a:r>
            <a:r>
              <a:rPr lang="zh-CN" altLang="en-US" sz="1400" dirty="0">
                <a:solidFill>
                  <a:schemeClr val="tx1">
                    <a:lumMod val="50000"/>
                    <a:lumOff val="50000"/>
                  </a:schemeClr>
                </a:solidFill>
                <a:cs typeface="+mn-ea"/>
                <a:sym typeface="+mn-lt"/>
              </a:rPr>
              <a:t>。</a:t>
            </a:r>
            <a:endParaRPr lang="en-US" altLang="zh-CN" sz="1400" dirty="0" smtClean="0">
              <a:solidFill>
                <a:schemeClr val="tx1">
                  <a:lumMod val="50000"/>
                  <a:lumOff val="50000"/>
                </a:schemeClr>
              </a:solidFill>
              <a:cs typeface="+mn-ea"/>
              <a:sym typeface="+mn-lt"/>
            </a:endParaRPr>
          </a:p>
        </p:txBody>
      </p:sp>
      <p:sp>
        <p:nvSpPr>
          <p:cNvPr id="21" name="矩形 20"/>
          <p:cNvSpPr/>
          <p:nvPr/>
        </p:nvSpPr>
        <p:spPr>
          <a:xfrm>
            <a:off x="6711191" y="4457392"/>
            <a:ext cx="4964872"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邻接矩阵通常适用于稠密图。</a:t>
            </a:r>
            <a:endParaRPr lang="zh-CN" altLang="en-US" sz="1400" dirty="0">
              <a:solidFill>
                <a:schemeClr val="tx1">
                  <a:lumMod val="50000"/>
                  <a:lumOff val="50000"/>
                </a:schemeClr>
              </a:solidFill>
              <a:cs typeface="+mn-ea"/>
              <a:sym typeface="+mn-lt"/>
            </a:endParaRPr>
          </a:p>
        </p:txBody>
      </p:sp>
      <p:cxnSp>
        <p:nvCxnSpPr>
          <p:cNvPr id="22" name="直接连接符 21"/>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6711191" y="1689936"/>
            <a:ext cx="4964872" cy="424732"/>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cs typeface="+mn-ea"/>
                <a:sym typeface="+mn-lt"/>
              </a:rPr>
              <a:t>如左</a:t>
            </a:r>
            <a:r>
              <a:rPr lang="zh-CN" altLang="en-US" b="1" dirty="0" smtClean="0">
                <a:solidFill>
                  <a:schemeClr val="tx1">
                    <a:lumMod val="65000"/>
                    <a:lumOff val="35000"/>
                  </a:schemeClr>
                </a:solidFill>
                <a:cs typeface="+mn-ea"/>
                <a:sym typeface="+mn-lt"/>
              </a:rPr>
              <a:t>图，是建立图的邻接矩阵的参考程序段。</a:t>
            </a:r>
            <a:endParaRPr lang="zh-CN" altLang="en-US" b="1" dirty="0">
              <a:solidFill>
                <a:schemeClr val="tx1">
                  <a:lumMod val="65000"/>
                  <a:lumOff val="35000"/>
                </a:schemeClr>
              </a:solidFill>
              <a:cs typeface="+mn-ea"/>
              <a:sym typeface="+mn-lt"/>
            </a:endParaRPr>
          </a:p>
        </p:txBody>
      </p:sp>
    </p:spTree>
    <p:extLst>
      <p:ext uri="{BB962C8B-B14F-4D97-AF65-F5344CB8AC3E}">
        <p14:creationId xmlns:p14="http://schemas.microsoft.com/office/powerpoint/2010/main" val="85135133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arn(inVertic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1000"/>
                                        <p:tgtEl>
                                          <p:spTgt spid="21"/>
                                        </p:tgtEl>
                                      </p:cBhvr>
                                    </p:animEffect>
                                    <p:anim calcmode="lin" valueType="num">
                                      <p:cBhvr>
                                        <p:cTn id="30" dur="1000" fill="hold"/>
                                        <p:tgtEl>
                                          <p:spTgt spid="21"/>
                                        </p:tgtEl>
                                        <p:attrNameLst>
                                          <p:attrName>ppt_x</p:attrName>
                                        </p:attrNameLst>
                                      </p:cBhvr>
                                      <p:tavLst>
                                        <p:tav tm="0">
                                          <p:val>
                                            <p:strVal val="#ppt_x"/>
                                          </p:val>
                                        </p:tav>
                                        <p:tav tm="100000">
                                          <p:val>
                                            <p:strVal val="#ppt_x"/>
                                          </p:val>
                                        </p:tav>
                                      </p:tavLst>
                                    </p:anim>
                                    <p:anim calcmode="lin" valueType="num">
                                      <p:cBhvr>
                                        <p:cTn id="3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9" grpId="0"/>
      <p:bldP spid="20" grpId="0"/>
      <p:bldP spid="21"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4" name="矩形 23"/>
          <p:cNvSpPr/>
          <p:nvPr/>
        </p:nvSpPr>
        <p:spPr>
          <a:xfrm>
            <a:off x="5789668" y="5484158"/>
            <a:ext cx="5044851"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如</a:t>
            </a:r>
            <a:r>
              <a:rPr lang="zh-CN" altLang="en-US" b="1" dirty="0">
                <a:solidFill>
                  <a:schemeClr val="tx1">
                    <a:lumMod val="65000"/>
                    <a:lumOff val="35000"/>
                  </a:schemeClr>
                </a:solidFill>
                <a:cs typeface="+mn-ea"/>
                <a:sym typeface="+mn-lt"/>
              </a:rPr>
              <a:t>题</a:t>
            </a:r>
            <a:r>
              <a:rPr lang="zh-CN" altLang="en-US" b="1" dirty="0" smtClean="0">
                <a:solidFill>
                  <a:schemeClr val="tx1">
                    <a:lumMod val="65000"/>
                    <a:lumOff val="35000"/>
                  </a:schemeClr>
                </a:solidFill>
                <a:cs typeface="+mn-ea"/>
                <a:sym typeface="+mn-lt"/>
              </a:rPr>
              <a:t>，编写合适的程序，评测在教师机上进行。</a:t>
            </a:r>
            <a:endParaRPr lang="zh-CN" altLang="en-US" b="1" dirty="0">
              <a:solidFill>
                <a:schemeClr val="tx1">
                  <a:lumMod val="65000"/>
                  <a:lumOff val="35000"/>
                </a:schemeClr>
              </a:solidFill>
              <a:cs typeface="+mn-ea"/>
              <a:sym typeface="+mn-lt"/>
            </a:endParaRPr>
          </a:p>
        </p:txBody>
      </p:sp>
      <p:sp>
        <p:nvSpPr>
          <p:cNvPr id="13" name="矩形 12"/>
          <p:cNvSpPr/>
          <p:nvPr/>
        </p:nvSpPr>
        <p:spPr>
          <a:xfrm>
            <a:off x="706354" y="1507685"/>
            <a:ext cx="4964872" cy="4401205"/>
          </a:xfrm>
          <a:prstGeom prst="rect">
            <a:avLst/>
          </a:prstGeom>
        </p:spPr>
        <p:txBody>
          <a:bodyPr wrap="square">
            <a:spAutoFit/>
            <a:scene3d>
              <a:camera prst="orthographicFront"/>
              <a:lightRig rig="threePt" dir="t"/>
            </a:scene3d>
            <a:sp3d contourW="12700"/>
          </a:bodyPr>
          <a:lstStyle/>
          <a:p>
            <a:pPr algn="ctr"/>
            <a:r>
              <a:rPr lang="zh-CN" altLang="zh-CN" sz="1400" b="1" dirty="0" smtClean="0"/>
              <a:t>建</a:t>
            </a:r>
            <a:r>
              <a:rPr lang="zh-CN" altLang="zh-CN" sz="1400" b="1" dirty="0"/>
              <a:t>图</a:t>
            </a:r>
            <a:r>
              <a:rPr lang="en-US" altLang="zh-CN" sz="1400" b="1" dirty="0"/>
              <a:t>-</a:t>
            </a:r>
            <a:r>
              <a:rPr lang="zh-CN" altLang="zh-CN" sz="1400" b="1" dirty="0"/>
              <a:t>邻接矩阵（</a:t>
            </a:r>
            <a:r>
              <a:rPr lang="en-US" altLang="zh-CN" sz="1400" dirty="0"/>
              <a:t>mkgmtx</a:t>
            </a:r>
            <a:r>
              <a:rPr lang="zh-CN" altLang="zh-CN" sz="1400" b="1" dirty="0"/>
              <a:t>）</a:t>
            </a:r>
            <a:endParaRPr lang="zh-CN" altLang="zh-CN" sz="1400" dirty="0"/>
          </a:p>
          <a:p>
            <a:r>
              <a:rPr lang="zh-CN" altLang="zh-CN" sz="1400" b="1" dirty="0"/>
              <a:t>【题目描述】</a:t>
            </a:r>
            <a:endParaRPr lang="zh-CN" altLang="zh-CN" sz="1400" dirty="0"/>
          </a:p>
          <a:p>
            <a:r>
              <a:rPr lang="en-US" altLang="zh-CN" sz="1400" dirty="0"/>
              <a:t> </a:t>
            </a:r>
            <a:r>
              <a:rPr lang="en-US" altLang="zh-CN" sz="1400" dirty="0" smtClean="0"/>
              <a:t>   </a:t>
            </a:r>
            <a:r>
              <a:rPr lang="zh-CN" altLang="zh-CN" sz="1400" dirty="0" smtClean="0"/>
              <a:t>根据</a:t>
            </a:r>
            <a:r>
              <a:rPr lang="zh-CN" altLang="zh-CN" sz="1400" dirty="0"/>
              <a:t>输入格式，读入一张带权有向图，并以邻接矩阵的方式存储。</a:t>
            </a:r>
          </a:p>
          <a:p>
            <a:r>
              <a:rPr lang="en-US" altLang="zh-CN" sz="1400" dirty="0" smtClean="0"/>
              <a:t>    </a:t>
            </a:r>
            <a:r>
              <a:rPr lang="zh-CN" altLang="zh-CN" sz="1400" dirty="0" smtClean="0"/>
              <a:t>遵照</a:t>
            </a:r>
            <a:r>
              <a:rPr lang="zh-CN" altLang="zh-CN" sz="1400" dirty="0"/>
              <a:t>输出格式，输出对这张带权有向图的描述。</a:t>
            </a:r>
          </a:p>
          <a:p>
            <a:r>
              <a:rPr lang="en-US" altLang="zh-CN" sz="1400" dirty="0"/>
              <a:t> </a:t>
            </a:r>
            <a:endParaRPr lang="zh-CN" altLang="zh-CN" sz="1400" dirty="0"/>
          </a:p>
          <a:p>
            <a:r>
              <a:rPr lang="zh-CN" altLang="zh-CN" sz="1400" b="1" dirty="0"/>
              <a:t>【输入格式】</a:t>
            </a:r>
            <a:endParaRPr lang="zh-CN" altLang="zh-CN" sz="1400" dirty="0"/>
          </a:p>
          <a:p>
            <a:r>
              <a:rPr lang="en-US" altLang="zh-CN" sz="1400" dirty="0" smtClean="0"/>
              <a:t>    </a:t>
            </a:r>
            <a:r>
              <a:rPr lang="zh-CN" altLang="zh-CN" sz="1400" dirty="0" smtClean="0"/>
              <a:t>输入</a:t>
            </a:r>
            <a:r>
              <a:rPr lang="zh-CN" altLang="zh-CN" sz="1400" dirty="0"/>
              <a:t>第一行包含两个整数</a:t>
            </a:r>
            <a:r>
              <a:rPr lang="en-US" altLang="zh-CN" sz="1400" dirty="0"/>
              <a:t>n,m</a:t>
            </a:r>
            <a:r>
              <a:rPr lang="zh-CN" altLang="zh-CN" sz="1400" dirty="0"/>
              <a:t>，表示有</a:t>
            </a:r>
            <a:r>
              <a:rPr lang="en-US" altLang="zh-CN" sz="1400" dirty="0"/>
              <a:t>n</a:t>
            </a:r>
            <a:r>
              <a:rPr lang="zh-CN" altLang="zh-CN" sz="1400" dirty="0"/>
              <a:t>个顶点，分别编号为</a:t>
            </a:r>
            <a:r>
              <a:rPr lang="en-US" altLang="zh-CN" sz="1400" dirty="0"/>
              <a:t>1~n</a:t>
            </a:r>
            <a:r>
              <a:rPr lang="zh-CN" altLang="zh-CN" sz="1400" dirty="0"/>
              <a:t>，有</a:t>
            </a:r>
            <a:r>
              <a:rPr lang="en-US" altLang="zh-CN" sz="1400" dirty="0"/>
              <a:t>m</a:t>
            </a:r>
            <a:r>
              <a:rPr lang="zh-CN" altLang="zh-CN" sz="1400" dirty="0"/>
              <a:t>条有向边； </a:t>
            </a:r>
          </a:p>
          <a:p>
            <a:r>
              <a:rPr lang="en-US" altLang="zh-CN" sz="1400" dirty="0" smtClean="0"/>
              <a:t>    </a:t>
            </a:r>
            <a:r>
              <a:rPr lang="zh-CN" altLang="zh-CN" sz="1400" dirty="0" smtClean="0"/>
              <a:t>以下</a:t>
            </a:r>
            <a:r>
              <a:rPr lang="en-US" altLang="zh-CN" sz="1400" dirty="0"/>
              <a:t>m</a:t>
            </a:r>
            <a:r>
              <a:rPr lang="zh-CN" altLang="zh-CN" sz="1400" dirty="0"/>
              <a:t>行每行三个正整数</a:t>
            </a:r>
            <a:r>
              <a:rPr lang="en-US" altLang="zh-CN" sz="1400" dirty="0"/>
              <a:t>x,y,t</a:t>
            </a:r>
            <a:r>
              <a:rPr lang="zh-CN" altLang="zh-CN" sz="1400" dirty="0"/>
              <a:t>，表示顶点</a:t>
            </a:r>
            <a:r>
              <a:rPr lang="en-US" altLang="zh-CN" sz="1400" dirty="0"/>
              <a:t>x</a:t>
            </a:r>
            <a:r>
              <a:rPr lang="zh-CN" altLang="zh-CN" sz="1400" dirty="0"/>
              <a:t>至顶点</a:t>
            </a:r>
            <a:r>
              <a:rPr lang="en-US" altLang="zh-CN" sz="1400" dirty="0"/>
              <a:t>y</a:t>
            </a:r>
            <a:r>
              <a:rPr lang="zh-CN" altLang="zh-CN" sz="1400" dirty="0"/>
              <a:t>存在一条有向边，权值为</a:t>
            </a:r>
            <a:r>
              <a:rPr lang="en-US" altLang="zh-CN" sz="1400" dirty="0"/>
              <a:t>t</a:t>
            </a:r>
            <a:r>
              <a:rPr lang="zh-CN" altLang="zh-CN" sz="1400" dirty="0"/>
              <a:t>。</a:t>
            </a:r>
          </a:p>
          <a:p>
            <a:r>
              <a:rPr lang="en-US" altLang="zh-CN" sz="1400" dirty="0" smtClean="0"/>
              <a:t>    </a:t>
            </a:r>
            <a:r>
              <a:rPr lang="zh-CN" altLang="zh-CN" sz="1400" dirty="0" smtClean="0"/>
              <a:t>输入</a:t>
            </a:r>
            <a:r>
              <a:rPr lang="zh-CN" altLang="zh-CN" sz="1400" dirty="0"/>
              <a:t>保证是简单图。</a:t>
            </a:r>
          </a:p>
          <a:p>
            <a:r>
              <a:rPr lang="en-US" altLang="zh-CN" sz="1400" dirty="0"/>
              <a:t> </a:t>
            </a:r>
            <a:endParaRPr lang="zh-CN" altLang="zh-CN" sz="1400" dirty="0"/>
          </a:p>
          <a:p>
            <a:r>
              <a:rPr lang="zh-CN" altLang="zh-CN" sz="1400" b="1" dirty="0"/>
              <a:t>【输出格式】</a:t>
            </a:r>
            <a:endParaRPr lang="zh-CN" altLang="zh-CN" sz="1400" dirty="0"/>
          </a:p>
          <a:p>
            <a:r>
              <a:rPr lang="en-US" altLang="zh-CN" sz="1400" dirty="0" smtClean="0"/>
              <a:t>    </a:t>
            </a:r>
            <a:r>
              <a:rPr lang="zh-CN" altLang="zh-CN" sz="1400" dirty="0" smtClean="0"/>
              <a:t>由</a:t>
            </a:r>
            <a:r>
              <a:rPr lang="zh-CN" altLang="zh-CN" sz="1400" dirty="0"/>
              <a:t>顶点</a:t>
            </a:r>
            <a:r>
              <a:rPr lang="en-US" altLang="zh-CN" sz="1400" dirty="0"/>
              <a:t>1</a:t>
            </a:r>
            <a:r>
              <a:rPr lang="zh-CN" altLang="zh-CN" sz="1400" dirty="0"/>
              <a:t>至顶点</a:t>
            </a:r>
            <a:r>
              <a:rPr lang="en-US" altLang="zh-CN" sz="1400" dirty="0"/>
              <a:t>n</a:t>
            </a:r>
            <a:r>
              <a:rPr lang="zh-CN" altLang="zh-CN" sz="1400" dirty="0"/>
              <a:t>，对于顶点</a:t>
            </a:r>
            <a:r>
              <a:rPr lang="en-US" altLang="zh-CN" sz="1400" dirty="0"/>
              <a:t>i</a:t>
            </a:r>
            <a:r>
              <a:rPr lang="zh-CN" altLang="zh-CN" sz="1400" dirty="0"/>
              <a:t>：输出一行“</a:t>
            </a:r>
            <a:r>
              <a:rPr lang="en-US" altLang="zh-CN" sz="1400" dirty="0"/>
              <a:t>i:</a:t>
            </a:r>
            <a:r>
              <a:rPr lang="zh-CN" altLang="zh-CN" sz="1400" dirty="0"/>
              <a:t>”表示顶点</a:t>
            </a:r>
            <a:r>
              <a:rPr lang="en-US" altLang="zh-CN" sz="1400" dirty="0"/>
              <a:t>i</a:t>
            </a:r>
            <a:r>
              <a:rPr lang="zh-CN" altLang="zh-CN" sz="1400" dirty="0"/>
              <a:t>；</a:t>
            </a:r>
          </a:p>
          <a:p>
            <a:r>
              <a:rPr lang="en-US" altLang="zh-CN" sz="1400" dirty="0" smtClean="0"/>
              <a:t>    </a:t>
            </a:r>
            <a:r>
              <a:rPr lang="zh-CN" altLang="zh-CN" sz="1400" dirty="0" smtClean="0"/>
              <a:t>接下来</a:t>
            </a:r>
            <a:r>
              <a:rPr lang="zh-CN" altLang="zh-CN" sz="1400" dirty="0"/>
              <a:t>每行输出一个点</a:t>
            </a:r>
            <a:r>
              <a:rPr lang="en-US" altLang="zh-CN" sz="1400" dirty="0"/>
              <a:t>i</a:t>
            </a:r>
            <a:r>
              <a:rPr lang="zh-CN" altLang="zh-CN" sz="1400" dirty="0"/>
              <a:t>至其余点的出度情况：</a:t>
            </a:r>
            <a:r>
              <a:rPr lang="en-US" altLang="zh-CN" sz="1400" dirty="0"/>
              <a:t>j t</a:t>
            </a:r>
            <a:r>
              <a:rPr lang="zh-CN" altLang="zh-CN" sz="1400" dirty="0"/>
              <a:t>，分别表示顶点</a:t>
            </a:r>
            <a:r>
              <a:rPr lang="en-US" altLang="zh-CN" sz="1400" dirty="0"/>
              <a:t>i</a:t>
            </a:r>
            <a:r>
              <a:rPr lang="zh-CN" altLang="zh-CN" sz="1400" dirty="0"/>
              <a:t>可通过有向边到达顶点</a:t>
            </a:r>
            <a:r>
              <a:rPr lang="en-US" altLang="zh-CN" sz="1400" dirty="0"/>
              <a:t>j</a:t>
            </a:r>
            <a:r>
              <a:rPr lang="zh-CN" altLang="zh-CN" sz="1400" dirty="0"/>
              <a:t>，且边的权值为</a:t>
            </a:r>
            <a:r>
              <a:rPr lang="en-US" altLang="zh-CN" sz="1400" dirty="0"/>
              <a:t>t</a:t>
            </a:r>
            <a:r>
              <a:rPr lang="zh-CN" altLang="zh-CN" sz="1400" dirty="0"/>
              <a:t>。</a:t>
            </a:r>
            <a:r>
              <a:rPr lang="en-US" altLang="zh-CN" sz="1400" dirty="0"/>
              <a:t>j</a:t>
            </a:r>
            <a:r>
              <a:rPr lang="zh-CN" altLang="zh-CN" sz="1400" dirty="0"/>
              <a:t>的顺序为从小到大。</a:t>
            </a:r>
          </a:p>
          <a:p>
            <a:r>
              <a:rPr lang="en-US" altLang="zh-CN" sz="1400" dirty="0" smtClean="0"/>
              <a:t>    </a:t>
            </a:r>
            <a:r>
              <a:rPr lang="zh-CN" altLang="zh-CN" sz="1400" dirty="0" smtClean="0"/>
              <a:t>若</a:t>
            </a:r>
            <a:r>
              <a:rPr lang="zh-CN" altLang="zh-CN" sz="1400" dirty="0"/>
              <a:t>顶点</a:t>
            </a:r>
            <a:r>
              <a:rPr lang="en-US" altLang="zh-CN" sz="1400" dirty="0"/>
              <a:t>i</a:t>
            </a:r>
            <a:r>
              <a:rPr lang="zh-CN" altLang="zh-CN" sz="1400" dirty="0"/>
              <a:t>没有出度，则没有输出。</a:t>
            </a:r>
          </a:p>
          <a:p>
            <a:r>
              <a:rPr lang="en-US" altLang="zh-CN" sz="1400" dirty="0"/>
              <a:t> </a:t>
            </a:r>
            <a:endParaRPr lang="zh-CN" altLang="zh-CN" sz="1400" dirty="0"/>
          </a:p>
        </p:txBody>
      </p:sp>
      <p:sp>
        <p:nvSpPr>
          <p:cNvPr id="14" name="矩形 13"/>
          <p:cNvSpPr/>
          <p:nvPr/>
        </p:nvSpPr>
        <p:spPr>
          <a:xfrm>
            <a:off x="6449177" y="824420"/>
            <a:ext cx="4964872" cy="4659737"/>
          </a:xfrm>
          <a:prstGeom prst="rect">
            <a:avLst/>
          </a:prstGeom>
        </p:spPr>
        <p:txBody>
          <a:bodyPr wrap="square">
            <a:spAutoFit/>
            <a:scene3d>
              <a:camera prst="orthographicFront"/>
              <a:lightRig rig="threePt" dir="t"/>
            </a:scene3d>
            <a:sp3d contourW="12700"/>
          </a:bodyPr>
          <a:lstStyle/>
          <a:p>
            <a:r>
              <a:rPr lang="zh-CN" altLang="zh-CN" sz="1400" b="1" dirty="0" smtClean="0"/>
              <a:t>【样例输入】</a:t>
            </a:r>
            <a:endParaRPr lang="zh-CN" altLang="zh-CN" sz="1400" dirty="0"/>
          </a:p>
          <a:p>
            <a:r>
              <a:rPr lang="en-US" altLang="zh-CN" sz="1400" dirty="0"/>
              <a:t>4 4</a:t>
            </a:r>
            <a:endParaRPr lang="zh-CN" altLang="zh-CN" sz="1400" dirty="0"/>
          </a:p>
          <a:p>
            <a:r>
              <a:rPr lang="en-US" altLang="zh-CN" sz="1400" dirty="0"/>
              <a:t>2 3 1</a:t>
            </a:r>
            <a:endParaRPr lang="zh-CN" altLang="zh-CN" sz="1400" dirty="0"/>
          </a:p>
          <a:p>
            <a:r>
              <a:rPr lang="en-US" altLang="zh-CN" sz="1400" dirty="0"/>
              <a:t>2 4 2</a:t>
            </a:r>
            <a:endParaRPr lang="zh-CN" altLang="zh-CN" sz="1400" dirty="0"/>
          </a:p>
          <a:p>
            <a:r>
              <a:rPr lang="en-US" altLang="zh-CN" sz="1400" dirty="0"/>
              <a:t>2 1 3</a:t>
            </a:r>
            <a:endParaRPr lang="zh-CN" altLang="zh-CN" sz="1400" dirty="0"/>
          </a:p>
          <a:p>
            <a:r>
              <a:rPr lang="en-US" altLang="zh-CN" sz="1400" dirty="0"/>
              <a:t>1 3 4</a:t>
            </a:r>
            <a:endParaRPr lang="zh-CN" altLang="zh-CN" sz="1400" dirty="0"/>
          </a:p>
          <a:p>
            <a:r>
              <a:rPr lang="zh-CN" altLang="zh-CN" sz="1400" dirty="0"/>
              <a:t> </a:t>
            </a:r>
          </a:p>
          <a:p>
            <a:r>
              <a:rPr lang="zh-CN" altLang="zh-CN" sz="1400" b="1" dirty="0"/>
              <a:t>【样例输出】</a:t>
            </a:r>
            <a:endParaRPr lang="zh-CN" altLang="zh-CN" sz="1400" dirty="0"/>
          </a:p>
          <a:p>
            <a:r>
              <a:rPr lang="en-US" altLang="zh-CN" sz="1400" dirty="0"/>
              <a:t>1:</a:t>
            </a:r>
            <a:endParaRPr lang="zh-CN" altLang="zh-CN" sz="1400" dirty="0"/>
          </a:p>
          <a:p>
            <a:r>
              <a:rPr lang="en-US" altLang="zh-CN" sz="1400" dirty="0"/>
              <a:t>3 4</a:t>
            </a:r>
            <a:endParaRPr lang="zh-CN" altLang="zh-CN" sz="1400" dirty="0"/>
          </a:p>
          <a:p>
            <a:r>
              <a:rPr lang="en-US" altLang="zh-CN" sz="1400" dirty="0"/>
              <a:t>2:</a:t>
            </a:r>
            <a:endParaRPr lang="zh-CN" altLang="zh-CN" sz="1400" dirty="0"/>
          </a:p>
          <a:p>
            <a:r>
              <a:rPr lang="en-US" altLang="zh-CN" sz="1400" dirty="0"/>
              <a:t>1 3</a:t>
            </a:r>
            <a:endParaRPr lang="zh-CN" altLang="zh-CN" sz="1400" dirty="0"/>
          </a:p>
          <a:p>
            <a:r>
              <a:rPr lang="en-US" altLang="zh-CN" sz="1400" dirty="0"/>
              <a:t>3 1</a:t>
            </a:r>
            <a:endParaRPr lang="zh-CN" altLang="zh-CN" sz="1400" dirty="0"/>
          </a:p>
          <a:p>
            <a:r>
              <a:rPr lang="en-US" altLang="zh-CN" sz="1400" dirty="0"/>
              <a:t>4 2</a:t>
            </a:r>
            <a:endParaRPr lang="zh-CN" altLang="zh-CN" sz="1400" dirty="0"/>
          </a:p>
          <a:p>
            <a:r>
              <a:rPr lang="en-US" altLang="zh-CN" sz="1400" dirty="0"/>
              <a:t>3:</a:t>
            </a:r>
            <a:endParaRPr lang="zh-CN" altLang="zh-CN" sz="1400" dirty="0"/>
          </a:p>
          <a:p>
            <a:r>
              <a:rPr lang="en-US" altLang="zh-CN" sz="1400" dirty="0"/>
              <a:t>4:</a:t>
            </a:r>
            <a:endParaRPr lang="zh-CN" altLang="zh-CN" sz="1400" dirty="0"/>
          </a:p>
          <a:p>
            <a:r>
              <a:rPr lang="en-US" altLang="zh-CN" sz="1400" dirty="0"/>
              <a:t> </a:t>
            </a:r>
            <a:endParaRPr lang="zh-CN" altLang="zh-CN" sz="1400" dirty="0"/>
          </a:p>
          <a:p>
            <a:r>
              <a:rPr lang="zh-CN" altLang="zh-CN" sz="1400" b="1" dirty="0"/>
              <a:t>【数据范围】</a:t>
            </a:r>
            <a:endParaRPr lang="zh-CN" altLang="zh-CN" sz="1400" dirty="0"/>
          </a:p>
          <a:p>
            <a:r>
              <a:rPr lang="en-US" altLang="zh-CN" sz="1400" dirty="0" smtClean="0"/>
              <a:t>    </a:t>
            </a:r>
            <a:r>
              <a:rPr lang="zh-CN" altLang="zh-CN" sz="1400" dirty="0" smtClean="0"/>
              <a:t>对于</a:t>
            </a:r>
            <a:r>
              <a:rPr lang="en-US" altLang="zh-CN" sz="1400" dirty="0"/>
              <a:t>100%</a:t>
            </a:r>
            <a:r>
              <a:rPr lang="zh-CN" altLang="zh-CN" sz="1400" dirty="0"/>
              <a:t>的数据，</a:t>
            </a:r>
            <a:r>
              <a:rPr lang="en-US" altLang="zh-CN" sz="1400" dirty="0"/>
              <a:t>n&lt;=100</a:t>
            </a:r>
            <a:r>
              <a:rPr lang="zh-CN" altLang="zh-CN" sz="1400" dirty="0"/>
              <a:t>，数据保证在</a:t>
            </a:r>
            <a:r>
              <a:rPr lang="en-US" altLang="zh-CN" sz="1400" dirty="0"/>
              <a:t>int</a:t>
            </a:r>
            <a:r>
              <a:rPr lang="zh-CN" altLang="zh-CN" sz="1400" dirty="0"/>
              <a:t>范围内。</a:t>
            </a:r>
          </a:p>
          <a:p>
            <a:r>
              <a:rPr lang="en-US" altLang="zh-CN" sz="1400" dirty="0"/>
              <a:t> </a:t>
            </a:r>
            <a:endParaRPr lang="zh-CN" altLang="zh-CN" sz="1400" dirty="0"/>
          </a:p>
          <a:p>
            <a:pPr algn="just">
              <a:lnSpc>
                <a:spcPct val="120000"/>
              </a:lnSpc>
            </a:pP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284804300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24" grpId="0"/>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28" name="图片 2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27" name="矩形 26"/>
          <p:cNvSpPr/>
          <p:nvPr/>
        </p:nvSpPr>
        <p:spPr>
          <a:xfrm>
            <a:off x="754771" y="1329337"/>
            <a:ext cx="10682458" cy="657809"/>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dirty="0" smtClean="0">
                <a:cs typeface="+mn-ea"/>
                <a:sym typeface="+mn-lt"/>
              </a:rPr>
              <a:t>	</a:t>
            </a:r>
            <a:r>
              <a:rPr lang="zh-CN" altLang="en-US" sz="1600" dirty="0" smtClean="0">
                <a:cs typeface="+mn-ea"/>
                <a:sym typeface="+mn-lt"/>
              </a:rPr>
              <a:t>当</a:t>
            </a:r>
            <a:r>
              <a:rPr lang="zh-CN" altLang="en-US" sz="1600" dirty="0">
                <a:cs typeface="+mn-ea"/>
                <a:sym typeface="+mn-lt"/>
              </a:rPr>
              <a:t>图的边数相对于顶点较少时，邻接矩阵这种结构对存储空间存在极大的浪费。</a:t>
            </a:r>
          </a:p>
          <a:p>
            <a:pPr algn="just">
              <a:lnSpc>
                <a:spcPct val="120000"/>
              </a:lnSpc>
            </a:pPr>
            <a:r>
              <a:rPr lang="en-US" altLang="zh-CN" sz="1600" dirty="0" smtClean="0">
                <a:cs typeface="+mn-ea"/>
                <a:sym typeface="+mn-lt"/>
              </a:rPr>
              <a:t>	</a:t>
            </a:r>
            <a:r>
              <a:rPr lang="zh-CN" altLang="en-US" sz="1600" dirty="0" smtClean="0">
                <a:cs typeface="+mn-ea"/>
                <a:sym typeface="+mn-lt"/>
              </a:rPr>
              <a:t>因此</a:t>
            </a:r>
            <a:r>
              <a:rPr lang="zh-CN" altLang="en-US" sz="1600" dirty="0">
                <a:cs typeface="+mn-ea"/>
                <a:sym typeface="+mn-lt"/>
              </a:rPr>
              <a:t>，我们考虑使用链表来动态分配空间，</a:t>
            </a:r>
            <a:r>
              <a:rPr lang="zh-CN" altLang="en-US" sz="1600" dirty="0" smtClean="0">
                <a:cs typeface="+mn-ea"/>
                <a:sym typeface="+mn-lt"/>
              </a:rPr>
              <a:t>避免数组使用一</a:t>
            </a:r>
            <a:r>
              <a:rPr lang="zh-CN" altLang="en-US" sz="1600" dirty="0">
                <a:cs typeface="+mn-ea"/>
                <a:sym typeface="+mn-lt"/>
              </a:rPr>
              <a:t>次分配而造成的空间浪费问题。</a:t>
            </a:r>
          </a:p>
        </p:txBody>
      </p:sp>
      <p:sp>
        <p:nvSpPr>
          <p:cNvPr id="30"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1" name="矩形 30"/>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32" name="直接连接符 31"/>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文本框 2919"/>
          <p:cNvSpPr txBox="1"/>
          <p:nvPr/>
        </p:nvSpPr>
        <p:spPr>
          <a:xfrm>
            <a:off x="10395938" y="177223"/>
            <a:ext cx="87716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邻接表</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grpSp>
        <p:nvGrpSpPr>
          <p:cNvPr id="5" name="组合 4"/>
          <p:cNvGrpSpPr/>
          <p:nvPr/>
        </p:nvGrpSpPr>
        <p:grpSpPr>
          <a:xfrm>
            <a:off x="754771" y="2322821"/>
            <a:ext cx="10848650" cy="2230223"/>
            <a:chOff x="754771" y="2217721"/>
            <a:chExt cx="10848650" cy="2230223"/>
          </a:xfrm>
        </p:grpSpPr>
        <p:sp>
          <p:nvSpPr>
            <p:cNvPr id="10" name="Rectangle 2"/>
            <p:cNvSpPr/>
            <p:nvPr/>
          </p:nvSpPr>
          <p:spPr>
            <a:xfrm>
              <a:off x="754771" y="2217721"/>
              <a:ext cx="10848650" cy="2230223"/>
            </a:xfrm>
            <a:prstGeom prst="rect">
              <a:avLst/>
            </a:prstGeom>
            <a:solidFill>
              <a:schemeClr val="accent3">
                <a:alpha val="67000"/>
              </a:schemeClr>
            </a:solidFill>
            <a:ln>
              <a:noFill/>
            </a:ln>
            <a:effectLst>
              <a:outerShdw blurRad="152400" dist="317500" dir="5400000" sx="90000" sy="-19000"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20" name="矩形 19"/>
            <p:cNvSpPr/>
            <p:nvPr/>
          </p:nvSpPr>
          <p:spPr>
            <a:xfrm>
              <a:off x="1173134" y="2266333"/>
              <a:ext cx="4498092" cy="216059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smtClean="0">
                  <a:cs typeface="+mn-ea"/>
                  <a:sym typeface="+mn-lt"/>
                </a:rPr>
                <a:t>    </a:t>
              </a:r>
              <a:r>
                <a:rPr lang="zh-CN" altLang="en-US" sz="1600" dirty="0">
                  <a:solidFill>
                    <a:schemeClr val="bg1"/>
                  </a:solidFill>
                  <a:cs typeface="+mn-ea"/>
                  <a:sym typeface="+mn-lt"/>
                </a:rPr>
                <a:t>图中顶点用一个一维数组存储；</a:t>
              </a:r>
            </a:p>
            <a:p>
              <a:pPr algn="just">
                <a:lnSpc>
                  <a:spcPct val="120000"/>
                </a:lnSpc>
              </a:pPr>
              <a:r>
                <a:rPr lang="zh-CN" altLang="en-US" sz="1600" dirty="0">
                  <a:solidFill>
                    <a:schemeClr val="bg1"/>
                  </a:solidFill>
                  <a:cs typeface="+mn-ea"/>
                  <a:sym typeface="+mn-lt"/>
                </a:rPr>
                <a:t>    同时为图中每个顶点</a:t>
              </a:r>
              <a:r>
                <a:rPr lang="en-US" altLang="zh-CN" sz="1600" dirty="0">
                  <a:solidFill>
                    <a:schemeClr val="bg1"/>
                  </a:solidFill>
                  <a:cs typeface="+mn-ea"/>
                  <a:sym typeface="+mn-lt"/>
                </a:rPr>
                <a:t>Vi</a:t>
              </a:r>
              <a:r>
                <a:rPr lang="zh-CN" altLang="en-US" sz="1600" dirty="0">
                  <a:solidFill>
                    <a:schemeClr val="bg1"/>
                  </a:solidFill>
                  <a:cs typeface="+mn-ea"/>
                  <a:sym typeface="+mn-lt"/>
                </a:rPr>
                <a:t>建立一张单链表，用单链表中的一个结点表示依附于顶点</a:t>
              </a:r>
              <a:r>
                <a:rPr lang="en-US" altLang="zh-CN" sz="1600" dirty="0">
                  <a:solidFill>
                    <a:schemeClr val="bg1"/>
                  </a:solidFill>
                  <a:cs typeface="+mn-ea"/>
                  <a:sym typeface="+mn-lt"/>
                </a:rPr>
                <a:t>Vi</a:t>
              </a:r>
              <a:r>
                <a:rPr lang="zh-CN" altLang="en-US" sz="1600" dirty="0">
                  <a:solidFill>
                    <a:schemeClr val="bg1"/>
                  </a:solidFill>
                  <a:cs typeface="+mn-ea"/>
                  <a:sym typeface="+mn-lt"/>
                </a:rPr>
                <a:t>的一条出边，称为边</a:t>
              </a:r>
              <a:r>
                <a:rPr lang="en-US" altLang="zh-CN" sz="1600" dirty="0">
                  <a:solidFill>
                    <a:schemeClr val="bg1"/>
                  </a:solidFill>
                  <a:cs typeface="+mn-ea"/>
                  <a:sym typeface="+mn-lt"/>
                </a:rPr>
                <a:t>(</a:t>
              </a:r>
              <a:r>
                <a:rPr lang="zh-CN" altLang="en-US" sz="1600" dirty="0">
                  <a:solidFill>
                    <a:schemeClr val="bg1"/>
                  </a:solidFill>
                  <a:cs typeface="+mn-ea"/>
                  <a:sym typeface="+mn-lt"/>
                </a:rPr>
                <a:t>或弧</a:t>
              </a:r>
              <a:r>
                <a:rPr lang="en-US" altLang="zh-CN" sz="1600" dirty="0">
                  <a:solidFill>
                    <a:schemeClr val="bg1"/>
                  </a:solidFill>
                  <a:cs typeface="+mn-ea"/>
                  <a:sym typeface="+mn-lt"/>
                </a:rPr>
                <a:t>)</a:t>
              </a:r>
              <a:r>
                <a:rPr lang="zh-CN" altLang="en-US" sz="1600" dirty="0">
                  <a:solidFill>
                    <a:schemeClr val="bg1"/>
                  </a:solidFill>
                  <a:cs typeface="+mn-ea"/>
                  <a:sym typeface="+mn-lt"/>
                </a:rPr>
                <a:t>结点；</a:t>
              </a:r>
            </a:p>
            <a:p>
              <a:pPr algn="just">
                <a:lnSpc>
                  <a:spcPct val="120000"/>
                </a:lnSpc>
              </a:pPr>
              <a:r>
                <a:rPr lang="zh-CN" altLang="en-US" sz="1600" dirty="0">
                  <a:solidFill>
                    <a:schemeClr val="bg1"/>
                  </a:solidFill>
                  <a:cs typeface="+mn-ea"/>
                  <a:sym typeface="+mn-lt"/>
                </a:rPr>
                <a:t>    每个顶点</a:t>
              </a:r>
              <a:r>
                <a:rPr lang="en-US" altLang="zh-CN" sz="1600" dirty="0">
                  <a:solidFill>
                    <a:schemeClr val="bg1"/>
                  </a:solidFill>
                  <a:cs typeface="+mn-ea"/>
                  <a:sym typeface="+mn-lt"/>
                </a:rPr>
                <a:t>Vi</a:t>
              </a:r>
              <a:r>
                <a:rPr lang="zh-CN" altLang="en-US" sz="1600" dirty="0">
                  <a:solidFill>
                    <a:schemeClr val="bg1"/>
                  </a:solidFill>
                  <a:cs typeface="+mn-ea"/>
                  <a:sym typeface="+mn-lt"/>
                </a:rPr>
                <a:t>的所有出边都能构成一张单链表，无向图称其为顶点</a:t>
              </a:r>
              <a:r>
                <a:rPr lang="en-US" altLang="zh-CN" sz="1600" dirty="0">
                  <a:solidFill>
                    <a:schemeClr val="bg1"/>
                  </a:solidFill>
                  <a:cs typeface="+mn-ea"/>
                  <a:sym typeface="+mn-lt"/>
                </a:rPr>
                <a:t>Vi</a:t>
              </a:r>
              <a:r>
                <a:rPr lang="zh-CN" altLang="en-US" sz="1600" dirty="0">
                  <a:solidFill>
                    <a:schemeClr val="bg1"/>
                  </a:solidFill>
                  <a:cs typeface="+mn-ea"/>
                  <a:sym typeface="+mn-lt"/>
                </a:rPr>
                <a:t>的边表，有向图则称其为顶点</a:t>
              </a:r>
              <a:r>
                <a:rPr lang="en-US" altLang="zh-CN" sz="1600" dirty="0">
                  <a:solidFill>
                    <a:schemeClr val="bg1"/>
                  </a:solidFill>
                  <a:cs typeface="+mn-ea"/>
                  <a:sym typeface="+mn-lt"/>
                </a:rPr>
                <a:t>Vi</a:t>
              </a:r>
              <a:r>
                <a:rPr lang="zh-CN" altLang="en-US" sz="1600" dirty="0">
                  <a:solidFill>
                    <a:schemeClr val="bg1"/>
                  </a:solidFill>
                  <a:cs typeface="+mn-ea"/>
                  <a:sym typeface="+mn-lt"/>
                </a:rPr>
                <a:t>的出边表</a:t>
              </a:r>
              <a:r>
                <a:rPr lang="zh-CN" altLang="en-US" sz="1600" dirty="0" smtClean="0">
                  <a:solidFill>
                    <a:schemeClr val="bg1"/>
                  </a:solidFill>
                  <a:cs typeface="+mn-ea"/>
                  <a:sym typeface="+mn-lt"/>
                </a:rPr>
                <a:t>；</a:t>
              </a:r>
              <a:endParaRPr lang="zh-CN" altLang="en-US" sz="1600" dirty="0">
                <a:solidFill>
                  <a:schemeClr val="bg1"/>
                </a:solidFill>
                <a:cs typeface="+mn-ea"/>
                <a:sym typeface="+mn-lt"/>
              </a:endParaRPr>
            </a:p>
          </p:txBody>
        </p:sp>
      </p:grpSp>
      <p:sp>
        <p:nvSpPr>
          <p:cNvPr id="21" name="矩形 20"/>
          <p:cNvSpPr/>
          <p:nvPr/>
        </p:nvSpPr>
        <p:spPr>
          <a:xfrm>
            <a:off x="754771" y="4874569"/>
            <a:ext cx="8756325" cy="362343"/>
          </a:xfrm>
          <a:prstGeom prst="rect">
            <a:avLst/>
          </a:prstGeom>
        </p:spPr>
        <p:txBody>
          <a:bodyPr wrap="square">
            <a:spAutoFit/>
            <a:scene3d>
              <a:camera prst="orthographicFront"/>
              <a:lightRig rig="threePt" dir="t"/>
            </a:scene3d>
            <a:sp3d contourW="12700"/>
          </a:bodyPr>
          <a:lstStyle/>
          <a:p>
            <a:pPr algn="just">
              <a:lnSpc>
                <a:spcPct val="120000"/>
              </a:lnSpc>
            </a:pPr>
            <a:r>
              <a:rPr lang="en-US" altLang="zh-CN" sz="1600" dirty="0" smtClean="0">
                <a:solidFill>
                  <a:srgbClr val="FF0000"/>
                </a:solidFill>
                <a:cs typeface="+mn-ea"/>
                <a:sym typeface="+mn-lt"/>
              </a:rPr>
              <a:t>	</a:t>
            </a:r>
            <a:r>
              <a:rPr lang="zh-CN" altLang="en-US" sz="1600" dirty="0" smtClean="0">
                <a:solidFill>
                  <a:srgbClr val="FF0000"/>
                </a:solidFill>
                <a:cs typeface="+mn-ea"/>
                <a:sym typeface="+mn-lt"/>
              </a:rPr>
              <a:t>图</a:t>
            </a:r>
            <a:r>
              <a:rPr lang="zh-CN" altLang="en-US" sz="1600" dirty="0">
                <a:solidFill>
                  <a:srgbClr val="FF0000"/>
                </a:solidFill>
                <a:cs typeface="+mn-ea"/>
                <a:sym typeface="+mn-lt"/>
              </a:rPr>
              <a:t>的邻接表表示不唯一。</a:t>
            </a:r>
          </a:p>
        </p:txBody>
      </p:sp>
      <p:grpSp>
        <p:nvGrpSpPr>
          <p:cNvPr id="6" name="组合 5"/>
          <p:cNvGrpSpPr/>
          <p:nvPr/>
        </p:nvGrpSpPr>
        <p:grpSpPr>
          <a:xfrm>
            <a:off x="6179096" y="2326106"/>
            <a:ext cx="5424324" cy="2226937"/>
            <a:chOff x="6179097" y="2326105"/>
            <a:chExt cx="5424324" cy="2226937"/>
          </a:xfrm>
          <a:effectLst/>
        </p:grpSpPr>
        <p:sp>
          <p:nvSpPr>
            <p:cNvPr id="23" name="Rectangle 2"/>
            <p:cNvSpPr/>
            <p:nvPr/>
          </p:nvSpPr>
          <p:spPr>
            <a:xfrm>
              <a:off x="6179097" y="2326105"/>
              <a:ext cx="5424324" cy="2226937"/>
            </a:xfrm>
            <a:prstGeom prst="rect">
              <a:avLst/>
            </a:prstGeom>
            <a:solidFill>
              <a:srgbClr val="3A69EE">
                <a:alpha val="67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22" name="矩形 21"/>
            <p:cNvSpPr/>
            <p:nvPr/>
          </p:nvSpPr>
          <p:spPr>
            <a:xfrm>
              <a:off x="6775009" y="2679625"/>
              <a:ext cx="4498092" cy="154420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600" dirty="0" smtClean="0">
                  <a:solidFill>
                    <a:schemeClr val="bg1"/>
                  </a:solidFill>
                  <a:cs typeface="+mn-ea"/>
                  <a:sym typeface="+mn-lt"/>
                </a:rPr>
                <a:t>此外</a:t>
              </a:r>
              <a:r>
                <a:rPr lang="zh-CN" altLang="en-US" sz="1600" dirty="0">
                  <a:solidFill>
                    <a:schemeClr val="bg1"/>
                  </a:solidFill>
                  <a:cs typeface="+mn-ea"/>
                  <a:sym typeface="+mn-lt"/>
                </a:rPr>
                <a:t>，对于顶点数组，每个数据元素还需要存储指向单链表中第一个边界点的指针，以便遍历查找该顶点的边信息；</a:t>
              </a:r>
            </a:p>
            <a:p>
              <a:pPr algn="just">
                <a:lnSpc>
                  <a:spcPct val="120000"/>
                </a:lnSpc>
              </a:pPr>
              <a:r>
                <a:rPr lang="zh-CN" altLang="en-US" sz="1600" dirty="0">
                  <a:solidFill>
                    <a:schemeClr val="bg1"/>
                  </a:solidFill>
                  <a:cs typeface="+mn-ea"/>
                  <a:sym typeface="+mn-lt"/>
                </a:rPr>
                <a:t>    我们把这种由顶点形成的数组和边结点构成的单链表相结合的存储方式称为邻接表</a:t>
              </a:r>
              <a:r>
                <a:rPr lang="zh-CN" altLang="en-US" sz="1600" dirty="0" smtClean="0">
                  <a:solidFill>
                    <a:schemeClr val="bg1"/>
                  </a:solidFill>
                  <a:cs typeface="+mn-ea"/>
                  <a:sym typeface="+mn-lt"/>
                </a:rPr>
                <a:t>。</a:t>
              </a:r>
              <a:endParaRPr lang="zh-CN" altLang="en-US" sz="1600" dirty="0">
                <a:solidFill>
                  <a:schemeClr val="bg1"/>
                </a:solidFill>
                <a:cs typeface="+mn-ea"/>
                <a:sym typeface="+mn-lt"/>
              </a:endParaRPr>
            </a:p>
          </p:txBody>
        </p:sp>
      </p:grpSp>
    </p:spTree>
    <p:extLst>
      <p:ext uri="{BB962C8B-B14F-4D97-AF65-F5344CB8AC3E}">
        <p14:creationId xmlns:p14="http://schemas.microsoft.com/office/powerpoint/2010/main" val="21046192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500"/>
                                        <p:tgtEl>
                                          <p:spTgt spid="27"/>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9" grpId="0"/>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6025777" y="4378181"/>
            <a:ext cx="5092667" cy="138499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smtClean="0">
                <a:cs typeface="+mn-ea"/>
                <a:sym typeface="+mn-lt"/>
              </a:rPr>
              <a:t>    对于顶点</a:t>
            </a:r>
            <a:r>
              <a:rPr lang="en-US" altLang="zh-CN" sz="1400" dirty="0">
                <a:cs typeface="+mn-ea"/>
                <a:sym typeface="+mn-lt"/>
              </a:rPr>
              <a:t>0</a:t>
            </a:r>
            <a:r>
              <a:rPr lang="zh-CN" altLang="en-US" sz="1400" dirty="0">
                <a:cs typeface="+mn-ea"/>
                <a:sym typeface="+mn-lt"/>
              </a:rPr>
              <a:t>，它的邻接顶点</a:t>
            </a:r>
            <a:r>
              <a:rPr lang="zh-CN" altLang="en-US" sz="1400" dirty="0" smtClean="0">
                <a:cs typeface="+mn-ea"/>
                <a:sym typeface="+mn-lt"/>
              </a:rPr>
              <a:t>有</a:t>
            </a:r>
            <a:r>
              <a:rPr lang="en-US" altLang="zh-CN" sz="1400" dirty="0" smtClean="0">
                <a:cs typeface="+mn-ea"/>
                <a:sym typeface="+mn-lt"/>
              </a:rPr>
              <a:t>4</a:t>
            </a:r>
            <a:r>
              <a:rPr lang="zh-CN" altLang="en-US" sz="1400" dirty="0">
                <a:cs typeface="+mn-ea"/>
                <a:sym typeface="+mn-lt"/>
              </a:rPr>
              <a:t>，形成的边有</a:t>
            </a:r>
            <a:r>
              <a:rPr lang="en-US" altLang="zh-CN" sz="1400" dirty="0" smtClean="0">
                <a:cs typeface="+mn-ea"/>
                <a:sym typeface="+mn-lt"/>
              </a:rPr>
              <a:t>(0,4)</a:t>
            </a:r>
            <a:r>
              <a:rPr lang="zh-CN" altLang="en-US" sz="1400" dirty="0" smtClean="0">
                <a:cs typeface="+mn-ea"/>
                <a:sym typeface="+mn-lt"/>
              </a:rPr>
              <a:t>，其边权为</a:t>
            </a:r>
            <a:r>
              <a:rPr lang="en-US" altLang="zh-CN" sz="1400" dirty="0" smtClean="0">
                <a:cs typeface="+mn-ea"/>
                <a:sym typeface="+mn-lt"/>
              </a:rPr>
              <a:t>6</a:t>
            </a:r>
            <a:r>
              <a:rPr lang="zh-CN" altLang="en-US" sz="1400" dirty="0" smtClean="0">
                <a:cs typeface="+mn-ea"/>
                <a:sym typeface="+mn-lt"/>
              </a:rPr>
              <a:t>，</a:t>
            </a:r>
            <a:r>
              <a:rPr lang="zh-CN" altLang="en-US" sz="1400" dirty="0">
                <a:cs typeface="+mn-ea"/>
                <a:sym typeface="+mn-lt"/>
              </a:rPr>
              <a:t>所以顶点</a:t>
            </a:r>
            <a:r>
              <a:rPr lang="en-US" altLang="zh-CN" sz="1400" dirty="0">
                <a:cs typeface="+mn-ea"/>
                <a:sym typeface="+mn-lt"/>
              </a:rPr>
              <a:t>0</a:t>
            </a:r>
            <a:r>
              <a:rPr lang="zh-CN" altLang="en-US" sz="1400" dirty="0">
                <a:cs typeface="+mn-ea"/>
                <a:sym typeface="+mn-lt"/>
              </a:rPr>
              <a:t>将其指出来了</a:t>
            </a:r>
            <a:r>
              <a:rPr lang="zh-CN" altLang="en-US" sz="1400" dirty="0" smtClean="0">
                <a:cs typeface="+mn-ea"/>
                <a:sym typeface="+mn-lt"/>
              </a:rPr>
              <a:t>；</a:t>
            </a:r>
            <a:endParaRPr lang="en-US" altLang="zh-CN" sz="1400" dirty="0" smtClean="0">
              <a:cs typeface="+mn-ea"/>
              <a:sym typeface="+mn-lt"/>
            </a:endParaRPr>
          </a:p>
          <a:p>
            <a:pPr>
              <a:lnSpc>
                <a:spcPct val="120000"/>
              </a:lnSpc>
            </a:pPr>
            <a:r>
              <a:rPr lang="en-US" altLang="zh-CN" sz="1400" dirty="0">
                <a:cs typeface="+mn-ea"/>
                <a:sym typeface="+mn-lt"/>
              </a:rPr>
              <a:t> </a:t>
            </a:r>
            <a:r>
              <a:rPr lang="en-US" altLang="zh-CN" sz="1400" dirty="0" smtClean="0">
                <a:cs typeface="+mn-ea"/>
                <a:sym typeface="+mn-lt"/>
              </a:rPr>
              <a:t>   </a:t>
            </a:r>
            <a:r>
              <a:rPr lang="zh-CN" altLang="en-US" sz="1400" dirty="0" smtClean="0">
                <a:cs typeface="+mn-ea"/>
                <a:sym typeface="+mn-lt"/>
              </a:rPr>
              <a:t>对于</a:t>
            </a:r>
            <a:r>
              <a:rPr lang="zh-CN" altLang="en-US" sz="1400" dirty="0">
                <a:cs typeface="+mn-ea"/>
                <a:sym typeface="+mn-lt"/>
              </a:rPr>
              <a:t>顶点</a:t>
            </a:r>
            <a:r>
              <a:rPr lang="en-US" altLang="zh-CN" sz="1400" dirty="0">
                <a:cs typeface="+mn-ea"/>
                <a:sym typeface="+mn-lt"/>
              </a:rPr>
              <a:t>1</a:t>
            </a:r>
            <a:r>
              <a:rPr lang="zh-CN" altLang="en-US" sz="1400" dirty="0">
                <a:cs typeface="+mn-ea"/>
                <a:sym typeface="+mn-lt"/>
              </a:rPr>
              <a:t>，它的邻接顶点有</a:t>
            </a:r>
            <a:r>
              <a:rPr lang="en-US" altLang="zh-CN" sz="1400" dirty="0" smtClean="0">
                <a:cs typeface="+mn-ea"/>
                <a:sym typeface="+mn-lt"/>
              </a:rPr>
              <a:t>0,2</a:t>
            </a:r>
            <a:r>
              <a:rPr lang="zh-CN" altLang="en-US" sz="1400" dirty="0" smtClean="0">
                <a:cs typeface="+mn-ea"/>
                <a:sym typeface="+mn-lt"/>
              </a:rPr>
              <a:t>，形成的边有</a:t>
            </a:r>
            <a:r>
              <a:rPr lang="en-US" altLang="zh-CN" sz="1400" dirty="0" smtClean="0">
                <a:cs typeface="+mn-ea"/>
                <a:sym typeface="+mn-lt"/>
              </a:rPr>
              <a:t>(1,0),(1,2)</a:t>
            </a:r>
            <a:r>
              <a:rPr lang="zh-CN" altLang="en-US" sz="1400" dirty="0" smtClean="0">
                <a:cs typeface="+mn-ea"/>
                <a:sym typeface="+mn-lt"/>
              </a:rPr>
              <a:t>，其边权分别为</a:t>
            </a:r>
            <a:r>
              <a:rPr lang="en-US" altLang="zh-CN" sz="1400" dirty="0" smtClean="0">
                <a:cs typeface="+mn-ea"/>
                <a:sym typeface="+mn-lt"/>
              </a:rPr>
              <a:t>9,3</a:t>
            </a:r>
            <a:r>
              <a:rPr lang="zh-CN" altLang="en-US" sz="1400" dirty="0" smtClean="0">
                <a:cs typeface="+mn-ea"/>
                <a:sym typeface="+mn-lt"/>
              </a:rPr>
              <a:t>，所以</a:t>
            </a:r>
            <a:r>
              <a:rPr lang="zh-CN" altLang="en-US" sz="1400" dirty="0">
                <a:cs typeface="+mn-ea"/>
                <a:sym typeface="+mn-lt"/>
              </a:rPr>
              <a:t>顶点</a:t>
            </a:r>
            <a:r>
              <a:rPr lang="en-US" altLang="zh-CN" sz="1400" dirty="0">
                <a:cs typeface="+mn-ea"/>
                <a:sym typeface="+mn-lt"/>
              </a:rPr>
              <a:t>1</a:t>
            </a:r>
            <a:r>
              <a:rPr lang="zh-CN" altLang="en-US" sz="1400" dirty="0">
                <a:cs typeface="+mn-ea"/>
                <a:sym typeface="+mn-lt"/>
              </a:rPr>
              <a:t>将其指出来了，以此类推</a:t>
            </a:r>
            <a:r>
              <a:rPr lang="zh-CN" altLang="en-US" sz="1400" dirty="0" smtClean="0">
                <a:cs typeface="+mn-ea"/>
                <a:sym typeface="+mn-lt"/>
              </a:rPr>
              <a:t>。</a:t>
            </a:r>
            <a:endParaRPr lang="en-US" altLang="zh-CN" sz="1400" dirty="0" smtClean="0">
              <a:cs typeface="+mn-ea"/>
              <a:sym typeface="+mn-lt"/>
            </a:endParaRPr>
          </a:p>
          <a:p>
            <a:pPr>
              <a:lnSpc>
                <a:spcPct val="120000"/>
              </a:lnSpc>
            </a:pPr>
            <a:r>
              <a:rPr lang="en-US" altLang="zh-CN" sz="1400" dirty="0" smtClean="0">
                <a:cs typeface="+mn-ea"/>
                <a:sym typeface="+mn-lt"/>
              </a:rPr>
              <a:t>    </a:t>
            </a:r>
            <a:r>
              <a:rPr lang="zh-CN" altLang="en-US" sz="1400" dirty="0" smtClean="0">
                <a:cs typeface="+mn-ea"/>
                <a:sym typeface="+mn-lt"/>
              </a:rPr>
              <a:t>对于某一顶点来说，</a:t>
            </a:r>
            <a:r>
              <a:rPr lang="zh-CN" altLang="en-US" sz="1400" dirty="0" smtClean="0">
                <a:solidFill>
                  <a:srgbClr val="FF0000"/>
                </a:solidFill>
                <a:cs typeface="+mn-ea"/>
                <a:sym typeface="+mn-lt"/>
              </a:rPr>
              <a:t>其边表中的边结点没有</a:t>
            </a:r>
            <a:r>
              <a:rPr lang="zh-CN" altLang="en-US" sz="1400" dirty="0">
                <a:solidFill>
                  <a:srgbClr val="FF0000"/>
                </a:solidFill>
                <a:cs typeface="+mn-ea"/>
                <a:sym typeface="+mn-lt"/>
              </a:rPr>
              <a:t>先后顺序之分</a:t>
            </a:r>
            <a:r>
              <a:rPr lang="zh-CN" altLang="en-US" sz="1400" dirty="0" smtClean="0">
                <a:cs typeface="+mn-ea"/>
                <a:sym typeface="+mn-lt"/>
              </a:rPr>
              <a:t>。</a:t>
            </a:r>
            <a:endParaRPr lang="zh-CN" altLang="en-US" sz="1400" dirty="0">
              <a:cs typeface="+mn-ea"/>
              <a:sym typeface="+mn-lt"/>
            </a:endParaRPr>
          </a:p>
        </p:txBody>
      </p:sp>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049690" y="177223"/>
            <a:ext cx="1569660"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带权值邻接</a:t>
            </a:r>
            <a:r>
              <a:rPr lang="zh-CN" altLang="en-US" dirty="0">
                <a:solidFill>
                  <a:schemeClr val="bg1"/>
                </a:solidFill>
                <a:effectLst>
                  <a:outerShdw blurRad="203200" dist="38100" dir="5400000" algn="t" rotWithShape="0">
                    <a:prstClr val="black">
                      <a:alpha val="83000"/>
                    </a:prstClr>
                  </a:outerShdw>
                </a:effectLst>
                <a:cs typeface="+mn-ea"/>
                <a:sym typeface="+mn-lt"/>
              </a:rPr>
              <a:t>表</a:t>
            </a:r>
          </a:p>
        </p:txBody>
      </p:sp>
      <p:grpSp>
        <p:nvGrpSpPr>
          <p:cNvPr id="6" name="组合 5"/>
          <p:cNvGrpSpPr/>
          <p:nvPr/>
        </p:nvGrpSpPr>
        <p:grpSpPr>
          <a:xfrm>
            <a:off x="1184022" y="1370022"/>
            <a:ext cx="2273869" cy="2457775"/>
            <a:chOff x="1565022" y="1370022"/>
            <a:chExt cx="2273869" cy="2457775"/>
          </a:xfrm>
        </p:grpSpPr>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5022" y="1370022"/>
              <a:ext cx="2273869" cy="2061641"/>
            </a:xfrm>
            <a:prstGeom prst="rect">
              <a:avLst/>
            </a:prstGeom>
          </p:spPr>
        </p:pic>
        <p:sp>
          <p:nvSpPr>
            <p:cNvPr id="42" name="矩形 41"/>
            <p:cNvSpPr/>
            <p:nvPr/>
          </p:nvSpPr>
          <p:spPr>
            <a:xfrm>
              <a:off x="1580970" y="3431663"/>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b="1" dirty="0" smtClean="0">
                  <a:solidFill>
                    <a:srgbClr val="000000">
                      <a:lumMod val="65000"/>
                      <a:lumOff val="35000"/>
                    </a:srgbClr>
                  </a:solidFill>
                  <a:cs typeface="+mn-ea"/>
                  <a:sym typeface="+mn-lt"/>
                </a:rPr>
                <a:t>带权有向图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grpSp>
      <p:grpSp>
        <p:nvGrpSpPr>
          <p:cNvPr id="5" name="组合 4"/>
          <p:cNvGrpSpPr/>
          <p:nvPr/>
        </p:nvGrpSpPr>
        <p:grpSpPr>
          <a:xfrm>
            <a:off x="4664765" y="1766920"/>
            <a:ext cx="6218035" cy="2032279"/>
            <a:chOff x="5221795" y="1766920"/>
            <a:chExt cx="6218035" cy="2032279"/>
          </a:xfrm>
        </p:grpSpPr>
        <p:sp>
          <p:nvSpPr>
            <p:cNvPr id="43" name="矩形 42"/>
            <p:cNvSpPr/>
            <p:nvPr/>
          </p:nvSpPr>
          <p:spPr>
            <a:xfrm>
              <a:off x="7209825" y="3403065"/>
              <a:ext cx="2241974"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图</a:t>
              </a:r>
              <a:r>
                <a:rPr kumimoji="0" lang="en-US" altLang="zh-CN" sz="1800" b="1" i="0" u="none" strike="noStrike" kern="1200" cap="none" spc="0" normalizeH="0" baseline="0" noProof="0" dirty="0" smtClean="0">
                  <a:ln>
                    <a:noFill/>
                  </a:ln>
                  <a:solidFill>
                    <a:srgbClr val="000000">
                      <a:lumMod val="65000"/>
                      <a:lumOff val="35000"/>
                    </a:srgbClr>
                  </a:solidFill>
                  <a:effectLst/>
                  <a:uLnTx/>
                  <a:uFillTx/>
                  <a:cs typeface="+mn-ea"/>
                  <a:sym typeface="+mn-lt"/>
                </a:rPr>
                <a:t>G</a:t>
              </a:r>
              <a:r>
                <a:rPr kumimoji="0" lang="zh-CN" altLang="en-US" sz="1800" b="1" i="0" u="none" strike="noStrike" kern="1200" cap="none" spc="0" normalizeH="0" baseline="0" noProof="0" dirty="0" smtClean="0">
                  <a:ln>
                    <a:noFill/>
                  </a:ln>
                  <a:solidFill>
                    <a:srgbClr val="000000">
                      <a:lumMod val="65000"/>
                      <a:lumOff val="35000"/>
                    </a:srgbClr>
                  </a:solidFill>
                  <a:effectLst/>
                  <a:uLnTx/>
                  <a:uFillTx/>
                  <a:cs typeface="+mn-ea"/>
                  <a:sym typeface="+mn-lt"/>
                </a:rPr>
                <a:t>的邻接表</a:t>
              </a:r>
              <a:endParaRPr kumimoji="0" lang="zh-CN" altLang="en-US" sz="1800" b="1" i="0" u="none" strike="noStrike" kern="1200" cap="none" spc="0" normalizeH="0" baseline="0" noProof="0" dirty="0">
                <a:ln>
                  <a:noFill/>
                </a:ln>
                <a:solidFill>
                  <a:srgbClr val="000000">
                    <a:lumMod val="65000"/>
                    <a:lumOff val="35000"/>
                  </a:srgbClr>
                </a:solidFill>
                <a:effectLst/>
                <a:uLnTx/>
                <a:uFillTx/>
                <a:cs typeface="+mn-ea"/>
                <a:sym typeface="+mn-lt"/>
              </a:endParaRPr>
            </a:p>
          </p:txBody>
        </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21795" y="1766920"/>
              <a:ext cx="6218035" cy="1665498"/>
            </a:xfrm>
            <a:prstGeom prst="rect">
              <a:avLst/>
            </a:prstGeom>
          </p:spPr>
        </p:pic>
      </p:grpSp>
      <p:sp>
        <p:nvSpPr>
          <p:cNvPr id="27" name="矩形 26"/>
          <p:cNvSpPr/>
          <p:nvPr/>
        </p:nvSpPr>
        <p:spPr>
          <a:xfrm>
            <a:off x="416167" y="4181627"/>
            <a:ext cx="5255060" cy="84561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smtClean="0">
                <a:cs typeface="+mn-ea"/>
                <a:sym typeface="+mn-lt"/>
              </a:rPr>
              <a:t>    从图中可以看出，顶点表的各个结点由</a:t>
            </a:r>
            <a:r>
              <a:rPr lang="en-US" altLang="zh-CN" sz="1400" dirty="0" smtClean="0">
                <a:solidFill>
                  <a:srgbClr val="FF0000"/>
                </a:solidFill>
                <a:cs typeface="+mn-ea"/>
                <a:sym typeface="+mn-lt"/>
              </a:rPr>
              <a:t>data</a:t>
            </a:r>
            <a:r>
              <a:rPr lang="zh-CN" altLang="en-US" sz="1400" dirty="0" smtClean="0">
                <a:cs typeface="+mn-ea"/>
                <a:sym typeface="+mn-lt"/>
              </a:rPr>
              <a:t>和</a:t>
            </a:r>
            <a:r>
              <a:rPr lang="en-US" altLang="zh-CN" sz="1400" dirty="0" smtClean="0">
                <a:solidFill>
                  <a:srgbClr val="FF0000"/>
                </a:solidFill>
                <a:cs typeface="+mn-ea"/>
                <a:sym typeface="+mn-lt"/>
              </a:rPr>
              <a:t>firstedge</a:t>
            </a:r>
            <a:r>
              <a:rPr lang="zh-CN" altLang="en-US" sz="1400" dirty="0" smtClean="0">
                <a:cs typeface="+mn-ea"/>
                <a:sym typeface="+mn-lt"/>
              </a:rPr>
              <a:t>两个域表示，</a:t>
            </a:r>
            <a:r>
              <a:rPr lang="en-US" altLang="zh-CN" sz="1400" dirty="0" smtClean="0">
                <a:solidFill>
                  <a:srgbClr val="FF0000"/>
                </a:solidFill>
                <a:cs typeface="+mn-ea"/>
                <a:sym typeface="+mn-lt"/>
              </a:rPr>
              <a:t>data</a:t>
            </a:r>
            <a:r>
              <a:rPr lang="zh-CN" altLang="en-US" sz="1400" dirty="0" smtClean="0">
                <a:cs typeface="+mn-ea"/>
                <a:sym typeface="+mn-lt"/>
              </a:rPr>
              <a:t>是数据域，存储顶点的信息，</a:t>
            </a:r>
            <a:r>
              <a:rPr lang="en-US" altLang="zh-CN" sz="1400" dirty="0" smtClean="0">
                <a:solidFill>
                  <a:srgbClr val="FF0000"/>
                </a:solidFill>
                <a:cs typeface="+mn-ea"/>
                <a:sym typeface="+mn-lt"/>
              </a:rPr>
              <a:t>firstedge</a:t>
            </a:r>
            <a:r>
              <a:rPr lang="zh-CN" altLang="en-US" sz="1400" dirty="0" smtClean="0">
                <a:cs typeface="+mn-ea"/>
                <a:sym typeface="+mn-lt"/>
              </a:rPr>
              <a:t>是指针域，指向边表的第一个边结点。</a:t>
            </a:r>
            <a:endParaRPr lang="en-US" altLang="zh-CN" sz="1400" dirty="0" smtClean="0">
              <a:cs typeface="+mn-ea"/>
              <a:sym typeface="+mn-lt"/>
            </a:endParaRPr>
          </a:p>
        </p:txBody>
      </p:sp>
      <p:sp>
        <p:nvSpPr>
          <p:cNvPr id="24" name="矩形 23"/>
          <p:cNvSpPr/>
          <p:nvPr/>
        </p:nvSpPr>
        <p:spPr>
          <a:xfrm>
            <a:off x="416166" y="5188788"/>
            <a:ext cx="5255060" cy="1104148"/>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smtClean="0">
                <a:cs typeface="+mn-ea"/>
                <a:sym typeface="+mn-lt"/>
              </a:rPr>
              <a:t>    边表结点由</a:t>
            </a:r>
            <a:r>
              <a:rPr lang="en-US" altLang="zh-CN" sz="1400" dirty="0" smtClean="0">
                <a:solidFill>
                  <a:srgbClr val="FF0000"/>
                </a:solidFill>
                <a:cs typeface="+mn-ea"/>
                <a:sym typeface="+mn-lt"/>
              </a:rPr>
              <a:t>adjvex</a:t>
            </a:r>
            <a:r>
              <a:rPr lang="zh-CN" altLang="en-US" sz="1400" dirty="0" smtClean="0">
                <a:cs typeface="+mn-ea"/>
                <a:sym typeface="+mn-lt"/>
              </a:rPr>
              <a:t>、</a:t>
            </a:r>
            <a:r>
              <a:rPr lang="en-US" altLang="zh-CN" sz="1400" dirty="0" smtClean="0">
                <a:solidFill>
                  <a:srgbClr val="FF0000"/>
                </a:solidFill>
                <a:cs typeface="+mn-ea"/>
                <a:sym typeface="+mn-lt"/>
              </a:rPr>
              <a:t>weight</a:t>
            </a:r>
            <a:r>
              <a:rPr lang="zh-CN" altLang="en-US" sz="1400" dirty="0" smtClean="0">
                <a:cs typeface="+mn-ea"/>
                <a:sym typeface="+mn-lt"/>
              </a:rPr>
              <a:t>、</a:t>
            </a:r>
            <a:r>
              <a:rPr lang="en-US" altLang="zh-CN" sz="1400" dirty="0" smtClean="0">
                <a:solidFill>
                  <a:srgbClr val="FF0000"/>
                </a:solidFill>
                <a:cs typeface="+mn-ea"/>
                <a:sym typeface="+mn-lt"/>
              </a:rPr>
              <a:t>next</a:t>
            </a:r>
            <a:r>
              <a:rPr lang="zh-CN" altLang="en-US" sz="1400" dirty="0" smtClean="0">
                <a:cs typeface="+mn-ea"/>
                <a:sym typeface="+mn-lt"/>
              </a:rPr>
              <a:t>三个域组成。</a:t>
            </a:r>
            <a:r>
              <a:rPr lang="en-US" altLang="zh-CN" sz="1400" dirty="0" smtClean="0">
                <a:solidFill>
                  <a:srgbClr val="FF0000"/>
                </a:solidFill>
                <a:cs typeface="+mn-ea"/>
                <a:sym typeface="+mn-lt"/>
              </a:rPr>
              <a:t>adjvex</a:t>
            </a:r>
            <a:r>
              <a:rPr lang="zh-CN" altLang="en-US" sz="1400" dirty="0" smtClean="0">
                <a:cs typeface="+mn-ea"/>
                <a:sym typeface="+mn-lt"/>
              </a:rPr>
              <a:t>是邻接点域，存储某顶点的邻接点在顶点表中的下标</a:t>
            </a:r>
            <a:r>
              <a:rPr lang="en-US" altLang="zh-CN" sz="1400" dirty="0" smtClean="0">
                <a:cs typeface="+mn-ea"/>
                <a:sym typeface="+mn-lt"/>
              </a:rPr>
              <a:t>/</a:t>
            </a:r>
            <a:r>
              <a:rPr lang="zh-CN" altLang="en-US" sz="1400" dirty="0" smtClean="0">
                <a:cs typeface="+mn-ea"/>
                <a:sym typeface="+mn-lt"/>
              </a:rPr>
              <a:t>编号；</a:t>
            </a:r>
            <a:r>
              <a:rPr lang="en-US" altLang="zh-CN" sz="1400" dirty="0" smtClean="0">
                <a:solidFill>
                  <a:srgbClr val="FF0000"/>
                </a:solidFill>
                <a:cs typeface="+mn-ea"/>
                <a:sym typeface="+mn-lt"/>
              </a:rPr>
              <a:t>weight</a:t>
            </a:r>
            <a:r>
              <a:rPr lang="zh-CN" altLang="en-US" sz="1400" dirty="0" smtClean="0">
                <a:cs typeface="+mn-ea"/>
                <a:sym typeface="+mn-lt"/>
              </a:rPr>
              <a:t>存储该边结点的权值信息；</a:t>
            </a:r>
            <a:r>
              <a:rPr lang="en-US" altLang="zh-CN" sz="1400" dirty="0" smtClean="0">
                <a:solidFill>
                  <a:srgbClr val="FF0000"/>
                </a:solidFill>
                <a:cs typeface="+mn-ea"/>
                <a:sym typeface="+mn-lt"/>
              </a:rPr>
              <a:t>next</a:t>
            </a:r>
            <a:r>
              <a:rPr lang="zh-CN" altLang="en-US" sz="1400" dirty="0" smtClean="0">
                <a:cs typeface="+mn-ea"/>
                <a:sym typeface="+mn-lt"/>
              </a:rPr>
              <a:t>则存储指向边表中下一个边结点的指针。</a:t>
            </a:r>
            <a:endParaRPr lang="en-US" altLang="zh-CN" sz="1400" dirty="0" smtClean="0">
              <a:cs typeface="+mn-ea"/>
              <a:sym typeface="+mn-lt"/>
            </a:endParaRPr>
          </a:p>
        </p:txBody>
      </p:sp>
    </p:spTree>
    <p:extLst>
      <p:ext uri="{BB962C8B-B14F-4D97-AF65-F5344CB8AC3E}">
        <p14:creationId xmlns:p14="http://schemas.microsoft.com/office/powerpoint/2010/main" val="1689547495"/>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1000"/>
                                        <p:tgtEl>
                                          <p:spTgt spid="24"/>
                                        </p:tgtEl>
                                      </p:cBhvr>
                                    </p:animEffect>
                                    <p:anim calcmode="lin" valueType="num">
                                      <p:cBhvr>
                                        <p:cTn id="29" dur="1000" fill="hold"/>
                                        <p:tgtEl>
                                          <p:spTgt spid="24"/>
                                        </p:tgtEl>
                                        <p:attrNameLst>
                                          <p:attrName>ppt_x</p:attrName>
                                        </p:attrNameLst>
                                      </p:cBhvr>
                                      <p:tavLst>
                                        <p:tav tm="0">
                                          <p:val>
                                            <p:strVal val="#ppt_x"/>
                                          </p:val>
                                        </p:tav>
                                        <p:tav tm="100000">
                                          <p:val>
                                            <p:strVal val="#ppt_x"/>
                                          </p:val>
                                        </p:tav>
                                      </p:tavLst>
                                    </p:anim>
                                    <p:anim calcmode="lin" valueType="num">
                                      <p:cBhvr>
                                        <p:cTn id="3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1000"/>
                                        <p:tgtEl>
                                          <p:spTgt spid="29"/>
                                        </p:tgtEl>
                                      </p:cBhvr>
                                    </p:animEffect>
                                    <p:anim calcmode="lin" valueType="num">
                                      <p:cBhvr>
                                        <p:cTn id="36" dur="1000" fill="hold"/>
                                        <p:tgtEl>
                                          <p:spTgt spid="29"/>
                                        </p:tgtEl>
                                        <p:attrNameLst>
                                          <p:attrName>ppt_x</p:attrName>
                                        </p:attrNameLst>
                                      </p:cBhvr>
                                      <p:tavLst>
                                        <p:tav tm="0">
                                          <p:val>
                                            <p:strVal val="#ppt_x"/>
                                          </p:val>
                                        </p:tav>
                                        <p:tav tm="100000">
                                          <p:val>
                                            <p:strVal val="#ppt_x"/>
                                          </p:val>
                                        </p:tav>
                                      </p:tavLst>
                                    </p:anim>
                                    <p:anim calcmode="lin" valueType="num">
                                      <p:cBhvr>
                                        <p:cTn id="3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1" grpId="0"/>
      <p:bldP spid="27" grpId="0"/>
      <p:bldP spid="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895803" y="177223"/>
            <a:ext cx="1877438"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邻接表</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参考程序</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19" name="矩形 18"/>
          <p:cNvSpPr/>
          <p:nvPr/>
        </p:nvSpPr>
        <p:spPr>
          <a:xfrm>
            <a:off x="706354" y="2405423"/>
            <a:ext cx="4964872" cy="3108543"/>
          </a:xfrm>
          <a:prstGeom prst="rect">
            <a:avLst/>
          </a:prstGeom>
        </p:spPr>
        <p:txBody>
          <a:bodyPr wrap="square">
            <a:spAutoFit/>
            <a:scene3d>
              <a:camera prst="orthographicFront"/>
              <a:lightRig rig="threePt" dir="t"/>
            </a:scene3d>
            <a:sp3d contourW="12700"/>
          </a:bodyPr>
          <a:lstStyle/>
          <a:p>
            <a:r>
              <a:rPr lang="en-US" altLang="zh-CN" sz="1400" dirty="0" smtClean="0">
                <a:cs typeface="+mn-ea"/>
              </a:rPr>
              <a:t>#</a:t>
            </a:r>
            <a:r>
              <a:rPr lang="en-US" altLang="zh-CN" sz="1400" dirty="0">
                <a:cs typeface="+mn-ea"/>
              </a:rPr>
              <a:t>include&lt;iostream&gt;</a:t>
            </a:r>
          </a:p>
          <a:p>
            <a:r>
              <a:rPr lang="en-US" altLang="zh-CN" sz="1400" dirty="0">
                <a:cs typeface="+mn-ea"/>
              </a:rPr>
              <a:t>using namespace std;</a:t>
            </a:r>
          </a:p>
          <a:p>
            <a:r>
              <a:rPr lang="en-US" altLang="zh-CN" sz="1400" dirty="0">
                <a:cs typeface="+mn-ea"/>
              </a:rPr>
              <a:t>const int maxn=1001,maxm=100001;</a:t>
            </a:r>
          </a:p>
          <a:p>
            <a:r>
              <a:rPr lang="en-US" altLang="zh-CN" sz="1400" dirty="0">
                <a:cs typeface="+mn-ea"/>
              </a:rPr>
              <a:t>int head[maxn],num_edge,n,m,u,v,w,i,j;</a:t>
            </a:r>
          </a:p>
          <a:p>
            <a:r>
              <a:rPr lang="en-US" altLang="zh-CN" sz="1400" dirty="0">
                <a:cs typeface="+mn-ea"/>
              </a:rPr>
              <a:t>int Next[maxm];                </a:t>
            </a:r>
            <a:r>
              <a:rPr lang="en-US" altLang="zh-CN" sz="1400" dirty="0">
                <a:solidFill>
                  <a:srgbClr val="3A69EE"/>
                </a:solidFill>
                <a:cs typeface="+mn-ea"/>
              </a:rPr>
              <a:t>//</a:t>
            </a:r>
            <a:r>
              <a:rPr lang="zh-CN" altLang="en-US" sz="1400" dirty="0">
                <a:solidFill>
                  <a:srgbClr val="3A69EE"/>
                </a:solidFill>
                <a:cs typeface="+mn-ea"/>
              </a:rPr>
              <a:t>下一条边的编号 </a:t>
            </a:r>
          </a:p>
          <a:p>
            <a:r>
              <a:rPr lang="en-US" altLang="zh-CN" sz="1400" dirty="0">
                <a:cs typeface="+mn-ea"/>
              </a:rPr>
              <a:t>int go[maxm];               </a:t>
            </a:r>
            <a:r>
              <a:rPr lang="en-US" altLang="zh-CN" sz="1400" dirty="0" smtClean="0">
                <a:cs typeface="+mn-ea"/>
              </a:rPr>
              <a:t>    </a:t>
            </a:r>
            <a:r>
              <a:rPr lang="en-US" altLang="zh-CN" sz="1400" dirty="0">
                <a:solidFill>
                  <a:srgbClr val="3A69EE"/>
                </a:solidFill>
                <a:cs typeface="+mn-ea"/>
              </a:rPr>
              <a:t>//</a:t>
            </a:r>
            <a:r>
              <a:rPr lang="zh-CN" altLang="en-US" sz="1400" dirty="0">
                <a:solidFill>
                  <a:srgbClr val="3A69EE"/>
                </a:solidFill>
                <a:cs typeface="+mn-ea"/>
              </a:rPr>
              <a:t>下一条边的编号</a:t>
            </a:r>
          </a:p>
          <a:p>
            <a:r>
              <a:rPr lang="en-US" altLang="zh-CN" sz="1400" dirty="0">
                <a:cs typeface="+mn-ea"/>
              </a:rPr>
              <a:t>int cost[maxm];                </a:t>
            </a:r>
            <a:r>
              <a:rPr lang="en-US" altLang="zh-CN" sz="1400" dirty="0">
                <a:solidFill>
                  <a:srgbClr val="3A69EE"/>
                </a:solidFill>
                <a:cs typeface="+mn-ea"/>
              </a:rPr>
              <a:t>//</a:t>
            </a:r>
            <a:r>
              <a:rPr lang="zh-CN" altLang="en-US" sz="1400" dirty="0">
                <a:solidFill>
                  <a:srgbClr val="3A69EE"/>
                </a:solidFill>
                <a:cs typeface="+mn-ea"/>
              </a:rPr>
              <a:t>这条边的长度 </a:t>
            </a:r>
          </a:p>
          <a:p>
            <a:r>
              <a:rPr lang="en-US" altLang="zh-CN" sz="1400" dirty="0">
                <a:cs typeface="+mn-ea"/>
              </a:rPr>
              <a:t>void add_edge(int u,int v,int </a:t>
            </a:r>
            <a:r>
              <a:rPr lang="en-US" altLang="zh-CN" sz="1400" dirty="0" smtClean="0">
                <a:cs typeface="+mn-ea"/>
              </a:rPr>
              <a:t>w)	</a:t>
            </a:r>
          </a:p>
          <a:p>
            <a:r>
              <a:rPr lang="en-US" altLang="zh-CN" sz="1400" dirty="0">
                <a:cs typeface="+mn-ea"/>
              </a:rPr>
              <a:t>	</a:t>
            </a:r>
            <a:r>
              <a:rPr lang="en-US" altLang="zh-CN" sz="1400" dirty="0">
                <a:solidFill>
                  <a:srgbClr val="3A69EE"/>
                </a:solidFill>
                <a:cs typeface="+mn-ea"/>
              </a:rPr>
              <a:t>//</a:t>
            </a:r>
            <a:r>
              <a:rPr lang="zh-CN" altLang="en-US" sz="1400" dirty="0">
                <a:solidFill>
                  <a:srgbClr val="3A69EE"/>
                </a:solidFill>
                <a:cs typeface="+mn-ea"/>
              </a:rPr>
              <a:t>加入一条从</a:t>
            </a:r>
            <a:r>
              <a:rPr lang="en-US" altLang="zh-CN" sz="1400" dirty="0">
                <a:solidFill>
                  <a:srgbClr val="3A69EE"/>
                </a:solidFill>
                <a:cs typeface="+mn-ea"/>
              </a:rPr>
              <a:t>u</a:t>
            </a:r>
            <a:r>
              <a:rPr lang="zh-CN" altLang="en-US" sz="1400" dirty="0">
                <a:solidFill>
                  <a:srgbClr val="3A69EE"/>
                </a:solidFill>
                <a:cs typeface="+mn-ea"/>
              </a:rPr>
              <a:t>到</a:t>
            </a:r>
            <a:r>
              <a:rPr lang="en-US" altLang="zh-CN" sz="1400" dirty="0">
                <a:solidFill>
                  <a:srgbClr val="3A69EE"/>
                </a:solidFill>
                <a:cs typeface="+mn-ea"/>
              </a:rPr>
              <a:t>v</a:t>
            </a:r>
            <a:r>
              <a:rPr lang="zh-CN" altLang="en-US" sz="1400" dirty="0">
                <a:solidFill>
                  <a:srgbClr val="3A69EE"/>
                </a:solidFill>
                <a:cs typeface="+mn-ea"/>
              </a:rPr>
              <a:t>距离</a:t>
            </a:r>
            <a:r>
              <a:rPr lang="en-US" altLang="zh-CN" sz="1400" dirty="0">
                <a:solidFill>
                  <a:srgbClr val="3A69EE"/>
                </a:solidFill>
                <a:cs typeface="+mn-ea"/>
              </a:rPr>
              <a:t>w</a:t>
            </a:r>
            <a:r>
              <a:rPr lang="zh-CN" altLang="en-US" sz="1400" dirty="0">
                <a:solidFill>
                  <a:srgbClr val="3A69EE"/>
                </a:solidFill>
                <a:cs typeface="+mn-ea"/>
              </a:rPr>
              <a:t>的单向边 </a:t>
            </a:r>
          </a:p>
          <a:p>
            <a:r>
              <a:rPr lang="en-US" altLang="zh-CN" sz="1400" dirty="0">
                <a:cs typeface="+mn-ea"/>
              </a:rPr>
              <a:t>{	Next[++num_edge]=head[u];</a:t>
            </a:r>
          </a:p>
          <a:p>
            <a:r>
              <a:rPr lang="en-US" altLang="zh-CN" sz="1400" dirty="0">
                <a:cs typeface="+mn-ea"/>
              </a:rPr>
              <a:t>	go[num_edge]=v;</a:t>
            </a:r>
          </a:p>
          <a:p>
            <a:r>
              <a:rPr lang="en-US" altLang="zh-CN" sz="1400" dirty="0">
                <a:cs typeface="+mn-ea"/>
              </a:rPr>
              <a:t>	cost[num_edge]=w;</a:t>
            </a:r>
          </a:p>
          <a:p>
            <a:r>
              <a:rPr lang="en-US" altLang="zh-CN" sz="1400" dirty="0">
                <a:cs typeface="+mn-ea"/>
              </a:rPr>
              <a:t>	head[u]=num_edge;</a:t>
            </a:r>
          </a:p>
          <a:p>
            <a:r>
              <a:rPr lang="en-US" altLang="zh-CN" sz="1400" dirty="0" smtClean="0">
                <a:cs typeface="+mn-ea"/>
              </a:rPr>
              <a:t>}</a:t>
            </a:r>
            <a:endParaRPr lang="en-US" altLang="zh-CN" sz="1400" dirty="0">
              <a:cs typeface="+mn-ea"/>
            </a:endParaRPr>
          </a:p>
        </p:txBody>
      </p:sp>
      <p:sp>
        <p:nvSpPr>
          <p:cNvPr id="20" name="矩形 19"/>
          <p:cNvSpPr/>
          <p:nvPr/>
        </p:nvSpPr>
        <p:spPr>
          <a:xfrm>
            <a:off x="6711191" y="4317940"/>
            <a:ext cx="4964872" cy="58708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    在</a:t>
            </a:r>
            <a:r>
              <a:rPr lang="zh-CN" altLang="en-US" sz="1400" dirty="0">
                <a:solidFill>
                  <a:schemeClr val="tx1">
                    <a:lumMod val="50000"/>
                    <a:lumOff val="50000"/>
                  </a:schemeClr>
                </a:solidFill>
                <a:cs typeface="+mn-ea"/>
                <a:sym typeface="+mn-lt"/>
              </a:rPr>
              <a:t>邻接表的边表中，各个边结点的链入顺序任意，视边结点输入次序而定</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不唯一</a:t>
            </a:r>
            <a:r>
              <a:rPr lang="en-US" altLang="zh-CN" sz="1400" dirty="0">
                <a:solidFill>
                  <a:schemeClr val="tx1">
                    <a:lumMod val="50000"/>
                    <a:lumOff val="50000"/>
                  </a:schemeClr>
                </a:solidFill>
                <a:cs typeface="+mn-ea"/>
                <a:sym typeface="+mn-lt"/>
              </a:rPr>
              <a:t>)</a:t>
            </a:r>
            <a:r>
              <a:rPr lang="zh-CN" altLang="en-US" sz="1400" dirty="0" smtClean="0">
                <a:solidFill>
                  <a:schemeClr val="tx1">
                    <a:lumMod val="50000"/>
                    <a:lumOff val="50000"/>
                  </a:schemeClr>
                </a:solidFill>
                <a:cs typeface="+mn-ea"/>
                <a:sym typeface="+mn-lt"/>
              </a:rPr>
              <a:t>。</a:t>
            </a:r>
            <a:endParaRPr lang="zh-CN" altLang="en-US" sz="1400" dirty="0">
              <a:solidFill>
                <a:schemeClr val="tx1">
                  <a:lumMod val="50000"/>
                  <a:lumOff val="50000"/>
                </a:schemeClr>
              </a:solidFill>
              <a:cs typeface="+mn-ea"/>
              <a:sym typeface="+mn-lt"/>
            </a:endParaRPr>
          </a:p>
        </p:txBody>
      </p:sp>
      <p:sp>
        <p:nvSpPr>
          <p:cNvPr id="21" name="矩形 20"/>
          <p:cNvSpPr/>
          <p:nvPr/>
        </p:nvSpPr>
        <p:spPr>
          <a:xfrm>
            <a:off x="6711191" y="4961892"/>
            <a:ext cx="4964872" cy="58708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    对于</a:t>
            </a:r>
            <a:r>
              <a:rPr lang="zh-CN" altLang="en-US" sz="1400" dirty="0">
                <a:solidFill>
                  <a:schemeClr val="tx1">
                    <a:lumMod val="50000"/>
                    <a:lumOff val="50000"/>
                  </a:schemeClr>
                </a:solidFill>
                <a:cs typeface="+mn-ea"/>
                <a:sym typeface="+mn-lt"/>
              </a:rPr>
              <a:t>无向图，一条边对应两个顶点，相当于</a:t>
            </a:r>
            <a:r>
              <a:rPr lang="zh-CN" altLang="en-US" sz="1400" dirty="0" smtClean="0">
                <a:solidFill>
                  <a:schemeClr val="tx1">
                    <a:lumMod val="50000"/>
                    <a:lumOff val="50000"/>
                  </a:schemeClr>
                </a:solidFill>
                <a:cs typeface="+mn-ea"/>
                <a:sym typeface="+mn-lt"/>
              </a:rPr>
              <a:t>两条有向边，</a:t>
            </a:r>
            <a:r>
              <a:rPr lang="zh-CN" altLang="en-US" sz="1400" dirty="0">
                <a:solidFill>
                  <a:schemeClr val="tx1">
                    <a:lumMod val="50000"/>
                    <a:lumOff val="50000"/>
                  </a:schemeClr>
                </a:solidFill>
                <a:cs typeface="+mn-ea"/>
                <a:sym typeface="+mn-lt"/>
              </a:rPr>
              <a:t>所以建立</a:t>
            </a:r>
            <a:r>
              <a:rPr lang="en-US" altLang="zh-CN" sz="1400" dirty="0">
                <a:solidFill>
                  <a:schemeClr val="tx1">
                    <a:lumMod val="50000"/>
                    <a:lumOff val="50000"/>
                  </a:schemeClr>
                </a:solidFill>
                <a:cs typeface="+mn-ea"/>
                <a:sym typeface="+mn-lt"/>
              </a:rPr>
              <a:t>(u,v)</a:t>
            </a:r>
            <a:r>
              <a:rPr lang="zh-CN" altLang="en-US" sz="1400" dirty="0">
                <a:solidFill>
                  <a:schemeClr val="tx1">
                    <a:lumMod val="50000"/>
                    <a:lumOff val="50000"/>
                  </a:schemeClr>
                </a:solidFill>
                <a:cs typeface="+mn-ea"/>
                <a:sym typeface="+mn-lt"/>
              </a:rPr>
              <a:t>和</a:t>
            </a:r>
            <a:r>
              <a:rPr lang="en-US" altLang="zh-CN" sz="1400" dirty="0">
                <a:solidFill>
                  <a:schemeClr val="tx1">
                    <a:lumMod val="50000"/>
                    <a:lumOff val="50000"/>
                  </a:schemeClr>
                </a:solidFill>
                <a:cs typeface="+mn-ea"/>
                <a:sym typeface="+mn-lt"/>
              </a:rPr>
              <a:t>(v,u)</a:t>
            </a:r>
            <a:r>
              <a:rPr lang="zh-CN" altLang="en-US" sz="1400" dirty="0">
                <a:solidFill>
                  <a:schemeClr val="tx1">
                    <a:lumMod val="50000"/>
                    <a:lumOff val="50000"/>
                  </a:schemeClr>
                </a:solidFill>
                <a:cs typeface="+mn-ea"/>
                <a:sym typeface="+mn-lt"/>
              </a:rPr>
              <a:t>两条边</a:t>
            </a:r>
            <a:r>
              <a:rPr lang="zh-CN" altLang="en-US" sz="1400" dirty="0" smtClean="0">
                <a:solidFill>
                  <a:schemeClr val="tx1">
                    <a:lumMod val="50000"/>
                    <a:lumOff val="50000"/>
                  </a:schemeClr>
                </a:solidFill>
                <a:cs typeface="+mn-ea"/>
                <a:sym typeface="+mn-lt"/>
              </a:rPr>
              <a:t>。</a:t>
            </a:r>
            <a:endParaRPr lang="zh-CN" altLang="en-US" sz="1400" dirty="0">
              <a:solidFill>
                <a:schemeClr val="tx1">
                  <a:lumMod val="50000"/>
                  <a:lumOff val="50000"/>
                </a:schemeClr>
              </a:solidFill>
              <a:cs typeface="+mn-ea"/>
              <a:sym typeface="+mn-lt"/>
            </a:endParaRPr>
          </a:p>
        </p:txBody>
      </p:sp>
      <p:cxnSp>
        <p:nvCxnSpPr>
          <p:cNvPr id="22" name="直接连接符 21"/>
          <p:cNvCxnSpPr/>
          <p:nvPr/>
        </p:nvCxnSpPr>
        <p:spPr>
          <a:xfrm>
            <a:off x="6284685" y="1902302"/>
            <a:ext cx="0" cy="3611664"/>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706354" y="1477570"/>
            <a:ext cx="4964872" cy="84561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b="1" dirty="0" smtClean="0">
                <a:solidFill>
                  <a:schemeClr val="tx1">
                    <a:lumMod val="65000"/>
                    <a:lumOff val="35000"/>
                  </a:schemeClr>
                </a:solidFill>
                <a:cs typeface="+mn-ea"/>
                <a:sym typeface="+mn-lt"/>
              </a:rPr>
              <a:t>    图</a:t>
            </a:r>
            <a:r>
              <a:rPr lang="zh-CN" altLang="en-US" sz="1400" b="1" dirty="0">
                <a:solidFill>
                  <a:schemeClr val="tx1">
                    <a:lumMod val="65000"/>
                    <a:lumOff val="35000"/>
                  </a:schemeClr>
                </a:solidFill>
                <a:cs typeface="+mn-ea"/>
                <a:sym typeface="+mn-lt"/>
              </a:rPr>
              <a:t>的邻接表存储法，又叫链式存储法。本来是要采用链表实现的，但大多数情况下只要用数组模拟即可。</a:t>
            </a:r>
          </a:p>
          <a:p>
            <a:pPr>
              <a:lnSpc>
                <a:spcPct val="120000"/>
              </a:lnSpc>
            </a:pPr>
            <a:r>
              <a:rPr lang="zh-CN" altLang="en-US" sz="1400" b="1" dirty="0" smtClean="0">
                <a:solidFill>
                  <a:schemeClr val="tx1">
                    <a:lumMod val="65000"/>
                    <a:lumOff val="35000"/>
                  </a:schemeClr>
                </a:solidFill>
                <a:cs typeface="+mn-ea"/>
                <a:sym typeface="+mn-lt"/>
              </a:rPr>
              <a:t>    以下</a:t>
            </a:r>
            <a:r>
              <a:rPr lang="zh-CN" altLang="en-US" sz="1400" b="1" dirty="0">
                <a:solidFill>
                  <a:schemeClr val="tx1">
                    <a:lumMod val="65000"/>
                    <a:lumOff val="35000"/>
                  </a:schemeClr>
                </a:solidFill>
                <a:cs typeface="+mn-ea"/>
                <a:sym typeface="+mn-lt"/>
              </a:rPr>
              <a:t>是用数组模拟邻接表存储的参考程序段：</a:t>
            </a:r>
          </a:p>
        </p:txBody>
      </p:sp>
      <p:sp>
        <p:nvSpPr>
          <p:cNvPr id="13" name="矩形 12"/>
          <p:cNvSpPr/>
          <p:nvPr/>
        </p:nvSpPr>
        <p:spPr>
          <a:xfrm>
            <a:off x="6526423" y="810705"/>
            <a:ext cx="4964872" cy="3323987"/>
          </a:xfrm>
          <a:prstGeom prst="rect">
            <a:avLst/>
          </a:prstGeom>
        </p:spPr>
        <p:txBody>
          <a:bodyPr wrap="square">
            <a:spAutoFit/>
            <a:scene3d>
              <a:camera prst="orthographicFront"/>
              <a:lightRig rig="threePt" dir="t"/>
            </a:scene3d>
            <a:sp3d contourW="12700"/>
          </a:bodyPr>
          <a:lstStyle/>
          <a:p>
            <a:r>
              <a:rPr lang="en-US" altLang="zh-CN" sz="1400" dirty="0" smtClean="0">
                <a:cs typeface="+mn-ea"/>
              </a:rPr>
              <a:t>int </a:t>
            </a:r>
            <a:r>
              <a:rPr lang="en-US" altLang="zh-CN" sz="1400" dirty="0">
                <a:cs typeface="+mn-ea"/>
              </a:rPr>
              <a:t>main()</a:t>
            </a:r>
          </a:p>
          <a:p>
            <a:r>
              <a:rPr lang="en-US" altLang="zh-CN" sz="1400" dirty="0">
                <a:cs typeface="+mn-ea"/>
              </a:rPr>
              <a:t>{	num_edge=0;</a:t>
            </a:r>
          </a:p>
          <a:p>
            <a:r>
              <a:rPr lang="en-US" altLang="zh-CN" sz="1400" dirty="0">
                <a:cs typeface="+mn-ea"/>
              </a:rPr>
              <a:t>	scanf("%d %d",&amp;n,&amp;m);      </a:t>
            </a:r>
            <a:r>
              <a:rPr lang="en-US" altLang="zh-CN" sz="1400" dirty="0">
                <a:solidFill>
                  <a:srgbClr val="3A69EE"/>
                </a:solidFill>
                <a:cs typeface="+mn-ea"/>
              </a:rPr>
              <a:t>//</a:t>
            </a:r>
            <a:r>
              <a:rPr lang="zh-CN" altLang="en-US" sz="1400" dirty="0">
                <a:solidFill>
                  <a:srgbClr val="3A69EE"/>
                </a:solidFill>
                <a:cs typeface="+mn-ea"/>
              </a:rPr>
              <a:t>读入点数和边数</a:t>
            </a:r>
          </a:p>
          <a:p>
            <a:r>
              <a:rPr lang="zh-CN" altLang="en-US" sz="1400" dirty="0">
                <a:cs typeface="+mn-ea"/>
              </a:rPr>
              <a:t>	</a:t>
            </a:r>
            <a:r>
              <a:rPr lang="en-US" altLang="zh-CN" sz="1400" dirty="0">
                <a:cs typeface="+mn-ea"/>
              </a:rPr>
              <a:t>for (i=1;i&lt;=m;i++)</a:t>
            </a:r>
          </a:p>
          <a:p>
            <a:r>
              <a:rPr lang="en-US" altLang="zh-CN" sz="1400" dirty="0">
                <a:cs typeface="+mn-ea"/>
              </a:rPr>
              <a:t>	{	scanf("%d %d %d",&amp;u,&amp;v,&amp;w);   </a:t>
            </a:r>
            <a:endParaRPr lang="en-US" altLang="zh-CN" sz="1400" dirty="0" smtClean="0">
              <a:cs typeface="+mn-ea"/>
            </a:endParaRPr>
          </a:p>
          <a:p>
            <a:r>
              <a:rPr lang="en-US" altLang="zh-CN" sz="1400" dirty="0">
                <a:solidFill>
                  <a:srgbClr val="3A69EE"/>
                </a:solidFill>
                <a:cs typeface="+mn-ea"/>
              </a:rPr>
              <a:t>	</a:t>
            </a:r>
            <a:r>
              <a:rPr lang="en-US" altLang="zh-CN" sz="1400" dirty="0" smtClean="0">
                <a:solidFill>
                  <a:srgbClr val="3A69EE"/>
                </a:solidFill>
                <a:cs typeface="+mn-ea"/>
              </a:rPr>
              <a:t>	//</a:t>
            </a:r>
            <a:r>
              <a:rPr lang="en-US" altLang="zh-CN" sz="1400" dirty="0">
                <a:solidFill>
                  <a:srgbClr val="3A69EE"/>
                </a:solidFill>
                <a:cs typeface="+mn-ea"/>
              </a:rPr>
              <a:t>u</a:t>
            </a:r>
            <a:r>
              <a:rPr lang="zh-CN" altLang="en-US" sz="1400" dirty="0">
                <a:solidFill>
                  <a:srgbClr val="3A69EE"/>
                </a:solidFill>
                <a:cs typeface="+mn-ea"/>
              </a:rPr>
              <a:t>、</a:t>
            </a:r>
            <a:r>
              <a:rPr lang="en-US" altLang="zh-CN" sz="1400" dirty="0">
                <a:solidFill>
                  <a:srgbClr val="3A69EE"/>
                </a:solidFill>
                <a:cs typeface="+mn-ea"/>
              </a:rPr>
              <a:t>v</a:t>
            </a:r>
            <a:r>
              <a:rPr lang="zh-CN" altLang="en-US" sz="1400" dirty="0">
                <a:solidFill>
                  <a:srgbClr val="3A69EE"/>
                </a:solidFill>
                <a:cs typeface="+mn-ea"/>
              </a:rPr>
              <a:t>之间有一条长度为</a:t>
            </a:r>
            <a:r>
              <a:rPr lang="en-US" altLang="zh-CN" sz="1400" dirty="0">
                <a:solidFill>
                  <a:srgbClr val="3A69EE"/>
                </a:solidFill>
                <a:cs typeface="+mn-ea"/>
              </a:rPr>
              <a:t>w</a:t>
            </a:r>
            <a:r>
              <a:rPr lang="zh-CN" altLang="en-US" sz="1400" dirty="0">
                <a:solidFill>
                  <a:srgbClr val="3A69EE"/>
                </a:solidFill>
                <a:cs typeface="+mn-ea"/>
              </a:rPr>
              <a:t>的边</a:t>
            </a:r>
          </a:p>
          <a:p>
            <a:r>
              <a:rPr lang="zh-CN" altLang="en-US" sz="1400" dirty="0">
                <a:cs typeface="+mn-ea"/>
              </a:rPr>
              <a:t>		</a:t>
            </a:r>
            <a:r>
              <a:rPr lang="en-US" altLang="zh-CN" sz="1400" dirty="0">
                <a:cs typeface="+mn-ea"/>
              </a:rPr>
              <a:t>add_edge(u,v,w);</a:t>
            </a:r>
          </a:p>
          <a:p>
            <a:r>
              <a:rPr lang="en-US" altLang="zh-CN" sz="1400" dirty="0">
                <a:cs typeface="+mn-ea"/>
              </a:rPr>
              <a:t>		}</a:t>
            </a:r>
          </a:p>
          <a:p>
            <a:r>
              <a:rPr lang="en-US" altLang="zh-CN" sz="1400" dirty="0">
                <a:cs typeface="+mn-ea"/>
              </a:rPr>
              <a:t>	for (j=head[1];j;j=Next[j</a:t>
            </a:r>
            <a:r>
              <a:rPr lang="en-US" altLang="zh-CN" sz="1400" dirty="0" smtClean="0">
                <a:cs typeface="+mn-ea"/>
              </a:rPr>
              <a:t>])</a:t>
            </a:r>
            <a:r>
              <a:rPr lang="en-US" altLang="zh-CN" sz="1400" dirty="0" smtClean="0">
                <a:solidFill>
                  <a:srgbClr val="3A69EE"/>
                </a:solidFill>
                <a:cs typeface="+mn-ea"/>
              </a:rPr>
              <a:t>//</a:t>
            </a:r>
            <a:r>
              <a:rPr lang="zh-CN" altLang="en-US" sz="1400" dirty="0">
                <a:solidFill>
                  <a:srgbClr val="3A69EE"/>
                </a:solidFill>
                <a:cs typeface="+mn-ea"/>
              </a:rPr>
              <a:t>遍历从点</a:t>
            </a:r>
            <a:r>
              <a:rPr lang="en-US" altLang="zh-CN" sz="1400" dirty="0">
                <a:solidFill>
                  <a:srgbClr val="3A69EE"/>
                </a:solidFill>
                <a:cs typeface="+mn-ea"/>
              </a:rPr>
              <a:t>1</a:t>
            </a:r>
            <a:r>
              <a:rPr lang="zh-CN" altLang="en-US" sz="1400" dirty="0">
                <a:solidFill>
                  <a:srgbClr val="3A69EE"/>
                </a:solidFill>
                <a:cs typeface="+mn-ea"/>
              </a:rPr>
              <a:t>开始的所有边 </a:t>
            </a:r>
          </a:p>
          <a:p>
            <a:r>
              <a:rPr lang="zh-CN" altLang="en-US" sz="1400" dirty="0">
                <a:cs typeface="+mn-ea"/>
              </a:rPr>
              <a:t>	</a:t>
            </a:r>
            <a:r>
              <a:rPr lang="en-US" altLang="zh-CN" sz="1400" dirty="0">
                <a:cs typeface="+mn-ea"/>
              </a:rPr>
              <a:t>{</a:t>
            </a:r>
          </a:p>
          <a:p>
            <a:r>
              <a:rPr lang="en-US" altLang="zh-CN" sz="1400" dirty="0">
                <a:cs typeface="+mn-ea"/>
              </a:rPr>
              <a:t>		//...</a:t>
            </a:r>
          </a:p>
          <a:p>
            <a:r>
              <a:rPr lang="en-US" altLang="zh-CN" sz="1400" dirty="0">
                <a:cs typeface="+mn-ea"/>
              </a:rPr>
              <a:t>	}</a:t>
            </a:r>
          </a:p>
          <a:p>
            <a:r>
              <a:rPr lang="en-US" altLang="zh-CN" sz="1400" dirty="0">
                <a:cs typeface="+mn-ea"/>
              </a:rPr>
              <a:t>	//...</a:t>
            </a:r>
          </a:p>
          <a:p>
            <a:r>
              <a:rPr lang="en-US" altLang="zh-CN" sz="1400" dirty="0">
                <a:cs typeface="+mn-ea"/>
              </a:rPr>
              <a:t>	return 0;</a:t>
            </a:r>
          </a:p>
          <a:p>
            <a:r>
              <a:rPr lang="en-US" altLang="zh-CN" sz="1400" dirty="0">
                <a:cs typeface="+mn-ea"/>
              </a:rPr>
              <a:t>}</a:t>
            </a:r>
            <a:endParaRPr lang="zh-CN" altLang="en-US" sz="1400" dirty="0">
              <a:cs typeface="+mn-ea"/>
            </a:endParaRPr>
          </a:p>
        </p:txBody>
      </p:sp>
      <p:sp>
        <p:nvSpPr>
          <p:cNvPr id="14" name="矩形 13"/>
          <p:cNvSpPr/>
          <p:nvPr/>
        </p:nvSpPr>
        <p:spPr>
          <a:xfrm>
            <a:off x="3324775" y="5718010"/>
            <a:ext cx="5919820" cy="328551"/>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rgbClr val="FF0000"/>
                </a:solidFill>
                <a:cs typeface="+mn-ea"/>
                <a:sym typeface="+mn-lt"/>
              </a:rPr>
              <a:t>对于</a:t>
            </a:r>
            <a:r>
              <a:rPr lang="en-US" altLang="zh-CN" sz="1400" dirty="0">
                <a:solidFill>
                  <a:srgbClr val="FF0000"/>
                </a:solidFill>
                <a:cs typeface="+mn-ea"/>
                <a:sym typeface="+mn-lt"/>
              </a:rPr>
              <a:t>n</a:t>
            </a:r>
            <a:r>
              <a:rPr lang="zh-CN" altLang="en-US" sz="1400" dirty="0">
                <a:solidFill>
                  <a:srgbClr val="FF0000"/>
                </a:solidFill>
                <a:cs typeface="+mn-ea"/>
                <a:sym typeface="+mn-lt"/>
              </a:rPr>
              <a:t>个顶点</a:t>
            </a:r>
            <a:r>
              <a:rPr lang="en-US" altLang="zh-CN" sz="1400" dirty="0">
                <a:solidFill>
                  <a:srgbClr val="FF0000"/>
                </a:solidFill>
                <a:cs typeface="+mn-ea"/>
                <a:sym typeface="+mn-lt"/>
              </a:rPr>
              <a:t>m</a:t>
            </a:r>
            <a:r>
              <a:rPr lang="zh-CN" altLang="en-US" sz="1400" dirty="0">
                <a:solidFill>
                  <a:srgbClr val="FF0000"/>
                </a:solidFill>
                <a:cs typeface="+mn-ea"/>
                <a:sym typeface="+mn-lt"/>
              </a:rPr>
              <a:t>条边的图来说，本算法的时间复杂度显然是</a:t>
            </a:r>
            <a:r>
              <a:rPr lang="en-US" altLang="zh-CN" sz="1400" dirty="0">
                <a:solidFill>
                  <a:srgbClr val="FF0000"/>
                </a:solidFill>
                <a:cs typeface="+mn-ea"/>
                <a:sym typeface="+mn-lt"/>
              </a:rPr>
              <a:t>O(n+m)</a:t>
            </a:r>
            <a:r>
              <a:rPr lang="zh-CN" altLang="en-US" sz="1400" dirty="0">
                <a:solidFill>
                  <a:srgbClr val="FF0000"/>
                </a:solidFill>
                <a:cs typeface="+mn-ea"/>
                <a:sym typeface="+mn-lt"/>
              </a:rPr>
              <a:t>。</a:t>
            </a:r>
            <a:endParaRPr lang="en-US" altLang="zh-CN" sz="1400" dirty="0">
              <a:solidFill>
                <a:srgbClr val="FF0000"/>
              </a:solidFill>
              <a:cs typeface="+mn-ea"/>
              <a:sym typeface="+mn-lt"/>
            </a:endParaRPr>
          </a:p>
        </p:txBody>
      </p:sp>
    </p:spTree>
    <p:extLst>
      <p:ext uri="{BB962C8B-B14F-4D97-AF65-F5344CB8AC3E}">
        <p14:creationId xmlns:p14="http://schemas.microsoft.com/office/powerpoint/2010/main" val="387148658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barn(inVertical)">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19" grpId="0"/>
      <p:bldP spid="20" grpId="0"/>
      <p:bldP spid="21" grpId="0"/>
      <p:bldP spid="26" grpId="0"/>
      <p:bldP spid="13" grpId="0"/>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10511354" y="177223"/>
            <a:ext cx="646331"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练习</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24" name="矩形 23"/>
          <p:cNvSpPr/>
          <p:nvPr/>
        </p:nvSpPr>
        <p:spPr>
          <a:xfrm>
            <a:off x="5789668" y="5484158"/>
            <a:ext cx="5044851" cy="42473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smtClean="0">
                <a:solidFill>
                  <a:schemeClr val="tx1">
                    <a:lumMod val="65000"/>
                    <a:lumOff val="35000"/>
                  </a:schemeClr>
                </a:solidFill>
                <a:cs typeface="+mn-ea"/>
                <a:sym typeface="+mn-lt"/>
              </a:rPr>
              <a:t>如</a:t>
            </a:r>
            <a:r>
              <a:rPr lang="zh-CN" altLang="en-US" b="1" dirty="0">
                <a:solidFill>
                  <a:schemeClr val="tx1">
                    <a:lumMod val="65000"/>
                    <a:lumOff val="35000"/>
                  </a:schemeClr>
                </a:solidFill>
                <a:cs typeface="+mn-ea"/>
                <a:sym typeface="+mn-lt"/>
              </a:rPr>
              <a:t>题</a:t>
            </a:r>
            <a:r>
              <a:rPr lang="zh-CN" altLang="en-US" b="1" dirty="0" smtClean="0">
                <a:solidFill>
                  <a:schemeClr val="tx1">
                    <a:lumMod val="65000"/>
                    <a:lumOff val="35000"/>
                  </a:schemeClr>
                </a:solidFill>
                <a:cs typeface="+mn-ea"/>
                <a:sym typeface="+mn-lt"/>
              </a:rPr>
              <a:t>，编写合适的程序，评测在教师机上进行。</a:t>
            </a:r>
            <a:endParaRPr lang="zh-CN" altLang="en-US" b="1" dirty="0">
              <a:solidFill>
                <a:schemeClr val="tx1">
                  <a:lumMod val="65000"/>
                  <a:lumOff val="35000"/>
                </a:schemeClr>
              </a:solidFill>
              <a:cs typeface="+mn-ea"/>
              <a:sym typeface="+mn-lt"/>
            </a:endParaRPr>
          </a:p>
        </p:txBody>
      </p:sp>
      <p:sp>
        <p:nvSpPr>
          <p:cNvPr id="13" name="矩形 12"/>
          <p:cNvSpPr/>
          <p:nvPr/>
        </p:nvSpPr>
        <p:spPr>
          <a:xfrm>
            <a:off x="706354" y="1507685"/>
            <a:ext cx="4964872" cy="4616648"/>
          </a:xfrm>
          <a:prstGeom prst="rect">
            <a:avLst/>
          </a:prstGeom>
        </p:spPr>
        <p:txBody>
          <a:bodyPr wrap="square">
            <a:spAutoFit/>
            <a:scene3d>
              <a:camera prst="orthographicFront"/>
              <a:lightRig rig="threePt" dir="t"/>
            </a:scene3d>
            <a:sp3d contourW="12700"/>
          </a:bodyPr>
          <a:lstStyle/>
          <a:p>
            <a:pPr algn="ctr"/>
            <a:r>
              <a:rPr lang="zh-CN" altLang="zh-CN" sz="1400" b="1" dirty="0" smtClean="0"/>
              <a:t>建</a:t>
            </a:r>
            <a:r>
              <a:rPr lang="zh-CN" altLang="zh-CN" sz="1400" b="1" dirty="0"/>
              <a:t>图</a:t>
            </a:r>
            <a:r>
              <a:rPr lang="en-US" altLang="zh-CN" sz="1400" b="1" dirty="0"/>
              <a:t>-</a:t>
            </a:r>
            <a:r>
              <a:rPr lang="zh-CN" altLang="zh-CN" sz="1400" b="1" dirty="0"/>
              <a:t>邻接表（</a:t>
            </a:r>
            <a:r>
              <a:rPr lang="en-US" altLang="zh-CN" sz="1400" dirty="0"/>
              <a:t>mkglist</a:t>
            </a:r>
            <a:r>
              <a:rPr lang="zh-CN" altLang="zh-CN" sz="1400" b="1" dirty="0"/>
              <a:t>）</a:t>
            </a:r>
            <a:endParaRPr lang="zh-CN" altLang="zh-CN" sz="1400" dirty="0"/>
          </a:p>
          <a:p>
            <a:r>
              <a:rPr lang="zh-CN" altLang="zh-CN" sz="1400" b="1" dirty="0"/>
              <a:t>【题目描述】</a:t>
            </a:r>
            <a:endParaRPr lang="zh-CN" altLang="zh-CN" sz="1400" dirty="0"/>
          </a:p>
          <a:p>
            <a:r>
              <a:rPr lang="en-US" altLang="zh-CN" sz="1400" dirty="0" smtClean="0"/>
              <a:t>    </a:t>
            </a:r>
            <a:r>
              <a:rPr lang="zh-CN" altLang="zh-CN" sz="1400" dirty="0" smtClean="0"/>
              <a:t>根据</a:t>
            </a:r>
            <a:r>
              <a:rPr lang="zh-CN" altLang="zh-CN" sz="1400" dirty="0"/>
              <a:t>输入格式，读入一张带权有向图，并以邻接表的方式存储。</a:t>
            </a:r>
          </a:p>
          <a:p>
            <a:r>
              <a:rPr lang="en-US" altLang="zh-CN" sz="1400" dirty="0" smtClean="0"/>
              <a:t>    </a:t>
            </a:r>
            <a:r>
              <a:rPr lang="zh-CN" altLang="zh-CN" sz="1400" dirty="0" smtClean="0"/>
              <a:t>遵照</a:t>
            </a:r>
            <a:r>
              <a:rPr lang="zh-CN" altLang="zh-CN" sz="1400" dirty="0"/>
              <a:t>输出格式，输出对这张带权有向图的描述。</a:t>
            </a:r>
          </a:p>
          <a:p>
            <a:r>
              <a:rPr lang="en-US" altLang="zh-CN" sz="1400" dirty="0"/>
              <a:t> </a:t>
            </a:r>
            <a:endParaRPr lang="zh-CN" altLang="zh-CN" sz="1400" dirty="0"/>
          </a:p>
          <a:p>
            <a:r>
              <a:rPr lang="zh-CN" altLang="zh-CN" sz="1400" b="1" dirty="0"/>
              <a:t>【输入格式】</a:t>
            </a:r>
            <a:endParaRPr lang="zh-CN" altLang="zh-CN" sz="1400" dirty="0"/>
          </a:p>
          <a:p>
            <a:r>
              <a:rPr lang="en-US" altLang="zh-CN" sz="1400" dirty="0" smtClean="0"/>
              <a:t>    </a:t>
            </a:r>
            <a:r>
              <a:rPr lang="zh-CN" altLang="zh-CN" sz="1400" dirty="0" smtClean="0"/>
              <a:t>输入</a:t>
            </a:r>
            <a:r>
              <a:rPr lang="zh-CN" altLang="zh-CN" sz="1400" dirty="0"/>
              <a:t>第一行包含两个整数</a:t>
            </a:r>
            <a:r>
              <a:rPr lang="en-US" altLang="zh-CN" sz="1400" dirty="0"/>
              <a:t>n,m</a:t>
            </a:r>
            <a:r>
              <a:rPr lang="zh-CN" altLang="zh-CN" sz="1400" dirty="0"/>
              <a:t>，表示有</a:t>
            </a:r>
            <a:r>
              <a:rPr lang="en-US" altLang="zh-CN" sz="1400" dirty="0"/>
              <a:t>n</a:t>
            </a:r>
            <a:r>
              <a:rPr lang="zh-CN" altLang="zh-CN" sz="1400" dirty="0"/>
              <a:t>个顶点，分别编号为</a:t>
            </a:r>
            <a:r>
              <a:rPr lang="en-US" altLang="zh-CN" sz="1400" dirty="0"/>
              <a:t>1~n</a:t>
            </a:r>
            <a:r>
              <a:rPr lang="zh-CN" altLang="zh-CN" sz="1400" dirty="0"/>
              <a:t>，有</a:t>
            </a:r>
            <a:r>
              <a:rPr lang="en-US" altLang="zh-CN" sz="1400" dirty="0"/>
              <a:t>m</a:t>
            </a:r>
            <a:r>
              <a:rPr lang="zh-CN" altLang="zh-CN" sz="1400" dirty="0"/>
              <a:t>条有向边； </a:t>
            </a:r>
          </a:p>
          <a:p>
            <a:r>
              <a:rPr lang="en-US" altLang="zh-CN" sz="1400" dirty="0" smtClean="0"/>
              <a:t>    </a:t>
            </a:r>
            <a:r>
              <a:rPr lang="zh-CN" altLang="zh-CN" sz="1400" dirty="0" smtClean="0"/>
              <a:t>以下</a:t>
            </a:r>
            <a:r>
              <a:rPr lang="en-US" altLang="zh-CN" sz="1400" dirty="0"/>
              <a:t>m</a:t>
            </a:r>
            <a:r>
              <a:rPr lang="zh-CN" altLang="zh-CN" sz="1400" dirty="0"/>
              <a:t>行每行三个正整数</a:t>
            </a:r>
            <a:r>
              <a:rPr lang="en-US" altLang="zh-CN" sz="1400" dirty="0"/>
              <a:t>x,y,t</a:t>
            </a:r>
            <a:r>
              <a:rPr lang="zh-CN" altLang="zh-CN" sz="1400" dirty="0"/>
              <a:t>，表示顶点</a:t>
            </a:r>
            <a:r>
              <a:rPr lang="en-US" altLang="zh-CN" sz="1400" dirty="0"/>
              <a:t>x</a:t>
            </a:r>
            <a:r>
              <a:rPr lang="zh-CN" altLang="zh-CN" sz="1400" dirty="0"/>
              <a:t>至顶点</a:t>
            </a:r>
            <a:r>
              <a:rPr lang="en-US" altLang="zh-CN" sz="1400" dirty="0"/>
              <a:t>y</a:t>
            </a:r>
            <a:r>
              <a:rPr lang="zh-CN" altLang="zh-CN" sz="1400" dirty="0"/>
              <a:t>存在一条有向边，权值为</a:t>
            </a:r>
            <a:r>
              <a:rPr lang="en-US" altLang="zh-CN" sz="1400" dirty="0"/>
              <a:t>t</a:t>
            </a:r>
            <a:r>
              <a:rPr lang="zh-CN" altLang="zh-CN" sz="1400" dirty="0"/>
              <a:t>。</a:t>
            </a:r>
          </a:p>
          <a:p>
            <a:r>
              <a:rPr lang="en-US" altLang="zh-CN" sz="1400" dirty="0" smtClean="0"/>
              <a:t>    </a:t>
            </a:r>
            <a:r>
              <a:rPr lang="zh-CN" altLang="zh-CN" sz="1400" dirty="0" smtClean="0"/>
              <a:t>输入</a:t>
            </a:r>
            <a:r>
              <a:rPr lang="zh-CN" altLang="en-US" sz="1400" dirty="0" smtClean="0"/>
              <a:t>不</a:t>
            </a:r>
            <a:r>
              <a:rPr lang="zh-CN" altLang="zh-CN" sz="1400" dirty="0" smtClean="0"/>
              <a:t>保证</a:t>
            </a:r>
            <a:r>
              <a:rPr lang="zh-CN" altLang="zh-CN" sz="1400" dirty="0"/>
              <a:t>是简单图。</a:t>
            </a:r>
          </a:p>
          <a:p>
            <a:r>
              <a:rPr lang="en-US" altLang="zh-CN" sz="1400" dirty="0"/>
              <a:t> </a:t>
            </a:r>
            <a:endParaRPr lang="zh-CN" altLang="zh-CN" sz="1400" dirty="0"/>
          </a:p>
          <a:p>
            <a:r>
              <a:rPr lang="zh-CN" altLang="zh-CN" sz="1400" b="1" dirty="0"/>
              <a:t>【输出格式】</a:t>
            </a:r>
            <a:endParaRPr lang="zh-CN" altLang="zh-CN" sz="1400" dirty="0"/>
          </a:p>
          <a:p>
            <a:r>
              <a:rPr lang="en-US" altLang="zh-CN" sz="1400" dirty="0" smtClean="0"/>
              <a:t>    </a:t>
            </a:r>
            <a:r>
              <a:rPr lang="zh-CN" altLang="zh-CN" sz="1400" dirty="0" smtClean="0"/>
              <a:t>由</a:t>
            </a:r>
            <a:r>
              <a:rPr lang="zh-CN" altLang="zh-CN" sz="1400" dirty="0"/>
              <a:t>顶点</a:t>
            </a:r>
            <a:r>
              <a:rPr lang="en-US" altLang="zh-CN" sz="1400" dirty="0"/>
              <a:t>1</a:t>
            </a:r>
            <a:r>
              <a:rPr lang="zh-CN" altLang="zh-CN" sz="1400" dirty="0"/>
              <a:t>至顶点</a:t>
            </a:r>
            <a:r>
              <a:rPr lang="en-US" altLang="zh-CN" sz="1400" dirty="0"/>
              <a:t>n</a:t>
            </a:r>
            <a:r>
              <a:rPr lang="zh-CN" altLang="zh-CN" sz="1400" dirty="0"/>
              <a:t>，对于顶点</a:t>
            </a:r>
            <a:r>
              <a:rPr lang="en-US" altLang="zh-CN" sz="1400" dirty="0"/>
              <a:t>i</a:t>
            </a:r>
            <a:r>
              <a:rPr lang="zh-CN" altLang="zh-CN" sz="1400" dirty="0"/>
              <a:t>：输出一行“</a:t>
            </a:r>
            <a:r>
              <a:rPr lang="en-US" altLang="zh-CN" sz="1400" dirty="0"/>
              <a:t>i:</a:t>
            </a:r>
            <a:r>
              <a:rPr lang="zh-CN" altLang="zh-CN" sz="1400" dirty="0"/>
              <a:t>”表示顶点</a:t>
            </a:r>
            <a:r>
              <a:rPr lang="en-US" altLang="zh-CN" sz="1400" dirty="0"/>
              <a:t>i</a:t>
            </a:r>
            <a:r>
              <a:rPr lang="zh-CN" altLang="zh-CN" sz="1400" dirty="0"/>
              <a:t>；</a:t>
            </a:r>
          </a:p>
          <a:p>
            <a:r>
              <a:rPr lang="zh-CN" altLang="zh-CN" sz="1400" dirty="0"/>
              <a:t>接下来每行输出一个点</a:t>
            </a:r>
            <a:r>
              <a:rPr lang="en-US" altLang="zh-CN" sz="1400" dirty="0"/>
              <a:t>i</a:t>
            </a:r>
            <a:r>
              <a:rPr lang="zh-CN" altLang="zh-CN" sz="1400" dirty="0"/>
              <a:t>至其余点的出度情况：</a:t>
            </a:r>
            <a:r>
              <a:rPr lang="en-US" altLang="zh-CN" sz="1400" dirty="0"/>
              <a:t>j t</a:t>
            </a:r>
            <a:r>
              <a:rPr lang="zh-CN" altLang="zh-CN" sz="1400" dirty="0"/>
              <a:t>，分别表示顶点</a:t>
            </a:r>
            <a:r>
              <a:rPr lang="en-US" altLang="zh-CN" sz="1400" dirty="0"/>
              <a:t>i</a:t>
            </a:r>
            <a:r>
              <a:rPr lang="zh-CN" altLang="zh-CN" sz="1400" dirty="0"/>
              <a:t>可通过有向边到达顶点</a:t>
            </a:r>
            <a:r>
              <a:rPr lang="en-US" altLang="zh-CN" sz="1400" dirty="0"/>
              <a:t>j</a:t>
            </a:r>
            <a:r>
              <a:rPr lang="zh-CN" altLang="zh-CN" sz="1400" dirty="0"/>
              <a:t>，且边的权值为</a:t>
            </a:r>
            <a:r>
              <a:rPr lang="en-US" altLang="zh-CN" sz="1400" dirty="0"/>
              <a:t>t</a:t>
            </a:r>
            <a:r>
              <a:rPr lang="zh-CN" altLang="zh-CN" sz="1400" dirty="0"/>
              <a:t>。</a:t>
            </a:r>
            <a:r>
              <a:rPr lang="en-US" altLang="zh-CN" sz="1400" dirty="0"/>
              <a:t>j</a:t>
            </a:r>
            <a:r>
              <a:rPr lang="zh-CN" altLang="zh-CN" sz="1400" dirty="0"/>
              <a:t>的顺序参照邻接表参考程序的存储逻辑。</a:t>
            </a:r>
          </a:p>
          <a:p>
            <a:r>
              <a:rPr lang="en-US" altLang="zh-CN" sz="1400" dirty="0" smtClean="0"/>
              <a:t>    </a:t>
            </a:r>
            <a:r>
              <a:rPr lang="zh-CN" altLang="zh-CN" sz="1400" dirty="0" smtClean="0"/>
              <a:t>若</a:t>
            </a:r>
            <a:r>
              <a:rPr lang="zh-CN" altLang="zh-CN" sz="1400" dirty="0"/>
              <a:t>顶点</a:t>
            </a:r>
            <a:r>
              <a:rPr lang="en-US" altLang="zh-CN" sz="1400" dirty="0"/>
              <a:t>i</a:t>
            </a:r>
            <a:r>
              <a:rPr lang="zh-CN" altLang="zh-CN" sz="1400" dirty="0"/>
              <a:t>没有出度，则没有输出。</a:t>
            </a:r>
          </a:p>
          <a:p>
            <a:endParaRPr lang="zh-CN" altLang="zh-CN" sz="1400" dirty="0"/>
          </a:p>
          <a:p>
            <a:r>
              <a:rPr lang="en-US" altLang="zh-CN" sz="1400" dirty="0"/>
              <a:t> </a:t>
            </a:r>
            <a:endParaRPr lang="zh-CN" altLang="zh-CN" sz="1400" dirty="0"/>
          </a:p>
        </p:txBody>
      </p:sp>
      <p:sp>
        <p:nvSpPr>
          <p:cNvPr id="14" name="矩形 13"/>
          <p:cNvSpPr/>
          <p:nvPr/>
        </p:nvSpPr>
        <p:spPr>
          <a:xfrm>
            <a:off x="6449177" y="824420"/>
            <a:ext cx="4964872" cy="4875181"/>
          </a:xfrm>
          <a:prstGeom prst="rect">
            <a:avLst/>
          </a:prstGeom>
        </p:spPr>
        <p:txBody>
          <a:bodyPr wrap="square">
            <a:spAutoFit/>
            <a:scene3d>
              <a:camera prst="orthographicFront"/>
              <a:lightRig rig="threePt" dir="t"/>
            </a:scene3d>
            <a:sp3d contourW="12700"/>
          </a:bodyPr>
          <a:lstStyle/>
          <a:p>
            <a:r>
              <a:rPr lang="zh-CN" altLang="zh-CN" sz="1400" b="1" dirty="0" smtClean="0"/>
              <a:t>【样例输入】</a:t>
            </a:r>
            <a:endParaRPr lang="zh-CN" altLang="zh-CN" sz="1400" dirty="0"/>
          </a:p>
          <a:p>
            <a:r>
              <a:rPr lang="en-US" altLang="zh-CN" sz="1400" dirty="0"/>
              <a:t>4 4</a:t>
            </a:r>
            <a:endParaRPr lang="zh-CN" altLang="zh-CN" sz="1400" dirty="0"/>
          </a:p>
          <a:p>
            <a:r>
              <a:rPr lang="en-US" altLang="zh-CN" sz="1400" dirty="0"/>
              <a:t>2 3 1</a:t>
            </a:r>
            <a:endParaRPr lang="zh-CN" altLang="zh-CN" sz="1400" dirty="0"/>
          </a:p>
          <a:p>
            <a:r>
              <a:rPr lang="en-US" altLang="zh-CN" sz="1400" dirty="0"/>
              <a:t>2 4 2</a:t>
            </a:r>
            <a:endParaRPr lang="zh-CN" altLang="zh-CN" sz="1400" dirty="0"/>
          </a:p>
          <a:p>
            <a:r>
              <a:rPr lang="en-US" altLang="zh-CN" sz="1400" dirty="0"/>
              <a:t>2 1 3</a:t>
            </a:r>
            <a:endParaRPr lang="zh-CN" altLang="zh-CN" sz="1400" dirty="0"/>
          </a:p>
          <a:p>
            <a:r>
              <a:rPr lang="en-US" altLang="zh-CN" sz="1400" dirty="0"/>
              <a:t>1 3 4</a:t>
            </a:r>
            <a:endParaRPr lang="zh-CN" altLang="zh-CN" sz="1400" dirty="0"/>
          </a:p>
          <a:p>
            <a:r>
              <a:rPr lang="zh-CN" altLang="zh-CN" sz="1400" dirty="0"/>
              <a:t> </a:t>
            </a:r>
          </a:p>
          <a:p>
            <a:r>
              <a:rPr lang="zh-CN" altLang="zh-CN" sz="1400" b="1" dirty="0"/>
              <a:t>【样例输出】</a:t>
            </a:r>
            <a:endParaRPr lang="zh-CN" altLang="zh-CN" sz="1400" dirty="0"/>
          </a:p>
          <a:p>
            <a:r>
              <a:rPr lang="en-US" altLang="zh-CN" sz="1400" dirty="0"/>
              <a:t>1:</a:t>
            </a:r>
            <a:endParaRPr lang="zh-CN" altLang="zh-CN" sz="1400" dirty="0"/>
          </a:p>
          <a:p>
            <a:r>
              <a:rPr lang="en-US" altLang="zh-CN" sz="1400" dirty="0"/>
              <a:t>3 4</a:t>
            </a:r>
            <a:endParaRPr lang="zh-CN" altLang="zh-CN" sz="1400" dirty="0"/>
          </a:p>
          <a:p>
            <a:r>
              <a:rPr lang="en-US" altLang="zh-CN" sz="1400" dirty="0"/>
              <a:t>2:</a:t>
            </a:r>
            <a:endParaRPr lang="zh-CN" altLang="zh-CN" sz="1400" dirty="0"/>
          </a:p>
          <a:p>
            <a:r>
              <a:rPr lang="en-US" altLang="zh-CN" sz="1400" dirty="0"/>
              <a:t>1 3</a:t>
            </a:r>
            <a:endParaRPr lang="zh-CN" altLang="zh-CN" sz="1400" dirty="0"/>
          </a:p>
          <a:p>
            <a:r>
              <a:rPr lang="en-US" altLang="zh-CN" sz="1400" dirty="0"/>
              <a:t>4 2</a:t>
            </a:r>
            <a:endParaRPr lang="zh-CN" altLang="zh-CN" sz="1400" dirty="0"/>
          </a:p>
          <a:p>
            <a:r>
              <a:rPr lang="en-US" altLang="zh-CN" sz="1400" dirty="0"/>
              <a:t>3 1</a:t>
            </a:r>
            <a:endParaRPr lang="zh-CN" altLang="zh-CN" sz="1400" dirty="0"/>
          </a:p>
          <a:p>
            <a:r>
              <a:rPr lang="en-US" altLang="zh-CN" sz="1400" dirty="0"/>
              <a:t>3:</a:t>
            </a:r>
            <a:endParaRPr lang="zh-CN" altLang="zh-CN" sz="1400" dirty="0"/>
          </a:p>
          <a:p>
            <a:r>
              <a:rPr lang="en-US" altLang="zh-CN" sz="1400" dirty="0"/>
              <a:t>4:</a:t>
            </a:r>
            <a:endParaRPr lang="zh-CN" altLang="zh-CN" sz="1400" dirty="0"/>
          </a:p>
          <a:p>
            <a:r>
              <a:rPr lang="en-US" altLang="zh-CN" sz="1400" dirty="0"/>
              <a:t> </a:t>
            </a:r>
            <a:endParaRPr lang="zh-CN" altLang="zh-CN" sz="1400" dirty="0"/>
          </a:p>
          <a:p>
            <a:r>
              <a:rPr lang="zh-CN" altLang="zh-CN" sz="1400" b="1" dirty="0"/>
              <a:t>【数据范围】</a:t>
            </a:r>
            <a:endParaRPr lang="zh-CN" altLang="zh-CN" sz="1400" dirty="0"/>
          </a:p>
          <a:p>
            <a:r>
              <a:rPr lang="en-US" altLang="zh-CN" sz="1400" dirty="0" smtClean="0"/>
              <a:t>    </a:t>
            </a:r>
            <a:r>
              <a:rPr lang="zh-CN" altLang="zh-CN" sz="1400" dirty="0" smtClean="0"/>
              <a:t>对于</a:t>
            </a:r>
            <a:r>
              <a:rPr lang="en-US" altLang="zh-CN" sz="1400" dirty="0"/>
              <a:t>100%</a:t>
            </a:r>
            <a:r>
              <a:rPr lang="zh-CN" altLang="zh-CN" sz="1400" dirty="0"/>
              <a:t>的数据，</a:t>
            </a:r>
            <a:r>
              <a:rPr lang="en-US" altLang="zh-CN" sz="1400" dirty="0"/>
              <a:t>n&lt;=10000</a:t>
            </a:r>
            <a:r>
              <a:rPr lang="zh-CN" altLang="zh-CN" sz="1400" dirty="0"/>
              <a:t>，</a:t>
            </a:r>
            <a:r>
              <a:rPr lang="en-US" altLang="zh-CN" sz="1400" dirty="0"/>
              <a:t>m&lt;=1000000</a:t>
            </a:r>
            <a:r>
              <a:rPr lang="zh-CN" altLang="zh-CN" sz="1400" dirty="0"/>
              <a:t>，数据保证在</a:t>
            </a:r>
            <a:r>
              <a:rPr lang="en-US" altLang="zh-CN" sz="1400" dirty="0"/>
              <a:t>int</a:t>
            </a:r>
            <a:r>
              <a:rPr lang="zh-CN" altLang="zh-CN" sz="1400" dirty="0"/>
              <a:t>范围内。</a:t>
            </a:r>
          </a:p>
          <a:p>
            <a:endParaRPr lang="zh-CN" altLang="zh-CN" sz="1400" dirty="0"/>
          </a:p>
          <a:p>
            <a:pPr algn="just">
              <a:lnSpc>
                <a:spcPct val="120000"/>
              </a:lnSpc>
            </a:pP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4150658522"/>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24" grpId="0"/>
      <p:bldP spid="13" grpId="0"/>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0197363" y="4506451"/>
            <a:ext cx="1994638" cy="2351549"/>
          </a:xfrm>
          <a:prstGeom prst="rect">
            <a:avLst/>
          </a:prstGeom>
        </p:spPr>
      </p:pic>
      <p:pic>
        <p:nvPicPr>
          <p:cNvPr id="37" name="图片 36"/>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1"/>
            <a:ext cx="2346266" cy="1738323"/>
          </a:xfrm>
          <a:prstGeom prst="rect">
            <a:avLst/>
          </a:prstGeom>
        </p:spPr>
      </p:pic>
      <p:sp>
        <p:nvSpPr>
          <p:cNvPr id="38" name="文本框 29"/>
          <p:cNvSpPr txBox="1"/>
          <p:nvPr/>
        </p:nvSpPr>
        <p:spPr>
          <a:xfrm>
            <a:off x="1996803" y="254168"/>
            <a:ext cx="1826141" cy="584775"/>
          </a:xfrm>
          <a:prstGeom prst="rect">
            <a:avLst/>
          </a:prstGeom>
          <a:noFill/>
        </p:spPr>
        <p:txBody>
          <a:bodyPr wrap="none" rtlCol="0">
            <a:spAutoFit/>
            <a:scene3d>
              <a:camera prst="orthographicFront"/>
              <a:lightRig rig="threePt" dir="t"/>
            </a:scene3d>
            <a:sp3d extrusionH="12700"/>
          </a:bodyPr>
          <a:lstStyle/>
          <a:p>
            <a:r>
              <a:rPr lang="zh-CN" altLang="en-US" sz="3200" dirty="0" smtClean="0">
                <a:solidFill>
                  <a:schemeClr val="tx1">
                    <a:lumMod val="65000"/>
                    <a:lumOff val="35000"/>
                  </a:schemeClr>
                </a:solidFill>
                <a:cs typeface="+mn-ea"/>
                <a:sym typeface="+mn-lt"/>
              </a:rPr>
              <a:t>存储结构</a:t>
            </a:r>
            <a:endParaRPr lang="zh-CN" altLang="en-US" sz="3200" dirty="0">
              <a:solidFill>
                <a:schemeClr val="tx1">
                  <a:lumMod val="65000"/>
                  <a:lumOff val="35000"/>
                </a:schemeClr>
              </a:solidFill>
              <a:cs typeface="+mn-ea"/>
              <a:sym typeface="+mn-lt"/>
            </a:endParaRPr>
          </a:p>
        </p:txBody>
      </p:sp>
      <p:sp>
        <p:nvSpPr>
          <p:cNvPr id="39" name="矩形 38"/>
          <p:cNvSpPr/>
          <p:nvPr/>
        </p:nvSpPr>
        <p:spPr>
          <a:xfrm>
            <a:off x="1996803" y="776898"/>
            <a:ext cx="3792866" cy="276999"/>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200" u="none" strike="noStrike" kern="1200" cap="none" spc="0" normalizeH="0" baseline="0" noProof="0" dirty="0" smtClean="0">
                <a:ln>
                  <a:noFill/>
                </a:ln>
                <a:solidFill>
                  <a:schemeClr val="accent3"/>
                </a:solidFill>
                <a:effectLst/>
                <a:uLnTx/>
                <a:uFillTx/>
                <a:cs typeface="+mn-ea"/>
                <a:sym typeface="+mn-lt"/>
              </a:rPr>
              <a:t>Storage Structure</a:t>
            </a:r>
            <a:endParaRPr kumimoji="0" lang="zh-CN" altLang="en-US" sz="1200" u="none" strike="noStrike" kern="1200" cap="none" spc="0" normalizeH="0" baseline="0" noProof="0" dirty="0">
              <a:ln>
                <a:noFill/>
              </a:ln>
              <a:solidFill>
                <a:schemeClr val="accent3"/>
              </a:solidFill>
              <a:effectLst/>
              <a:uLnTx/>
              <a:uFillTx/>
              <a:cs typeface="+mn-ea"/>
              <a:sym typeface="+mn-lt"/>
            </a:endParaRPr>
          </a:p>
        </p:txBody>
      </p:sp>
      <p:cxnSp>
        <p:nvCxnSpPr>
          <p:cNvPr id="40" name="直接连接符 39"/>
          <p:cNvCxnSpPr/>
          <p:nvPr/>
        </p:nvCxnSpPr>
        <p:spPr>
          <a:xfrm>
            <a:off x="5671226" y="622570"/>
            <a:ext cx="6520774" cy="0"/>
          </a:xfrm>
          <a:prstGeom prst="line">
            <a:avLst/>
          </a:prstGeom>
          <a:ln w="50800" cmpd="thickThi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文本框 2919"/>
          <p:cNvSpPr txBox="1"/>
          <p:nvPr/>
        </p:nvSpPr>
        <p:spPr>
          <a:xfrm>
            <a:off x="9902215" y="177223"/>
            <a:ext cx="1864613" cy="369332"/>
          </a:xfrm>
          <a:prstGeom prst="rect">
            <a:avLst/>
          </a:prstGeom>
          <a:noFill/>
        </p:spPr>
        <p:txBody>
          <a:bodyPr wrap="none" rtlCol="0">
            <a:spAutoFit/>
            <a:scene3d>
              <a:camera prst="orthographicFront"/>
              <a:lightRig rig="threePt" dir="t"/>
            </a:scene3d>
            <a:sp3d extrusionH="12700"/>
          </a:bodyPr>
          <a:lstStyle/>
          <a:p>
            <a:pPr algn="ctr"/>
            <a:r>
              <a:rPr lang="zh-CN" altLang="en-US" dirty="0" smtClean="0">
                <a:solidFill>
                  <a:schemeClr val="bg1"/>
                </a:solidFill>
                <a:effectLst>
                  <a:outerShdw blurRad="203200" dist="38100" dir="5400000" algn="t" rotWithShape="0">
                    <a:prstClr val="black">
                      <a:alpha val="83000"/>
                    </a:prstClr>
                  </a:outerShdw>
                </a:effectLst>
                <a:cs typeface="+mn-ea"/>
                <a:sym typeface="+mn-lt"/>
              </a:rPr>
              <a:t>邻接表</a:t>
            </a:r>
            <a:r>
              <a:rPr lang="en-US" altLang="zh-CN" dirty="0" smtClean="0">
                <a:solidFill>
                  <a:schemeClr val="bg1"/>
                </a:solidFill>
                <a:effectLst>
                  <a:outerShdw blurRad="203200" dist="38100" dir="5400000" algn="t" rotWithShape="0">
                    <a:prstClr val="black">
                      <a:alpha val="83000"/>
                    </a:prstClr>
                  </a:outerShdw>
                </a:effectLst>
                <a:cs typeface="+mn-ea"/>
                <a:sym typeface="+mn-lt"/>
              </a:rPr>
              <a:t>/</a:t>
            </a:r>
            <a:r>
              <a:rPr lang="zh-CN" altLang="en-US" dirty="0" smtClean="0">
                <a:solidFill>
                  <a:schemeClr val="bg1"/>
                </a:solidFill>
                <a:effectLst>
                  <a:outerShdw blurRad="203200" dist="38100" dir="5400000" algn="t" rotWithShape="0">
                    <a:prstClr val="black">
                      <a:alpha val="83000"/>
                    </a:prstClr>
                  </a:outerShdw>
                </a:effectLst>
                <a:cs typeface="+mn-ea"/>
                <a:sym typeface="+mn-lt"/>
              </a:rPr>
              <a:t>矩阵不同</a:t>
            </a:r>
            <a:endParaRPr lang="zh-CN" altLang="en-US" dirty="0">
              <a:solidFill>
                <a:schemeClr val="bg1"/>
              </a:solidFill>
              <a:effectLst>
                <a:outerShdw blurRad="203200" dist="38100" dir="5400000" algn="t" rotWithShape="0">
                  <a:prstClr val="black">
                    <a:alpha val="83000"/>
                  </a:prstClr>
                </a:outerShdw>
              </a:effectLst>
              <a:cs typeface="+mn-ea"/>
              <a:sym typeface="+mn-lt"/>
            </a:endParaRPr>
          </a:p>
        </p:txBody>
      </p:sp>
      <p:sp>
        <p:nvSpPr>
          <p:cNvPr id="32" name="矩形 31"/>
          <p:cNvSpPr/>
          <p:nvPr/>
        </p:nvSpPr>
        <p:spPr>
          <a:xfrm>
            <a:off x="8678901" y="1435564"/>
            <a:ext cx="2613207" cy="2138278"/>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smtClean="0">
                <a:solidFill>
                  <a:schemeClr val="tx1">
                    <a:lumMod val="50000"/>
                    <a:lumOff val="50000"/>
                  </a:schemeClr>
                </a:solidFill>
                <a:cs typeface="+mn-ea"/>
                <a:sym typeface="+mn-lt"/>
              </a:rPr>
              <a:t>在</a:t>
            </a:r>
            <a:r>
              <a:rPr lang="zh-CN" altLang="en-US" sz="1400" dirty="0">
                <a:solidFill>
                  <a:schemeClr val="tx1">
                    <a:lumMod val="50000"/>
                    <a:lumOff val="50000"/>
                  </a:schemeClr>
                </a:solidFill>
                <a:cs typeface="+mn-ea"/>
                <a:sym typeface="+mn-lt"/>
              </a:rPr>
              <a:t>邻接表上容易找到任何</a:t>
            </a:r>
            <a:r>
              <a:rPr lang="zh-CN" altLang="en-US" sz="1400" dirty="0" smtClean="0">
                <a:solidFill>
                  <a:schemeClr val="tx1">
                    <a:lumMod val="50000"/>
                    <a:lumOff val="50000"/>
                  </a:schemeClr>
                </a:solidFill>
                <a:cs typeface="+mn-ea"/>
                <a:sym typeface="+mn-lt"/>
              </a:rPr>
              <a:t>一顶点的第一条边和</a:t>
            </a:r>
            <a:r>
              <a:rPr lang="zh-CN" altLang="en-US" sz="1400" dirty="0">
                <a:solidFill>
                  <a:schemeClr val="tx1">
                    <a:lumMod val="50000"/>
                    <a:lumOff val="50000"/>
                  </a:schemeClr>
                </a:solidFill>
                <a:cs typeface="+mn-ea"/>
                <a:sym typeface="+mn-lt"/>
              </a:rPr>
              <a:t>下</a:t>
            </a:r>
            <a:r>
              <a:rPr lang="zh-CN" altLang="en-US" sz="1400" dirty="0" smtClean="0">
                <a:solidFill>
                  <a:schemeClr val="tx1">
                    <a:lumMod val="50000"/>
                    <a:lumOff val="50000"/>
                  </a:schemeClr>
                </a:solidFill>
                <a:cs typeface="+mn-ea"/>
                <a:sym typeface="+mn-lt"/>
              </a:rPr>
              <a:t>一条边，以此确定对应的邻接点。</a:t>
            </a:r>
            <a:endParaRPr lang="en-US" altLang="zh-CN" sz="1400" dirty="0" smtClean="0">
              <a:solidFill>
                <a:schemeClr val="tx1">
                  <a:lumMod val="50000"/>
                  <a:lumOff val="50000"/>
                </a:schemeClr>
              </a:solidFill>
              <a:cs typeface="+mn-ea"/>
              <a:sym typeface="+mn-lt"/>
            </a:endParaRPr>
          </a:p>
          <a:p>
            <a:pPr algn="just">
              <a:lnSpc>
                <a:spcPct val="120000"/>
              </a:lnSpc>
            </a:pPr>
            <a:endParaRPr lang="en-US" altLang="zh-CN" sz="1400" dirty="0">
              <a:solidFill>
                <a:schemeClr val="tx1">
                  <a:lumMod val="50000"/>
                  <a:lumOff val="50000"/>
                </a:schemeClr>
              </a:solidFill>
              <a:cs typeface="+mn-ea"/>
              <a:sym typeface="+mn-lt"/>
            </a:endParaRPr>
          </a:p>
          <a:p>
            <a:pPr algn="just">
              <a:lnSpc>
                <a:spcPct val="120000"/>
              </a:lnSpc>
            </a:pPr>
            <a:r>
              <a:rPr lang="zh-CN" altLang="en-US" sz="1400" dirty="0" smtClean="0">
                <a:solidFill>
                  <a:schemeClr val="tx1">
                    <a:lumMod val="50000"/>
                    <a:lumOff val="50000"/>
                  </a:schemeClr>
                </a:solidFill>
                <a:cs typeface="+mn-ea"/>
                <a:sym typeface="+mn-lt"/>
              </a:rPr>
              <a:t>但</a:t>
            </a:r>
            <a:r>
              <a:rPr lang="zh-CN" altLang="en-US" sz="1400" dirty="0">
                <a:solidFill>
                  <a:schemeClr val="tx1">
                    <a:lumMod val="50000"/>
                    <a:lumOff val="50000"/>
                  </a:schemeClr>
                </a:solidFill>
                <a:cs typeface="+mn-ea"/>
                <a:sym typeface="+mn-lt"/>
              </a:rPr>
              <a:t>要判定任意两个顶点</a:t>
            </a:r>
            <a:r>
              <a:rPr lang="en-US" altLang="zh-CN" sz="1400" dirty="0">
                <a:solidFill>
                  <a:schemeClr val="tx1">
                    <a:lumMod val="50000"/>
                    <a:lumOff val="50000"/>
                  </a:schemeClr>
                </a:solidFill>
                <a:cs typeface="+mn-ea"/>
                <a:sym typeface="+mn-lt"/>
              </a:rPr>
              <a:t>(v</a:t>
            </a:r>
            <a:r>
              <a:rPr lang="en-US" altLang="zh-CN" sz="1400" baseline="-25000" dirty="0">
                <a:solidFill>
                  <a:schemeClr val="tx1">
                    <a:lumMod val="50000"/>
                    <a:lumOff val="50000"/>
                  </a:schemeClr>
                </a:solidFill>
                <a:cs typeface="+mn-ea"/>
                <a:sym typeface="+mn-lt"/>
              </a:rPr>
              <a:t>i</a:t>
            </a:r>
            <a:r>
              <a:rPr lang="zh-CN" altLang="en-US" sz="1400" dirty="0">
                <a:solidFill>
                  <a:schemeClr val="tx1">
                    <a:lumMod val="50000"/>
                    <a:lumOff val="50000"/>
                  </a:schemeClr>
                </a:solidFill>
                <a:cs typeface="+mn-ea"/>
                <a:sym typeface="+mn-lt"/>
              </a:rPr>
              <a:t>和</a:t>
            </a:r>
            <a:r>
              <a:rPr lang="en-US" altLang="zh-CN" sz="1400" dirty="0">
                <a:solidFill>
                  <a:schemeClr val="tx1">
                    <a:lumMod val="50000"/>
                    <a:lumOff val="50000"/>
                  </a:schemeClr>
                </a:solidFill>
                <a:cs typeface="+mn-ea"/>
                <a:sym typeface="+mn-lt"/>
              </a:rPr>
              <a:t>v</a:t>
            </a:r>
            <a:r>
              <a:rPr lang="en-US" altLang="zh-CN" sz="1400" baseline="-25000" dirty="0">
                <a:solidFill>
                  <a:schemeClr val="tx1">
                    <a:lumMod val="50000"/>
                    <a:lumOff val="50000"/>
                  </a:schemeClr>
                </a:solidFill>
                <a:cs typeface="+mn-ea"/>
                <a:sym typeface="+mn-lt"/>
              </a:rPr>
              <a:t>j</a:t>
            </a:r>
            <a:r>
              <a:rPr lang="en-US" altLang="zh-CN" sz="1400" dirty="0">
                <a:solidFill>
                  <a:schemeClr val="tx1">
                    <a:lumMod val="50000"/>
                    <a:lumOff val="50000"/>
                  </a:schemeClr>
                </a:solidFill>
                <a:cs typeface="+mn-ea"/>
                <a:sym typeface="+mn-lt"/>
              </a:rPr>
              <a:t>)</a:t>
            </a:r>
            <a:r>
              <a:rPr lang="zh-CN" altLang="en-US" sz="1400" dirty="0">
                <a:solidFill>
                  <a:schemeClr val="tx1">
                    <a:lumMod val="50000"/>
                    <a:lumOff val="50000"/>
                  </a:schemeClr>
                </a:solidFill>
                <a:cs typeface="+mn-ea"/>
                <a:sym typeface="+mn-lt"/>
              </a:rPr>
              <a:t>之间是否有边或弧相连，则需搜索第</a:t>
            </a:r>
            <a:r>
              <a:rPr lang="en-US" altLang="zh-CN" sz="1400" dirty="0">
                <a:solidFill>
                  <a:schemeClr val="tx1">
                    <a:lumMod val="50000"/>
                    <a:lumOff val="50000"/>
                  </a:schemeClr>
                </a:solidFill>
                <a:cs typeface="+mn-ea"/>
                <a:sym typeface="+mn-lt"/>
              </a:rPr>
              <a:t>i</a:t>
            </a:r>
            <a:r>
              <a:rPr lang="zh-CN" altLang="en-US" sz="1400" dirty="0">
                <a:solidFill>
                  <a:schemeClr val="tx1">
                    <a:lumMod val="50000"/>
                    <a:lumOff val="50000"/>
                  </a:schemeClr>
                </a:solidFill>
                <a:cs typeface="+mn-ea"/>
                <a:sym typeface="+mn-lt"/>
              </a:rPr>
              <a:t>个或第</a:t>
            </a:r>
            <a:r>
              <a:rPr lang="en-US" altLang="zh-CN" sz="1400" dirty="0">
                <a:solidFill>
                  <a:schemeClr val="tx1">
                    <a:lumMod val="50000"/>
                    <a:lumOff val="50000"/>
                  </a:schemeClr>
                </a:solidFill>
                <a:cs typeface="+mn-ea"/>
                <a:sym typeface="+mn-lt"/>
              </a:rPr>
              <a:t>j</a:t>
            </a:r>
            <a:r>
              <a:rPr lang="zh-CN" altLang="en-US" sz="1400" dirty="0">
                <a:solidFill>
                  <a:schemeClr val="tx1">
                    <a:lumMod val="50000"/>
                    <a:lumOff val="50000"/>
                  </a:schemeClr>
                </a:solidFill>
                <a:cs typeface="+mn-ea"/>
                <a:sym typeface="+mn-lt"/>
              </a:rPr>
              <a:t>个链表，因此，不及邻接矩阵方便。</a:t>
            </a:r>
          </a:p>
        </p:txBody>
      </p:sp>
      <p:sp>
        <p:nvSpPr>
          <p:cNvPr id="28" name="矩形 27"/>
          <p:cNvSpPr/>
          <p:nvPr/>
        </p:nvSpPr>
        <p:spPr>
          <a:xfrm>
            <a:off x="891049" y="2382146"/>
            <a:ext cx="2613207" cy="58708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smtClean="0">
                <a:solidFill>
                  <a:schemeClr val="tx1">
                    <a:lumMod val="50000"/>
                    <a:lumOff val="50000"/>
                  </a:schemeClr>
                </a:solidFill>
                <a:cs typeface="+mn-ea"/>
                <a:sym typeface="+mn-lt"/>
              </a:rPr>
              <a:t>邻接矩阵</a:t>
            </a:r>
            <a:r>
              <a:rPr lang="zh-CN" altLang="en-US" sz="1400" dirty="0">
                <a:solidFill>
                  <a:schemeClr val="tx1">
                    <a:lumMod val="50000"/>
                    <a:lumOff val="50000"/>
                  </a:schemeClr>
                </a:solidFill>
                <a:cs typeface="+mn-ea"/>
                <a:sym typeface="+mn-lt"/>
              </a:rPr>
              <a:t>适合于稠密图，而对于稀疏图，可以考虑用邻接表。</a:t>
            </a:r>
          </a:p>
        </p:txBody>
      </p:sp>
      <p:sp>
        <p:nvSpPr>
          <p:cNvPr id="25" name="矩形 24"/>
          <p:cNvSpPr/>
          <p:nvPr/>
        </p:nvSpPr>
        <p:spPr>
          <a:xfrm>
            <a:off x="891049" y="4266125"/>
            <a:ext cx="2613207" cy="845616"/>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smtClean="0">
                <a:solidFill>
                  <a:schemeClr val="tx1">
                    <a:lumMod val="50000"/>
                    <a:lumOff val="50000"/>
                  </a:schemeClr>
                </a:solidFill>
                <a:cs typeface="+mn-ea"/>
                <a:sym typeface="+mn-lt"/>
              </a:rPr>
              <a:t>邻接</a:t>
            </a:r>
            <a:r>
              <a:rPr lang="zh-CN" altLang="en-US" sz="1400" dirty="0">
                <a:solidFill>
                  <a:schemeClr val="tx1">
                    <a:lumMod val="50000"/>
                    <a:lumOff val="50000"/>
                  </a:schemeClr>
                </a:solidFill>
                <a:cs typeface="+mn-ea"/>
                <a:sym typeface="+mn-lt"/>
              </a:rPr>
              <a:t>表比邻接矩阵更为节省存储空间，当与边相关信息较多时更是如此。</a:t>
            </a:r>
          </a:p>
        </p:txBody>
      </p:sp>
      <p:grpSp>
        <p:nvGrpSpPr>
          <p:cNvPr id="34" name="06710b0c-06b8-47f1-86c9-9b67bf249bb5">
            <a:extLst>
              <a:ext uri="{FF2B5EF4-FFF2-40B4-BE49-F238E27FC236}">
                <a16:creationId xmlns="" xmlns:a16="http://schemas.microsoft.com/office/drawing/2014/main" id="{7A400A55-5C16-4A91-A1DF-C004ECCA530D}"/>
              </a:ext>
            </a:extLst>
          </p:cNvPr>
          <p:cNvGrpSpPr>
            <a:grpSpLocks noChangeAspect="1"/>
          </p:cNvGrpSpPr>
          <p:nvPr/>
        </p:nvGrpSpPr>
        <p:grpSpPr>
          <a:xfrm>
            <a:off x="1307468" y="1089025"/>
            <a:ext cx="7058009" cy="5249109"/>
            <a:chOff x="1307468" y="1028700"/>
            <a:chExt cx="7058009" cy="5249109"/>
          </a:xfrm>
        </p:grpSpPr>
        <p:grpSp>
          <p:nvGrpSpPr>
            <p:cNvPr id="35" name="组合 34">
              <a:extLst>
                <a:ext uri="{FF2B5EF4-FFF2-40B4-BE49-F238E27FC236}">
                  <a16:creationId xmlns="" xmlns:a16="http://schemas.microsoft.com/office/drawing/2014/main" id="{D4AB8B28-29F2-4657-8EDC-423D187D1BF7}"/>
                </a:ext>
              </a:extLst>
            </p:cNvPr>
            <p:cNvGrpSpPr/>
            <p:nvPr/>
          </p:nvGrpSpPr>
          <p:grpSpPr>
            <a:xfrm>
              <a:off x="3755740" y="1028700"/>
              <a:ext cx="4609737" cy="5249109"/>
              <a:chOff x="3755740" y="1028700"/>
              <a:chExt cx="4609737" cy="5249109"/>
            </a:xfrm>
          </p:grpSpPr>
          <p:grpSp>
            <p:nvGrpSpPr>
              <p:cNvPr id="48" name="组合 47"/>
              <p:cNvGrpSpPr/>
              <p:nvPr/>
            </p:nvGrpSpPr>
            <p:grpSpPr>
              <a:xfrm>
                <a:off x="4033411" y="2517176"/>
                <a:ext cx="4332066" cy="3760633"/>
                <a:chOff x="0" y="0"/>
                <a:chExt cx="6684956" cy="5803158"/>
              </a:xfrm>
            </p:grpSpPr>
            <p:sp>
              <p:nvSpPr>
                <p:cNvPr id="69" name="任意多边形: 形状 205"/>
                <p:cNvSpPr/>
                <p:nvPr/>
              </p:nvSpPr>
              <p:spPr>
                <a:xfrm>
                  <a:off x="2805398" y="2946400"/>
                  <a:ext cx="594023" cy="2856758"/>
                </a:xfrm>
                <a:custGeom>
                  <a:avLst/>
                  <a:gdLst/>
                  <a:ahLst/>
                  <a:cxnLst>
                    <a:cxn ang="0">
                      <a:pos x="wd2" y="hd2"/>
                    </a:cxn>
                    <a:cxn ang="5400000">
                      <a:pos x="wd2" y="hd2"/>
                    </a:cxn>
                    <a:cxn ang="10800000">
                      <a:pos x="wd2" y="hd2"/>
                    </a:cxn>
                    <a:cxn ang="16200000">
                      <a:pos x="wd2" y="hd2"/>
                    </a:cxn>
                  </a:cxnLst>
                  <a:rect l="0" t="0" r="r" b="b"/>
                  <a:pathLst>
                    <a:path w="21338" h="21444" extrusionOk="0">
                      <a:moveTo>
                        <a:pt x="19859" y="0"/>
                      </a:moveTo>
                      <a:cubicBezTo>
                        <a:pt x="19039" y="-1"/>
                        <a:pt x="18371" y="137"/>
                        <a:pt x="18367" y="309"/>
                      </a:cubicBezTo>
                      <a:lnTo>
                        <a:pt x="18273" y="20473"/>
                      </a:lnTo>
                      <a:cubicBezTo>
                        <a:pt x="15690" y="20750"/>
                        <a:pt x="12745" y="20845"/>
                        <a:pt x="9883" y="20743"/>
                      </a:cubicBezTo>
                      <a:cubicBezTo>
                        <a:pt x="7338" y="20651"/>
                        <a:pt x="4912" y="20396"/>
                        <a:pt x="3658" y="19928"/>
                      </a:cubicBezTo>
                      <a:cubicBezTo>
                        <a:pt x="2811" y="19611"/>
                        <a:pt x="2640" y="19235"/>
                        <a:pt x="3187" y="18891"/>
                      </a:cubicBezTo>
                      <a:cubicBezTo>
                        <a:pt x="3074" y="18818"/>
                        <a:pt x="2835" y="18757"/>
                        <a:pt x="2515" y="18720"/>
                      </a:cubicBezTo>
                      <a:cubicBezTo>
                        <a:pt x="1646" y="18619"/>
                        <a:pt x="584" y="18701"/>
                        <a:pt x="229" y="18891"/>
                      </a:cubicBezTo>
                      <a:cubicBezTo>
                        <a:pt x="-262" y="19313"/>
                        <a:pt x="42" y="19759"/>
                        <a:pt x="1076" y="20136"/>
                      </a:cubicBezTo>
                      <a:cubicBezTo>
                        <a:pt x="2476" y="20646"/>
                        <a:pt x="4960" y="20959"/>
                        <a:pt x="7584" y="21172"/>
                      </a:cubicBezTo>
                      <a:cubicBezTo>
                        <a:pt x="11806" y="21516"/>
                        <a:pt x="16630" y="21599"/>
                        <a:pt x="20168" y="21029"/>
                      </a:cubicBezTo>
                      <a:cubicBezTo>
                        <a:pt x="20468" y="20981"/>
                        <a:pt x="20751" y="20928"/>
                        <a:pt x="21015" y="20872"/>
                      </a:cubicBezTo>
                      <a:lnTo>
                        <a:pt x="21338" y="309"/>
                      </a:lnTo>
                      <a:cubicBezTo>
                        <a:pt x="21335" y="138"/>
                        <a:pt x="20674" y="0"/>
                        <a:pt x="19859" y="0"/>
                      </a:cubicBezTo>
                      <a:close/>
                    </a:path>
                  </a:pathLst>
                </a:custGeom>
                <a:solidFill>
                  <a:srgbClr val="EDEFF3"/>
                </a:solidFill>
                <a:ln w="12700" cap="flat">
                  <a:no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70" name="矩形: 圆角 206"/>
                <p:cNvSpPr/>
                <p:nvPr/>
              </p:nvSpPr>
              <p:spPr>
                <a:xfrm>
                  <a:off x="3306274" y="0"/>
                  <a:ext cx="82423" cy="172204"/>
                </a:xfrm>
                <a:prstGeom prst="roundRect">
                  <a:avLst>
                    <a:gd name="adj" fmla="val 50000"/>
                  </a:avLst>
                </a:prstGeom>
                <a:solidFill>
                  <a:srgbClr val="E8E9ED"/>
                </a:solidFill>
                <a:ln w="6350" cap="flat">
                  <a:solidFill>
                    <a:srgbClr val="A6AAA9"/>
                  </a:solidFill>
                  <a:prstDash val="solid"/>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71" name="任意多边形: 形状 207"/>
                <p:cNvSpPr/>
                <p:nvPr/>
              </p:nvSpPr>
              <p:spPr>
                <a:xfrm>
                  <a:off x="3344690" y="150110"/>
                  <a:ext cx="3340266" cy="29774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0800"/>
                        <a:pt x="0" y="16200"/>
                        <a:pt x="0" y="18900"/>
                      </a:cubicBezTo>
                      <a:cubicBezTo>
                        <a:pt x="0" y="21600"/>
                        <a:pt x="0" y="21600"/>
                        <a:pt x="0" y="21600"/>
                      </a:cubicBezTo>
                      <a:cubicBezTo>
                        <a:pt x="1185" y="19661"/>
                        <a:pt x="3149" y="18406"/>
                        <a:pt x="5383" y="18406"/>
                      </a:cubicBezTo>
                      <a:cubicBezTo>
                        <a:pt x="7651" y="18406"/>
                        <a:pt x="9615" y="19661"/>
                        <a:pt x="10800" y="21600"/>
                      </a:cubicBezTo>
                      <a:cubicBezTo>
                        <a:pt x="12320" y="20414"/>
                        <a:pt x="14135" y="19727"/>
                        <a:pt x="16098" y="19697"/>
                      </a:cubicBezTo>
                      <a:cubicBezTo>
                        <a:pt x="18119" y="19666"/>
                        <a:pt x="20023" y="20355"/>
                        <a:pt x="21600" y="21562"/>
                      </a:cubicBezTo>
                      <a:cubicBezTo>
                        <a:pt x="20974" y="15496"/>
                        <a:pt x="18358" y="10106"/>
                        <a:pt x="14507" y="6232"/>
                      </a:cubicBezTo>
                      <a:cubicBezTo>
                        <a:pt x="10656" y="2358"/>
                        <a:pt x="5569" y="0"/>
                        <a:pt x="0" y="0"/>
                      </a:cubicBezTo>
                      <a:close/>
                    </a:path>
                  </a:pathLst>
                </a:custGeom>
                <a:solidFill>
                  <a:schemeClr val="accent3"/>
                </a:solidFill>
                <a:ln w="12700" cap="flat">
                  <a:solidFill>
                    <a:schemeClr val="bg1"/>
                  </a:solid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72" name="任意多边形: 形状 208"/>
                <p:cNvSpPr/>
                <p:nvPr/>
              </p:nvSpPr>
              <p:spPr>
                <a:xfrm>
                  <a:off x="0" y="150110"/>
                  <a:ext cx="3344691" cy="297748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cubicBezTo>
                        <a:pt x="16023" y="0"/>
                        <a:pt x="10935" y="2358"/>
                        <a:pt x="7086" y="6237"/>
                      </a:cubicBezTo>
                      <a:cubicBezTo>
                        <a:pt x="3237" y="10115"/>
                        <a:pt x="625" y="15515"/>
                        <a:pt x="0" y="21600"/>
                      </a:cubicBezTo>
                      <a:cubicBezTo>
                        <a:pt x="1591" y="20653"/>
                        <a:pt x="3392" y="20120"/>
                        <a:pt x="5268" y="20094"/>
                      </a:cubicBezTo>
                      <a:cubicBezTo>
                        <a:pt x="7242" y="20068"/>
                        <a:pt x="9145" y="20605"/>
                        <a:pt x="10817" y="21600"/>
                      </a:cubicBezTo>
                      <a:cubicBezTo>
                        <a:pt x="12318" y="20515"/>
                        <a:pt x="14068" y="19878"/>
                        <a:pt x="15932" y="19824"/>
                      </a:cubicBezTo>
                      <a:cubicBezTo>
                        <a:pt x="17983" y="19765"/>
                        <a:pt x="19951" y="20410"/>
                        <a:pt x="21600" y="21600"/>
                      </a:cubicBezTo>
                      <a:lnTo>
                        <a:pt x="21600" y="0"/>
                      </a:lnTo>
                      <a:close/>
                    </a:path>
                  </a:pathLst>
                </a:custGeom>
                <a:solidFill>
                  <a:schemeClr val="accent3"/>
                </a:solidFill>
                <a:ln w="12700" cap="flat">
                  <a:solidFill>
                    <a:schemeClr val="bg1"/>
                  </a:solid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73" name="任意多边形: 形状 209"/>
                <p:cNvSpPr/>
                <p:nvPr/>
              </p:nvSpPr>
              <p:spPr>
                <a:xfrm>
                  <a:off x="1667919" y="150110"/>
                  <a:ext cx="1670134" cy="2966421"/>
                </a:xfrm>
                <a:custGeom>
                  <a:avLst/>
                  <a:gdLst/>
                  <a:ahLst/>
                  <a:cxnLst>
                    <a:cxn ang="0">
                      <a:pos x="wd2" y="hd2"/>
                    </a:cxn>
                    <a:cxn ang="5400000">
                      <a:pos x="wd2" y="hd2"/>
                    </a:cxn>
                    <a:cxn ang="10800000">
                      <a:pos x="wd2" y="hd2"/>
                    </a:cxn>
                    <a:cxn ang="16200000">
                      <a:pos x="wd2" y="hd2"/>
                    </a:cxn>
                  </a:cxnLst>
                  <a:rect l="0" t="0" r="r" b="b"/>
                  <a:pathLst>
                    <a:path w="21600" h="21600" extrusionOk="0">
                      <a:moveTo>
                        <a:pt x="10626" y="19918"/>
                      </a:moveTo>
                      <a:cubicBezTo>
                        <a:pt x="14583" y="19893"/>
                        <a:pt x="18370" y="20488"/>
                        <a:pt x="21600" y="21562"/>
                      </a:cubicBezTo>
                      <a:cubicBezTo>
                        <a:pt x="21600" y="10781"/>
                        <a:pt x="21600" y="5390"/>
                        <a:pt x="21600" y="2695"/>
                      </a:cubicBezTo>
                      <a:cubicBezTo>
                        <a:pt x="21600" y="0"/>
                        <a:pt x="21600" y="0"/>
                        <a:pt x="21600" y="0"/>
                      </a:cubicBezTo>
                      <a:cubicBezTo>
                        <a:pt x="21566" y="0"/>
                        <a:pt x="21549" y="0"/>
                        <a:pt x="21532" y="0"/>
                      </a:cubicBezTo>
                      <a:cubicBezTo>
                        <a:pt x="21515" y="0"/>
                        <a:pt x="21498" y="0"/>
                        <a:pt x="21465" y="0"/>
                      </a:cubicBezTo>
                      <a:cubicBezTo>
                        <a:pt x="15912" y="38"/>
                        <a:pt x="10868" y="2404"/>
                        <a:pt x="7050" y="6273"/>
                      </a:cubicBezTo>
                      <a:cubicBezTo>
                        <a:pt x="3233" y="10142"/>
                        <a:pt x="643" y="15513"/>
                        <a:pt x="0" y="21562"/>
                      </a:cubicBezTo>
                      <a:cubicBezTo>
                        <a:pt x="0" y="21581"/>
                        <a:pt x="0" y="21590"/>
                        <a:pt x="0" y="21595"/>
                      </a:cubicBezTo>
                      <a:cubicBezTo>
                        <a:pt x="0" y="21600"/>
                        <a:pt x="0" y="21600"/>
                        <a:pt x="0" y="21600"/>
                      </a:cubicBezTo>
                      <a:cubicBezTo>
                        <a:pt x="68" y="21543"/>
                        <a:pt x="118" y="21514"/>
                        <a:pt x="169" y="21505"/>
                      </a:cubicBezTo>
                      <a:cubicBezTo>
                        <a:pt x="220" y="21495"/>
                        <a:pt x="271" y="21505"/>
                        <a:pt x="339" y="21524"/>
                      </a:cubicBezTo>
                      <a:cubicBezTo>
                        <a:pt x="3403" y="20510"/>
                        <a:pt x="6920" y="19941"/>
                        <a:pt x="10626" y="19918"/>
                      </a:cubicBezTo>
                      <a:close/>
                    </a:path>
                  </a:pathLst>
                </a:custGeom>
                <a:solidFill>
                  <a:schemeClr val="accent3"/>
                </a:solidFill>
                <a:ln w="12700" cap="flat">
                  <a:solidFill>
                    <a:schemeClr val="bg1"/>
                  </a:solid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74" name="任意多边形: 形状 210"/>
                <p:cNvSpPr/>
                <p:nvPr/>
              </p:nvSpPr>
              <p:spPr>
                <a:xfrm>
                  <a:off x="3338053" y="150110"/>
                  <a:ext cx="1670134" cy="29774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34" y="21505"/>
                        <a:pt x="85" y="21438"/>
                        <a:pt x="144" y="21396"/>
                      </a:cubicBezTo>
                      <a:cubicBezTo>
                        <a:pt x="203" y="21353"/>
                        <a:pt x="271" y="21334"/>
                        <a:pt x="339" y="21334"/>
                      </a:cubicBezTo>
                      <a:cubicBezTo>
                        <a:pt x="3480" y="20275"/>
                        <a:pt x="7145" y="19697"/>
                        <a:pt x="11005" y="19729"/>
                      </a:cubicBezTo>
                      <a:cubicBezTo>
                        <a:pt x="14804" y="19760"/>
                        <a:pt x="18323" y="20370"/>
                        <a:pt x="21397" y="21410"/>
                      </a:cubicBezTo>
                      <a:cubicBezTo>
                        <a:pt x="21431" y="21429"/>
                        <a:pt x="21465" y="21448"/>
                        <a:pt x="21498" y="21476"/>
                      </a:cubicBezTo>
                      <a:cubicBezTo>
                        <a:pt x="21532" y="21505"/>
                        <a:pt x="21566" y="21543"/>
                        <a:pt x="21600" y="21600"/>
                      </a:cubicBezTo>
                      <a:lnTo>
                        <a:pt x="21600" y="21600"/>
                      </a:lnTo>
                      <a:cubicBezTo>
                        <a:pt x="20957" y="15515"/>
                        <a:pt x="18350" y="10115"/>
                        <a:pt x="14507" y="6237"/>
                      </a:cubicBezTo>
                      <a:cubicBezTo>
                        <a:pt x="10665" y="2358"/>
                        <a:pt x="5586" y="0"/>
                        <a:pt x="0" y="0"/>
                      </a:cubicBezTo>
                      <a:lnTo>
                        <a:pt x="0" y="0"/>
                      </a:lnTo>
                      <a:lnTo>
                        <a:pt x="0" y="21600"/>
                      </a:lnTo>
                      <a:close/>
                    </a:path>
                  </a:pathLst>
                </a:custGeom>
                <a:solidFill>
                  <a:schemeClr val="accent3"/>
                </a:solidFill>
                <a:ln w="12700" cap="flat">
                  <a:solidFill>
                    <a:schemeClr val="bg1"/>
                  </a:solid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nvGrpSpPr>
              <p:cNvPr id="49" name="组合 48">
                <a:extLst>
                  <a:ext uri="{FF2B5EF4-FFF2-40B4-BE49-F238E27FC236}">
                    <a16:creationId xmlns="" xmlns:a16="http://schemas.microsoft.com/office/drawing/2014/main" id="{43C2A1F9-7E4D-4586-814E-B7C0BAB34BD9}"/>
                  </a:ext>
                </a:extLst>
              </p:cNvPr>
              <p:cNvGrpSpPr/>
              <p:nvPr/>
            </p:nvGrpSpPr>
            <p:grpSpPr>
              <a:xfrm>
                <a:off x="3755740" y="1028700"/>
                <a:ext cx="4584272" cy="2419583"/>
                <a:chOff x="3755740" y="1028700"/>
                <a:chExt cx="4584272" cy="2419583"/>
              </a:xfrm>
            </p:grpSpPr>
            <p:sp>
              <p:nvSpPr>
                <p:cNvPr id="50" name="直接连接符 49"/>
                <p:cNvSpPr/>
                <p:nvPr/>
              </p:nvSpPr>
              <p:spPr>
                <a:xfrm flipV="1">
                  <a:off x="3755740"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1" name="直接连接符 50"/>
                <p:cNvSpPr/>
                <p:nvPr/>
              </p:nvSpPr>
              <p:spPr>
                <a:xfrm flipV="1">
                  <a:off x="4039303"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2" name="直接连接符 51"/>
                <p:cNvSpPr/>
                <p:nvPr/>
              </p:nvSpPr>
              <p:spPr>
                <a:xfrm flipV="1">
                  <a:off x="4535538" y="1884107"/>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4" name="直接连接符 53"/>
                <p:cNvSpPr/>
                <p:nvPr/>
              </p:nvSpPr>
              <p:spPr>
                <a:xfrm flipV="1">
                  <a:off x="5197186" y="1624174"/>
                  <a:ext cx="1" cy="112054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5" name="直接连接符 54"/>
                <p:cNvSpPr/>
                <p:nvPr/>
              </p:nvSpPr>
              <p:spPr>
                <a:xfrm flipV="1">
                  <a:off x="5693421" y="1028700"/>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6" name="直接连接符 55"/>
                <p:cNvSpPr/>
                <p:nvPr/>
              </p:nvSpPr>
              <p:spPr>
                <a:xfrm flipV="1">
                  <a:off x="6355070" y="1028700"/>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7" name="直接连接符 56"/>
                <p:cNvSpPr/>
                <p:nvPr/>
              </p:nvSpPr>
              <p:spPr>
                <a:xfrm flipV="1">
                  <a:off x="6851305" y="1265004"/>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8" name="直接连接符 57"/>
                <p:cNvSpPr/>
                <p:nvPr/>
              </p:nvSpPr>
              <p:spPr>
                <a:xfrm flipV="1">
                  <a:off x="7347541" y="1624174"/>
                  <a:ext cx="1" cy="112054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59" name="直接连接符 58"/>
                <p:cNvSpPr/>
                <p:nvPr/>
              </p:nvSpPr>
              <p:spPr>
                <a:xfrm flipV="1">
                  <a:off x="7843775" y="1884107"/>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0" name="直接连接符 59"/>
                <p:cNvSpPr/>
                <p:nvPr/>
              </p:nvSpPr>
              <p:spPr>
                <a:xfrm flipV="1">
                  <a:off x="8009188" y="2238561"/>
                  <a:ext cx="1" cy="1120543"/>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1" name="直接连接符 60"/>
                <p:cNvSpPr/>
                <p:nvPr/>
              </p:nvSpPr>
              <p:spPr>
                <a:xfrm flipV="1">
                  <a:off x="7595658" y="199947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2" name="直接连接符 61"/>
                <p:cNvSpPr/>
                <p:nvPr/>
              </p:nvSpPr>
              <p:spPr>
                <a:xfrm flipV="1">
                  <a:off x="7182128" y="175335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3" name="直接连接符 62"/>
                <p:cNvSpPr/>
                <p:nvPr/>
              </p:nvSpPr>
              <p:spPr>
                <a:xfrm flipV="1">
                  <a:off x="6685893" y="1537224"/>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4" name="直接连接符 63"/>
                <p:cNvSpPr/>
                <p:nvPr/>
              </p:nvSpPr>
              <p:spPr>
                <a:xfrm flipV="1">
                  <a:off x="6021159" y="1459872"/>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5" name="直接连接符 64"/>
                <p:cNvSpPr/>
                <p:nvPr/>
              </p:nvSpPr>
              <p:spPr>
                <a:xfrm flipV="1">
                  <a:off x="5445304" y="1753351"/>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6" name="直接连接符 65"/>
                <p:cNvSpPr/>
                <p:nvPr/>
              </p:nvSpPr>
              <p:spPr>
                <a:xfrm flipV="1">
                  <a:off x="4869449" y="1816639"/>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7" name="直接连接符 66"/>
                <p:cNvSpPr/>
                <p:nvPr/>
              </p:nvSpPr>
              <p:spPr>
                <a:xfrm flipV="1">
                  <a:off x="4287421" y="1816639"/>
                  <a:ext cx="1" cy="576102"/>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sp>
              <p:nvSpPr>
                <p:cNvPr id="68" name="直接连接符 67"/>
                <p:cNvSpPr/>
                <p:nvPr/>
              </p:nvSpPr>
              <p:spPr>
                <a:xfrm flipV="1">
                  <a:off x="8340011" y="2454709"/>
                  <a:ext cx="1" cy="993574"/>
                </a:xfrm>
                <a:prstGeom prst="line">
                  <a:avLst/>
                </a:prstGeom>
                <a:ln>
                  <a:gradFill flip="none" rotWithShape="1">
                    <a:gsLst>
                      <a:gs pos="0">
                        <a:schemeClr val="accent1">
                          <a:lumMod val="5000"/>
                          <a:lumOff val="95000"/>
                        </a:schemeClr>
                      </a:gs>
                      <a:gs pos="46000">
                        <a:schemeClr val="accent1">
                          <a:lumMod val="45000"/>
                          <a:lumOff val="55000"/>
                        </a:schemeClr>
                      </a:gs>
                      <a:gs pos="83000">
                        <a:schemeClr val="accent1">
                          <a:lumMod val="45000"/>
                          <a:lumOff val="55000"/>
                        </a:schemeClr>
                      </a:gs>
                      <a:gs pos="100000">
                        <a:schemeClr val="accent1">
                          <a:lumMod val="0"/>
                          <a:lumOff val="100000"/>
                        </a:schemeClr>
                      </a:gs>
                    </a:gsLst>
                    <a:lin ang="16200000" scaled="1"/>
                    <a:tileRect/>
                  </a:gradFill>
                  <a:miter lim="4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dirty="0">
                    <a:cs typeface="+mn-ea"/>
                    <a:sym typeface="+mn-lt"/>
                  </a:endParaRPr>
                </a:p>
              </p:txBody>
            </p:sp>
          </p:grpSp>
        </p:grpSp>
        <p:cxnSp>
          <p:nvCxnSpPr>
            <p:cNvPr id="47" name="直接连接符 46">
              <a:extLst>
                <a:ext uri="{FF2B5EF4-FFF2-40B4-BE49-F238E27FC236}">
                  <a16:creationId xmlns="" xmlns:a16="http://schemas.microsoft.com/office/drawing/2014/main" id="{BF558152-580E-4462-9934-207AEC2C1979}"/>
                </a:ext>
              </a:extLst>
            </p:cNvPr>
            <p:cNvCxnSpPr/>
            <p:nvPr/>
          </p:nvCxnSpPr>
          <p:spPr>
            <a:xfrm>
              <a:off x="1307468" y="3637493"/>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2" name="任意多边形: 形状 179">
              <a:extLst>
                <a:ext uri="{FF2B5EF4-FFF2-40B4-BE49-F238E27FC236}">
                  <a16:creationId xmlns="" xmlns:a16="http://schemas.microsoft.com/office/drawing/2014/main" id="{096894A5-B668-4DE5-9F73-D871F61910DA}"/>
                </a:ext>
              </a:extLst>
            </p:cNvPr>
            <p:cNvSpPr/>
            <p:nvPr/>
          </p:nvSpPr>
          <p:spPr>
            <a:xfrm>
              <a:off x="4398856" y="3673024"/>
              <a:ext cx="538904" cy="490981"/>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43" name="任意多边形: 形状 180">
              <a:extLst>
                <a:ext uri="{FF2B5EF4-FFF2-40B4-BE49-F238E27FC236}">
                  <a16:creationId xmlns="" xmlns:a16="http://schemas.microsoft.com/office/drawing/2014/main" id="{E69B1072-4347-47F6-8C60-7BDEA8E9D0FA}"/>
                </a:ext>
              </a:extLst>
            </p:cNvPr>
            <p:cNvSpPr/>
            <p:nvPr/>
          </p:nvSpPr>
          <p:spPr>
            <a:xfrm>
              <a:off x="5404696" y="3759281"/>
              <a:ext cx="538904" cy="39974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44" name="任意多边形: 形状 181">
              <a:extLst>
                <a:ext uri="{FF2B5EF4-FFF2-40B4-BE49-F238E27FC236}">
                  <a16:creationId xmlns="" xmlns:a16="http://schemas.microsoft.com/office/drawing/2014/main" id="{BC1532EB-56F7-477B-8C6D-79B15409B160}"/>
                </a:ext>
              </a:extLst>
            </p:cNvPr>
            <p:cNvSpPr/>
            <p:nvPr/>
          </p:nvSpPr>
          <p:spPr>
            <a:xfrm>
              <a:off x="6416441" y="3713708"/>
              <a:ext cx="538904" cy="490895"/>
            </a:xfrm>
            <a:custGeom>
              <a:avLst/>
              <a:gdLst>
                <a:gd name="connsiteX0" fmla="*/ 182569 w 338094"/>
                <a:gd name="connsiteY0" fmla="*/ 192088 h 307975"/>
                <a:gd name="connsiteX1" fmla="*/ 191830 w 338094"/>
                <a:gd name="connsiteY1" fmla="*/ 202620 h 307975"/>
                <a:gd name="connsiteX2" fmla="*/ 206382 w 338094"/>
                <a:gd name="connsiteY2" fmla="*/ 203936 h 307975"/>
                <a:gd name="connsiteX3" fmla="*/ 205059 w 338094"/>
                <a:gd name="connsiteY3" fmla="*/ 209202 h 307975"/>
                <a:gd name="connsiteX4" fmla="*/ 206382 w 338094"/>
                <a:gd name="connsiteY4" fmla="*/ 221050 h 307975"/>
                <a:gd name="connsiteX5" fmla="*/ 206382 w 338094"/>
                <a:gd name="connsiteY5" fmla="*/ 234215 h 307975"/>
                <a:gd name="connsiteX6" fmla="*/ 194476 w 338094"/>
                <a:gd name="connsiteY6" fmla="*/ 246063 h 307975"/>
                <a:gd name="connsiteX7" fmla="*/ 182569 w 338094"/>
                <a:gd name="connsiteY7" fmla="*/ 234215 h 307975"/>
                <a:gd name="connsiteX8" fmla="*/ 182569 w 338094"/>
                <a:gd name="connsiteY8" fmla="*/ 192088 h 307975"/>
                <a:gd name="connsiteX9" fmla="*/ 149231 w 338094"/>
                <a:gd name="connsiteY9" fmla="*/ 183859 h 307975"/>
                <a:gd name="connsiteX10" fmla="*/ 173044 w 338094"/>
                <a:gd name="connsiteY10" fmla="*/ 194226 h 307975"/>
                <a:gd name="connsiteX11" fmla="*/ 173044 w 338094"/>
                <a:gd name="connsiteY11" fmla="*/ 234400 h 307975"/>
                <a:gd name="connsiteX12" fmla="*/ 159815 w 338094"/>
                <a:gd name="connsiteY12" fmla="*/ 246063 h 307975"/>
                <a:gd name="connsiteX13" fmla="*/ 149231 w 338094"/>
                <a:gd name="connsiteY13" fmla="*/ 234400 h 307975"/>
                <a:gd name="connsiteX14" fmla="*/ 149231 w 338094"/>
                <a:gd name="connsiteY14" fmla="*/ 183859 h 307975"/>
                <a:gd name="connsiteX15" fmla="*/ 74619 w 338094"/>
                <a:gd name="connsiteY15" fmla="*/ 182563 h 307975"/>
                <a:gd name="connsiteX16" fmla="*/ 74619 w 338094"/>
                <a:gd name="connsiteY16" fmla="*/ 238126 h 307975"/>
                <a:gd name="connsiteX17" fmla="*/ 63506 w 338094"/>
                <a:gd name="connsiteY17" fmla="*/ 227789 h 307975"/>
                <a:gd name="connsiteX18" fmla="*/ 63506 w 338094"/>
                <a:gd name="connsiteY18" fmla="*/ 192900 h 307975"/>
                <a:gd name="connsiteX19" fmla="*/ 73230 w 338094"/>
                <a:gd name="connsiteY19" fmla="*/ 183855 h 307975"/>
                <a:gd name="connsiteX20" fmla="*/ 74619 w 338094"/>
                <a:gd name="connsiteY20" fmla="*/ 182563 h 307975"/>
                <a:gd name="connsiteX21" fmla="*/ 90666 w 338094"/>
                <a:gd name="connsiteY21" fmla="*/ 92075 h 307975"/>
                <a:gd name="connsiteX22" fmla="*/ 130275 w 338094"/>
                <a:gd name="connsiteY22" fmla="*/ 92075 h 307975"/>
                <a:gd name="connsiteX23" fmla="*/ 140838 w 338094"/>
                <a:gd name="connsiteY23" fmla="*/ 97302 h 307975"/>
                <a:gd name="connsiteX24" fmla="*/ 175165 w 338094"/>
                <a:gd name="connsiteY24" fmla="*/ 171785 h 307975"/>
                <a:gd name="connsiteX25" fmla="*/ 169884 w 338094"/>
                <a:gd name="connsiteY25" fmla="*/ 186159 h 307975"/>
                <a:gd name="connsiteX26" fmla="*/ 156681 w 338094"/>
                <a:gd name="connsiteY26" fmla="*/ 180932 h 307975"/>
                <a:gd name="connsiteX27" fmla="*/ 139517 w 338094"/>
                <a:gd name="connsiteY27" fmla="*/ 144344 h 307975"/>
                <a:gd name="connsiteX28" fmla="*/ 139517 w 338094"/>
                <a:gd name="connsiteY28" fmla="*/ 271096 h 307975"/>
                <a:gd name="connsiteX29" fmla="*/ 127635 w 338094"/>
                <a:gd name="connsiteY29" fmla="*/ 284163 h 307975"/>
                <a:gd name="connsiteX30" fmla="*/ 115752 w 338094"/>
                <a:gd name="connsiteY30" fmla="*/ 271096 h 307975"/>
                <a:gd name="connsiteX31" fmla="*/ 115752 w 338094"/>
                <a:gd name="connsiteY31" fmla="*/ 197919 h 307975"/>
                <a:gd name="connsiteX32" fmla="*/ 106510 w 338094"/>
                <a:gd name="connsiteY32" fmla="*/ 197919 h 307975"/>
                <a:gd name="connsiteX33" fmla="*/ 106510 w 338094"/>
                <a:gd name="connsiteY33" fmla="*/ 271096 h 307975"/>
                <a:gd name="connsiteX34" fmla="*/ 94627 w 338094"/>
                <a:gd name="connsiteY34" fmla="*/ 284163 h 307975"/>
                <a:gd name="connsiteX35" fmla="*/ 81424 w 338094"/>
                <a:gd name="connsiteY35" fmla="*/ 271096 h 307975"/>
                <a:gd name="connsiteX36" fmla="*/ 81424 w 338094"/>
                <a:gd name="connsiteY36" fmla="*/ 144344 h 307975"/>
                <a:gd name="connsiteX37" fmla="*/ 65581 w 338094"/>
                <a:gd name="connsiteY37" fmla="*/ 180932 h 307975"/>
                <a:gd name="connsiteX38" fmla="*/ 51058 w 338094"/>
                <a:gd name="connsiteY38" fmla="*/ 186159 h 307975"/>
                <a:gd name="connsiteX39" fmla="*/ 45776 w 338094"/>
                <a:gd name="connsiteY39" fmla="*/ 171785 h 307975"/>
                <a:gd name="connsiteX40" fmla="*/ 80104 w 338094"/>
                <a:gd name="connsiteY40" fmla="*/ 97302 h 307975"/>
                <a:gd name="connsiteX41" fmla="*/ 90666 w 338094"/>
                <a:gd name="connsiteY41" fmla="*/ 92075 h 307975"/>
                <a:gd name="connsiteX42" fmla="*/ 238843 w 338094"/>
                <a:gd name="connsiteY42" fmla="*/ 88900 h 307975"/>
                <a:gd name="connsiteX43" fmla="*/ 286633 w 338094"/>
                <a:gd name="connsiteY43" fmla="*/ 88900 h 307975"/>
                <a:gd name="connsiteX44" fmla="*/ 297253 w 338094"/>
                <a:gd name="connsiteY44" fmla="*/ 95459 h 307975"/>
                <a:gd name="connsiteX45" fmla="*/ 337077 w 338094"/>
                <a:gd name="connsiteY45" fmla="*/ 180728 h 307975"/>
                <a:gd name="connsiteX46" fmla="*/ 330440 w 338094"/>
                <a:gd name="connsiteY46" fmla="*/ 195158 h 307975"/>
                <a:gd name="connsiteX47" fmla="*/ 315837 w 338094"/>
                <a:gd name="connsiteY47" fmla="*/ 189911 h 307975"/>
                <a:gd name="connsiteX48" fmla="*/ 302563 w 338094"/>
                <a:gd name="connsiteY48" fmla="*/ 163674 h 307975"/>
                <a:gd name="connsiteX49" fmla="*/ 313182 w 338094"/>
                <a:gd name="connsiteY49" fmla="*/ 212212 h 307975"/>
                <a:gd name="connsiteX50" fmla="*/ 306545 w 338094"/>
                <a:gd name="connsiteY50" fmla="*/ 220083 h 307975"/>
                <a:gd name="connsiteX51" fmla="*/ 295925 w 338094"/>
                <a:gd name="connsiteY51" fmla="*/ 220083 h 307975"/>
                <a:gd name="connsiteX52" fmla="*/ 295925 w 338094"/>
                <a:gd name="connsiteY52" fmla="*/ 293545 h 307975"/>
                <a:gd name="connsiteX53" fmla="*/ 282650 w 338094"/>
                <a:gd name="connsiteY53" fmla="*/ 307975 h 307975"/>
                <a:gd name="connsiteX54" fmla="*/ 268048 w 338094"/>
                <a:gd name="connsiteY54" fmla="*/ 293545 h 307975"/>
                <a:gd name="connsiteX55" fmla="*/ 268048 w 338094"/>
                <a:gd name="connsiteY55" fmla="*/ 220083 h 307975"/>
                <a:gd name="connsiteX56" fmla="*/ 257428 w 338094"/>
                <a:gd name="connsiteY56" fmla="*/ 220083 h 307975"/>
                <a:gd name="connsiteX57" fmla="*/ 257428 w 338094"/>
                <a:gd name="connsiteY57" fmla="*/ 293545 h 307975"/>
                <a:gd name="connsiteX58" fmla="*/ 244153 w 338094"/>
                <a:gd name="connsiteY58" fmla="*/ 307975 h 307975"/>
                <a:gd name="connsiteX59" fmla="*/ 229551 w 338094"/>
                <a:gd name="connsiteY59" fmla="*/ 293545 h 307975"/>
                <a:gd name="connsiteX60" fmla="*/ 229551 w 338094"/>
                <a:gd name="connsiteY60" fmla="*/ 220083 h 307975"/>
                <a:gd name="connsiteX61" fmla="*/ 218931 w 338094"/>
                <a:gd name="connsiteY61" fmla="*/ 220083 h 307975"/>
                <a:gd name="connsiteX62" fmla="*/ 212294 w 338094"/>
                <a:gd name="connsiteY62" fmla="*/ 212212 h 307975"/>
                <a:gd name="connsiteX63" fmla="*/ 222914 w 338094"/>
                <a:gd name="connsiteY63" fmla="*/ 163674 h 307975"/>
                <a:gd name="connsiteX64" fmla="*/ 210966 w 338094"/>
                <a:gd name="connsiteY64" fmla="*/ 189911 h 307975"/>
                <a:gd name="connsiteX65" fmla="*/ 195036 w 338094"/>
                <a:gd name="connsiteY65" fmla="*/ 195158 h 307975"/>
                <a:gd name="connsiteX66" fmla="*/ 188399 w 338094"/>
                <a:gd name="connsiteY66" fmla="*/ 180728 h 307975"/>
                <a:gd name="connsiteX67" fmla="*/ 228223 w 338094"/>
                <a:gd name="connsiteY67" fmla="*/ 95459 h 307975"/>
                <a:gd name="connsiteX68" fmla="*/ 238843 w 338094"/>
                <a:gd name="connsiteY68" fmla="*/ 88900 h 307975"/>
                <a:gd name="connsiteX69" fmla="*/ 40753 w 338094"/>
                <a:gd name="connsiteY69" fmla="*/ 63500 h 307975"/>
                <a:gd name="connsiteX70" fmla="*/ 79117 w 338094"/>
                <a:gd name="connsiteY70" fmla="*/ 63500 h 307975"/>
                <a:gd name="connsiteX71" fmla="*/ 85732 w 338094"/>
                <a:gd name="connsiteY71" fmla="*/ 81882 h 307975"/>
                <a:gd name="connsiteX72" fmla="*/ 85732 w 338094"/>
                <a:gd name="connsiteY72" fmla="*/ 83195 h 307975"/>
                <a:gd name="connsiteX73" fmla="*/ 73826 w 338094"/>
                <a:gd name="connsiteY73" fmla="*/ 92385 h 307975"/>
                <a:gd name="connsiteX74" fmla="*/ 51336 w 338094"/>
                <a:gd name="connsiteY74" fmla="*/ 139652 h 307975"/>
                <a:gd name="connsiteX75" fmla="*/ 39430 w 338094"/>
                <a:gd name="connsiteY75" fmla="*/ 168538 h 307975"/>
                <a:gd name="connsiteX76" fmla="*/ 48690 w 338094"/>
                <a:gd name="connsiteY76" fmla="*/ 192171 h 307975"/>
                <a:gd name="connsiteX77" fmla="*/ 55305 w 338094"/>
                <a:gd name="connsiteY77" fmla="*/ 194797 h 307975"/>
                <a:gd name="connsiteX78" fmla="*/ 55305 w 338094"/>
                <a:gd name="connsiteY78" fmla="*/ 227621 h 307975"/>
                <a:gd name="connsiteX79" fmla="*/ 43398 w 338094"/>
                <a:gd name="connsiteY79" fmla="*/ 238125 h 307975"/>
                <a:gd name="connsiteX80" fmla="*/ 32815 w 338094"/>
                <a:gd name="connsiteY80" fmla="*/ 227621 h 307975"/>
                <a:gd name="connsiteX81" fmla="*/ 32815 w 338094"/>
                <a:gd name="connsiteY81" fmla="*/ 112080 h 307975"/>
                <a:gd name="connsiteX82" fmla="*/ 18263 w 338094"/>
                <a:gd name="connsiteY82" fmla="*/ 144904 h 307975"/>
                <a:gd name="connsiteX83" fmla="*/ 5034 w 338094"/>
                <a:gd name="connsiteY83" fmla="*/ 148843 h 307975"/>
                <a:gd name="connsiteX84" fmla="*/ 1065 w 338094"/>
                <a:gd name="connsiteY84" fmla="*/ 137026 h 307975"/>
                <a:gd name="connsiteX85" fmla="*/ 31492 w 338094"/>
                <a:gd name="connsiteY85" fmla="*/ 68752 h 307975"/>
                <a:gd name="connsiteX86" fmla="*/ 40753 w 338094"/>
                <a:gd name="connsiteY86" fmla="*/ 63500 h 307975"/>
                <a:gd name="connsiteX87" fmla="*/ 157633 w 338094"/>
                <a:gd name="connsiteY87" fmla="*/ 53975 h 307975"/>
                <a:gd name="connsiteX88" fmla="*/ 197198 w 338094"/>
                <a:gd name="connsiteY88" fmla="*/ 53975 h 307975"/>
                <a:gd name="connsiteX89" fmla="*/ 207749 w 338094"/>
                <a:gd name="connsiteY89" fmla="*/ 59183 h 307975"/>
                <a:gd name="connsiteX90" fmla="*/ 222256 w 338094"/>
                <a:gd name="connsiteY90" fmla="*/ 90434 h 307975"/>
                <a:gd name="connsiteX91" fmla="*/ 220937 w 338094"/>
                <a:gd name="connsiteY91" fmla="*/ 91736 h 307975"/>
                <a:gd name="connsiteX92" fmla="*/ 210386 w 338094"/>
                <a:gd name="connsiteY92" fmla="*/ 115174 h 307975"/>
                <a:gd name="connsiteX93" fmla="*/ 206430 w 338094"/>
                <a:gd name="connsiteY93" fmla="*/ 106060 h 307975"/>
                <a:gd name="connsiteX94" fmla="*/ 206430 w 338094"/>
                <a:gd name="connsiteY94" fmla="*/ 122987 h 307975"/>
                <a:gd name="connsiteX95" fmla="*/ 185328 w 338094"/>
                <a:gd name="connsiteY95" fmla="*/ 169863 h 307975"/>
                <a:gd name="connsiteX96" fmla="*/ 169502 w 338094"/>
                <a:gd name="connsiteY96" fmla="*/ 137310 h 307975"/>
                <a:gd name="connsiteX97" fmla="*/ 149719 w 338094"/>
                <a:gd name="connsiteY97" fmla="*/ 93038 h 307975"/>
                <a:gd name="connsiteX98" fmla="*/ 136531 w 338094"/>
                <a:gd name="connsiteY98" fmla="*/ 83924 h 307975"/>
                <a:gd name="connsiteX99" fmla="*/ 136531 w 338094"/>
                <a:gd name="connsiteY99" fmla="*/ 82621 h 307975"/>
                <a:gd name="connsiteX100" fmla="*/ 144444 w 338094"/>
                <a:gd name="connsiteY100" fmla="*/ 66996 h 307975"/>
                <a:gd name="connsiteX101" fmla="*/ 147082 w 338094"/>
                <a:gd name="connsiteY101" fmla="*/ 59183 h 307975"/>
                <a:gd name="connsiteX102" fmla="*/ 157633 w 338094"/>
                <a:gd name="connsiteY102" fmla="*/ 53975 h 307975"/>
                <a:gd name="connsiteX103" fmla="*/ 111926 w 338094"/>
                <a:gd name="connsiteY103" fmla="*/ 38100 h 307975"/>
                <a:gd name="connsiteX104" fmla="*/ 136533 w 338094"/>
                <a:gd name="connsiteY104" fmla="*/ 61913 h 307975"/>
                <a:gd name="connsiteX105" fmla="*/ 111926 w 338094"/>
                <a:gd name="connsiteY105" fmla="*/ 85726 h 307975"/>
                <a:gd name="connsiteX106" fmla="*/ 87319 w 338094"/>
                <a:gd name="connsiteY106" fmla="*/ 61913 h 307975"/>
                <a:gd name="connsiteX107" fmla="*/ 111926 w 338094"/>
                <a:gd name="connsiteY107" fmla="*/ 38100 h 307975"/>
                <a:gd name="connsiteX108" fmla="*/ 262738 w 338094"/>
                <a:gd name="connsiteY108" fmla="*/ 28575 h 307975"/>
                <a:gd name="connsiteX109" fmla="*/ 290519 w 338094"/>
                <a:gd name="connsiteY109" fmla="*/ 56221 h 307975"/>
                <a:gd name="connsiteX110" fmla="*/ 262738 w 338094"/>
                <a:gd name="connsiteY110" fmla="*/ 82550 h 307975"/>
                <a:gd name="connsiteX111" fmla="*/ 234956 w 338094"/>
                <a:gd name="connsiteY111" fmla="*/ 56221 h 307975"/>
                <a:gd name="connsiteX112" fmla="*/ 262738 w 338094"/>
                <a:gd name="connsiteY112" fmla="*/ 28575 h 307975"/>
                <a:gd name="connsiteX113" fmla="*/ 58744 w 338094"/>
                <a:gd name="connsiteY113" fmla="*/ 15875 h 307975"/>
                <a:gd name="connsiteX114" fmla="*/ 80969 w 338094"/>
                <a:gd name="connsiteY114" fmla="*/ 38100 h 307975"/>
                <a:gd name="connsiteX115" fmla="*/ 58744 w 338094"/>
                <a:gd name="connsiteY115" fmla="*/ 60325 h 307975"/>
                <a:gd name="connsiteX116" fmla="*/ 36519 w 338094"/>
                <a:gd name="connsiteY116" fmla="*/ 38100 h 307975"/>
                <a:gd name="connsiteX117" fmla="*/ 58744 w 338094"/>
                <a:gd name="connsiteY117" fmla="*/ 15875 h 307975"/>
                <a:gd name="connsiteX118" fmla="*/ 177013 w 338094"/>
                <a:gd name="connsiteY118" fmla="*/ 0 h 307975"/>
                <a:gd name="connsiteX119" fmla="*/ 200032 w 338094"/>
                <a:gd name="connsiteY119" fmla="*/ 23813 h 307975"/>
                <a:gd name="connsiteX120" fmla="*/ 177013 w 338094"/>
                <a:gd name="connsiteY120" fmla="*/ 47626 h 307975"/>
                <a:gd name="connsiteX121" fmla="*/ 153994 w 338094"/>
                <a:gd name="connsiteY121" fmla="*/ 23813 h 307975"/>
                <a:gd name="connsiteX122" fmla="*/ 177013 w 338094"/>
                <a:gd name="connsiteY122" fmla="*/ 0 h 30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38094" h="307975">
                  <a:moveTo>
                    <a:pt x="182569" y="192088"/>
                  </a:moveTo>
                  <a:cubicBezTo>
                    <a:pt x="183892" y="197354"/>
                    <a:pt x="187861" y="201303"/>
                    <a:pt x="191830" y="202620"/>
                  </a:cubicBezTo>
                  <a:cubicBezTo>
                    <a:pt x="195798" y="205253"/>
                    <a:pt x="201090" y="205253"/>
                    <a:pt x="206382" y="203936"/>
                  </a:cubicBezTo>
                  <a:cubicBezTo>
                    <a:pt x="206382" y="203936"/>
                    <a:pt x="206382" y="203936"/>
                    <a:pt x="205059" y="209202"/>
                  </a:cubicBezTo>
                  <a:cubicBezTo>
                    <a:pt x="203736" y="213151"/>
                    <a:pt x="205059" y="217101"/>
                    <a:pt x="206382" y="221050"/>
                  </a:cubicBezTo>
                  <a:cubicBezTo>
                    <a:pt x="206382" y="221050"/>
                    <a:pt x="206382" y="221050"/>
                    <a:pt x="206382" y="234215"/>
                  </a:cubicBezTo>
                  <a:cubicBezTo>
                    <a:pt x="206382" y="240797"/>
                    <a:pt x="201090" y="246063"/>
                    <a:pt x="194476" y="246063"/>
                  </a:cubicBezTo>
                  <a:cubicBezTo>
                    <a:pt x="187861" y="246063"/>
                    <a:pt x="182569" y="240797"/>
                    <a:pt x="182569" y="234215"/>
                  </a:cubicBezTo>
                  <a:cubicBezTo>
                    <a:pt x="182569" y="234215"/>
                    <a:pt x="182569" y="234215"/>
                    <a:pt x="182569" y="192088"/>
                  </a:cubicBezTo>
                  <a:close/>
                  <a:moveTo>
                    <a:pt x="149231" y="183859"/>
                  </a:moveTo>
                  <a:cubicBezTo>
                    <a:pt x="153200" y="192930"/>
                    <a:pt x="163783" y="196818"/>
                    <a:pt x="173044" y="194226"/>
                  </a:cubicBezTo>
                  <a:cubicBezTo>
                    <a:pt x="173044" y="194226"/>
                    <a:pt x="173044" y="194226"/>
                    <a:pt x="173044" y="234400"/>
                  </a:cubicBezTo>
                  <a:cubicBezTo>
                    <a:pt x="173044" y="240879"/>
                    <a:pt x="167752" y="246063"/>
                    <a:pt x="159815" y="246063"/>
                  </a:cubicBezTo>
                  <a:cubicBezTo>
                    <a:pt x="155846" y="246063"/>
                    <a:pt x="149231" y="242175"/>
                    <a:pt x="149231" y="234400"/>
                  </a:cubicBezTo>
                  <a:cubicBezTo>
                    <a:pt x="149231" y="234400"/>
                    <a:pt x="149231" y="234400"/>
                    <a:pt x="149231" y="183859"/>
                  </a:cubicBezTo>
                  <a:close/>
                  <a:moveTo>
                    <a:pt x="74619" y="182563"/>
                  </a:moveTo>
                  <a:cubicBezTo>
                    <a:pt x="74619" y="182563"/>
                    <a:pt x="74619" y="182563"/>
                    <a:pt x="74619" y="238126"/>
                  </a:cubicBezTo>
                  <a:cubicBezTo>
                    <a:pt x="67673" y="238126"/>
                    <a:pt x="63506" y="232957"/>
                    <a:pt x="63506" y="227789"/>
                  </a:cubicBezTo>
                  <a:cubicBezTo>
                    <a:pt x="63506" y="227789"/>
                    <a:pt x="63506" y="227789"/>
                    <a:pt x="63506" y="192900"/>
                  </a:cubicBezTo>
                  <a:cubicBezTo>
                    <a:pt x="67673" y="191608"/>
                    <a:pt x="71841" y="189024"/>
                    <a:pt x="73230" y="183855"/>
                  </a:cubicBezTo>
                  <a:cubicBezTo>
                    <a:pt x="73230" y="183855"/>
                    <a:pt x="73230" y="183855"/>
                    <a:pt x="74619" y="182563"/>
                  </a:cubicBezTo>
                  <a:close/>
                  <a:moveTo>
                    <a:pt x="90666" y="92075"/>
                  </a:moveTo>
                  <a:cubicBezTo>
                    <a:pt x="90666" y="92075"/>
                    <a:pt x="90666" y="92075"/>
                    <a:pt x="130275" y="92075"/>
                  </a:cubicBezTo>
                  <a:cubicBezTo>
                    <a:pt x="135557" y="92075"/>
                    <a:pt x="139517" y="93382"/>
                    <a:pt x="140838" y="97302"/>
                  </a:cubicBezTo>
                  <a:lnTo>
                    <a:pt x="175165" y="171785"/>
                  </a:lnTo>
                  <a:cubicBezTo>
                    <a:pt x="177806" y="177012"/>
                    <a:pt x="175165" y="183546"/>
                    <a:pt x="169884" y="186159"/>
                  </a:cubicBezTo>
                  <a:cubicBezTo>
                    <a:pt x="165923" y="187466"/>
                    <a:pt x="159322" y="186159"/>
                    <a:pt x="156681" y="180932"/>
                  </a:cubicBezTo>
                  <a:cubicBezTo>
                    <a:pt x="156681" y="180932"/>
                    <a:pt x="156681" y="180932"/>
                    <a:pt x="139517" y="144344"/>
                  </a:cubicBezTo>
                  <a:cubicBezTo>
                    <a:pt x="139517" y="144344"/>
                    <a:pt x="139517" y="144344"/>
                    <a:pt x="139517" y="271096"/>
                  </a:cubicBezTo>
                  <a:cubicBezTo>
                    <a:pt x="139517" y="278936"/>
                    <a:pt x="134236" y="284163"/>
                    <a:pt x="127635" y="284163"/>
                  </a:cubicBezTo>
                  <a:cubicBezTo>
                    <a:pt x="121033" y="284163"/>
                    <a:pt x="115752" y="278936"/>
                    <a:pt x="115752" y="271096"/>
                  </a:cubicBezTo>
                  <a:cubicBezTo>
                    <a:pt x="115752" y="271096"/>
                    <a:pt x="115752" y="271096"/>
                    <a:pt x="115752" y="197919"/>
                  </a:cubicBezTo>
                  <a:cubicBezTo>
                    <a:pt x="115752" y="197919"/>
                    <a:pt x="115752" y="197919"/>
                    <a:pt x="106510" y="197919"/>
                  </a:cubicBezTo>
                  <a:cubicBezTo>
                    <a:pt x="106510" y="197919"/>
                    <a:pt x="106510" y="197919"/>
                    <a:pt x="106510" y="271096"/>
                  </a:cubicBezTo>
                  <a:cubicBezTo>
                    <a:pt x="106510" y="278936"/>
                    <a:pt x="101229" y="284163"/>
                    <a:pt x="94627" y="284163"/>
                  </a:cubicBezTo>
                  <a:cubicBezTo>
                    <a:pt x="86706" y="284163"/>
                    <a:pt x="81424" y="278936"/>
                    <a:pt x="81424" y="271096"/>
                  </a:cubicBezTo>
                  <a:cubicBezTo>
                    <a:pt x="81424" y="271096"/>
                    <a:pt x="81424" y="271096"/>
                    <a:pt x="81424" y="144344"/>
                  </a:cubicBezTo>
                  <a:cubicBezTo>
                    <a:pt x="81424" y="144344"/>
                    <a:pt x="81424" y="144344"/>
                    <a:pt x="65581" y="180932"/>
                  </a:cubicBezTo>
                  <a:cubicBezTo>
                    <a:pt x="62940" y="186159"/>
                    <a:pt x="56339" y="187466"/>
                    <a:pt x="51058" y="186159"/>
                  </a:cubicBezTo>
                  <a:cubicBezTo>
                    <a:pt x="45776" y="183546"/>
                    <a:pt x="44456" y="177012"/>
                    <a:pt x="45776" y="171785"/>
                  </a:cubicBezTo>
                  <a:cubicBezTo>
                    <a:pt x="45776" y="171785"/>
                    <a:pt x="45776" y="171785"/>
                    <a:pt x="80104" y="97302"/>
                  </a:cubicBezTo>
                  <a:cubicBezTo>
                    <a:pt x="82745" y="93382"/>
                    <a:pt x="86706" y="92075"/>
                    <a:pt x="90666" y="92075"/>
                  </a:cubicBezTo>
                  <a:close/>
                  <a:moveTo>
                    <a:pt x="238843" y="88900"/>
                  </a:moveTo>
                  <a:cubicBezTo>
                    <a:pt x="238843" y="88900"/>
                    <a:pt x="238843" y="88900"/>
                    <a:pt x="286633" y="88900"/>
                  </a:cubicBezTo>
                  <a:cubicBezTo>
                    <a:pt x="291943" y="88900"/>
                    <a:pt x="295925" y="91524"/>
                    <a:pt x="297253" y="95459"/>
                  </a:cubicBezTo>
                  <a:cubicBezTo>
                    <a:pt x="297253" y="95459"/>
                    <a:pt x="297253" y="95459"/>
                    <a:pt x="337077" y="180728"/>
                  </a:cubicBezTo>
                  <a:cubicBezTo>
                    <a:pt x="339732" y="185975"/>
                    <a:pt x="337077" y="192534"/>
                    <a:pt x="330440" y="195158"/>
                  </a:cubicBezTo>
                  <a:cubicBezTo>
                    <a:pt x="325130" y="197782"/>
                    <a:pt x="318492" y="196470"/>
                    <a:pt x="315837" y="189911"/>
                  </a:cubicBezTo>
                  <a:cubicBezTo>
                    <a:pt x="315837" y="189911"/>
                    <a:pt x="315837" y="189911"/>
                    <a:pt x="302563" y="163674"/>
                  </a:cubicBezTo>
                  <a:cubicBezTo>
                    <a:pt x="302563" y="163674"/>
                    <a:pt x="302563" y="163674"/>
                    <a:pt x="313182" y="212212"/>
                  </a:cubicBezTo>
                  <a:cubicBezTo>
                    <a:pt x="314510" y="216147"/>
                    <a:pt x="310527" y="220083"/>
                    <a:pt x="306545" y="220083"/>
                  </a:cubicBezTo>
                  <a:cubicBezTo>
                    <a:pt x="306545" y="220083"/>
                    <a:pt x="306545" y="220083"/>
                    <a:pt x="295925" y="220083"/>
                  </a:cubicBezTo>
                  <a:cubicBezTo>
                    <a:pt x="295925" y="220083"/>
                    <a:pt x="295925" y="220083"/>
                    <a:pt x="295925" y="293545"/>
                  </a:cubicBezTo>
                  <a:cubicBezTo>
                    <a:pt x="295925" y="301416"/>
                    <a:pt x="290615" y="307975"/>
                    <a:pt x="282650" y="307975"/>
                  </a:cubicBezTo>
                  <a:cubicBezTo>
                    <a:pt x="274685" y="307975"/>
                    <a:pt x="268048" y="301416"/>
                    <a:pt x="268048" y="293545"/>
                  </a:cubicBezTo>
                  <a:cubicBezTo>
                    <a:pt x="268048" y="293545"/>
                    <a:pt x="268048" y="293545"/>
                    <a:pt x="268048" y="220083"/>
                  </a:cubicBezTo>
                  <a:cubicBezTo>
                    <a:pt x="268048" y="220083"/>
                    <a:pt x="268048" y="220083"/>
                    <a:pt x="257428" y="220083"/>
                  </a:cubicBezTo>
                  <a:cubicBezTo>
                    <a:pt x="257428" y="220083"/>
                    <a:pt x="257428" y="220083"/>
                    <a:pt x="257428" y="293545"/>
                  </a:cubicBezTo>
                  <a:cubicBezTo>
                    <a:pt x="257428" y="301416"/>
                    <a:pt x="250791" y="307975"/>
                    <a:pt x="244153" y="307975"/>
                  </a:cubicBezTo>
                  <a:cubicBezTo>
                    <a:pt x="236188" y="307975"/>
                    <a:pt x="229551" y="301416"/>
                    <a:pt x="229551" y="293545"/>
                  </a:cubicBezTo>
                  <a:cubicBezTo>
                    <a:pt x="229551" y="293545"/>
                    <a:pt x="229551" y="293545"/>
                    <a:pt x="229551" y="220083"/>
                  </a:cubicBezTo>
                  <a:cubicBezTo>
                    <a:pt x="229551" y="220083"/>
                    <a:pt x="229551" y="220083"/>
                    <a:pt x="218931" y="220083"/>
                  </a:cubicBezTo>
                  <a:cubicBezTo>
                    <a:pt x="214949" y="220083"/>
                    <a:pt x="210966" y="216147"/>
                    <a:pt x="212294" y="212212"/>
                  </a:cubicBezTo>
                  <a:cubicBezTo>
                    <a:pt x="212294" y="212212"/>
                    <a:pt x="212294" y="212212"/>
                    <a:pt x="222914" y="163674"/>
                  </a:cubicBezTo>
                  <a:cubicBezTo>
                    <a:pt x="222914" y="163674"/>
                    <a:pt x="222914" y="163674"/>
                    <a:pt x="210966" y="189911"/>
                  </a:cubicBezTo>
                  <a:cubicBezTo>
                    <a:pt x="208311" y="196470"/>
                    <a:pt x="200346" y="197782"/>
                    <a:pt x="195036" y="195158"/>
                  </a:cubicBezTo>
                  <a:cubicBezTo>
                    <a:pt x="188399" y="192534"/>
                    <a:pt x="185744" y="185975"/>
                    <a:pt x="188399" y="180728"/>
                  </a:cubicBezTo>
                  <a:cubicBezTo>
                    <a:pt x="188399" y="180728"/>
                    <a:pt x="188399" y="180728"/>
                    <a:pt x="228223" y="95459"/>
                  </a:cubicBezTo>
                  <a:cubicBezTo>
                    <a:pt x="230878" y="91524"/>
                    <a:pt x="234861" y="88900"/>
                    <a:pt x="238843" y="88900"/>
                  </a:cubicBezTo>
                  <a:close/>
                  <a:moveTo>
                    <a:pt x="40753" y="63500"/>
                  </a:moveTo>
                  <a:cubicBezTo>
                    <a:pt x="40753" y="63500"/>
                    <a:pt x="40753" y="63500"/>
                    <a:pt x="79117" y="63500"/>
                  </a:cubicBezTo>
                  <a:cubicBezTo>
                    <a:pt x="79117" y="70065"/>
                    <a:pt x="81763" y="76630"/>
                    <a:pt x="85732" y="81882"/>
                  </a:cubicBezTo>
                  <a:cubicBezTo>
                    <a:pt x="85732" y="81882"/>
                    <a:pt x="85732" y="81882"/>
                    <a:pt x="85732" y="83195"/>
                  </a:cubicBezTo>
                  <a:cubicBezTo>
                    <a:pt x="80440" y="84507"/>
                    <a:pt x="75149" y="88446"/>
                    <a:pt x="73826" y="92385"/>
                  </a:cubicBezTo>
                  <a:cubicBezTo>
                    <a:pt x="73826" y="92385"/>
                    <a:pt x="73826" y="92385"/>
                    <a:pt x="51336" y="139652"/>
                  </a:cubicBezTo>
                  <a:cubicBezTo>
                    <a:pt x="51336" y="139652"/>
                    <a:pt x="51336" y="139652"/>
                    <a:pt x="39430" y="168538"/>
                  </a:cubicBezTo>
                  <a:cubicBezTo>
                    <a:pt x="34138" y="177728"/>
                    <a:pt x="39430" y="188232"/>
                    <a:pt x="48690" y="192171"/>
                  </a:cubicBezTo>
                  <a:cubicBezTo>
                    <a:pt x="50013" y="193484"/>
                    <a:pt x="52659" y="193484"/>
                    <a:pt x="55305" y="194797"/>
                  </a:cubicBezTo>
                  <a:cubicBezTo>
                    <a:pt x="55305" y="194797"/>
                    <a:pt x="55305" y="194797"/>
                    <a:pt x="55305" y="227621"/>
                  </a:cubicBezTo>
                  <a:cubicBezTo>
                    <a:pt x="55305" y="232873"/>
                    <a:pt x="50013" y="238125"/>
                    <a:pt x="43398" y="238125"/>
                  </a:cubicBezTo>
                  <a:cubicBezTo>
                    <a:pt x="38107" y="238125"/>
                    <a:pt x="32815" y="232873"/>
                    <a:pt x="32815" y="227621"/>
                  </a:cubicBezTo>
                  <a:cubicBezTo>
                    <a:pt x="32815" y="155408"/>
                    <a:pt x="32815" y="114706"/>
                    <a:pt x="32815" y="112080"/>
                  </a:cubicBezTo>
                  <a:cubicBezTo>
                    <a:pt x="32815" y="112080"/>
                    <a:pt x="32815" y="112080"/>
                    <a:pt x="18263" y="144904"/>
                  </a:cubicBezTo>
                  <a:cubicBezTo>
                    <a:pt x="15617" y="148843"/>
                    <a:pt x="10325" y="151469"/>
                    <a:pt x="5034" y="148843"/>
                  </a:cubicBezTo>
                  <a:cubicBezTo>
                    <a:pt x="1065" y="146217"/>
                    <a:pt x="-1581" y="140965"/>
                    <a:pt x="1065" y="137026"/>
                  </a:cubicBezTo>
                  <a:cubicBezTo>
                    <a:pt x="1065" y="137026"/>
                    <a:pt x="1065" y="137026"/>
                    <a:pt x="31492" y="68752"/>
                  </a:cubicBezTo>
                  <a:cubicBezTo>
                    <a:pt x="34138" y="64813"/>
                    <a:pt x="36784" y="63500"/>
                    <a:pt x="40753" y="63500"/>
                  </a:cubicBezTo>
                  <a:close/>
                  <a:moveTo>
                    <a:pt x="157633" y="53975"/>
                  </a:moveTo>
                  <a:cubicBezTo>
                    <a:pt x="157633" y="53975"/>
                    <a:pt x="157633" y="53975"/>
                    <a:pt x="197198" y="53975"/>
                  </a:cubicBezTo>
                  <a:cubicBezTo>
                    <a:pt x="202473" y="53975"/>
                    <a:pt x="206430" y="55277"/>
                    <a:pt x="207749" y="59183"/>
                  </a:cubicBezTo>
                  <a:cubicBezTo>
                    <a:pt x="207749" y="59183"/>
                    <a:pt x="207749" y="59183"/>
                    <a:pt x="222256" y="90434"/>
                  </a:cubicBezTo>
                  <a:cubicBezTo>
                    <a:pt x="222256" y="90434"/>
                    <a:pt x="220937" y="91736"/>
                    <a:pt x="220937" y="91736"/>
                  </a:cubicBezTo>
                  <a:cubicBezTo>
                    <a:pt x="220937" y="91736"/>
                    <a:pt x="220937" y="91736"/>
                    <a:pt x="210386" y="115174"/>
                  </a:cubicBezTo>
                  <a:cubicBezTo>
                    <a:pt x="210386" y="115174"/>
                    <a:pt x="210386" y="115174"/>
                    <a:pt x="206430" y="106060"/>
                  </a:cubicBezTo>
                  <a:cubicBezTo>
                    <a:pt x="206430" y="106060"/>
                    <a:pt x="206430" y="106060"/>
                    <a:pt x="206430" y="122987"/>
                  </a:cubicBezTo>
                  <a:cubicBezTo>
                    <a:pt x="199836" y="138612"/>
                    <a:pt x="205111" y="126893"/>
                    <a:pt x="185328" y="169863"/>
                  </a:cubicBezTo>
                  <a:cubicBezTo>
                    <a:pt x="184009" y="168561"/>
                    <a:pt x="170821" y="138612"/>
                    <a:pt x="169502" y="137310"/>
                  </a:cubicBezTo>
                  <a:cubicBezTo>
                    <a:pt x="169502" y="137310"/>
                    <a:pt x="169502" y="137310"/>
                    <a:pt x="149719" y="93038"/>
                  </a:cubicBezTo>
                  <a:cubicBezTo>
                    <a:pt x="147082" y="89132"/>
                    <a:pt x="143125" y="85226"/>
                    <a:pt x="136531" y="83924"/>
                  </a:cubicBezTo>
                  <a:cubicBezTo>
                    <a:pt x="136531" y="83924"/>
                    <a:pt x="136531" y="83924"/>
                    <a:pt x="136531" y="82621"/>
                  </a:cubicBezTo>
                  <a:cubicBezTo>
                    <a:pt x="140488" y="78715"/>
                    <a:pt x="143125" y="73507"/>
                    <a:pt x="144444" y="66996"/>
                  </a:cubicBezTo>
                  <a:cubicBezTo>
                    <a:pt x="144444" y="66996"/>
                    <a:pt x="144444" y="66996"/>
                    <a:pt x="147082" y="59183"/>
                  </a:cubicBezTo>
                  <a:cubicBezTo>
                    <a:pt x="149719" y="55277"/>
                    <a:pt x="153676" y="53975"/>
                    <a:pt x="157633" y="53975"/>
                  </a:cubicBezTo>
                  <a:close/>
                  <a:moveTo>
                    <a:pt x="111926" y="38100"/>
                  </a:moveTo>
                  <a:cubicBezTo>
                    <a:pt x="125516" y="38100"/>
                    <a:pt x="136533" y="48761"/>
                    <a:pt x="136533" y="61913"/>
                  </a:cubicBezTo>
                  <a:cubicBezTo>
                    <a:pt x="136533" y="75065"/>
                    <a:pt x="125516" y="85726"/>
                    <a:pt x="111926" y="85726"/>
                  </a:cubicBezTo>
                  <a:cubicBezTo>
                    <a:pt x="98336" y="85726"/>
                    <a:pt x="87319" y="75065"/>
                    <a:pt x="87319" y="61913"/>
                  </a:cubicBezTo>
                  <a:cubicBezTo>
                    <a:pt x="87319" y="48761"/>
                    <a:pt x="98336" y="38100"/>
                    <a:pt x="111926" y="38100"/>
                  </a:cubicBezTo>
                  <a:close/>
                  <a:moveTo>
                    <a:pt x="262738" y="28575"/>
                  </a:moveTo>
                  <a:cubicBezTo>
                    <a:pt x="278613" y="28575"/>
                    <a:pt x="290519" y="40423"/>
                    <a:pt x="290519" y="56221"/>
                  </a:cubicBezTo>
                  <a:cubicBezTo>
                    <a:pt x="290519" y="72018"/>
                    <a:pt x="277290" y="82550"/>
                    <a:pt x="262738" y="82550"/>
                  </a:cubicBezTo>
                  <a:cubicBezTo>
                    <a:pt x="248185" y="82550"/>
                    <a:pt x="234956" y="72018"/>
                    <a:pt x="234956" y="56221"/>
                  </a:cubicBezTo>
                  <a:cubicBezTo>
                    <a:pt x="234956" y="40423"/>
                    <a:pt x="248185" y="28575"/>
                    <a:pt x="262738" y="28575"/>
                  </a:cubicBezTo>
                  <a:close/>
                  <a:moveTo>
                    <a:pt x="58744" y="15875"/>
                  </a:moveTo>
                  <a:cubicBezTo>
                    <a:pt x="71019" y="15875"/>
                    <a:pt x="80969" y="25825"/>
                    <a:pt x="80969" y="38100"/>
                  </a:cubicBezTo>
                  <a:cubicBezTo>
                    <a:pt x="80969" y="50375"/>
                    <a:pt x="71019" y="60325"/>
                    <a:pt x="58744" y="60325"/>
                  </a:cubicBezTo>
                  <a:cubicBezTo>
                    <a:pt x="46469" y="60325"/>
                    <a:pt x="36519" y="50375"/>
                    <a:pt x="36519" y="38100"/>
                  </a:cubicBezTo>
                  <a:cubicBezTo>
                    <a:pt x="36519" y="25825"/>
                    <a:pt x="46469" y="15875"/>
                    <a:pt x="58744" y="15875"/>
                  </a:cubicBezTo>
                  <a:close/>
                  <a:moveTo>
                    <a:pt x="177013" y="0"/>
                  </a:moveTo>
                  <a:cubicBezTo>
                    <a:pt x="189726" y="0"/>
                    <a:pt x="200032" y="10661"/>
                    <a:pt x="200032" y="23813"/>
                  </a:cubicBezTo>
                  <a:cubicBezTo>
                    <a:pt x="200032" y="36965"/>
                    <a:pt x="189726" y="47626"/>
                    <a:pt x="177013" y="47626"/>
                  </a:cubicBezTo>
                  <a:cubicBezTo>
                    <a:pt x="164300" y="47626"/>
                    <a:pt x="153994" y="36965"/>
                    <a:pt x="153994" y="23813"/>
                  </a:cubicBezTo>
                  <a:cubicBezTo>
                    <a:pt x="153994" y="10661"/>
                    <a:pt x="164300" y="0"/>
                    <a:pt x="1770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sp>
          <p:nvSpPr>
            <p:cNvPr id="45" name="任意多边形: 形状 182">
              <a:extLst>
                <a:ext uri="{FF2B5EF4-FFF2-40B4-BE49-F238E27FC236}">
                  <a16:creationId xmlns="" xmlns:a16="http://schemas.microsoft.com/office/drawing/2014/main" id="{576906E9-C064-4A21-921E-D0F8240E1693}"/>
                </a:ext>
              </a:extLst>
            </p:cNvPr>
            <p:cNvSpPr/>
            <p:nvPr/>
          </p:nvSpPr>
          <p:spPr>
            <a:xfrm>
              <a:off x="7455394" y="3698399"/>
              <a:ext cx="538904" cy="440232"/>
            </a:xfrm>
            <a:custGeom>
              <a:avLst/>
              <a:gdLst>
                <a:gd name="connsiteX0" fmla="*/ 142995 w 338138"/>
                <a:gd name="connsiteY0" fmla="*/ 82550 h 276226"/>
                <a:gd name="connsiteX1" fmla="*/ 129816 w 338138"/>
                <a:gd name="connsiteY1" fmla="*/ 90414 h 276226"/>
                <a:gd name="connsiteX2" fmla="*/ 110047 w 338138"/>
                <a:gd name="connsiteY2" fmla="*/ 94346 h 276226"/>
                <a:gd name="connsiteX3" fmla="*/ 104775 w 338138"/>
                <a:gd name="connsiteY3" fmla="*/ 94346 h 276226"/>
                <a:gd name="connsiteX4" fmla="*/ 104775 w 338138"/>
                <a:gd name="connsiteY4" fmla="*/ 103520 h 276226"/>
                <a:gd name="connsiteX5" fmla="*/ 129816 w 338138"/>
                <a:gd name="connsiteY5" fmla="*/ 103520 h 276226"/>
                <a:gd name="connsiteX6" fmla="*/ 129816 w 338138"/>
                <a:gd name="connsiteY6" fmla="*/ 175604 h 276226"/>
                <a:gd name="connsiteX7" fmla="*/ 128498 w 338138"/>
                <a:gd name="connsiteY7" fmla="*/ 183467 h 276226"/>
                <a:gd name="connsiteX8" fmla="*/ 123226 w 338138"/>
                <a:gd name="connsiteY8" fmla="*/ 186089 h 276226"/>
                <a:gd name="connsiteX9" fmla="*/ 114001 w 338138"/>
                <a:gd name="connsiteY9" fmla="*/ 187399 h 276226"/>
                <a:gd name="connsiteX10" fmla="*/ 104775 w 338138"/>
                <a:gd name="connsiteY10" fmla="*/ 188710 h 276226"/>
                <a:gd name="connsiteX11" fmla="*/ 104775 w 338138"/>
                <a:gd name="connsiteY11" fmla="*/ 195263 h 276226"/>
                <a:gd name="connsiteX12" fmla="*/ 174625 w 338138"/>
                <a:gd name="connsiteY12" fmla="*/ 195263 h 276226"/>
                <a:gd name="connsiteX13" fmla="*/ 174625 w 338138"/>
                <a:gd name="connsiteY13" fmla="*/ 188710 h 276226"/>
                <a:gd name="connsiteX14" fmla="*/ 165400 w 338138"/>
                <a:gd name="connsiteY14" fmla="*/ 187399 h 276226"/>
                <a:gd name="connsiteX15" fmla="*/ 156174 w 338138"/>
                <a:gd name="connsiteY15" fmla="*/ 186089 h 276226"/>
                <a:gd name="connsiteX16" fmla="*/ 152221 w 338138"/>
                <a:gd name="connsiteY16" fmla="*/ 180846 h 276226"/>
                <a:gd name="connsiteX17" fmla="*/ 150903 w 338138"/>
                <a:gd name="connsiteY17" fmla="*/ 174293 h 276226"/>
                <a:gd name="connsiteX18" fmla="*/ 150903 w 338138"/>
                <a:gd name="connsiteY18" fmla="*/ 114005 h 276226"/>
                <a:gd name="connsiteX19" fmla="*/ 150903 w 338138"/>
                <a:gd name="connsiteY19" fmla="*/ 98277 h 276226"/>
                <a:gd name="connsiteX20" fmla="*/ 152221 w 338138"/>
                <a:gd name="connsiteY20" fmla="*/ 82550 h 276226"/>
                <a:gd name="connsiteX21" fmla="*/ 142995 w 338138"/>
                <a:gd name="connsiteY21" fmla="*/ 82550 h 276226"/>
                <a:gd name="connsiteX22" fmla="*/ 138907 w 338138"/>
                <a:gd name="connsiteY22" fmla="*/ 0 h 276226"/>
                <a:gd name="connsiteX23" fmla="*/ 277814 w 338138"/>
                <a:gd name="connsiteY23" fmla="*/ 138113 h 276226"/>
                <a:gd name="connsiteX24" fmla="*/ 138907 w 338138"/>
                <a:gd name="connsiteY24" fmla="*/ 276226 h 276226"/>
                <a:gd name="connsiteX25" fmla="*/ 0 w 338138"/>
                <a:gd name="connsiteY25" fmla="*/ 138113 h 276226"/>
                <a:gd name="connsiteX26" fmla="*/ 138907 w 338138"/>
                <a:gd name="connsiteY26" fmla="*/ 0 h 276226"/>
                <a:gd name="connsiteX27" fmla="*/ 199703 w 338138"/>
                <a:gd name="connsiteY27" fmla="*/ 0 h 276226"/>
                <a:gd name="connsiteX28" fmla="*/ 338138 w 338138"/>
                <a:gd name="connsiteY28" fmla="*/ 138113 h 276226"/>
                <a:gd name="connsiteX29" fmla="*/ 199703 w 338138"/>
                <a:gd name="connsiteY29" fmla="*/ 276225 h 276226"/>
                <a:gd name="connsiteX30" fmla="*/ 182563 w 338138"/>
                <a:gd name="connsiteY30" fmla="*/ 274910 h 276226"/>
                <a:gd name="connsiteX31" fmla="*/ 303859 w 338138"/>
                <a:gd name="connsiteY31" fmla="*/ 138113 h 276226"/>
                <a:gd name="connsiteX32" fmla="*/ 182563 w 338138"/>
                <a:gd name="connsiteY32" fmla="*/ 1315 h 276226"/>
                <a:gd name="connsiteX33" fmla="*/ 199703 w 338138"/>
                <a:gd name="connsiteY33" fmla="*/ 0 h 276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8138" h="276226">
                  <a:moveTo>
                    <a:pt x="142995" y="82550"/>
                  </a:moveTo>
                  <a:cubicBezTo>
                    <a:pt x="140359" y="85171"/>
                    <a:pt x="136405" y="87792"/>
                    <a:pt x="129816" y="90414"/>
                  </a:cubicBezTo>
                  <a:cubicBezTo>
                    <a:pt x="124544" y="93035"/>
                    <a:pt x="117954" y="94346"/>
                    <a:pt x="110047" y="94346"/>
                  </a:cubicBezTo>
                  <a:cubicBezTo>
                    <a:pt x="110047" y="94346"/>
                    <a:pt x="110047" y="94346"/>
                    <a:pt x="104775" y="94346"/>
                  </a:cubicBezTo>
                  <a:cubicBezTo>
                    <a:pt x="104775" y="94346"/>
                    <a:pt x="104775" y="94346"/>
                    <a:pt x="104775" y="103520"/>
                  </a:cubicBezTo>
                  <a:cubicBezTo>
                    <a:pt x="104775" y="103520"/>
                    <a:pt x="104775" y="103520"/>
                    <a:pt x="129816" y="103520"/>
                  </a:cubicBezTo>
                  <a:cubicBezTo>
                    <a:pt x="129816" y="103520"/>
                    <a:pt x="129816" y="103520"/>
                    <a:pt x="129816" y="175604"/>
                  </a:cubicBezTo>
                  <a:cubicBezTo>
                    <a:pt x="129816" y="179536"/>
                    <a:pt x="129816" y="180846"/>
                    <a:pt x="128498" y="183467"/>
                  </a:cubicBezTo>
                  <a:cubicBezTo>
                    <a:pt x="127180" y="184778"/>
                    <a:pt x="125862" y="186089"/>
                    <a:pt x="123226" y="186089"/>
                  </a:cubicBezTo>
                  <a:cubicBezTo>
                    <a:pt x="121908" y="186089"/>
                    <a:pt x="119272" y="187399"/>
                    <a:pt x="114001" y="187399"/>
                  </a:cubicBezTo>
                  <a:cubicBezTo>
                    <a:pt x="110047" y="188710"/>
                    <a:pt x="107411" y="188710"/>
                    <a:pt x="104775" y="188710"/>
                  </a:cubicBezTo>
                  <a:cubicBezTo>
                    <a:pt x="104775" y="188710"/>
                    <a:pt x="104775" y="188710"/>
                    <a:pt x="104775" y="195263"/>
                  </a:cubicBezTo>
                  <a:cubicBezTo>
                    <a:pt x="104775" y="195263"/>
                    <a:pt x="104775" y="195263"/>
                    <a:pt x="174625" y="195263"/>
                  </a:cubicBezTo>
                  <a:lnTo>
                    <a:pt x="174625" y="188710"/>
                  </a:lnTo>
                  <a:cubicBezTo>
                    <a:pt x="173307" y="188710"/>
                    <a:pt x="169354" y="188710"/>
                    <a:pt x="165400" y="187399"/>
                  </a:cubicBezTo>
                  <a:cubicBezTo>
                    <a:pt x="161446" y="187399"/>
                    <a:pt x="158810" y="186089"/>
                    <a:pt x="156174" y="186089"/>
                  </a:cubicBezTo>
                  <a:cubicBezTo>
                    <a:pt x="154856" y="184778"/>
                    <a:pt x="153538" y="183467"/>
                    <a:pt x="152221" y="180846"/>
                  </a:cubicBezTo>
                  <a:cubicBezTo>
                    <a:pt x="150903" y="179536"/>
                    <a:pt x="150903" y="176914"/>
                    <a:pt x="150903" y="174293"/>
                  </a:cubicBezTo>
                  <a:cubicBezTo>
                    <a:pt x="150903" y="174293"/>
                    <a:pt x="150903" y="174293"/>
                    <a:pt x="150903" y="114005"/>
                  </a:cubicBezTo>
                  <a:cubicBezTo>
                    <a:pt x="150903" y="108762"/>
                    <a:pt x="150903" y="103520"/>
                    <a:pt x="150903" y="98277"/>
                  </a:cubicBezTo>
                  <a:cubicBezTo>
                    <a:pt x="150903" y="91724"/>
                    <a:pt x="150903" y="86482"/>
                    <a:pt x="152221" y="82550"/>
                  </a:cubicBezTo>
                  <a:cubicBezTo>
                    <a:pt x="152221" y="82550"/>
                    <a:pt x="152221" y="82550"/>
                    <a:pt x="142995" y="82550"/>
                  </a:cubicBezTo>
                  <a:close/>
                  <a:moveTo>
                    <a:pt x="138907" y="0"/>
                  </a:moveTo>
                  <a:cubicBezTo>
                    <a:pt x="215623" y="0"/>
                    <a:pt x="277814" y="61835"/>
                    <a:pt x="277814" y="138113"/>
                  </a:cubicBezTo>
                  <a:cubicBezTo>
                    <a:pt x="277814" y="214391"/>
                    <a:pt x="215623" y="276226"/>
                    <a:pt x="138907" y="276226"/>
                  </a:cubicBezTo>
                  <a:cubicBezTo>
                    <a:pt x="62191" y="276226"/>
                    <a:pt x="0" y="214391"/>
                    <a:pt x="0" y="138113"/>
                  </a:cubicBezTo>
                  <a:cubicBezTo>
                    <a:pt x="0" y="61835"/>
                    <a:pt x="62191" y="0"/>
                    <a:pt x="138907" y="0"/>
                  </a:cubicBezTo>
                  <a:close/>
                  <a:moveTo>
                    <a:pt x="199703" y="0"/>
                  </a:moveTo>
                  <a:cubicBezTo>
                    <a:pt x="276172" y="0"/>
                    <a:pt x="338138" y="61822"/>
                    <a:pt x="338138" y="138113"/>
                  </a:cubicBezTo>
                  <a:cubicBezTo>
                    <a:pt x="338138" y="214403"/>
                    <a:pt x="276172" y="276225"/>
                    <a:pt x="199703" y="276225"/>
                  </a:cubicBezTo>
                  <a:cubicBezTo>
                    <a:pt x="193111" y="276225"/>
                    <a:pt x="187837" y="276225"/>
                    <a:pt x="182563" y="274910"/>
                  </a:cubicBezTo>
                  <a:cubicBezTo>
                    <a:pt x="251122" y="267018"/>
                    <a:pt x="303859" y="209142"/>
                    <a:pt x="303859" y="138113"/>
                  </a:cubicBezTo>
                  <a:cubicBezTo>
                    <a:pt x="303859" y="67083"/>
                    <a:pt x="251122" y="9208"/>
                    <a:pt x="182563" y="1315"/>
                  </a:cubicBezTo>
                  <a:cubicBezTo>
                    <a:pt x="187837" y="0"/>
                    <a:pt x="193111" y="0"/>
                    <a:pt x="19970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cs typeface="+mn-ea"/>
                <a:sym typeface="+mn-lt"/>
              </a:endParaRPr>
            </a:p>
          </p:txBody>
        </p:sp>
      </p:grpSp>
      <p:cxnSp>
        <p:nvCxnSpPr>
          <p:cNvPr id="75" name="直接连接符 74">
            <a:extLst>
              <a:ext uri="{FF2B5EF4-FFF2-40B4-BE49-F238E27FC236}">
                <a16:creationId xmlns="" xmlns:a16="http://schemas.microsoft.com/office/drawing/2014/main" id="{BF558152-580E-4462-9934-207AEC2C1979}"/>
              </a:ext>
            </a:extLst>
          </p:cNvPr>
          <p:cNvCxnSpPr/>
          <p:nvPr/>
        </p:nvCxnSpPr>
        <p:spPr>
          <a:xfrm>
            <a:off x="8746410" y="3749033"/>
            <a:ext cx="2448272" cy="0"/>
          </a:xfrm>
          <a:prstGeom prst="line">
            <a:avLst/>
          </a:prstGeom>
          <a:ln>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6" name="矩形 75"/>
          <p:cNvSpPr/>
          <p:nvPr/>
        </p:nvSpPr>
        <p:spPr>
          <a:xfrm>
            <a:off x="8746410" y="4000763"/>
            <a:ext cx="2613207" cy="58708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chemeClr val="tx1">
                    <a:lumMod val="50000"/>
                    <a:lumOff val="50000"/>
                  </a:schemeClr>
                </a:solidFill>
                <a:cs typeface="+mn-ea"/>
                <a:sym typeface="+mn-lt"/>
              </a:rPr>
              <a:t>邻接</a:t>
            </a:r>
            <a:r>
              <a:rPr lang="zh-CN" altLang="en-US" sz="1400" dirty="0" smtClean="0">
                <a:solidFill>
                  <a:schemeClr val="tx1">
                    <a:lumMod val="50000"/>
                    <a:lumOff val="50000"/>
                  </a:schemeClr>
                </a:solidFill>
                <a:cs typeface="+mn-ea"/>
                <a:sym typeface="+mn-lt"/>
              </a:rPr>
              <a:t>表可以存储带自环、重边的非简单图，邻接矩阵不行。</a:t>
            </a:r>
            <a:endParaRPr lang="zh-CN" altLang="en-US" sz="14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670840434"/>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42" presetClass="entr" presetSubtype="0"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1000"/>
                                        <p:tgtEl>
                                          <p:spTgt spid="25"/>
                                        </p:tgtEl>
                                      </p:cBhvr>
                                    </p:animEffect>
                                    <p:anim calcmode="lin" valueType="num">
                                      <p:cBhvr>
                                        <p:cTn id="27" dur="1000" fill="hold"/>
                                        <p:tgtEl>
                                          <p:spTgt spid="25"/>
                                        </p:tgtEl>
                                        <p:attrNameLst>
                                          <p:attrName>ppt_x</p:attrName>
                                        </p:attrNameLst>
                                      </p:cBhvr>
                                      <p:tavLst>
                                        <p:tav tm="0">
                                          <p:val>
                                            <p:strVal val="#ppt_x"/>
                                          </p:val>
                                        </p:tav>
                                        <p:tav tm="100000">
                                          <p:val>
                                            <p:strVal val="#ppt_x"/>
                                          </p:val>
                                        </p:tav>
                                      </p:tavLst>
                                    </p:anim>
                                    <p:anim calcmode="lin" valueType="num">
                                      <p:cBhvr>
                                        <p:cTn id="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6"/>
                                        </p:tgtEl>
                                        <p:attrNameLst>
                                          <p:attrName>style.visibility</p:attrName>
                                        </p:attrNameLst>
                                      </p:cBhvr>
                                      <p:to>
                                        <p:strVal val="visible"/>
                                      </p:to>
                                    </p:set>
                                    <p:animEffect transition="in" filter="fade">
                                      <p:cBhvr>
                                        <p:cTn id="40" dur="1000"/>
                                        <p:tgtEl>
                                          <p:spTgt spid="76"/>
                                        </p:tgtEl>
                                      </p:cBhvr>
                                    </p:animEffect>
                                    <p:anim calcmode="lin" valueType="num">
                                      <p:cBhvr>
                                        <p:cTn id="41" dur="1000" fill="hold"/>
                                        <p:tgtEl>
                                          <p:spTgt spid="76"/>
                                        </p:tgtEl>
                                        <p:attrNameLst>
                                          <p:attrName>ppt_x</p:attrName>
                                        </p:attrNameLst>
                                      </p:cBhvr>
                                      <p:tavLst>
                                        <p:tav tm="0">
                                          <p:val>
                                            <p:strVal val="#ppt_x"/>
                                          </p:val>
                                        </p:tav>
                                        <p:tav tm="100000">
                                          <p:val>
                                            <p:strVal val="#ppt_x"/>
                                          </p:val>
                                        </p:tav>
                                      </p:tavLst>
                                    </p:anim>
                                    <p:anim calcmode="lin" valueType="num">
                                      <p:cBhvr>
                                        <p:cTn id="42"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32" grpId="0"/>
      <p:bldP spid="28" grpId="0"/>
      <p:bldP spid="25" grpId="0"/>
      <p:bldP spid="7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1"/>
            <a:ext cx="12192000" cy="6858001"/>
          </a:xfrm>
          <a:prstGeom prst="rect">
            <a:avLst/>
          </a:prstGeom>
        </p:spPr>
      </p:pic>
      <p:pic>
        <p:nvPicPr>
          <p:cNvPr id="2919" name="图片 2918"/>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289300" y="622299"/>
            <a:ext cx="5613400" cy="5613400"/>
          </a:xfrm>
          <a:prstGeom prst="ellipse">
            <a:avLst/>
          </a:prstGeom>
          <a:effectLst>
            <a:outerShdw blurRad="482600" sx="102000" sy="102000" algn="ctr" rotWithShape="0">
              <a:prstClr val="black">
                <a:alpha val="61000"/>
              </a:prstClr>
            </a:outerShdw>
          </a:effectLst>
        </p:spPr>
      </p:pic>
      <p:sp>
        <p:nvSpPr>
          <p:cNvPr id="2920" name="文本框 2919"/>
          <p:cNvSpPr txBox="1"/>
          <p:nvPr/>
        </p:nvSpPr>
        <p:spPr>
          <a:xfrm>
            <a:off x="4618676" y="2006600"/>
            <a:ext cx="2954656" cy="923330"/>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rPr>
              <a:t>谢谢观看</a:t>
            </a:r>
          </a:p>
        </p:txBody>
      </p:sp>
      <p:sp>
        <p:nvSpPr>
          <p:cNvPr id="2921" name="文本框 2920"/>
          <p:cNvSpPr txBox="1"/>
          <p:nvPr/>
        </p:nvSpPr>
        <p:spPr>
          <a:xfrm>
            <a:off x="4708440" y="3019922"/>
            <a:ext cx="2775119" cy="707886"/>
          </a:xfrm>
          <a:prstGeom prst="rect">
            <a:avLst/>
          </a:prstGeom>
          <a:noFill/>
        </p:spPr>
        <p:txBody>
          <a:bodyPr wrap="none" rtlCol="0">
            <a:spAutoFit/>
            <a:scene3d>
              <a:camera prst="orthographicFront"/>
              <a:lightRig rig="threePt" dir="t"/>
            </a:scene3d>
            <a:sp3d extrusionH="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4000" dirty="0" smtClean="0">
                <a:solidFill>
                  <a:srgbClr val="FFFFFF"/>
                </a:solidFill>
                <a:effectLst>
                  <a:outerShdw blurRad="203200" dist="38100" dir="5400000" algn="t" rotWithShape="0">
                    <a:prstClr val="black">
                      <a:alpha val="83000"/>
                    </a:prstClr>
                  </a:outerShdw>
                </a:effectLst>
                <a:cs typeface="+mn-ea"/>
                <a:sym typeface="+mn-lt"/>
              </a:rPr>
              <a:t>THANKS</a:t>
            </a:r>
            <a:r>
              <a:rPr lang="zh-CN" altLang="en-US" sz="4000" dirty="0" smtClean="0">
                <a:solidFill>
                  <a:srgbClr val="FFFFFF"/>
                </a:solidFill>
                <a:effectLst>
                  <a:outerShdw blurRad="203200" dist="38100" dir="5400000" algn="t" rotWithShape="0">
                    <a:prstClr val="black">
                      <a:alpha val="83000"/>
                    </a:prstClr>
                  </a:outerShdw>
                </a:effectLst>
                <a:cs typeface="+mn-ea"/>
                <a:sym typeface="+mn-lt"/>
              </a:rPr>
              <a:t>！</a:t>
            </a:r>
            <a:endParaRPr kumimoji="0" lang="zh-CN" altLang="en-US" sz="4000" b="0" i="0" u="none" strike="noStrike" kern="1200" cap="none" spc="0" normalizeH="0" baseline="0" noProof="0" dirty="0">
              <a:ln>
                <a:noFill/>
              </a:ln>
              <a:solidFill>
                <a:srgbClr val="FFFFFF"/>
              </a:solidFill>
              <a:effectLst>
                <a:outerShdw blurRad="203200" dist="38100" dir="5400000" algn="t" rotWithShape="0">
                  <a:prstClr val="black">
                    <a:alpha val="83000"/>
                  </a:prstClr>
                </a:outerShdw>
              </a:effectLst>
              <a:uLnTx/>
              <a:uFillTx/>
              <a:cs typeface="+mn-ea"/>
              <a:sym typeface="+mn-lt"/>
            </a:endParaRPr>
          </a:p>
        </p:txBody>
      </p:sp>
      <p:cxnSp>
        <p:nvCxnSpPr>
          <p:cNvPr id="2923" name="直接连接符 2922"/>
          <p:cNvCxnSpPr/>
          <p:nvPr/>
        </p:nvCxnSpPr>
        <p:spPr>
          <a:xfrm>
            <a:off x="4849338" y="3962400"/>
            <a:ext cx="2493324" cy="0"/>
          </a:xfrm>
          <a:prstGeom prst="line">
            <a:avLst/>
          </a:prstGeom>
          <a:ln w="25400" cap="rnd">
            <a:solidFill>
              <a:schemeClr val="bg1"/>
            </a:solidFill>
            <a:round/>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24" name="矩形: 圆角 2923"/>
          <p:cNvSpPr/>
          <p:nvPr/>
        </p:nvSpPr>
        <p:spPr>
          <a:xfrm>
            <a:off x="5379720" y="4497425"/>
            <a:ext cx="1432560" cy="367031"/>
          </a:xfrm>
          <a:prstGeom prst="roundRect">
            <a:avLst>
              <a:gd name="adj" fmla="val 50000"/>
            </a:avLst>
          </a:prstGeom>
          <a:ln>
            <a:solidFill>
              <a:schemeClr val="bg1"/>
            </a:solidFill>
          </a:ln>
          <a:effectLst>
            <a:outerShdw blurRad="203200" sx="102000" sy="102000" algn="ctr" rotWithShape="0">
              <a:prstClr val="black">
                <a:alpha val="4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smtClean="0">
                <a:ln>
                  <a:noFill/>
                </a:ln>
                <a:solidFill>
                  <a:srgbClr val="FFFFFF"/>
                </a:solidFill>
                <a:effectLst/>
                <a:uLnTx/>
                <a:uFillTx/>
                <a:cs typeface="+mn-ea"/>
                <a:sym typeface="+mn-lt"/>
              </a:rPr>
              <a:t>2020.06.06</a:t>
            </a:r>
            <a:endParaRPr kumimoji="0" lang="zh-CN" altLang="en-US" sz="1400" b="0" i="0" u="none" strike="noStrike" kern="1200" cap="none" spc="0" normalizeH="0" baseline="0" noProof="0" dirty="0">
              <a:ln>
                <a:noFill/>
              </a:ln>
              <a:solidFill>
                <a:srgbClr val="FFFFFF"/>
              </a:solidFill>
              <a:effectLst/>
              <a:uLnTx/>
              <a:uFillTx/>
              <a:cs typeface="+mn-ea"/>
              <a:sym typeface="+mn-lt"/>
            </a:endParaRPr>
          </a:p>
        </p:txBody>
      </p:sp>
    </p:spTree>
    <p:extLst>
      <p:ext uri="{BB962C8B-B14F-4D97-AF65-F5344CB8AC3E}">
        <p14:creationId xmlns:p14="http://schemas.microsoft.com/office/powerpoint/2010/main" val="3575427999"/>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
      <p:transition spd="slow" advTm="4000">
        <p:random/>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fontScheme name="wkbwvqj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FF8100"/>
    </a:accent1>
    <a:accent2>
      <a:srgbClr val="FFA74C"/>
    </a:accent2>
    <a:accent3>
      <a:srgbClr val="FF5C00"/>
    </a:accent3>
    <a:accent4>
      <a:srgbClr val="FF9F00"/>
    </a:accent4>
    <a:accent5>
      <a:srgbClr val="FFC34D"/>
    </a:accent5>
    <a:accent6>
      <a:srgbClr val="B44010"/>
    </a:accent6>
    <a:hlink>
      <a:srgbClr val="FF8100"/>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11499</TotalTime>
  <Words>3895</Words>
  <Application>Microsoft Office PowerPoint</Application>
  <PresentationFormat>自定义</PresentationFormat>
  <Paragraphs>479</Paragraphs>
  <Slides>32</Slides>
  <Notes>32</Notes>
  <HiddenSlides>0</HiddenSlides>
  <MMClips>0</MMClips>
  <ScaleCrop>false</ScaleCrop>
  <HeadingPairs>
    <vt:vector size="4" baseType="variant">
      <vt:variant>
        <vt:lpstr>主题</vt:lpstr>
      </vt:variant>
      <vt:variant>
        <vt:i4>1</vt:i4>
      </vt:variant>
      <vt:variant>
        <vt:lpstr>幻灯片标题</vt:lpstr>
      </vt:variant>
      <vt:variant>
        <vt:i4>32</vt:i4>
      </vt:variant>
    </vt:vector>
  </HeadingPairs>
  <TitlesOfParts>
    <vt:vector size="33"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创意水彩</dc:title>
  <dc:creator>第一PPT</dc:creator>
  <cp:keywords>www.1ppt.com</cp:keywords>
  <dc:description>www.1ppt.com</dc:description>
  <cp:lastModifiedBy>huweiya007</cp:lastModifiedBy>
  <cp:revision>338</cp:revision>
  <dcterms:created xsi:type="dcterms:W3CDTF">2017-05-14T07:05:11Z</dcterms:created>
  <dcterms:modified xsi:type="dcterms:W3CDTF">2022-01-25T06:10:36Z</dcterms:modified>
</cp:coreProperties>
</file>