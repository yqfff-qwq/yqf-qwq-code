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82" r:id="rId5"/>
    <p:sldId id="316" r:id="rId6"/>
    <p:sldId id="319" r:id="rId7"/>
    <p:sldId id="320" r:id="rId8"/>
    <p:sldId id="321" r:id="rId9"/>
    <p:sldId id="322" r:id="rId10"/>
    <p:sldId id="317" r:id="rId11"/>
    <p:sldId id="323" r:id="rId12"/>
    <p:sldId id="324" r:id="rId13"/>
    <p:sldId id="325" r:id="rId14"/>
    <p:sldId id="326" r:id="rId15"/>
    <p:sldId id="318" r:id="rId16"/>
    <p:sldId id="327" r:id="rId17"/>
    <p:sldId id="328" r:id="rId18"/>
    <p:sldId id="329" r:id="rId19"/>
    <p:sldId id="274" r:id="rId20"/>
  </p:sldIdLst>
  <p:sldSz cx="12192000" cy="6858000"/>
  <p:notesSz cx="6858000" cy="9144000"/>
  <p:custDataLst>
    <p:tags r:id="rId2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A69EE"/>
    <a:srgbClr val="33E98A"/>
    <a:srgbClr val="ACF6CF"/>
    <a:srgbClr val="70F0AD"/>
    <a:srgbClr val="55F7F7"/>
    <a:srgbClr val="4AF80C"/>
    <a:srgbClr val="FC28D4"/>
    <a:srgbClr val="60EEA4"/>
    <a:srgbClr val="41EB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34567" autoAdjust="0"/>
    <p:restoredTop sz="93778" autoAdjust="0"/>
  </p:normalViewPr>
  <p:slideViewPr>
    <p:cSldViewPr snapToGrid="0" showGuides="1">
      <p:cViewPr varScale="1">
        <p:scale>
          <a:sx n="84" d="100"/>
          <a:sy n="84" d="100"/>
        </p:scale>
        <p:origin x="-384" y="-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tags" Target="tags/tag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32237E-A286-49FD-9984-05DBA88D669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5D9CF8-F7EC-4A95-888B-BB5C40F63F2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5D9CF8-F7EC-4A95-888B-BB5C40F63F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5D9CF8-F7EC-4A95-888B-BB5C40F63F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5D9CF8-F7EC-4A95-888B-BB5C40F63F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5D9CF8-F7EC-4A95-888B-BB5C40F63F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5D9CF8-F7EC-4A95-888B-BB5C40F63F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5D9CF8-F7EC-4A95-888B-BB5C40F63F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5D9CF8-F7EC-4A95-888B-BB5C40F63F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5D9CF8-F7EC-4A95-888B-BB5C40F63F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5D9CF8-F7EC-4A95-888B-BB5C40F63F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5D9CF8-F7EC-4A95-888B-BB5C40F63F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5D9CF8-F7EC-4A95-888B-BB5C40F63F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5D9CF8-F7EC-4A95-888B-BB5C40F63F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5D9CF8-F7EC-4A95-888B-BB5C40F63F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5D9CF8-F7EC-4A95-888B-BB5C40F63F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5D9CF8-F7EC-4A95-888B-BB5C40F63F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5D9CF8-F7EC-4A95-888B-BB5C40F63F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5D9CF8-F7EC-4A95-888B-BB5C40F63F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图片占位符 10"/>
          <p:cNvSpPr>
            <a:spLocks noGrp="1"/>
          </p:cNvSpPr>
          <p:nvPr>
            <p:ph type="pic" sz="quarter" idx="10"/>
          </p:nvPr>
        </p:nvSpPr>
        <p:spPr>
          <a:xfrm>
            <a:off x="1073043" y="1960358"/>
            <a:ext cx="2111018" cy="2111018"/>
          </a:xfrm>
          <a:custGeom>
            <a:avLst/>
            <a:gdLst>
              <a:gd name="connsiteX0" fmla="*/ 1055509 w 2111018"/>
              <a:gd name="connsiteY0" fmla="*/ 0 h 2111018"/>
              <a:gd name="connsiteX1" fmla="*/ 2111018 w 2111018"/>
              <a:gd name="connsiteY1" fmla="*/ 1055509 h 2111018"/>
              <a:gd name="connsiteX2" fmla="*/ 1055509 w 2111018"/>
              <a:gd name="connsiteY2" fmla="*/ 2111018 h 2111018"/>
              <a:gd name="connsiteX3" fmla="*/ 0 w 2111018"/>
              <a:gd name="connsiteY3" fmla="*/ 1055509 h 2111018"/>
              <a:gd name="connsiteX4" fmla="*/ 1055509 w 2111018"/>
              <a:gd name="connsiteY4" fmla="*/ 0 h 2111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11018" h="2111018">
                <a:moveTo>
                  <a:pt x="1055509" y="0"/>
                </a:moveTo>
                <a:cubicBezTo>
                  <a:pt x="1638451" y="0"/>
                  <a:pt x="2111018" y="472567"/>
                  <a:pt x="2111018" y="1055509"/>
                </a:cubicBezTo>
                <a:cubicBezTo>
                  <a:pt x="2111018" y="1638451"/>
                  <a:pt x="1638451" y="2111018"/>
                  <a:pt x="1055509" y="2111018"/>
                </a:cubicBezTo>
                <a:cubicBezTo>
                  <a:pt x="472567" y="2111018"/>
                  <a:pt x="0" y="1638451"/>
                  <a:pt x="0" y="1055509"/>
                </a:cubicBezTo>
                <a:cubicBezTo>
                  <a:pt x="0" y="472567"/>
                  <a:pt x="472567" y="0"/>
                  <a:pt x="105550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2" name="图片占位符 11"/>
          <p:cNvSpPr>
            <a:spLocks noGrp="1"/>
          </p:cNvSpPr>
          <p:nvPr>
            <p:ph type="pic" sz="quarter" idx="11"/>
          </p:nvPr>
        </p:nvSpPr>
        <p:spPr>
          <a:xfrm>
            <a:off x="3758186" y="1960358"/>
            <a:ext cx="2111018" cy="2111018"/>
          </a:xfrm>
          <a:custGeom>
            <a:avLst/>
            <a:gdLst>
              <a:gd name="connsiteX0" fmla="*/ 1055509 w 2111018"/>
              <a:gd name="connsiteY0" fmla="*/ 0 h 2111018"/>
              <a:gd name="connsiteX1" fmla="*/ 2111018 w 2111018"/>
              <a:gd name="connsiteY1" fmla="*/ 1055509 h 2111018"/>
              <a:gd name="connsiteX2" fmla="*/ 1055509 w 2111018"/>
              <a:gd name="connsiteY2" fmla="*/ 2111018 h 2111018"/>
              <a:gd name="connsiteX3" fmla="*/ 0 w 2111018"/>
              <a:gd name="connsiteY3" fmla="*/ 1055509 h 2111018"/>
              <a:gd name="connsiteX4" fmla="*/ 1055509 w 2111018"/>
              <a:gd name="connsiteY4" fmla="*/ 0 h 2111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11018" h="2111018">
                <a:moveTo>
                  <a:pt x="1055509" y="0"/>
                </a:moveTo>
                <a:cubicBezTo>
                  <a:pt x="1638451" y="0"/>
                  <a:pt x="2111018" y="472567"/>
                  <a:pt x="2111018" y="1055509"/>
                </a:cubicBezTo>
                <a:cubicBezTo>
                  <a:pt x="2111018" y="1638451"/>
                  <a:pt x="1638451" y="2111018"/>
                  <a:pt x="1055509" y="2111018"/>
                </a:cubicBezTo>
                <a:cubicBezTo>
                  <a:pt x="472567" y="2111018"/>
                  <a:pt x="0" y="1638451"/>
                  <a:pt x="0" y="1055509"/>
                </a:cubicBezTo>
                <a:cubicBezTo>
                  <a:pt x="0" y="472567"/>
                  <a:pt x="472567" y="0"/>
                  <a:pt x="105550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图片占位符 16"/>
          <p:cNvSpPr>
            <a:spLocks noGrp="1"/>
          </p:cNvSpPr>
          <p:nvPr>
            <p:ph type="pic" sz="quarter" idx="10"/>
          </p:nvPr>
        </p:nvSpPr>
        <p:spPr>
          <a:xfrm>
            <a:off x="1" y="2441574"/>
            <a:ext cx="6013449" cy="3438524"/>
          </a:xfrm>
          <a:custGeom>
            <a:avLst/>
            <a:gdLst>
              <a:gd name="connsiteX0" fmla="*/ 0 w 6013449"/>
              <a:gd name="connsiteY0" fmla="*/ 0 h 3438524"/>
              <a:gd name="connsiteX1" fmla="*/ 6013449 w 6013449"/>
              <a:gd name="connsiteY1" fmla="*/ 0 h 3438524"/>
              <a:gd name="connsiteX2" fmla="*/ 6013449 w 6013449"/>
              <a:gd name="connsiteY2" fmla="*/ 3438524 h 3438524"/>
              <a:gd name="connsiteX3" fmla="*/ 0 w 6013449"/>
              <a:gd name="connsiteY3" fmla="*/ 3438524 h 3438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13449" h="3438524">
                <a:moveTo>
                  <a:pt x="0" y="0"/>
                </a:moveTo>
                <a:lnTo>
                  <a:pt x="6013449" y="0"/>
                </a:lnTo>
                <a:lnTo>
                  <a:pt x="6013449" y="3438524"/>
                </a:lnTo>
                <a:lnTo>
                  <a:pt x="0" y="343852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8" name="图片占位符 17"/>
          <p:cNvSpPr>
            <a:spLocks noGrp="1"/>
          </p:cNvSpPr>
          <p:nvPr>
            <p:ph type="pic" sz="quarter" idx="11"/>
          </p:nvPr>
        </p:nvSpPr>
        <p:spPr>
          <a:xfrm>
            <a:off x="6207127" y="2441575"/>
            <a:ext cx="2895601" cy="1631951"/>
          </a:xfrm>
          <a:custGeom>
            <a:avLst/>
            <a:gdLst>
              <a:gd name="connsiteX0" fmla="*/ 0 w 2895601"/>
              <a:gd name="connsiteY0" fmla="*/ 0 h 1631951"/>
              <a:gd name="connsiteX1" fmla="*/ 2895601 w 2895601"/>
              <a:gd name="connsiteY1" fmla="*/ 0 h 1631951"/>
              <a:gd name="connsiteX2" fmla="*/ 2895601 w 2895601"/>
              <a:gd name="connsiteY2" fmla="*/ 1631951 h 1631951"/>
              <a:gd name="connsiteX3" fmla="*/ 0 w 2895601"/>
              <a:gd name="connsiteY3" fmla="*/ 1631951 h 1631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95601" h="1631951">
                <a:moveTo>
                  <a:pt x="0" y="0"/>
                </a:moveTo>
                <a:lnTo>
                  <a:pt x="2895601" y="0"/>
                </a:lnTo>
                <a:lnTo>
                  <a:pt x="2895601" y="1631951"/>
                </a:lnTo>
                <a:lnTo>
                  <a:pt x="0" y="163195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9" name="图片占位符 18"/>
          <p:cNvSpPr>
            <a:spLocks noGrp="1"/>
          </p:cNvSpPr>
          <p:nvPr>
            <p:ph type="pic" sz="quarter" idx="12"/>
          </p:nvPr>
        </p:nvSpPr>
        <p:spPr>
          <a:xfrm>
            <a:off x="9296400" y="2441575"/>
            <a:ext cx="2895600" cy="1631951"/>
          </a:xfrm>
          <a:custGeom>
            <a:avLst/>
            <a:gdLst>
              <a:gd name="connsiteX0" fmla="*/ 0 w 2895600"/>
              <a:gd name="connsiteY0" fmla="*/ 0 h 1631951"/>
              <a:gd name="connsiteX1" fmla="*/ 2895600 w 2895600"/>
              <a:gd name="connsiteY1" fmla="*/ 0 h 1631951"/>
              <a:gd name="connsiteX2" fmla="*/ 2895600 w 2895600"/>
              <a:gd name="connsiteY2" fmla="*/ 1631951 h 1631951"/>
              <a:gd name="connsiteX3" fmla="*/ 0 w 2895600"/>
              <a:gd name="connsiteY3" fmla="*/ 1631951 h 1631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95600" h="1631951">
                <a:moveTo>
                  <a:pt x="0" y="0"/>
                </a:moveTo>
                <a:lnTo>
                  <a:pt x="2895600" y="0"/>
                </a:lnTo>
                <a:lnTo>
                  <a:pt x="2895600" y="1631951"/>
                </a:lnTo>
                <a:lnTo>
                  <a:pt x="0" y="163195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1" name="图片占位符 20"/>
          <p:cNvSpPr>
            <a:spLocks noGrp="1"/>
          </p:cNvSpPr>
          <p:nvPr>
            <p:ph type="pic" sz="quarter" idx="13"/>
          </p:nvPr>
        </p:nvSpPr>
        <p:spPr>
          <a:xfrm>
            <a:off x="9296400" y="4248151"/>
            <a:ext cx="2895600" cy="1631951"/>
          </a:xfrm>
          <a:custGeom>
            <a:avLst/>
            <a:gdLst>
              <a:gd name="connsiteX0" fmla="*/ 0 w 2895600"/>
              <a:gd name="connsiteY0" fmla="*/ 0 h 1631951"/>
              <a:gd name="connsiteX1" fmla="*/ 2895600 w 2895600"/>
              <a:gd name="connsiteY1" fmla="*/ 0 h 1631951"/>
              <a:gd name="connsiteX2" fmla="*/ 2895600 w 2895600"/>
              <a:gd name="connsiteY2" fmla="*/ 1631951 h 1631951"/>
              <a:gd name="connsiteX3" fmla="*/ 0 w 2895600"/>
              <a:gd name="connsiteY3" fmla="*/ 1631951 h 1631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95600" h="1631951">
                <a:moveTo>
                  <a:pt x="0" y="0"/>
                </a:moveTo>
                <a:lnTo>
                  <a:pt x="2895600" y="0"/>
                </a:lnTo>
                <a:lnTo>
                  <a:pt x="2895600" y="1631951"/>
                </a:lnTo>
                <a:lnTo>
                  <a:pt x="0" y="163195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0" name="图片占位符 19"/>
          <p:cNvSpPr>
            <a:spLocks noGrp="1"/>
          </p:cNvSpPr>
          <p:nvPr>
            <p:ph type="pic" sz="quarter" idx="14"/>
          </p:nvPr>
        </p:nvSpPr>
        <p:spPr>
          <a:xfrm>
            <a:off x="6207127" y="4248151"/>
            <a:ext cx="2895601" cy="1631951"/>
          </a:xfrm>
          <a:custGeom>
            <a:avLst/>
            <a:gdLst>
              <a:gd name="connsiteX0" fmla="*/ 0 w 2895601"/>
              <a:gd name="connsiteY0" fmla="*/ 0 h 1631951"/>
              <a:gd name="connsiteX1" fmla="*/ 2895601 w 2895601"/>
              <a:gd name="connsiteY1" fmla="*/ 0 h 1631951"/>
              <a:gd name="connsiteX2" fmla="*/ 2895601 w 2895601"/>
              <a:gd name="connsiteY2" fmla="*/ 1631951 h 1631951"/>
              <a:gd name="connsiteX3" fmla="*/ 0 w 2895601"/>
              <a:gd name="connsiteY3" fmla="*/ 1631951 h 1631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95601" h="1631951">
                <a:moveTo>
                  <a:pt x="0" y="0"/>
                </a:moveTo>
                <a:lnTo>
                  <a:pt x="2895601" y="0"/>
                </a:lnTo>
                <a:lnTo>
                  <a:pt x="2895601" y="1631951"/>
                </a:lnTo>
                <a:lnTo>
                  <a:pt x="0" y="163195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图片占位符 16"/>
          <p:cNvSpPr>
            <a:spLocks noGrp="1"/>
          </p:cNvSpPr>
          <p:nvPr>
            <p:ph type="pic" sz="quarter" idx="10"/>
          </p:nvPr>
        </p:nvSpPr>
        <p:spPr>
          <a:xfrm>
            <a:off x="1" y="2441574"/>
            <a:ext cx="6013449" cy="3438524"/>
          </a:xfrm>
          <a:custGeom>
            <a:avLst/>
            <a:gdLst>
              <a:gd name="connsiteX0" fmla="*/ 0 w 6013449"/>
              <a:gd name="connsiteY0" fmla="*/ 0 h 3438524"/>
              <a:gd name="connsiteX1" fmla="*/ 6013449 w 6013449"/>
              <a:gd name="connsiteY1" fmla="*/ 0 h 3438524"/>
              <a:gd name="connsiteX2" fmla="*/ 6013449 w 6013449"/>
              <a:gd name="connsiteY2" fmla="*/ 3438524 h 3438524"/>
              <a:gd name="connsiteX3" fmla="*/ 0 w 6013449"/>
              <a:gd name="connsiteY3" fmla="*/ 3438524 h 3438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13449" h="3438524">
                <a:moveTo>
                  <a:pt x="0" y="0"/>
                </a:moveTo>
                <a:lnTo>
                  <a:pt x="6013449" y="0"/>
                </a:lnTo>
                <a:lnTo>
                  <a:pt x="6013449" y="3438524"/>
                </a:lnTo>
                <a:lnTo>
                  <a:pt x="0" y="343852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8" name="图片占位符 17"/>
          <p:cNvSpPr>
            <a:spLocks noGrp="1"/>
          </p:cNvSpPr>
          <p:nvPr>
            <p:ph type="pic" sz="quarter" idx="11"/>
          </p:nvPr>
        </p:nvSpPr>
        <p:spPr>
          <a:xfrm>
            <a:off x="6207127" y="2441575"/>
            <a:ext cx="2895601" cy="1631951"/>
          </a:xfrm>
          <a:custGeom>
            <a:avLst/>
            <a:gdLst>
              <a:gd name="connsiteX0" fmla="*/ 0 w 2895601"/>
              <a:gd name="connsiteY0" fmla="*/ 0 h 1631951"/>
              <a:gd name="connsiteX1" fmla="*/ 2895601 w 2895601"/>
              <a:gd name="connsiteY1" fmla="*/ 0 h 1631951"/>
              <a:gd name="connsiteX2" fmla="*/ 2895601 w 2895601"/>
              <a:gd name="connsiteY2" fmla="*/ 1631951 h 1631951"/>
              <a:gd name="connsiteX3" fmla="*/ 0 w 2895601"/>
              <a:gd name="connsiteY3" fmla="*/ 1631951 h 1631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95601" h="1631951">
                <a:moveTo>
                  <a:pt x="0" y="0"/>
                </a:moveTo>
                <a:lnTo>
                  <a:pt x="2895601" y="0"/>
                </a:lnTo>
                <a:lnTo>
                  <a:pt x="2895601" y="1631951"/>
                </a:lnTo>
                <a:lnTo>
                  <a:pt x="0" y="163195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9" name="图片占位符 18"/>
          <p:cNvSpPr>
            <a:spLocks noGrp="1"/>
          </p:cNvSpPr>
          <p:nvPr>
            <p:ph type="pic" sz="quarter" idx="12"/>
          </p:nvPr>
        </p:nvSpPr>
        <p:spPr>
          <a:xfrm>
            <a:off x="9296400" y="2441575"/>
            <a:ext cx="2895600" cy="1631951"/>
          </a:xfrm>
          <a:custGeom>
            <a:avLst/>
            <a:gdLst>
              <a:gd name="connsiteX0" fmla="*/ 0 w 2895600"/>
              <a:gd name="connsiteY0" fmla="*/ 0 h 1631951"/>
              <a:gd name="connsiteX1" fmla="*/ 2895600 w 2895600"/>
              <a:gd name="connsiteY1" fmla="*/ 0 h 1631951"/>
              <a:gd name="connsiteX2" fmla="*/ 2895600 w 2895600"/>
              <a:gd name="connsiteY2" fmla="*/ 1631951 h 1631951"/>
              <a:gd name="connsiteX3" fmla="*/ 0 w 2895600"/>
              <a:gd name="connsiteY3" fmla="*/ 1631951 h 1631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95600" h="1631951">
                <a:moveTo>
                  <a:pt x="0" y="0"/>
                </a:moveTo>
                <a:lnTo>
                  <a:pt x="2895600" y="0"/>
                </a:lnTo>
                <a:lnTo>
                  <a:pt x="2895600" y="1631951"/>
                </a:lnTo>
                <a:lnTo>
                  <a:pt x="0" y="163195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1" name="图片占位符 20"/>
          <p:cNvSpPr>
            <a:spLocks noGrp="1"/>
          </p:cNvSpPr>
          <p:nvPr>
            <p:ph type="pic" sz="quarter" idx="13"/>
          </p:nvPr>
        </p:nvSpPr>
        <p:spPr>
          <a:xfrm>
            <a:off x="9296400" y="4248151"/>
            <a:ext cx="2895600" cy="1631951"/>
          </a:xfrm>
          <a:custGeom>
            <a:avLst/>
            <a:gdLst>
              <a:gd name="connsiteX0" fmla="*/ 0 w 2895600"/>
              <a:gd name="connsiteY0" fmla="*/ 0 h 1631951"/>
              <a:gd name="connsiteX1" fmla="*/ 2895600 w 2895600"/>
              <a:gd name="connsiteY1" fmla="*/ 0 h 1631951"/>
              <a:gd name="connsiteX2" fmla="*/ 2895600 w 2895600"/>
              <a:gd name="connsiteY2" fmla="*/ 1631951 h 1631951"/>
              <a:gd name="connsiteX3" fmla="*/ 0 w 2895600"/>
              <a:gd name="connsiteY3" fmla="*/ 1631951 h 1631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95600" h="1631951">
                <a:moveTo>
                  <a:pt x="0" y="0"/>
                </a:moveTo>
                <a:lnTo>
                  <a:pt x="2895600" y="0"/>
                </a:lnTo>
                <a:lnTo>
                  <a:pt x="2895600" y="1631951"/>
                </a:lnTo>
                <a:lnTo>
                  <a:pt x="0" y="163195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0" name="图片占位符 19"/>
          <p:cNvSpPr>
            <a:spLocks noGrp="1"/>
          </p:cNvSpPr>
          <p:nvPr>
            <p:ph type="pic" sz="quarter" idx="14"/>
          </p:nvPr>
        </p:nvSpPr>
        <p:spPr>
          <a:xfrm>
            <a:off x="6207127" y="4248151"/>
            <a:ext cx="2895601" cy="1631951"/>
          </a:xfrm>
          <a:custGeom>
            <a:avLst/>
            <a:gdLst>
              <a:gd name="connsiteX0" fmla="*/ 0 w 2895601"/>
              <a:gd name="connsiteY0" fmla="*/ 0 h 1631951"/>
              <a:gd name="connsiteX1" fmla="*/ 2895601 w 2895601"/>
              <a:gd name="connsiteY1" fmla="*/ 0 h 1631951"/>
              <a:gd name="connsiteX2" fmla="*/ 2895601 w 2895601"/>
              <a:gd name="connsiteY2" fmla="*/ 1631951 h 1631951"/>
              <a:gd name="connsiteX3" fmla="*/ 0 w 2895601"/>
              <a:gd name="connsiteY3" fmla="*/ 1631951 h 1631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95601" h="1631951">
                <a:moveTo>
                  <a:pt x="0" y="0"/>
                </a:moveTo>
                <a:lnTo>
                  <a:pt x="2895601" y="0"/>
                </a:lnTo>
                <a:lnTo>
                  <a:pt x="2895601" y="1631951"/>
                </a:lnTo>
                <a:lnTo>
                  <a:pt x="0" y="163195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8325228" y="6545425"/>
            <a:ext cx="77513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www.1ppt.com/moban/        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www.1ppt.com/hangye/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www.1ppt.com/jieri/  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素材：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www.1ppt.com/sucai/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www.1ppt.com/beijing/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图表：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www.1ppt.com/tubiao/    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精美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 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www.1ppt.com/powerpoint/    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课件：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www.1ppt.com/kejian/           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字体下载：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www.1ppt.com/ziti/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工作总结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www.1ppt.com/xiazai/zongjie/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工作计划：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www.1ppt.com/xiazai/jihua/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商务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www.1ppt.com/moban/shangwu/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个人简历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www.1ppt.com/xiazai/jianli/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毕业答辩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www.1ppt.com/xiazai/dabian/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工作汇报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www.1ppt.com/xiazai/huibao/  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图片占位符 8"/>
          <p:cNvSpPr>
            <a:spLocks noGrp="1"/>
          </p:cNvSpPr>
          <p:nvPr>
            <p:ph type="pic" sz="quarter" idx="10"/>
          </p:nvPr>
        </p:nvSpPr>
        <p:spPr>
          <a:xfrm>
            <a:off x="0" y="1592798"/>
            <a:ext cx="12192000" cy="4523843"/>
          </a:xfrm>
          <a:custGeom>
            <a:avLst/>
            <a:gdLst>
              <a:gd name="connsiteX0" fmla="*/ 0 w 12192000"/>
              <a:gd name="connsiteY0" fmla="*/ 0 h 4523843"/>
              <a:gd name="connsiteX1" fmla="*/ 12192000 w 12192000"/>
              <a:gd name="connsiteY1" fmla="*/ 0 h 4523843"/>
              <a:gd name="connsiteX2" fmla="*/ 12192000 w 12192000"/>
              <a:gd name="connsiteY2" fmla="*/ 4523843 h 4523843"/>
              <a:gd name="connsiteX3" fmla="*/ 0 w 12192000"/>
              <a:gd name="connsiteY3" fmla="*/ 4523843 h 4523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523843">
                <a:moveTo>
                  <a:pt x="0" y="0"/>
                </a:moveTo>
                <a:lnTo>
                  <a:pt x="12192000" y="0"/>
                </a:lnTo>
                <a:lnTo>
                  <a:pt x="12192000" y="4523843"/>
                </a:lnTo>
                <a:lnTo>
                  <a:pt x="0" y="452384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图片占位符 10"/>
          <p:cNvSpPr>
            <a:spLocks noGrp="1"/>
          </p:cNvSpPr>
          <p:nvPr>
            <p:ph type="pic" sz="quarter" idx="10"/>
          </p:nvPr>
        </p:nvSpPr>
        <p:spPr>
          <a:xfrm>
            <a:off x="-1" y="1370014"/>
            <a:ext cx="12192002" cy="4829175"/>
          </a:xfrm>
          <a:custGeom>
            <a:avLst/>
            <a:gdLst>
              <a:gd name="connsiteX0" fmla="*/ 7747119 w 12192002"/>
              <a:gd name="connsiteY0" fmla="*/ 0 h 4829175"/>
              <a:gd name="connsiteX1" fmla="*/ 12192002 w 12192002"/>
              <a:gd name="connsiteY1" fmla="*/ 0 h 4829175"/>
              <a:gd name="connsiteX2" fmla="*/ 12192002 w 12192002"/>
              <a:gd name="connsiteY2" fmla="*/ 4829175 h 4829175"/>
              <a:gd name="connsiteX3" fmla="*/ 7747119 w 12192002"/>
              <a:gd name="connsiteY3" fmla="*/ 4829175 h 4829175"/>
              <a:gd name="connsiteX4" fmla="*/ 0 w 12192002"/>
              <a:gd name="connsiteY4" fmla="*/ 0 h 4829175"/>
              <a:gd name="connsiteX5" fmla="*/ 6095999 w 12192002"/>
              <a:gd name="connsiteY5" fmla="*/ 0 h 4829175"/>
              <a:gd name="connsiteX6" fmla="*/ 6095999 w 12192002"/>
              <a:gd name="connsiteY6" fmla="*/ 4829175 h 4829175"/>
              <a:gd name="connsiteX7" fmla="*/ 0 w 12192002"/>
              <a:gd name="connsiteY7" fmla="*/ 4829175 h 4829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2" h="4829175">
                <a:moveTo>
                  <a:pt x="7747119" y="0"/>
                </a:moveTo>
                <a:lnTo>
                  <a:pt x="12192002" y="0"/>
                </a:lnTo>
                <a:lnTo>
                  <a:pt x="12192002" y="4829175"/>
                </a:lnTo>
                <a:lnTo>
                  <a:pt x="7747119" y="4829175"/>
                </a:lnTo>
                <a:close/>
                <a:moveTo>
                  <a:pt x="0" y="0"/>
                </a:moveTo>
                <a:lnTo>
                  <a:pt x="6095999" y="0"/>
                </a:lnTo>
                <a:lnTo>
                  <a:pt x="6095999" y="4829175"/>
                </a:lnTo>
                <a:lnTo>
                  <a:pt x="0" y="482917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图片占位符 8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图片占位符 10"/>
          <p:cNvSpPr>
            <a:spLocks noGrp="1"/>
          </p:cNvSpPr>
          <p:nvPr>
            <p:ph type="pic" sz="quarter" idx="10"/>
          </p:nvPr>
        </p:nvSpPr>
        <p:spPr>
          <a:xfrm>
            <a:off x="719137" y="1357274"/>
            <a:ext cx="5238792" cy="2683795"/>
          </a:xfrm>
          <a:custGeom>
            <a:avLst/>
            <a:gdLst>
              <a:gd name="connsiteX0" fmla="*/ 0 w 5238792"/>
              <a:gd name="connsiteY0" fmla="*/ 0 h 2683795"/>
              <a:gd name="connsiteX1" fmla="*/ 5238792 w 5238792"/>
              <a:gd name="connsiteY1" fmla="*/ 0 h 2683795"/>
              <a:gd name="connsiteX2" fmla="*/ 5238792 w 5238792"/>
              <a:gd name="connsiteY2" fmla="*/ 2683795 h 2683795"/>
              <a:gd name="connsiteX3" fmla="*/ 0 w 5238792"/>
              <a:gd name="connsiteY3" fmla="*/ 2683795 h 2683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38792" h="2683795">
                <a:moveTo>
                  <a:pt x="0" y="0"/>
                </a:moveTo>
                <a:lnTo>
                  <a:pt x="5238792" y="0"/>
                </a:lnTo>
                <a:lnTo>
                  <a:pt x="5238792" y="2683795"/>
                </a:lnTo>
                <a:lnTo>
                  <a:pt x="0" y="268379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2" name="图片占位符 11"/>
          <p:cNvSpPr>
            <a:spLocks noGrp="1"/>
          </p:cNvSpPr>
          <p:nvPr>
            <p:ph type="pic" sz="quarter" idx="11"/>
          </p:nvPr>
        </p:nvSpPr>
        <p:spPr>
          <a:xfrm>
            <a:off x="6234071" y="1357278"/>
            <a:ext cx="5238792" cy="2683795"/>
          </a:xfrm>
          <a:custGeom>
            <a:avLst/>
            <a:gdLst>
              <a:gd name="connsiteX0" fmla="*/ 0 w 5238792"/>
              <a:gd name="connsiteY0" fmla="*/ 0 h 2683795"/>
              <a:gd name="connsiteX1" fmla="*/ 5238792 w 5238792"/>
              <a:gd name="connsiteY1" fmla="*/ 0 h 2683795"/>
              <a:gd name="connsiteX2" fmla="*/ 5238792 w 5238792"/>
              <a:gd name="connsiteY2" fmla="*/ 2683795 h 2683795"/>
              <a:gd name="connsiteX3" fmla="*/ 0 w 5238792"/>
              <a:gd name="connsiteY3" fmla="*/ 2683795 h 2683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38792" h="2683795">
                <a:moveTo>
                  <a:pt x="0" y="0"/>
                </a:moveTo>
                <a:lnTo>
                  <a:pt x="5238792" y="0"/>
                </a:lnTo>
                <a:lnTo>
                  <a:pt x="5238792" y="2683795"/>
                </a:lnTo>
                <a:lnTo>
                  <a:pt x="0" y="268379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图片占位符 8"/>
          <p:cNvSpPr>
            <a:spLocks noGrp="1"/>
          </p:cNvSpPr>
          <p:nvPr>
            <p:ph type="pic" sz="quarter" idx="10"/>
          </p:nvPr>
        </p:nvSpPr>
        <p:spPr>
          <a:xfrm>
            <a:off x="4106" y="0"/>
            <a:ext cx="12187894" cy="3571540"/>
          </a:xfrm>
          <a:custGeom>
            <a:avLst/>
            <a:gdLst>
              <a:gd name="connsiteX0" fmla="*/ 0 w 12187894"/>
              <a:gd name="connsiteY0" fmla="*/ 0 h 3571540"/>
              <a:gd name="connsiteX1" fmla="*/ 12187894 w 12187894"/>
              <a:gd name="connsiteY1" fmla="*/ 0 h 3571540"/>
              <a:gd name="connsiteX2" fmla="*/ 12187894 w 12187894"/>
              <a:gd name="connsiteY2" fmla="*/ 3571540 h 3571540"/>
              <a:gd name="connsiteX3" fmla="*/ 0 w 12187894"/>
              <a:gd name="connsiteY3" fmla="*/ 3571540 h 3571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87894" h="3571540">
                <a:moveTo>
                  <a:pt x="0" y="0"/>
                </a:moveTo>
                <a:lnTo>
                  <a:pt x="12187894" y="0"/>
                </a:lnTo>
                <a:lnTo>
                  <a:pt x="12187894" y="3571540"/>
                </a:lnTo>
                <a:lnTo>
                  <a:pt x="0" y="357154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图片占位符 14"/>
          <p:cNvSpPr>
            <a:spLocks noGrp="1"/>
          </p:cNvSpPr>
          <p:nvPr>
            <p:ph type="pic" sz="quarter" idx="10"/>
          </p:nvPr>
        </p:nvSpPr>
        <p:spPr>
          <a:xfrm>
            <a:off x="1234798" y="2528900"/>
            <a:ext cx="2263853" cy="3264506"/>
          </a:xfrm>
          <a:custGeom>
            <a:avLst/>
            <a:gdLst>
              <a:gd name="connsiteX0" fmla="*/ 0 w 2263853"/>
              <a:gd name="connsiteY0" fmla="*/ 0 h 3264506"/>
              <a:gd name="connsiteX1" fmla="*/ 2263853 w 2263853"/>
              <a:gd name="connsiteY1" fmla="*/ 0 h 3264506"/>
              <a:gd name="connsiteX2" fmla="*/ 2263853 w 2263853"/>
              <a:gd name="connsiteY2" fmla="*/ 3264506 h 3264506"/>
              <a:gd name="connsiteX3" fmla="*/ 0 w 2263853"/>
              <a:gd name="connsiteY3" fmla="*/ 3264506 h 3264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3853" h="3264506">
                <a:moveTo>
                  <a:pt x="0" y="0"/>
                </a:moveTo>
                <a:lnTo>
                  <a:pt x="2263853" y="0"/>
                </a:lnTo>
                <a:lnTo>
                  <a:pt x="2263853" y="3264506"/>
                </a:lnTo>
                <a:lnTo>
                  <a:pt x="0" y="326450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6" name="图片占位符 15"/>
          <p:cNvSpPr>
            <a:spLocks noGrp="1"/>
          </p:cNvSpPr>
          <p:nvPr>
            <p:ph type="pic" sz="quarter" idx="11"/>
          </p:nvPr>
        </p:nvSpPr>
        <p:spPr>
          <a:xfrm>
            <a:off x="3720984" y="2528900"/>
            <a:ext cx="2272185" cy="3264506"/>
          </a:xfrm>
          <a:custGeom>
            <a:avLst/>
            <a:gdLst>
              <a:gd name="connsiteX0" fmla="*/ 0 w 2272185"/>
              <a:gd name="connsiteY0" fmla="*/ 0 h 3264506"/>
              <a:gd name="connsiteX1" fmla="*/ 2272185 w 2272185"/>
              <a:gd name="connsiteY1" fmla="*/ 0 h 3264506"/>
              <a:gd name="connsiteX2" fmla="*/ 2272185 w 2272185"/>
              <a:gd name="connsiteY2" fmla="*/ 3264506 h 3264506"/>
              <a:gd name="connsiteX3" fmla="*/ 0 w 2272185"/>
              <a:gd name="connsiteY3" fmla="*/ 3264506 h 3264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72185" h="3264506">
                <a:moveTo>
                  <a:pt x="0" y="0"/>
                </a:moveTo>
                <a:lnTo>
                  <a:pt x="2272185" y="0"/>
                </a:lnTo>
                <a:lnTo>
                  <a:pt x="2272185" y="3264506"/>
                </a:lnTo>
                <a:lnTo>
                  <a:pt x="0" y="326450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7" name="图片占位符 16"/>
          <p:cNvSpPr>
            <a:spLocks noGrp="1"/>
          </p:cNvSpPr>
          <p:nvPr>
            <p:ph type="pic" sz="quarter" idx="12"/>
          </p:nvPr>
        </p:nvSpPr>
        <p:spPr>
          <a:xfrm>
            <a:off x="6198835" y="2528900"/>
            <a:ext cx="2272185" cy="3264506"/>
          </a:xfrm>
          <a:custGeom>
            <a:avLst/>
            <a:gdLst>
              <a:gd name="connsiteX0" fmla="*/ 0 w 2272185"/>
              <a:gd name="connsiteY0" fmla="*/ 0 h 3264506"/>
              <a:gd name="connsiteX1" fmla="*/ 2272185 w 2272185"/>
              <a:gd name="connsiteY1" fmla="*/ 0 h 3264506"/>
              <a:gd name="connsiteX2" fmla="*/ 2272185 w 2272185"/>
              <a:gd name="connsiteY2" fmla="*/ 3264506 h 3264506"/>
              <a:gd name="connsiteX3" fmla="*/ 0 w 2272185"/>
              <a:gd name="connsiteY3" fmla="*/ 3264506 h 3264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72185" h="3264506">
                <a:moveTo>
                  <a:pt x="0" y="0"/>
                </a:moveTo>
                <a:lnTo>
                  <a:pt x="2272185" y="0"/>
                </a:lnTo>
                <a:lnTo>
                  <a:pt x="2272185" y="3264506"/>
                </a:lnTo>
                <a:lnTo>
                  <a:pt x="0" y="326450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8" name="图片占位符 17"/>
          <p:cNvSpPr>
            <a:spLocks noGrp="1"/>
          </p:cNvSpPr>
          <p:nvPr>
            <p:ph type="pic" sz="quarter" idx="13"/>
          </p:nvPr>
        </p:nvSpPr>
        <p:spPr>
          <a:xfrm>
            <a:off x="8693352" y="2528900"/>
            <a:ext cx="2263853" cy="3264506"/>
          </a:xfrm>
          <a:custGeom>
            <a:avLst/>
            <a:gdLst>
              <a:gd name="connsiteX0" fmla="*/ 0 w 2263853"/>
              <a:gd name="connsiteY0" fmla="*/ 0 h 3264506"/>
              <a:gd name="connsiteX1" fmla="*/ 2263853 w 2263853"/>
              <a:gd name="connsiteY1" fmla="*/ 0 h 3264506"/>
              <a:gd name="connsiteX2" fmla="*/ 2263853 w 2263853"/>
              <a:gd name="connsiteY2" fmla="*/ 3264506 h 3264506"/>
              <a:gd name="connsiteX3" fmla="*/ 0 w 2263853"/>
              <a:gd name="connsiteY3" fmla="*/ 3264506 h 3264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3853" h="3264506">
                <a:moveTo>
                  <a:pt x="0" y="0"/>
                </a:moveTo>
                <a:lnTo>
                  <a:pt x="2263853" y="0"/>
                </a:lnTo>
                <a:lnTo>
                  <a:pt x="2263853" y="3264506"/>
                </a:lnTo>
                <a:lnTo>
                  <a:pt x="0" y="326450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91CE03-90C0-4E22-B7FA-3A1ECBAF6F4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1176E6-63FA-43A7-8DE8-B4DDEC857A2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themeOverride" Target="../theme/themeOverride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5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5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10.jpe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1.xml"/><Relationship Id="rId3" Type="http://schemas.openxmlformats.org/officeDocument/2006/relationships/themeOverride" Target="../theme/themeOverride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1" cstate="email"/>
          <a:srcRect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pic>
        <p:nvPicPr>
          <p:cNvPr id="2919" name="图片 2918"/>
          <p:cNvPicPr>
            <a:picLocks noChangeAspect="1"/>
          </p:cNvPicPr>
          <p:nvPr/>
        </p:nvPicPr>
        <p:blipFill rotWithShape="1">
          <a:blip r:embed="rId2" cstate="email"/>
          <a:srcRect/>
          <a:stretch>
            <a:fillRect/>
          </a:stretch>
        </p:blipFill>
        <p:spPr>
          <a:xfrm>
            <a:off x="3289300" y="622299"/>
            <a:ext cx="5613400" cy="5613400"/>
          </a:xfrm>
          <a:prstGeom prst="ellipse">
            <a:avLst/>
          </a:prstGeom>
          <a:effectLst>
            <a:outerShdw blurRad="482600" sx="102000" sy="102000" algn="ctr" rotWithShape="0">
              <a:prstClr val="black">
                <a:alpha val="61000"/>
              </a:prstClr>
            </a:outerShdw>
          </a:effectLst>
        </p:spPr>
      </p:pic>
      <p:sp>
        <p:nvSpPr>
          <p:cNvPr id="2920" name="文本框 2919"/>
          <p:cNvSpPr txBox="1"/>
          <p:nvPr/>
        </p:nvSpPr>
        <p:spPr>
          <a:xfrm>
            <a:off x="4272427" y="2006600"/>
            <a:ext cx="3647153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extrusionH="12700"/>
          </a:bodyPr>
          <a:lstStyle/>
          <a:p>
            <a:pPr algn="ctr"/>
            <a:r>
              <a:rPr lang="zh-CN" altLang="en-US" sz="5400" dirty="0" smtClean="0">
                <a:solidFill>
                  <a:schemeClr val="bg1"/>
                </a:solidFill>
                <a:effectLst>
                  <a:outerShdw blurRad="203200" dist="38100" dir="5400000" algn="t" rotWithShape="0">
                    <a:prstClr val="black">
                      <a:alpha val="83000"/>
                    </a:prstClr>
                  </a:outerShdw>
                </a:effectLst>
                <a:cs typeface="+mn-ea"/>
                <a:sym typeface="+mn-lt"/>
              </a:rPr>
              <a:t>第二、三章</a:t>
            </a:r>
            <a:endParaRPr lang="zh-CN" altLang="en-US" sz="5400" dirty="0">
              <a:solidFill>
                <a:schemeClr val="bg1"/>
              </a:solidFill>
              <a:effectLst>
                <a:outerShdw blurRad="203200" dist="38100" dir="5400000" algn="t" rotWithShape="0">
                  <a:prstClr val="black">
                    <a:alpha val="83000"/>
                  </a:prst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2921" name="文本框 2920"/>
          <p:cNvSpPr txBox="1"/>
          <p:nvPr/>
        </p:nvSpPr>
        <p:spPr>
          <a:xfrm>
            <a:off x="4891985" y="3019922"/>
            <a:ext cx="2408032" cy="707886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extrusionH="12700"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effectLst>
                  <a:outerShdw blurRad="203200" dist="38100" dir="5400000" algn="t" rotWithShape="0">
                    <a:prstClr val="black">
                      <a:alpha val="83000"/>
                    </a:prstClr>
                  </a:outerShdw>
                </a:effectLst>
                <a:cs typeface="+mn-ea"/>
                <a:sym typeface="+mn-lt"/>
              </a:rPr>
              <a:t>递推</a:t>
            </a:r>
            <a:r>
              <a:rPr lang="en-US" altLang="zh-CN" sz="4000" dirty="0" smtClean="0">
                <a:solidFill>
                  <a:schemeClr val="bg1"/>
                </a:solidFill>
                <a:effectLst>
                  <a:outerShdw blurRad="203200" dist="38100" dir="5400000" algn="t" rotWithShape="0">
                    <a:prstClr val="black">
                      <a:alpha val="83000"/>
                    </a:prstClr>
                  </a:outerShdw>
                </a:effectLst>
                <a:cs typeface="+mn-ea"/>
                <a:sym typeface="+mn-lt"/>
              </a:rPr>
              <a:t>·</a:t>
            </a:r>
            <a:r>
              <a:rPr lang="zh-CN" altLang="en-US" sz="4000" dirty="0">
                <a:solidFill>
                  <a:schemeClr val="bg1"/>
                </a:solidFill>
                <a:effectLst>
                  <a:outerShdw blurRad="203200" dist="38100" dir="5400000" algn="t" rotWithShape="0">
                    <a:prstClr val="black">
                      <a:alpha val="83000"/>
                    </a:prstClr>
                  </a:outerShdw>
                </a:effectLst>
                <a:cs typeface="+mn-ea"/>
                <a:sym typeface="+mn-lt"/>
              </a:rPr>
              <a:t>递归</a:t>
            </a:r>
            <a:endParaRPr lang="zh-CN" altLang="en-US" sz="4000" dirty="0">
              <a:solidFill>
                <a:schemeClr val="bg1"/>
              </a:solidFill>
              <a:effectLst>
                <a:outerShdw blurRad="203200" dist="38100" dir="5400000" algn="t" rotWithShape="0">
                  <a:prstClr val="black">
                    <a:alpha val="83000"/>
                  </a:prstClr>
                </a:outerShdw>
              </a:effectLst>
              <a:cs typeface="+mn-ea"/>
              <a:sym typeface="+mn-lt"/>
            </a:endParaRPr>
          </a:p>
        </p:txBody>
      </p:sp>
      <p:cxnSp>
        <p:nvCxnSpPr>
          <p:cNvPr id="2923" name="直接连接符 2922"/>
          <p:cNvCxnSpPr/>
          <p:nvPr/>
        </p:nvCxnSpPr>
        <p:spPr>
          <a:xfrm>
            <a:off x="4849338" y="3962400"/>
            <a:ext cx="2493324" cy="0"/>
          </a:xfrm>
          <a:prstGeom prst="line">
            <a:avLst/>
          </a:prstGeom>
          <a:ln w="25400" cap="rnd">
            <a:solidFill>
              <a:schemeClr val="bg1"/>
            </a:solidFill>
            <a:rou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24" name="矩形: 圆角 2923"/>
          <p:cNvSpPr/>
          <p:nvPr/>
        </p:nvSpPr>
        <p:spPr>
          <a:xfrm>
            <a:off x="5379720" y="4497425"/>
            <a:ext cx="1432560" cy="367031"/>
          </a:xfrm>
          <a:prstGeom prst="roundRect">
            <a:avLst>
              <a:gd name="adj" fmla="val 50000"/>
            </a:avLst>
          </a:prstGeom>
          <a:ln>
            <a:solidFill>
              <a:schemeClr val="bg1"/>
            </a:solidFill>
          </a:ln>
          <a:effectLst>
            <a:outerShdw blurRad="203200" sx="102000" sy="102000" algn="ctr" rotWithShape="0">
              <a:prstClr val="black">
                <a:alpha val="4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>
                <a:cs typeface="+mn-ea"/>
                <a:sym typeface="+mn-lt"/>
              </a:rPr>
              <a:t>2026.01.13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9" name="文本框 2919"/>
          <p:cNvSpPr txBox="1"/>
          <p:nvPr/>
        </p:nvSpPr>
        <p:spPr>
          <a:xfrm>
            <a:off x="10013198" y="0"/>
            <a:ext cx="2095446" cy="369332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extrusionH="12700"/>
          </a:bodyPr>
          <a:lstStyle/>
          <a:p>
            <a:pPr algn="ctr"/>
            <a:r>
              <a:rPr lang="zh-CN" altLang="en-US" dirty="0" smtClean="0">
                <a:solidFill>
                  <a:schemeClr val="bg1"/>
                </a:solidFill>
                <a:effectLst>
                  <a:outerShdw blurRad="203200" dist="38100" dir="5400000" algn="t" rotWithShape="0">
                    <a:prstClr val="black">
                      <a:alpha val="83000"/>
                    </a:prstClr>
                  </a:outerShdw>
                </a:effectLst>
                <a:cs typeface="+mn-ea"/>
                <a:sym typeface="+mn-lt"/>
              </a:rPr>
              <a:t>第二部分 基础算法</a:t>
            </a:r>
            <a:endParaRPr lang="zh-CN" altLang="en-US" dirty="0">
              <a:solidFill>
                <a:schemeClr val="bg1"/>
              </a:solidFill>
              <a:effectLst>
                <a:outerShdw blurRad="203200" dist="38100" dir="5400000" algn="t" rotWithShape="0">
                  <a:prstClr val="black">
                    <a:alpha val="83000"/>
                  </a:prstClr>
                </a:outerShdw>
              </a:effectLst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4000">
        <p:random/>
      </p:transition>
    </mc:Choice>
    <mc:Fallback>
      <p:transition spd="slow" advTm="4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3" presetClass="entr" presetSubtype="28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9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9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9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9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9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9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9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2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20" grpId="0"/>
      <p:bldP spid="2921" grpId="0"/>
      <p:bldP spid="2924" grpId="0" animBg="1"/>
      <p:bldP spid="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/>
          <p:cNvPicPr>
            <a:picLocks noChangeAspect="1"/>
          </p:cNvPicPr>
          <p:nvPr/>
        </p:nvPicPr>
        <p:blipFill rotWithShape="1">
          <a:blip r:embed="rId1" cstate="email"/>
          <a:srcRect/>
          <a:stretch>
            <a:fillRect/>
          </a:stretch>
        </p:blipFill>
        <p:spPr>
          <a:xfrm>
            <a:off x="0" y="-1"/>
            <a:ext cx="2346266" cy="1738323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/>
        </p:nvPicPr>
        <p:blipFill rotWithShape="1">
          <a:blip r:embed="rId2" cstate="email"/>
          <a:srcRect/>
          <a:stretch>
            <a:fillRect/>
          </a:stretch>
        </p:blipFill>
        <p:spPr>
          <a:xfrm>
            <a:off x="10197363" y="4506451"/>
            <a:ext cx="1994638" cy="2351549"/>
          </a:xfrm>
          <a:prstGeom prst="rect">
            <a:avLst/>
          </a:prstGeom>
        </p:spPr>
      </p:pic>
      <p:sp>
        <p:nvSpPr>
          <p:cNvPr id="33" name="文本框 32"/>
          <p:cNvSpPr txBox="1"/>
          <p:nvPr/>
        </p:nvSpPr>
        <p:spPr>
          <a:xfrm>
            <a:off x="1996803" y="254168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extrusionH="12700"/>
          </a:bodyPr>
          <a:lstStyle/>
          <a:p>
            <a:r>
              <a:rPr lang="zh-CN" altLang="en-US" sz="32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基本概念</a:t>
            </a:r>
            <a:endParaRPr lang="zh-CN" altLang="en-US" sz="32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1996803" y="776898"/>
            <a:ext cx="379286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u="none" strike="noStrike" kern="1200" cap="none" spc="0" normalizeH="0" baseline="0" noProof="0" dirty="0" smtClean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cs typeface="+mn-ea"/>
                <a:sym typeface="+mn-lt"/>
              </a:rPr>
              <a:t>Basic Concepts</a:t>
            </a:r>
            <a:endParaRPr kumimoji="0" lang="zh-CN" altLang="en-US" sz="1200" u="none" strike="noStrike" kern="1200" cap="none" spc="0" normalizeH="0" baseline="0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cxnSp>
        <p:nvCxnSpPr>
          <p:cNvPr id="35" name="直接连接符 34"/>
          <p:cNvCxnSpPr/>
          <p:nvPr/>
        </p:nvCxnSpPr>
        <p:spPr>
          <a:xfrm>
            <a:off x="5671226" y="622570"/>
            <a:ext cx="6520774" cy="0"/>
          </a:xfrm>
          <a:prstGeom prst="line">
            <a:avLst/>
          </a:prstGeom>
          <a:ln w="50800" cmpd="thickThin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本框 2919"/>
          <p:cNvSpPr txBox="1"/>
          <p:nvPr/>
        </p:nvSpPr>
        <p:spPr>
          <a:xfrm>
            <a:off x="9902212" y="177223"/>
            <a:ext cx="1864613" cy="369332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extrusionH="12700"/>
          </a:bodyPr>
          <a:lstStyle/>
          <a:p>
            <a:pPr algn="ctr"/>
            <a:r>
              <a:rPr lang="zh-CN" altLang="en-US" dirty="0" smtClean="0">
                <a:solidFill>
                  <a:schemeClr val="bg1"/>
                </a:solidFill>
                <a:effectLst>
                  <a:outerShdw blurRad="203200" dist="38100" dir="5400000" algn="t" rotWithShape="0">
                    <a:prstClr val="black">
                      <a:alpha val="83000"/>
                    </a:prstClr>
                  </a:outerShdw>
                </a:effectLst>
                <a:cs typeface="+mn-ea"/>
                <a:sym typeface="+mn-lt"/>
              </a:rPr>
              <a:t>例题① 等差数列</a:t>
            </a:r>
            <a:endParaRPr lang="zh-CN" altLang="en-US" dirty="0">
              <a:solidFill>
                <a:schemeClr val="bg1"/>
              </a:solidFill>
              <a:effectLst>
                <a:outerShdw blurRad="203200" dist="38100" dir="5400000" algn="t" rotWithShape="0">
                  <a:prstClr val="black">
                    <a:alpha val="83000"/>
                  </a:prst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1691914" y="1706968"/>
            <a:ext cx="8505449" cy="429861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20000"/>
              </a:lnSpc>
            </a:pP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   </a:t>
            </a: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公差为</a:t>
            </a:r>
            <a:r>
              <a:rPr lang="en-US" altLang="zh-CN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3</a:t>
            </a: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的等差数列，首项是</a:t>
            </a:r>
            <a:r>
              <a:rPr lang="en-US" altLang="zh-CN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1</a:t>
            </a: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，计算其第</a:t>
            </a:r>
            <a:r>
              <a:rPr lang="en-US" altLang="zh-CN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n</a:t>
            </a: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项的值。</a:t>
            </a:r>
            <a:endParaRPr lang="zh-CN" altLang="en-US" sz="2000" b="1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2346267" y="2624194"/>
            <a:ext cx="7851096" cy="92333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zh-CN" dirty="0" smtClean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做法</a:t>
            </a:r>
            <a:r>
              <a:rPr lang="zh-CN" altLang="zh-CN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①：</a:t>
            </a:r>
            <a:endParaRPr lang="zh-CN" altLang="zh-CN" dirty="0">
              <a:solidFill>
                <a:schemeClr val="tx1">
                  <a:lumMod val="50000"/>
                  <a:lumOff val="50000"/>
                </a:schemeClr>
              </a:solidFill>
              <a:cs typeface="+mn-ea"/>
            </a:endParaRPr>
          </a:p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	</a:t>
            </a:r>
            <a:r>
              <a:rPr lang="zh-CN" altLang="zh-CN" dirty="0" smtClean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由</a:t>
            </a:r>
            <a:r>
              <a:rPr lang="zh-CN" altLang="en-US" dirty="0" smtClean="0">
                <a:solidFill>
                  <a:srgbClr val="FF0000"/>
                </a:solidFill>
                <a:cs typeface="+mn-ea"/>
              </a:rPr>
              <a:t>递推起点</a:t>
            </a:r>
            <a:r>
              <a:rPr lang="en-US" altLang="zh-CN" dirty="0" smtClean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f[1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]=1</a:t>
            </a:r>
            <a:r>
              <a:rPr lang="zh-CN" altLang="zh-CN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，可知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f[2]=f[1]+3=4</a:t>
            </a:r>
            <a:r>
              <a:rPr lang="zh-CN" altLang="zh-CN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，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f[3]=f[2]+3=7</a:t>
            </a:r>
            <a:r>
              <a:rPr lang="zh-CN" altLang="zh-CN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……</a:t>
            </a:r>
            <a:endParaRPr lang="zh-CN" altLang="zh-CN" dirty="0">
              <a:solidFill>
                <a:schemeClr val="tx1">
                  <a:lumMod val="50000"/>
                  <a:lumOff val="50000"/>
                </a:schemeClr>
              </a:solidFill>
              <a:cs typeface="+mn-ea"/>
            </a:endParaRPr>
          </a:p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	</a:t>
            </a:r>
            <a:r>
              <a:rPr lang="zh-CN" altLang="zh-CN" dirty="0" smtClean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列出</a:t>
            </a:r>
            <a:r>
              <a:rPr lang="zh-CN" altLang="en-US" dirty="0">
                <a:solidFill>
                  <a:srgbClr val="FF0000"/>
                </a:solidFill>
                <a:cs typeface="+mn-ea"/>
              </a:rPr>
              <a:t>递</a:t>
            </a:r>
            <a:r>
              <a:rPr lang="zh-CN" altLang="en-US" dirty="0" smtClean="0">
                <a:solidFill>
                  <a:srgbClr val="FF0000"/>
                </a:solidFill>
                <a:cs typeface="+mn-ea"/>
              </a:rPr>
              <a:t>推关系</a:t>
            </a:r>
            <a:r>
              <a:rPr lang="en-US" altLang="zh-CN" dirty="0" smtClean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f[i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]=f[i-1]+</a:t>
            </a:r>
            <a:r>
              <a:rPr lang="en-US" altLang="zh-CN" dirty="0" smtClean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3</a:t>
            </a:r>
            <a:endParaRPr lang="zh-CN" altLang="zh-CN" dirty="0">
              <a:solidFill>
                <a:schemeClr val="tx1">
                  <a:lumMod val="50000"/>
                  <a:lumOff val="50000"/>
                </a:schemeClr>
              </a:solidFill>
              <a:cs typeface="+mn-e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2346266" y="4044786"/>
            <a:ext cx="7555946" cy="1200329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zh-CN" dirty="0" smtClean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做法</a:t>
            </a:r>
            <a:r>
              <a:rPr lang="zh-CN" altLang="zh-CN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②</a:t>
            </a:r>
            <a:r>
              <a:rPr lang="zh-CN" altLang="zh-CN" dirty="0" smtClean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，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设</a:t>
            </a:r>
            <a:r>
              <a:rPr lang="zh-CN" altLang="zh-CN" dirty="0" smtClean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第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n</a:t>
            </a:r>
            <a:r>
              <a:rPr lang="zh-CN" altLang="zh-CN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项值为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f[n]</a:t>
            </a:r>
            <a:r>
              <a:rPr lang="zh-CN" altLang="zh-CN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，第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n-1</a:t>
            </a:r>
            <a:r>
              <a:rPr lang="zh-CN" altLang="zh-CN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项值为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f[n-1]</a:t>
            </a:r>
            <a:r>
              <a:rPr lang="zh-CN" altLang="zh-CN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，由公差为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3</a:t>
            </a:r>
            <a:r>
              <a:rPr lang="zh-CN" altLang="zh-CN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，</a:t>
            </a:r>
            <a:r>
              <a:rPr lang="zh-CN" altLang="zh-CN" dirty="0" smtClean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可</a:t>
            </a:r>
            <a:r>
              <a:rPr lang="zh-CN" alt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建立</a:t>
            </a:r>
            <a:r>
              <a:rPr lang="zh-CN" altLang="en-US" dirty="0" smtClean="0">
                <a:solidFill>
                  <a:srgbClr val="FF0000"/>
                </a:solidFill>
                <a:cs typeface="+mn-ea"/>
              </a:rPr>
              <a:t>递归关系</a:t>
            </a:r>
            <a:r>
              <a:rPr lang="zh-CN" altLang="zh-CN" dirty="0" smtClean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：</a:t>
            </a:r>
            <a:endParaRPr lang="zh-CN" altLang="zh-CN" dirty="0">
              <a:solidFill>
                <a:schemeClr val="tx1">
                  <a:lumMod val="50000"/>
                  <a:lumOff val="50000"/>
                </a:schemeClr>
              </a:solidFill>
              <a:cs typeface="+mn-ea"/>
            </a:endParaRPr>
          </a:p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	f[n]-f[n-1]=3</a:t>
            </a:r>
            <a:endParaRPr lang="zh-CN" altLang="zh-CN" dirty="0">
              <a:solidFill>
                <a:schemeClr val="tx1">
                  <a:lumMod val="50000"/>
                  <a:lumOff val="50000"/>
                </a:schemeClr>
              </a:solidFill>
              <a:cs typeface="+mn-ea"/>
            </a:endParaRPr>
          </a:p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	</a:t>
            </a:r>
            <a:r>
              <a:rPr lang="zh-CN" altLang="zh-CN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可得通项式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f[i]=f[i-1]+3</a:t>
            </a:r>
            <a:r>
              <a:rPr lang="zh-CN" altLang="zh-CN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，可</a:t>
            </a:r>
            <a:r>
              <a:rPr lang="zh-CN" altLang="zh-CN" dirty="0" smtClean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由</a:t>
            </a:r>
            <a:r>
              <a:rPr lang="zh-CN" altLang="en-US" dirty="0">
                <a:solidFill>
                  <a:srgbClr val="FF0000"/>
                </a:solidFill>
                <a:cs typeface="+mn-ea"/>
              </a:rPr>
              <a:t>递归出口</a:t>
            </a:r>
            <a:r>
              <a:rPr lang="en-US" altLang="zh-CN" dirty="0" smtClean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1</a:t>
            </a:r>
            <a:r>
              <a:rPr lang="zh-CN" altLang="zh-CN" dirty="0" smtClean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计算</a:t>
            </a:r>
            <a:r>
              <a:rPr lang="zh-CN" altLang="zh-CN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得来</a:t>
            </a:r>
            <a:r>
              <a:rPr lang="zh-CN" altLang="zh-CN" dirty="0" smtClean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。</a:t>
            </a:r>
            <a:endParaRPr lang="zh-CN" altLang="zh-CN" dirty="0">
              <a:solidFill>
                <a:schemeClr val="tx1">
                  <a:lumMod val="50000"/>
                  <a:lumOff val="50000"/>
                </a:schemeClr>
              </a:solidFill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4000">
        <p:random/>
      </p:transition>
    </mc:Choice>
    <mc:Fallback>
      <p:transition spd="slow" advTm="4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/>
          <p:cNvPicPr>
            <a:picLocks noChangeAspect="1"/>
          </p:cNvPicPr>
          <p:nvPr/>
        </p:nvPicPr>
        <p:blipFill rotWithShape="1">
          <a:blip r:embed="rId1" cstate="email"/>
          <a:srcRect/>
          <a:stretch>
            <a:fillRect/>
          </a:stretch>
        </p:blipFill>
        <p:spPr>
          <a:xfrm>
            <a:off x="0" y="-1"/>
            <a:ext cx="2346266" cy="1738323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/>
        </p:nvPicPr>
        <p:blipFill rotWithShape="1">
          <a:blip r:embed="rId2" cstate="email"/>
          <a:srcRect/>
          <a:stretch>
            <a:fillRect/>
          </a:stretch>
        </p:blipFill>
        <p:spPr>
          <a:xfrm>
            <a:off x="10197363" y="4506451"/>
            <a:ext cx="1994638" cy="2351549"/>
          </a:xfrm>
          <a:prstGeom prst="rect">
            <a:avLst/>
          </a:prstGeom>
        </p:spPr>
      </p:pic>
      <p:sp>
        <p:nvSpPr>
          <p:cNvPr id="33" name="文本框 32"/>
          <p:cNvSpPr txBox="1"/>
          <p:nvPr/>
        </p:nvSpPr>
        <p:spPr>
          <a:xfrm>
            <a:off x="1996803" y="254168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extrusionH="12700"/>
          </a:bodyPr>
          <a:lstStyle/>
          <a:p>
            <a:r>
              <a:rPr lang="zh-CN" altLang="en-US" sz="32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基本概念</a:t>
            </a:r>
            <a:endParaRPr lang="zh-CN" altLang="en-US" sz="32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1996803" y="776898"/>
            <a:ext cx="379286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u="none" strike="noStrike" kern="1200" cap="none" spc="0" normalizeH="0" baseline="0" noProof="0" dirty="0" smtClean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cs typeface="+mn-ea"/>
                <a:sym typeface="+mn-lt"/>
              </a:rPr>
              <a:t>Basic Concepts</a:t>
            </a:r>
            <a:endParaRPr kumimoji="0" lang="zh-CN" altLang="en-US" sz="1200" u="none" strike="noStrike" kern="1200" cap="none" spc="0" normalizeH="0" baseline="0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cxnSp>
        <p:nvCxnSpPr>
          <p:cNvPr id="35" name="直接连接符 34"/>
          <p:cNvCxnSpPr/>
          <p:nvPr/>
        </p:nvCxnSpPr>
        <p:spPr>
          <a:xfrm>
            <a:off x="5671226" y="622570"/>
            <a:ext cx="6520774" cy="0"/>
          </a:xfrm>
          <a:prstGeom prst="line">
            <a:avLst/>
          </a:prstGeom>
          <a:ln w="50800" cmpd="thickThin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本框 2919"/>
          <p:cNvSpPr txBox="1"/>
          <p:nvPr/>
        </p:nvSpPr>
        <p:spPr>
          <a:xfrm>
            <a:off x="10511351" y="177223"/>
            <a:ext cx="646332" cy="369332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extrusionH="12700"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effectLst>
                  <a:outerShdw blurRad="203200" dist="38100" dir="5400000" algn="t" rotWithShape="0">
                    <a:prstClr val="black">
                      <a:alpha val="83000"/>
                    </a:prstClr>
                  </a:outerShdw>
                </a:effectLst>
                <a:cs typeface="+mn-ea"/>
                <a:sym typeface="+mn-lt"/>
              </a:rPr>
              <a:t>递推</a:t>
            </a:r>
            <a:endParaRPr lang="zh-CN" altLang="en-US" dirty="0">
              <a:solidFill>
                <a:schemeClr val="bg1"/>
              </a:solidFill>
              <a:effectLst>
                <a:outerShdw blurRad="203200" dist="38100" dir="5400000" algn="t" rotWithShape="0">
                  <a:prstClr val="black">
                    <a:alpha val="83000"/>
                  </a:prst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1691914" y="1706968"/>
            <a:ext cx="8505449" cy="429861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20000"/>
              </a:lnSpc>
            </a:pP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   </a:t>
            </a: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公差为</a:t>
            </a:r>
            <a:r>
              <a:rPr lang="en-US" altLang="zh-CN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3</a:t>
            </a: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的等差数列，首项是</a:t>
            </a:r>
            <a:r>
              <a:rPr lang="en-US" altLang="zh-CN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1</a:t>
            </a: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，计算其第</a:t>
            </a:r>
            <a:r>
              <a:rPr lang="en-US" altLang="zh-CN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n</a:t>
            </a: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项的值。</a:t>
            </a:r>
            <a:endParaRPr lang="zh-CN" altLang="en-US" sz="2000" b="1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2346266" y="2341972"/>
            <a:ext cx="7851096" cy="92333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zh-CN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做法①：</a:t>
            </a:r>
            <a:endParaRPr lang="zh-CN" altLang="zh-CN" dirty="0">
              <a:solidFill>
                <a:schemeClr val="tx1">
                  <a:lumMod val="50000"/>
                  <a:lumOff val="50000"/>
                </a:schemeClr>
              </a:solidFill>
              <a:cs typeface="+mn-ea"/>
            </a:endParaRPr>
          </a:p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	</a:t>
            </a:r>
            <a:r>
              <a:rPr lang="zh-CN" altLang="zh-CN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由</a:t>
            </a:r>
            <a:r>
              <a:rPr lang="zh-CN" altLang="en-US" dirty="0">
                <a:solidFill>
                  <a:srgbClr val="FF0000"/>
                </a:solidFill>
                <a:cs typeface="+mn-ea"/>
              </a:rPr>
              <a:t>递推起点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f[1]=1</a:t>
            </a:r>
            <a:r>
              <a:rPr lang="zh-CN" altLang="zh-CN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，可知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f[2]=f[1]+3=4</a:t>
            </a:r>
            <a:r>
              <a:rPr lang="zh-CN" altLang="zh-CN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，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f[3]=f[2]+3=7</a:t>
            </a:r>
            <a:r>
              <a:rPr lang="zh-CN" altLang="zh-CN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……</a:t>
            </a:r>
            <a:endParaRPr lang="zh-CN" altLang="zh-CN" dirty="0">
              <a:solidFill>
                <a:schemeClr val="tx1">
                  <a:lumMod val="50000"/>
                  <a:lumOff val="50000"/>
                </a:schemeClr>
              </a:solidFill>
              <a:cs typeface="+mn-ea"/>
            </a:endParaRPr>
          </a:p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	</a:t>
            </a:r>
            <a:r>
              <a:rPr lang="zh-CN" altLang="zh-CN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列出</a:t>
            </a:r>
            <a:r>
              <a:rPr lang="zh-CN" altLang="en-US" dirty="0">
                <a:solidFill>
                  <a:srgbClr val="FF0000"/>
                </a:solidFill>
                <a:cs typeface="+mn-ea"/>
              </a:rPr>
              <a:t>递推关系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f[i]=f[i-1]+3</a:t>
            </a:r>
            <a:endParaRPr lang="zh-CN" altLang="zh-CN" dirty="0">
              <a:solidFill>
                <a:schemeClr val="tx1">
                  <a:lumMod val="50000"/>
                  <a:lumOff val="50000"/>
                </a:schemeClr>
              </a:solidFill>
              <a:cs typeface="+mn-ea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424428" y="3481048"/>
            <a:ext cx="4772935" cy="1754326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dirty="0">
                <a:cs typeface="+mn-ea"/>
              </a:rPr>
              <a:t>递推</a:t>
            </a:r>
            <a:r>
              <a:rPr lang="zh-CN" altLang="zh-CN" dirty="0" smtClean="0">
                <a:cs typeface="+mn-ea"/>
              </a:rPr>
              <a:t>：</a:t>
            </a:r>
            <a:r>
              <a:rPr lang="zh-CN" altLang="en-US" dirty="0" smtClean="0">
                <a:cs typeface="+mn-ea"/>
              </a:rPr>
              <a:t>递</a:t>
            </a:r>
            <a:r>
              <a:rPr lang="zh-CN" altLang="en-US" dirty="0">
                <a:cs typeface="+mn-ea"/>
              </a:rPr>
              <a:t>推算法是一种用若干步可重复运算来描述复杂问题的方法</a:t>
            </a:r>
            <a:r>
              <a:rPr lang="zh-CN" altLang="en-US" dirty="0" smtClean="0">
                <a:cs typeface="+mn-ea"/>
              </a:rPr>
              <a:t>。</a:t>
            </a:r>
            <a:endParaRPr lang="en-US" altLang="zh-CN" dirty="0" smtClean="0">
              <a:cs typeface="+mn-ea"/>
            </a:endParaRPr>
          </a:p>
          <a:p>
            <a:endParaRPr lang="en-US" altLang="zh-CN" dirty="0">
              <a:cs typeface="+mn-ea"/>
            </a:endParaRPr>
          </a:p>
          <a:p>
            <a:r>
              <a:rPr lang="zh-CN" altLang="en-US" dirty="0" smtClean="0">
                <a:cs typeface="+mn-ea"/>
              </a:rPr>
              <a:t>递</a:t>
            </a:r>
            <a:r>
              <a:rPr lang="zh-CN" altLang="en-US" dirty="0">
                <a:cs typeface="+mn-ea"/>
              </a:rPr>
              <a:t>推是序列计算中的一种常用算法。通常是通过</a:t>
            </a:r>
            <a:r>
              <a:rPr lang="zh-CN" altLang="en-US" dirty="0" smtClean="0">
                <a:cs typeface="+mn-ea"/>
              </a:rPr>
              <a:t>计算前面</a:t>
            </a:r>
            <a:r>
              <a:rPr lang="zh-CN" altLang="en-US" dirty="0">
                <a:cs typeface="+mn-ea"/>
              </a:rPr>
              <a:t>的一些项来得出序列中的</a:t>
            </a:r>
            <a:r>
              <a:rPr lang="zh-CN" altLang="en-US" dirty="0" smtClean="0">
                <a:cs typeface="+mn-ea"/>
              </a:rPr>
              <a:t>指定项的</a:t>
            </a:r>
            <a:r>
              <a:rPr lang="zh-CN" altLang="en-US" dirty="0">
                <a:cs typeface="+mn-ea"/>
              </a:rPr>
              <a:t>值。</a:t>
            </a:r>
            <a:endParaRPr lang="zh-CN" altLang="zh-CN" dirty="0">
              <a:cs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914" y="3481048"/>
            <a:ext cx="2638786" cy="211812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4000">
        <p:random/>
      </p:transition>
    </mc:Choice>
    <mc:Fallback>
      <p:transition spd="slow" advTm="4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/>
          <p:cNvPicPr>
            <a:picLocks noChangeAspect="1"/>
          </p:cNvPicPr>
          <p:nvPr/>
        </p:nvPicPr>
        <p:blipFill rotWithShape="1">
          <a:blip r:embed="rId1" cstate="email"/>
          <a:srcRect/>
          <a:stretch>
            <a:fillRect/>
          </a:stretch>
        </p:blipFill>
        <p:spPr>
          <a:xfrm>
            <a:off x="0" y="-1"/>
            <a:ext cx="2346266" cy="1738323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/>
        </p:nvPicPr>
        <p:blipFill rotWithShape="1">
          <a:blip r:embed="rId2" cstate="email"/>
          <a:srcRect/>
          <a:stretch>
            <a:fillRect/>
          </a:stretch>
        </p:blipFill>
        <p:spPr>
          <a:xfrm>
            <a:off x="10197363" y="4506451"/>
            <a:ext cx="1994638" cy="2351549"/>
          </a:xfrm>
          <a:prstGeom prst="rect">
            <a:avLst/>
          </a:prstGeom>
        </p:spPr>
      </p:pic>
      <p:sp>
        <p:nvSpPr>
          <p:cNvPr id="33" name="文本框 32"/>
          <p:cNvSpPr txBox="1"/>
          <p:nvPr/>
        </p:nvSpPr>
        <p:spPr>
          <a:xfrm>
            <a:off x="1996803" y="254168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extrusionH="12700"/>
          </a:bodyPr>
          <a:lstStyle/>
          <a:p>
            <a:r>
              <a:rPr lang="zh-CN" altLang="en-US" sz="32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递推</a:t>
            </a:r>
            <a:endParaRPr lang="zh-CN" altLang="en-US" sz="32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1996803" y="776898"/>
            <a:ext cx="379286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dirty="0">
                <a:solidFill>
                  <a:schemeClr val="accent3"/>
                </a:solidFill>
                <a:cs typeface="+mn-ea"/>
                <a:sym typeface="+mn-lt"/>
              </a:rPr>
              <a:t>Recurrence</a:t>
            </a:r>
            <a:endParaRPr kumimoji="0" lang="zh-CN" altLang="en-US" sz="1200" u="none" strike="noStrike" kern="1200" cap="none" spc="0" normalizeH="0" baseline="0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cxnSp>
        <p:nvCxnSpPr>
          <p:cNvPr id="35" name="直接连接符 34"/>
          <p:cNvCxnSpPr/>
          <p:nvPr/>
        </p:nvCxnSpPr>
        <p:spPr>
          <a:xfrm>
            <a:off x="5671226" y="622570"/>
            <a:ext cx="6520774" cy="0"/>
          </a:xfrm>
          <a:prstGeom prst="line">
            <a:avLst/>
          </a:prstGeom>
          <a:ln w="50800" cmpd="thickThin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本框 2919"/>
          <p:cNvSpPr txBox="1"/>
          <p:nvPr/>
        </p:nvSpPr>
        <p:spPr>
          <a:xfrm>
            <a:off x="9902211" y="177223"/>
            <a:ext cx="1864613" cy="369332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extrusionH="12700"/>
          </a:bodyPr>
          <a:lstStyle/>
          <a:p>
            <a:pPr algn="ctr"/>
            <a:r>
              <a:rPr lang="zh-CN" altLang="en-US" dirty="0" smtClean="0">
                <a:solidFill>
                  <a:schemeClr val="bg1"/>
                </a:solidFill>
                <a:effectLst>
                  <a:outerShdw blurRad="203200" dist="38100" dir="5400000" algn="t" rotWithShape="0">
                    <a:prstClr val="black">
                      <a:alpha val="83000"/>
                    </a:prstClr>
                  </a:outerShdw>
                </a:effectLst>
                <a:cs typeface="+mn-ea"/>
                <a:sym typeface="+mn-lt"/>
              </a:rPr>
              <a:t>例题② 平面划分</a:t>
            </a:r>
            <a:endParaRPr lang="zh-CN" altLang="en-US" dirty="0">
              <a:solidFill>
                <a:schemeClr val="bg1"/>
              </a:solidFill>
              <a:effectLst>
                <a:outerShdw blurRad="203200" dist="38100" dir="5400000" algn="t" rotWithShape="0">
                  <a:prstClr val="black">
                    <a:alpha val="83000"/>
                  </a:prst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1691914" y="1706968"/>
            <a:ext cx="8505449" cy="429861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20000"/>
              </a:lnSpc>
            </a:pP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    平面上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n</a:t>
            </a: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条直线最多能把平面分成几部分？</a:t>
            </a:r>
            <a:endParaRPr lang="zh-CN" altLang="en-US" sz="2000" b="1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2346266" y="2341972"/>
            <a:ext cx="7851096" cy="646331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dirty="0" smtClean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Tips</a:t>
            </a:r>
            <a:r>
              <a:rPr lang="zh-CN" altLang="zh-CN" dirty="0" smtClean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：</a:t>
            </a:r>
            <a:endParaRPr lang="zh-CN" altLang="zh-CN" dirty="0">
              <a:solidFill>
                <a:schemeClr val="tx1">
                  <a:lumMod val="50000"/>
                  <a:lumOff val="50000"/>
                </a:schemeClr>
              </a:solidFill>
              <a:cs typeface="+mn-ea"/>
            </a:endParaRPr>
          </a:p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	</a:t>
            </a:r>
            <a:r>
              <a:rPr lang="zh-CN" alt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计算</a:t>
            </a:r>
            <a:r>
              <a:rPr lang="en-US" altLang="zh-CN" dirty="0" smtClean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f(i)</a:t>
            </a:r>
            <a:r>
              <a:rPr lang="zh-CN" alt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时，只需前一项。</a:t>
            </a:r>
            <a:endParaRPr lang="zh-CN" altLang="zh-CN" dirty="0">
              <a:solidFill>
                <a:schemeClr val="tx1">
                  <a:lumMod val="50000"/>
                  <a:lumOff val="50000"/>
                </a:schemeClr>
              </a:solidFill>
              <a:cs typeface="+mn-ea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996803" y="3304495"/>
            <a:ext cx="7905408" cy="369332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dirty="0" smtClean="0">
                <a:cs typeface="+mn-ea"/>
              </a:rPr>
              <a:t>假定</a:t>
            </a:r>
            <a:r>
              <a:rPr lang="en-US" altLang="zh-CN" dirty="0">
                <a:cs typeface="+mn-ea"/>
              </a:rPr>
              <a:t>i</a:t>
            </a:r>
            <a:r>
              <a:rPr lang="zh-CN" altLang="en-US" dirty="0">
                <a:cs typeface="+mn-ea"/>
              </a:rPr>
              <a:t>条直线把</a:t>
            </a:r>
            <a:r>
              <a:rPr lang="zh-CN" altLang="en-US" dirty="0" smtClean="0">
                <a:cs typeface="+mn-ea"/>
              </a:rPr>
              <a:t>平面分成最多</a:t>
            </a:r>
            <a:r>
              <a:rPr lang="en-US" altLang="zh-CN" dirty="0" smtClean="0">
                <a:cs typeface="+mn-ea"/>
              </a:rPr>
              <a:t>f(i</a:t>
            </a:r>
            <a:r>
              <a:rPr lang="en-US" altLang="zh-CN" dirty="0">
                <a:cs typeface="+mn-ea"/>
              </a:rPr>
              <a:t>)</a:t>
            </a:r>
            <a:r>
              <a:rPr lang="zh-CN" altLang="en-US" dirty="0" smtClean="0">
                <a:cs typeface="+mn-ea"/>
              </a:rPr>
              <a:t>部分</a:t>
            </a:r>
            <a:endParaRPr lang="zh-CN" altLang="zh-CN" dirty="0">
              <a:cs typeface="+mn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996803" y="3673827"/>
            <a:ext cx="7905408" cy="92333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dirty="0" smtClean="0">
                <a:cs typeface="+mn-ea"/>
              </a:rPr>
              <a:t>在</a:t>
            </a:r>
            <a:r>
              <a:rPr lang="en-US" altLang="zh-CN" dirty="0">
                <a:cs typeface="+mn-ea"/>
              </a:rPr>
              <a:t>i-1</a:t>
            </a:r>
            <a:r>
              <a:rPr lang="zh-CN" altLang="en-US" dirty="0">
                <a:cs typeface="+mn-ea"/>
              </a:rPr>
              <a:t>条直线的平面上增加直线</a:t>
            </a:r>
            <a:r>
              <a:rPr lang="en-US" altLang="zh-CN" dirty="0">
                <a:cs typeface="+mn-ea"/>
              </a:rPr>
              <a:t>i</a:t>
            </a:r>
            <a:r>
              <a:rPr lang="zh-CN" altLang="en-US" dirty="0">
                <a:cs typeface="+mn-ea"/>
              </a:rPr>
              <a:t>，易得</a:t>
            </a:r>
            <a:r>
              <a:rPr lang="en-US" altLang="zh-CN" dirty="0">
                <a:cs typeface="+mn-ea"/>
              </a:rPr>
              <a:t>i</a:t>
            </a:r>
            <a:r>
              <a:rPr lang="zh-CN" altLang="en-US" dirty="0">
                <a:cs typeface="+mn-ea"/>
              </a:rPr>
              <a:t>与平面上已经存在了的</a:t>
            </a:r>
            <a:r>
              <a:rPr lang="en-US" altLang="zh-CN" dirty="0">
                <a:cs typeface="+mn-ea"/>
              </a:rPr>
              <a:t>i-1</a:t>
            </a:r>
            <a:r>
              <a:rPr lang="zh-CN" altLang="en-US" dirty="0">
                <a:cs typeface="+mn-ea"/>
              </a:rPr>
              <a:t>条直线最多各有一个交点，即直线</a:t>
            </a:r>
            <a:r>
              <a:rPr lang="en-US" altLang="zh-CN" dirty="0">
                <a:cs typeface="+mn-ea"/>
              </a:rPr>
              <a:t>i</a:t>
            </a:r>
            <a:r>
              <a:rPr lang="zh-CN" altLang="en-US" dirty="0">
                <a:cs typeface="+mn-ea"/>
              </a:rPr>
              <a:t>最多被分成</a:t>
            </a:r>
            <a:r>
              <a:rPr lang="en-US" altLang="zh-CN" dirty="0">
                <a:cs typeface="+mn-ea"/>
              </a:rPr>
              <a:t>i</a:t>
            </a:r>
            <a:r>
              <a:rPr lang="zh-CN" altLang="en-US" dirty="0">
                <a:cs typeface="+mn-ea"/>
              </a:rPr>
              <a:t>段，而这</a:t>
            </a:r>
            <a:r>
              <a:rPr lang="en-US" altLang="zh-CN" dirty="0">
                <a:cs typeface="+mn-ea"/>
              </a:rPr>
              <a:t>i</a:t>
            </a:r>
            <a:r>
              <a:rPr lang="zh-CN" altLang="en-US" dirty="0">
                <a:cs typeface="+mn-ea"/>
              </a:rPr>
              <a:t>段将会依次将平面</a:t>
            </a:r>
            <a:r>
              <a:rPr lang="zh-CN" altLang="en-US" dirty="0" smtClean="0">
                <a:cs typeface="+mn-ea"/>
              </a:rPr>
              <a:t>一分为二，即多</a:t>
            </a:r>
            <a:r>
              <a:rPr lang="zh-CN" altLang="en-US" dirty="0">
                <a:cs typeface="+mn-ea"/>
              </a:rPr>
              <a:t>增加</a:t>
            </a:r>
            <a:r>
              <a:rPr lang="en-US" altLang="zh-CN" dirty="0">
                <a:cs typeface="+mn-ea"/>
              </a:rPr>
              <a:t>i</a:t>
            </a:r>
            <a:r>
              <a:rPr lang="zh-CN" altLang="en-US" dirty="0">
                <a:cs typeface="+mn-ea"/>
              </a:rPr>
              <a:t>部分。</a:t>
            </a:r>
            <a:endParaRPr lang="zh-CN" altLang="zh-CN" dirty="0">
              <a:cs typeface="+mn-ea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996803" y="4597157"/>
            <a:ext cx="7905408" cy="369332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dirty="0" smtClean="0">
                <a:cs typeface="+mn-ea"/>
              </a:rPr>
              <a:t>递</a:t>
            </a:r>
            <a:r>
              <a:rPr lang="zh-CN" altLang="en-US" dirty="0">
                <a:cs typeface="+mn-ea"/>
              </a:rPr>
              <a:t>推</a:t>
            </a:r>
            <a:r>
              <a:rPr lang="zh-CN" altLang="en-US" dirty="0" smtClean="0">
                <a:cs typeface="+mn-ea"/>
              </a:rPr>
              <a:t>关系：</a:t>
            </a:r>
            <a:r>
              <a:rPr lang="en-US" altLang="zh-CN" dirty="0">
                <a:cs typeface="+mn-ea"/>
              </a:rPr>
              <a:t>f(i)=f(i-1)+i</a:t>
            </a:r>
            <a:endParaRPr lang="zh-CN" altLang="zh-CN" dirty="0">
              <a:cs typeface="+mn-ea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996803" y="4966489"/>
            <a:ext cx="7905408" cy="369332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dirty="0" smtClean="0">
                <a:cs typeface="+mn-ea"/>
              </a:rPr>
              <a:t>易</a:t>
            </a:r>
            <a:r>
              <a:rPr lang="zh-CN" altLang="en-US" dirty="0">
                <a:cs typeface="+mn-ea"/>
              </a:rPr>
              <a:t>得当</a:t>
            </a:r>
            <a:r>
              <a:rPr lang="en-US" altLang="zh-CN" dirty="0">
                <a:cs typeface="+mn-ea"/>
              </a:rPr>
              <a:t>0</a:t>
            </a:r>
            <a:r>
              <a:rPr lang="zh-CN" altLang="en-US" dirty="0">
                <a:cs typeface="+mn-ea"/>
              </a:rPr>
              <a:t>条直线时</a:t>
            </a:r>
            <a:r>
              <a:rPr lang="zh-CN" altLang="en-US" dirty="0" smtClean="0">
                <a:cs typeface="+mn-ea"/>
              </a:rPr>
              <a:t>，只有一个平面。</a:t>
            </a:r>
            <a:r>
              <a:rPr lang="zh-CN" altLang="en-US" dirty="0">
                <a:cs typeface="+mn-ea"/>
              </a:rPr>
              <a:t>所以</a:t>
            </a:r>
            <a:r>
              <a:rPr lang="en-US" altLang="zh-CN" dirty="0">
                <a:cs typeface="+mn-ea"/>
              </a:rPr>
              <a:t>f(0)=1</a:t>
            </a:r>
            <a:r>
              <a:rPr lang="zh-CN" altLang="en-US" dirty="0">
                <a:cs typeface="+mn-ea"/>
              </a:rPr>
              <a:t>为递推起点。</a:t>
            </a:r>
            <a:endParaRPr lang="zh-CN" altLang="zh-CN" dirty="0"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4000">
        <p:random/>
      </p:transition>
    </mc:Choice>
    <mc:Fallback>
      <p:transition spd="slow" advTm="4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/>
          <p:cNvPicPr>
            <a:picLocks noChangeAspect="1"/>
          </p:cNvPicPr>
          <p:nvPr/>
        </p:nvPicPr>
        <p:blipFill rotWithShape="1">
          <a:blip r:embed="rId1" cstate="email"/>
          <a:srcRect/>
          <a:stretch>
            <a:fillRect/>
          </a:stretch>
        </p:blipFill>
        <p:spPr>
          <a:xfrm>
            <a:off x="0" y="-1"/>
            <a:ext cx="2346266" cy="1738323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/>
        </p:nvPicPr>
        <p:blipFill rotWithShape="1">
          <a:blip r:embed="rId2" cstate="email"/>
          <a:srcRect/>
          <a:stretch>
            <a:fillRect/>
          </a:stretch>
        </p:blipFill>
        <p:spPr>
          <a:xfrm>
            <a:off x="10197363" y="4506451"/>
            <a:ext cx="1994638" cy="2351549"/>
          </a:xfrm>
          <a:prstGeom prst="rect">
            <a:avLst/>
          </a:prstGeom>
        </p:spPr>
      </p:pic>
      <p:sp>
        <p:nvSpPr>
          <p:cNvPr id="33" name="文本框 32"/>
          <p:cNvSpPr txBox="1"/>
          <p:nvPr/>
        </p:nvSpPr>
        <p:spPr>
          <a:xfrm>
            <a:off x="1996803" y="254168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extrusionH="12700"/>
          </a:bodyPr>
          <a:lstStyle/>
          <a:p>
            <a:r>
              <a:rPr lang="zh-CN" altLang="en-US" sz="32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递推</a:t>
            </a:r>
            <a:endParaRPr lang="zh-CN" altLang="en-US" sz="32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1996803" y="776898"/>
            <a:ext cx="379286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zh-CN" sz="1200" dirty="0">
                <a:solidFill>
                  <a:schemeClr val="accent3"/>
                </a:solidFill>
                <a:cs typeface="+mn-ea"/>
                <a:sym typeface="+mn-lt"/>
              </a:rPr>
              <a:t>Recurrence</a:t>
            </a:r>
            <a:endParaRPr kumimoji="0" lang="zh-CN" altLang="en-US" sz="1200" u="none" strike="noStrike" kern="1200" cap="none" spc="0" normalizeH="0" baseline="0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cxnSp>
        <p:nvCxnSpPr>
          <p:cNvPr id="35" name="直接连接符 34"/>
          <p:cNvCxnSpPr/>
          <p:nvPr/>
        </p:nvCxnSpPr>
        <p:spPr>
          <a:xfrm>
            <a:off x="5671226" y="622570"/>
            <a:ext cx="6520774" cy="0"/>
          </a:xfrm>
          <a:prstGeom prst="line">
            <a:avLst/>
          </a:prstGeom>
          <a:ln w="50800" cmpd="thickThin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本框 2919"/>
          <p:cNvSpPr txBox="1"/>
          <p:nvPr/>
        </p:nvSpPr>
        <p:spPr>
          <a:xfrm>
            <a:off x="9902209" y="177223"/>
            <a:ext cx="1864613" cy="369332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extrusionH="12700"/>
          </a:bodyPr>
          <a:lstStyle/>
          <a:p>
            <a:pPr algn="ctr"/>
            <a:r>
              <a:rPr lang="zh-CN" altLang="en-US" dirty="0" smtClean="0">
                <a:solidFill>
                  <a:schemeClr val="bg1"/>
                </a:solidFill>
                <a:effectLst>
                  <a:outerShdw blurRad="203200" dist="38100" dir="5400000" algn="t" rotWithShape="0">
                    <a:prstClr val="black">
                      <a:alpha val="83000"/>
                    </a:prstClr>
                  </a:outerShdw>
                </a:effectLst>
                <a:cs typeface="+mn-ea"/>
                <a:sym typeface="+mn-lt"/>
              </a:rPr>
              <a:t>例题③ 台阶问题</a:t>
            </a:r>
            <a:endParaRPr lang="zh-CN" altLang="en-US" dirty="0">
              <a:solidFill>
                <a:schemeClr val="bg1"/>
              </a:solidFill>
              <a:effectLst>
                <a:outerShdw blurRad="203200" dist="38100" dir="5400000" algn="t" rotWithShape="0">
                  <a:prstClr val="black">
                    <a:alpha val="83000"/>
                  </a:prst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1691914" y="1706968"/>
            <a:ext cx="8505449" cy="799193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20000"/>
              </a:lnSpc>
            </a:pP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    有</a:t>
            </a:r>
            <a:r>
              <a:rPr lang="en-US" altLang="zh-CN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N</a:t>
            </a: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级台阶，你一开始在底部，每次可以向上迈最多</a:t>
            </a:r>
            <a:r>
              <a:rPr lang="en-US" altLang="zh-CN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</a:t>
            </a: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级台阶</a:t>
            </a:r>
            <a:r>
              <a:rPr lang="en-US" altLang="zh-CN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(</a:t>
            </a: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最少</a:t>
            </a:r>
            <a:r>
              <a:rPr lang="en-US" altLang="zh-CN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1</a:t>
            </a: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级</a:t>
            </a:r>
            <a:r>
              <a:rPr lang="en-US" altLang="zh-CN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)</a:t>
            </a: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，问到达第</a:t>
            </a:r>
            <a:r>
              <a:rPr lang="en-US" altLang="zh-CN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N</a:t>
            </a: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级台阶有多少种不同方式。</a:t>
            </a:r>
            <a:endParaRPr lang="zh-CN" altLang="en-US" sz="2000" b="1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2346266" y="2567752"/>
            <a:ext cx="7851096" cy="646331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dirty="0" smtClean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Tips</a:t>
            </a:r>
            <a:r>
              <a:rPr lang="zh-CN" altLang="zh-CN" dirty="0" smtClean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：</a:t>
            </a:r>
            <a:endParaRPr lang="zh-CN" altLang="zh-CN" dirty="0">
              <a:solidFill>
                <a:schemeClr val="tx1">
                  <a:lumMod val="50000"/>
                  <a:lumOff val="50000"/>
                </a:schemeClr>
              </a:solidFill>
              <a:cs typeface="+mn-ea"/>
            </a:endParaRPr>
          </a:p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	</a:t>
            </a:r>
            <a:r>
              <a:rPr lang="zh-CN" alt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计算</a:t>
            </a:r>
            <a:r>
              <a:rPr lang="en-US" altLang="zh-CN" dirty="0" smtClean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f(i)</a:t>
            </a:r>
            <a:r>
              <a:rPr lang="zh-CN" alt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时，要用到前面计算过的多项值。</a:t>
            </a:r>
            <a:endParaRPr lang="zh-CN" altLang="zh-CN" dirty="0">
              <a:solidFill>
                <a:schemeClr val="tx1">
                  <a:lumMod val="50000"/>
                  <a:lumOff val="50000"/>
                </a:schemeClr>
              </a:solidFill>
              <a:cs typeface="+mn-ea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996803" y="3473830"/>
            <a:ext cx="7905408" cy="369332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dirty="0" smtClean="0">
                <a:cs typeface="+mn-ea"/>
              </a:rPr>
              <a:t>要到达第</a:t>
            </a:r>
            <a:r>
              <a:rPr lang="en-US" altLang="zh-CN" dirty="0" smtClean="0">
                <a:cs typeface="+mn-ea"/>
              </a:rPr>
              <a:t>i</a:t>
            </a:r>
            <a:r>
              <a:rPr lang="zh-CN" altLang="en-US" dirty="0" smtClean="0">
                <a:cs typeface="+mn-ea"/>
              </a:rPr>
              <a:t>级台阶，只有两种方式：</a:t>
            </a:r>
            <a:endParaRPr lang="zh-CN" altLang="zh-CN" dirty="0">
              <a:cs typeface="+mn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996803" y="3843162"/>
            <a:ext cx="7905408" cy="369332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dirty="0" smtClean="0">
                <a:cs typeface="+mn-ea"/>
              </a:rPr>
              <a:t>由第</a:t>
            </a:r>
            <a:r>
              <a:rPr lang="en-US" altLang="zh-CN" dirty="0" smtClean="0">
                <a:cs typeface="+mn-ea"/>
              </a:rPr>
              <a:t>i-2</a:t>
            </a:r>
            <a:r>
              <a:rPr lang="zh-CN" altLang="en-US" dirty="0" smtClean="0">
                <a:cs typeface="+mn-ea"/>
              </a:rPr>
              <a:t>级台阶迈两步到达；由第</a:t>
            </a:r>
            <a:r>
              <a:rPr lang="en-US" altLang="zh-CN" dirty="0" smtClean="0">
                <a:cs typeface="+mn-ea"/>
              </a:rPr>
              <a:t>i-1</a:t>
            </a:r>
            <a:r>
              <a:rPr lang="zh-CN" altLang="en-US" dirty="0" smtClean="0">
                <a:cs typeface="+mn-ea"/>
              </a:rPr>
              <a:t>级台阶迈一步到达。</a:t>
            </a:r>
            <a:endParaRPr lang="zh-CN" altLang="zh-CN" dirty="0">
              <a:cs typeface="+mn-ea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991934" y="4212494"/>
            <a:ext cx="7905408" cy="369332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dirty="0" smtClean="0">
                <a:cs typeface="+mn-ea"/>
              </a:rPr>
              <a:t>递</a:t>
            </a:r>
            <a:r>
              <a:rPr lang="zh-CN" altLang="en-US" dirty="0">
                <a:cs typeface="+mn-ea"/>
              </a:rPr>
              <a:t>推</a:t>
            </a:r>
            <a:r>
              <a:rPr lang="zh-CN" altLang="en-US" dirty="0" smtClean="0">
                <a:cs typeface="+mn-ea"/>
              </a:rPr>
              <a:t>关系：</a:t>
            </a:r>
            <a:r>
              <a:rPr lang="en-US" altLang="zh-CN" dirty="0">
                <a:cs typeface="+mn-ea"/>
              </a:rPr>
              <a:t>f(i)=f(i-1</a:t>
            </a:r>
            <a:r>
              <a:rPr lang="en-US" altLang="zh-CN" dirty="0" smtClean="0">
                <a:cs typeface="+mn-ea"/>
              </a:rPr>
              <a:t>)×1+f(i-2)×1</a:t>
            </a:r>
            <a:endParaRPr lang="zh-CN" altLang="zh-CN" dirty="0">
              <a:cs typeface="+mn-ea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991934" y="4550986"/>
            <a:ext cx="7905408" cy="646331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dirty="0" smtClean="0">
                <a:cs typeface="+mn-ea"/>
              </a:rPr>
              <a:t>则迈到第一级台阶的方案有</a:t>
            </a:r>
            <a:r>
              <a:rPr lang="en-US" altLang="zh-CN" dirty="0" smtClean="0">
                <a:cs typeface="+mn-ea"/>
              </a:rPr>
              <a:t>1</a:t>
            </a:r>
            <a:r>
              <a:rPr lang="zh-CN" altLang="en-US" dirty="0" smtClean="0">
                <a:cs typeface="+mn-ea"/>
              </a:rPr>
              <a:t>种，迈到第二级台阶有</a:t>
            </a:r>
            <a:r>
              <a:rPr lang="en-US" altLang="zh-CN" dirty="0" smtClean="0">
                <a:cs typeface="+mn-ea"/>
              </a:rPr>
              <a:t>2</a:t>
            </a:r>
            <a:r>
              <a:rPr lang="zh-CN" altLang="en-US" dirty="0" smtClean="0">
                <a:cs typeface="+mn-ea"/>
              </a:rPr>
              <a:t>种</a:t>
            </a:r>
            <a:r>
              <a:rPr lang="en-US" altLang="zh-CN" dirty="0" smtClean="0">
                <a:cs typeface="+mn-ea"/>
              </a:rPr>
              <a:t>(</a:t>
            </a:r>
            <a:r>
              <a:rPr lang="zh-CN" altLang="en-US" dirty="0" smtClean="0">
                <a:cs typeface="+mn-ea"/>
              </a:rPr>
              <a:t>底部</a:t>
            </a:r>
            <a:r>
              <a:rPr lang="en-US" altLang="zh-CN" dirty="0" smtClean="0">
                <a:cs typeface="+mn-ea"/>
              </a:rPr>
              <a:t>/</a:t>
            </a:r>
            <a:r>
              <a:rPr lang="zh-CN" altLang="en-US" dirty="0" smtClean="0">
                <a:cs typeface="+mn-ea"/>
              </a:rPr>
              <a:t>第一级</a:t>
            </a:r>
            <a:r>
              <a:rPr lang="en-US" altLang="zh-CN" dirty="0" smtClean="0">
                <a:cs typeface="+mn-ea"/>
              </a:rPr>
              <a:t>)</a:t>
            </a:r>
            <a:r>
              <a:rPr lang="zh-CN" altLang="en-US" dirty="0" smtClean="0">
                <a:cs typeface="+mn-ea"/>
              </a:rPr>
              <a:t>，可得递推起点</a:t>
            </a:r>
            <a:r>
              <a:rPr lang="en-US" altLang="zh-CN" dirty="0" smtClean="0">
                <a:cs typeface="+mn-ea"/>
              </a:rPr>
              <a:t>f[0]=f[1]=1</a:t>
            </a:r>
            <a:endParaRPr lang="zh-CN" altLang="zh-CN" dirty="0">
              <a:cs typeface="+mn-ea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02206" y="5186376"/>
            <a:ext cx="2787463" cy="369332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dirty="0" smtClean="0">
                <a:cs typeface="+mn-ea"/>
              </a:rPr>
              <a:t>若是最多可迈</a:t>
            </a:r>
            <a:r>
              <a:rPr lang="en-US" altLang="zh-CN" dirty="0" smtClean="0">
                <a:solidFill>
                  <a:srgbClr val="3A69EE"/>
                </a:solidFill>
                <a:cs typeface="+mn-ea"/>
              </a:rPr>
              <a:t>k</a:t>
            </a:r>
            <a:r>
              <a:rPr lang="zh-CN" altLang="en-US" dirty="0" smtClean="0">
                <a:cs typeface="+mn-ea"/>
              </a:rPr>
              <a:t>级台阶呢？</a:t>
            </a:r>
            <a:endParaRPr lang="zh-CN" altLang="zh-CN" dirty="0"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4000">
        <p:random/>
      </p:transition>
    </mc:Choice>
    <mc:Fallback>
      <p:transition spd="slow" advTm="4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/>
          <p:cNvPicPr>
            <a:picLocks noChangeAspect="1"/>
          </p:cNvPicPr>
          <p:nvPr/>
        </p:nvPicPr>
        <p:blipFill rotWithShape="1">
          <a:blip r:embed="rId1" cstate="email"/>
          <a:srcRect/>
          <a:stretch>
            <a:fillRect/>
          </a:stretch>
        </p:blipFill>
        <p:spPr>
          <a:xfrm>
            <a:off x="0" y="-1"/>
            <a:ext cx="2346266" cy="1738323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/>
        </p:nvPicPr>
        <p:blipFill rotWithShape="1">
          <a:blip r:embed="rId2" cstate="email"/>
          <a:srcRect/>
          <a:stretch>
            <a:fillRect/>
          </a:stretch>
        </p:blipFill>
        <p:spPr>
          <a:xfrm>
            <a:off x="10197363" y="4506451"/>
            <a:ext cx="1994638" cy="2351549"/>
          </a:xfrm>
          <a:prstGeom prst="rect">
            <a:avLst/>
          </a:prstGeom>
        </p:spPr>
      </p:pic>
      <p:sp>
        <p:nvSpPr>
          <p:cNvPr id="33" name="文本框 32"/>
          <p:cNvSpPr txBox="1"/>
          <p:nvPr/>
        </p:nvSpPr>
        <p:spPr>
          <a:xfrm>
            <a:off x="1996803" y="254168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extrusionH="12700"/>
          </a:bodyPr>
          <a:lstStyle/>
          <a:p>
            <a:r>
              <a:rPr lang="zh-CN" altLang="en-US" sz="32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递推</a:t>
            </a:r>
            <a:endParaRPr lang="zh-CN" altLang="en-US" sz="32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1996803" y="776898"/>
            <a:ext cx="379286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zh-CN" sz="1200" dirty="0">
                <a:solidFill>
                  <a:schemeClr val="accent3"/>
                </a:solidFill>
                <a:cs typeface="+mn-ea"/>
                <a:sym typeface="+mn-lt"/>
              </a:rPr>
              <a:t>Recurrence</a:t>
            </a:r>
            <a:endParaRPr kumimoji="0" lang="zh-CN" altLang="en-US" sz="1200" u="none" strike="noStrike" kern="1200" cap="none" spc="0" normalizeH="0" baseline="0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cxnSp>
        <p:nvCxnSpPr>
          <p:cNvPr id="35" name="直接连接符 34"/>
          <p:cNvCxnSpPr/>
          <p:nvPr/>
        </p:nvCxnSpPr>
        <p:spPr>
          <a:xfrm>
            <a:off x="5671226" y="622570"/>
            <a:ext cx="6520774" cy="0"/>
          </a:xfrm>
          <a:prstGeom prst="line">
            <a:avLst/>
          </a:prstGeom>
          <a:ln w="50800" cmpd="thickThin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本框 2919"/>
          <p:cNvSpPr txBox="1"/>
          <p:nvPr/>
        </p:nvSpPr>
        <p:spPr>
          <a:xfrm>
            <a:off x="9902208" y="177223"/>
            <a:ext cx="1864613" cy="369332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extrusionH="12700"/>
          </a:bodyPr>
          <a:lstStyle/>
          <a:p>
            <a:pPr algn="ctr"/>
            <a:r>
              <a:rPr lang="zh-CN" altLang="en-US" dirty="0" smtClean="0">
                <a:solidFill>
                  <a:schemeClr val="bg1"/>
                </a:solidFill>
                <a:effectLst>
                  <a:outerShdw blurRad="203200" dist="38100" dir="5400000" algn="t" rotWithShape="0">
                    <a:prstClr val="black">
                      <a:alpha val="83000"/>
                    </a:prstClr>
                  </a:outerShdw>
                </a:effectLst>
                <a:cs typeface="+mn-ea"/>
                <a:sym typeface="+mn-lt"/>
              </a:rPr>
              <a:t>例题④ 传球游戏</a:t>
            </a:r>
            <a:endParaRPr lang="zh-CN" altLang="en-US" dirty="0">
              <a:solidFill>
                <a:schemeClr val="bg1"/>
              </a:solidFill>
              <a:effectLst>
                <a:outerShdw blurRad="203200" dist="38100" dir="5400000" algn="t" rotWithShape="0">
                  <a:prstClr val="black">
                    <a:alpha val="83000"/>
                  </a:prst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1691914" y="1706968"/>
            <a:ext cx="8505449" cy="799193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20000"/>
              </a:lnSpc>
            </a:pP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    现有甲乙丙丁四人做传球游戏，要求接球后马上传给别人。由甲先传，并作为第一次传球。求经过</a:t>
            </a:r>
            <a:r>
              <a:rPr lang="en-US" altLang="zh-CN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n</a:t>
            </a: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次传球，球仍回到甲手中的传球方式的种数。</a:t>
            </a:r>
            <a:endParaRPr lang="zh-CN" altLang="en-US" sz="2000" b="1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2346266" y="2567752"/>
            <a:ext cx="7851096" cy="646331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dirty="0" smtClean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Tips</a:t>
            </a:r>
            <a:r>
              <a:rPr lang="zh-CN" altLang="zh-CN" dirty="0" smtClean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：</a:t>
            </a:r>
            <a:endParaRPr lang="zh-CN" altLang="zh-CN" dirty="0">
              <a:solidFill>
                <a:schemeClr val="tx1">
                  <a:lumMod val="50000"/>
                  <a:lumOff val="50000"/>
                </a:schemeClr>
              </a:solidFill>
              <a:cs typeface="+mn-ea"/>
            </a:endParaRPr>
          </a:p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	</a:t>
            </a:r>
            <a:r>
              <a:rPr lang="zh-CN" alt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计算</a:t>
            </a:r>
            <a:r>
              <a:rPr lang="en-US" altLang="zh-CN" dirty="0" smtClean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f(i)</a:t>
            </a:r>
            <a:r>
              <a:rPr lang="zh-CN" alt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时需要中间量，计算中间量要用到之前计算过的项。</a:t>
            </a:r>
            <a:endParaRPr lang="zh-CN" altLang="zh-CN" dirty="0">
              <a:solidFill>
                <a:schemeClr val="tx1">
                  <a:lumMod val="50000"/>
                  <a:lumOff val="50000"/>
                </a:schemeClr>
              </a:solidFill>
              <a:cs typeface="+mn-ea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996803" y="3473830"/>
            <a:ext cx="7905408" cy="92333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dirty="0" smtClean="0">
                <a:cs typeface="+mn-ea"/>
              </a:rPr>
              <a:t>    定义两个状态：</a:t>
            </a:r>
            <a:endParaRPr lang="en-US" altLang="zh-CN" dirty="0" smtClean="0">
              <a:cs typeface="+mn-ea"/>
            </a:endParaRPr>
          </a:p>
          <a:p>
            <a:r>
              <a:rPr lang="zh-CN" altLang="en-US" dirty="0" smtClean="0">
                <a:cs typeface="+mn-ea"/>
              </a:rPr>
              <a:t>① </a:t>
            </a:r>
            <a:r>
              <a:rPr lang="en-US" altLang="zh-CN" dirty="0" smtClean="0">
                <a:cs typeface="+mn-ea"/>
              </a:rPr>
              <a:t>f(i)</a:t>
            </a:r>
            <a:r>
              <a:rPr lang="zh-CN" altLang="en-US" dirty="0" smtClean="0">
                <a:cs typeface="+mn-ea"/>
              </a:rPr>
              <a:t>表示经过</a:t>
            </a:r>
            <a:r>
              <a:rPr lang="en-US" altLang="zh-CN" dirty="0" smtClean="0">
                <a:cs typeface="+mn-ea"/>
              </a:rPr>
              <a:t>i</a:t>
            </a:r>
            <a:r>
              <a:rPr lang="zh-CN" altLang="en-US" dirty="0" smtClean="0">
                <a:cs typeface="+mn-ea"/>
              </a:rPr>
              <a:t>次传球后，球传到甲手上的方案数；</a:t>
            </a:r>
            <a:endParaRPr lang="en-US" altLang="zh-CN" dirty="0" smtClean="0">
              <a:cs typeface="+mn-ea"/>
            </a:endParaRPr>
          </a:p>
          <a:p>
            <a:r>
              <a:rPr lang="zh-CN" altLang="en-US" dirty="0" smtClean="0">
                <a:cs typeface="+mn-ea"/>
              </a:rPr>
              <a:t>② </a:t>
            </a:r>
            <a:r>
              <a:rPr lang="en-US" altLang="zh-CN" dirty="0" smtClean="0">
                <a:cs typeface="+mn-ea"/>
              </a:rPr>
              <a:t>g(i)</a:t>
            </a:r>
            <a:r>
              <a:rPr lang="zh-CN" altLang="en-US" dirty="0" smtClean="0">
                <a:cs typeface="+mn-ea"/>
              </a:rPr>
              <a:t>表示经过</a:t>
            </a:r>
            <a:r>
              <a:rPr lang="en-US" altLang="zh-CN" dirty="0" smtClean="0">
                <a:cs typeface="+mn-ea"/>
              </a:rPr>
              <a:t>i</a:t>
            </a:r>
            <a:r>
              <a:rPr lang="zh-CN" altLang="en-US" dirty="0" smtClean="0">
                <a:cs typeface="+mn-ea"/>
              </a:rPr>
              <a:t>次传球后，球没有传到甲、传到另外某一人手上的方案数</a:t>
            </a:r>
            <a:endParaRPr lang="zh-CN" altLang="zh-CN" dirty="0">
              <a:cs typeface="+mn-ea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991934" y="4387435"/>
            <a:ext cx="7905408" cy="646331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dirty="0" smtClean="0">
                <a:cs typeface="+mn-ea"/>
              </a:rPr>
              <a:t>①：第</a:t>
            </a:r>
            <a:r>
              <a:rPr lang="en-US" altLang="zh-CN" dirty="0" smtClean="0">
                <a:cs typeface="+mn-ea"/>
              </a:rPr>
              <a:t>i</a:t>
            </a:r>
            <a:r>
              <a:rPr lang="zh-CN" altLang="en-US" dirty="0" smtClean="0">
                <a:cs typeface="+mn-ea"/>
              </a:rPr>
              <a:t>次传球后，球在甲手上，说明第</a:t>
            </a:r>
            <a:r>
              <a:rPr lang="en-US" altLang="zh-CN" dirty="0" smtClean="0">
                <a:cs typeface="+mn-ea"/>
              </a:rPr>
              <a:t>i-1</a:t>
            </a:r>
            <a:r>
              <a:rPr lang="zh-CN" altLang="en-US" dirty="0" smtClean="0">
                <a:cs typeface="+mn-ea"/>
              </a:rPr>
              <a:t>次传球，球在除甲以外</a:t>
            </a:r>
            <a:r>
              <a:rPr lang="en-US" altLang="zh-CN" dirty="0" smtClean="0">
                <a:cs typeface="+mn-ea"/>
              </a:rPr>
              <a:t>3</a:t>
            </a:r>
            <a:r>
              <a:rPr lang="zh-CN" altLang="en-US" dirty="0" smtClean="0">
                <a:cs typeface="+mn-ea"/>
              </a:rPr>
              <a:t>人的任一人身上，</a:t>
            </a:r>
            <a:r>
              <a:rPr lang="en-US" altLang="zh-CN" dirty="0" smtClean="0">
                <a:cs typeface="+mn-ea"/>
              </a:rPr>
              <a:t>f(i)=3×g(i-1)</a:t>
            </a:r>
            <a:endParaRPr lang="zh-CN" altLang="zh-CN" dirty="0">
              <a:cs typeface="+mn-ea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996803" y="5035894"/>
            <a:ext cx="7905408" cy="646331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dirty="0">
                <a:cs typeface="+mn-ea"/>
              </a:rPr>
              <a:t>②</a:t>
            </a:r>
            <a:r>
              <a:rPr lang="zh-CN" altLang="en-US" dirty="0" smtClean="0">
                <a:cs typeface="+mn-ea"/>
              </a:rPr>
              <a:t>：第</a:t>
            </a:r>
            <a:r>
              <a:rPr lang="en-US" altLang="zh-CN" dirty="0" smtClean="0">
                <a:cs typeface="+mn-ea"/>
              </a:rPr>
              <a:t>i</a:t>
            </a:r>
            <a:r>
              <a:rPr lang="zh-CN" altLang="en-US" dirty="0" smtClean="0">
                <a:cs typeface="+mn-ea"/>
              </a:rPr>
              <a:t>次传球后，球不在甲手上，说明第</a:t>
            </a:r>
            <a:r>
              <a:rPr lang="en-US" altLang="zh-CN" dirty="0" smtClean="0">
                <a:cs typeface="+mn-ea"/>
              </a:rPr>
              <a:t>i-1</a:t>
            </a:r>
            <a:r>
              <a:rPr lang="zh-CN" altLang="en-US" dirty="0" smtClean="0">
                <a:cs typeface="+mn-ea"/>
              </a:rPr>
              <a:t>次传球，球在甲和另</a:t>
            </a:r>
            <a:r>
              <a:rPr lang="en-US" altLang="zh-CN" dirty="0" smtClean="0">
                <a:cs typeface="+mn-ea"/>
              </a:rPr>
              <a:t>2</a:t>
            </a:r>
            <a:r>
              <a:rPr lang="zh-CN" altLang="en-US" dirty="0" smtClean="0">
                <a:cs typeface="+mn-ea"/>
              </a:rPr>
              <a:t>人任一人身上，</a:t>
            </a:r>
            <a:r>
              <a:rPr lang="en-US" altLang="zh-CN" dirty="0">
                <a:cs typeface="+mn-ea"/>
              </a:rPr>
              <a:t>g</a:t>
            </a:r>
            <a:r>
              <a:rPr lang="en-US" altLang="zh-CN" dirty="0" smtClean="0">
                <a:cs typeface="+mn-ea"/>
              </a:rPr>
              <a:t>(i)=f(i-1)+2×g(i-1)</a:t>
            </a:r>
            <a:endParaRPr lang="zh-CN" altLang="zh-CN" dirty="0">
              <a:cs typeface="+mn-ea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991934" y="5669206"/>
            <a:ext cx="7905408" cy="369332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dirty="0" smtClean="0">
                <a:cs typeface="+mn-ea"/>
              </a:rPr>
              <a:t>考虑递推起点：球还没开始传时，球一定在甲手上，所以</a:t>
            </a:r>
            <a:r>
              <a:rPr lang="en-US" altLang="zh-CN" dirty="0" smtClean="0">
                <a:cs typeface="+mn-ea"/>
              </a:rPr>
              <a:t>f(0)=1,g(0)=0</a:t>
            </a:r>
            <a:endParaRPr lang="zh-CN" altLang="zh-CN" dirty="0"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4000">
        <p:random/>
      </p:transition>
    </mc:Choice>
    <mc:Fallback>
      <p:transition spd="slow" advTm="4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4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/>
          <p:cNvPicPr>
            <a:picLocks noChangeAspect="1"/>
          </p:cNvPicPr>
          <p:nvPr/>
        </p:nvPicPr>
        <p:blipFill rotWithShape="1">
          <a:blip r:embed="rId1" cstate="email"/>
          <a:srcRect/>
          <a:stretch>
            <a:fillRect/>
          </a:stretch>
        </p:blipFill>
        <p:spPr>
          <a:xfrm>
            <a:off x="0" y="-1"/>
            <a:ext cx="2346266" cy="1738323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/>
        </p:nvPicPr>
        <p:blipFill rotWithShape="1">
          <a:blip r:embed="rId2" cstate="email"/>
          <a:srcRect/>
          <a:stretch>
            <a:fillRect/>
          </a:stretch>
        </p:blipFill>
        <p:spPr>
          <a:xfrm>
            <a:off x="10197363" y="4506451"/>
            <a:ext cx="1994638" cy="2351549"/>
          </a:xfrm>
          <a:prstGeom prst="rect">
            <a:avLst/>
          </a:prstGeom>
        </p:spPr>
      </p:pic>
      <p:sp>
        <p:nvSpPr>
          <p:cNvPr id="33" name="文本框 32"/>
          <p:cNvSpPr txBox="1"/>
          <p:nvPr/>
        </p:nvSpPr>
        <p:spPr>
          <a:xfrm>
            <a:off x="1996803" y="254168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extrusionH="12700"/>
          </a:bodyPr>
          <a:lstStyle/>
          <a:p>
            <a:r>
              <a:rPr lang="zh-CN" altLang="en-US" sz="32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递推</a:t>
            </a:r>
            <a:endParaRPr lang="zh-CN" altLang="en-US" sz="32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1996803" y="776898"/>
            <a:ext cx="379286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zh-CN" sz="1200" dirty="0">
                <a:solidFill>
                  <a:schemeClr val="accent3"/>
                </a:solidFill>
                <a:cs typeface="+mn-ea"/>
                <a:sym typeface="+mn-lt"/>
              </a:rPr>
              <a:t>Recurrence</a:t>
            </a:r>
            <a:endParaRPr kumimoji="0" lang="zh-CN" altLang="en-US" sz="1200" u="none" strike="noStrike" kern="1200" cap="none" spc="0" normalizeH="0" baseline="0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cxnSp>
        <p:nvCxnSpPr>
          <p:cNvPr id="35" name="直接连接符 34"/>
          <p:cNvCxnSpPr/>
          <p:nvPr/>
        </p:nvCxnSpPr>
        <p:spPr>
          <a:xfrm>
            <a:off x="5671226" y="622570"/>
            <a:ext cx="6520774" cy="0"/>
          </a:xfrm>
          <a:prstGeom prst="line">
            <a:avLst/>
          </a:prstGeom>
          <a:ln w="50800" cmpd="thickThin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本框 2919"/>
          <p:cNvSpPr txBox="1"/>
          <p:nvPr/>
        </p:nvSpPr>
        <p:spPr>
          <a:xfrm>
            <a:off x="9902208" y="177223"/>
            <a:ext cx="1864613" cy="369332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extrusionH="12700"/>
          </a:bodyPr>
          <a:lstStyle/>
          <a:p>
            <a:pPr algn="ctr"/>
            <a:r>
              <a:rPr lang="zh-CN" altLang="en-US" dirty="0" smtClean="0">
                <a:solidFill>
                  <a:schemeClr val="bg1"/>
                </a:solidFill>
                <a:effectLst>
                  <a:outerShdw blurRad="203200" dist="38100" dir="5400000" algn="t" rotWithShape="0">
                    <a:prstClr val="black">
                      <a:alpha val="83000"/>
                    </a:prstClr>
                  </a:outerShdw>
                </a:effectLst>
                <a:cs typeface="+mn-ea"/>
                <a:sym typeface="+mn-lt"/>
              </a:rPr>
              <a:t>例题⑤ 硬币下棋</a:t>
            </a:r>
            <a:endParaRPr lang="zh-CN" altLang="en-US" dirty="0">
              <a:solidFill>
                <a:schemeClr val="bg1"/>
              </a:solidFill>
              <a:effectLst>
                <a:outerShdw blurRad="203200" dist="38100" dir="5400000" algn="t" rotWithShape="0">
                  <a:prstClr val="black">
                    <a:alpha val="83000"/>
                  </a:prst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1691914" y="1706968"/>
            <a:ext cx="8505449" cy="156966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20000"/>
              </a:lnSpc>
            </a:pP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    棋盘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上标有第</a:t>
            </a:r>
            <a:r>
              <a:rPr lang="en-US" altLang="zh-CN" sz="2000" b="1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0…n</a:t>
            </a:r>
            <a:r>
              <a:rPr lang="zh-CN" altLang="en-US" sz="2000" b="1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站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，一开始棋子在第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0</a:t>
            </a: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站。棋手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每次投一次硬币，若硬币正面向上，则往前跳两站；否则，往前跳一站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...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直到棋子跳到</a:t>
            </a: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第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n</a:t>
            </a:r>
            <a:r>
              <a:rPr lang="en-US" altLang="zh-CN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-1</a:t>
            </a: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站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（胜利大本营</a:t>
            </a: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）或第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n</a:t>
            </a: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站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（失败大本营）时，游戏结束。如果硬币出现正反面的概率均为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0.5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，分别求出棋子到达胜利大本营和失败大本营的概率。</a:t>
            </a:r>
            <a:endParaRPr lang="zh-CN" altLang="en-US" sz="2000" b="1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2346267" y="3244825"/>
            <a:ext cx="7851096" cy="646331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dirty="0" smtClean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Tips</a:t>
            </a:r>
            <a:r>
              <a:rPr lang="zh-CN" altLang="zh-CN" dirty="0" smtClean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：</a:t>
            </a:r>
            <a:endParaRPr lang="zh-CN" altLang="zh-CN" dirty="0">
              <a:solidFill>
                <a:schemeClr val="tx1">
                  <a:lumMod val="50000"/>
                  <a:lumOff val="50000"/>
                </a:schemeClr>
              </a:solidFill>
              <a:cs typeface="+mn-ea"/>
            </a:endParaRPr>
          </a:p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	</a:t>
            </a:r>
            <a:r>
              <a:rPr lang="zh-CN" alt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计算</a:t>
            </a:r>
            <a:r>
              <a:rPr lang="en-US" altLang="zh-CN" dirty="0" smtClean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f(i)</a:t>
            </a:r>
            <a:r>
              <a:rPr lang="zh-CN" alt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时，可能需要由最终推向最初。</a:t>
            </a:r>
            <a:endParaRPr lang="zh-CN" altLang="zh-CN" dirty="0">
              <a:solidFill>
                <a:schemeClr val="tx1">
                  <a:lumMod val="50000"/>
                  <a:lumOff val="50000"/>
                </a:schemeClr>
              </a:solidFill>
              <a:cs typeface="+mn-ea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996803" y="3891156"/>
            <a:ext cx="7905408" cy="369332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dirty="0" smtClean="0">
                <a:cs typeface="+mn-ea"/>
              </a:rPr>
              <a:t>设从第</a:t>
            </a:r>
            <a:r>
              <a:rPr lang="en-US" altLang="zh-CN" dirty="0" smtClean="0">
                <a:cs typeface="+mn-ea"/>
              </a:rPr>
              <a:t>i</a:t>
            </a:r>
            <a:r>
              <a:rPr lang="zh-CN" altLang="en-US" dirty="0" smtClean="0">
                <a:cs typeface="+mn-ea"/>
              </a:rPr>
              <a:t>站起，最后跳到第</a:t>
            </a:r>
            <a:r>
              <a:rPr lang="en-US" altLang="zh-CN" dirty="0" smtClean="0">
                <a:cs typeface="+mn-ea"/>
              </a:rPr>
              <a:t>n</a:t>
            </a:r>
            <a:r>
              <a:rPr lang="zh-CN" altLang="en-US" dirty="0" smtClean="0">
                <a:cs typeface="+mn-ea"/>
              </a:rPr>
              <a:t>站的概率为</a:t>
            </a:r>
            <a:r>
              <a:rPr lang="en-US" altLang="zh-CN" dirty="0" smtClean="0">
                <a:cs typeface="+mn-ea"/>
              </a:rPr>
              <a:t>f(i)</a:t>
            </a:r>
            <a:endParaRPr lang="zh-CN" altLang="zh-CN" dirty="0">
              <a:cs typeface="+mn-ea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991934" y="4261538"/>
            <a:ext cx="7905408" cy="646331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dirty="0" smtClean="0">
                <a:cs typeface="+mn-ea"/>
              </a:rPr>
              <a:t>从第</a:t>
            </a:r>
            <a:r>
              <a:rPr lang="en-US" altLang="zh-CN" dirty="0" smtClean="0">
                <a:cs typeface="+mn-ea"/>
              </a:rPr>
              <a:t>i</a:t>
            </a:r>
            <a:r>
              <a:rPr lang="zh-CN" altLang="en-US" dirty="0" smtClean="0">
                <a:cs typeface="+mn-ea"/>
              </a:rPr>
              <a:t>站，投掷一枚硬币，有</a:t>
            </a:r>
            <a:r>
              <a:rPr lang="en-US" altLang="zh-CN" dirty="0" smtClean="0">
                <a:cs typeface="+mn-ea"/>
              </a:rPr>
              <a:t>0.5</a:t>
            </a:r>
            <a:r>
              <a:rPr lang="zh-CN" altLang="en-US" dirty="0" smtClean="0">
                <a:cs typeface="+mn-ea"/>
              </a:rPr>
              <a:t>的概率到达第</a:t>
            </a:r>
            <a:r>
              <a:rPr lang="en-US" altLang="zh-CN" dirty="0" smtClean="0">
                <a:cs typeface="+mn-ea"/>
              </a:rPr>
              <a:t>i+1</a:t>
            </a:r>
            <a:r>
              <a:rPr lang="zh-CN" altLang="en-US" dirty="0" smtClean="0">
                <a:cs typeface="+mn-ea"/>
              </a:rPr>
              <a:t>站，另有</a:t>
            </a:r>
            <a:r>
              <a:rPr lang="en-US" altLang="zh-CN" dirty="0" smtClean="0">
                <a:cs typeface="+mn-ea"/>
              </a:rPr>
              <a:t>0.5</a:t>
            </a:r>
            <a:r>
              <a:rPr lang="zh-CN" altLang="en-US" dirty="0" smtClean="0">
                <a:cs typeface="+mn-ea"/>
              </a:rPr>
              <a:t>的概率到达第</a:t>
            </a:r>
            <a:r>
              <a:rPr lang="en-US" altLang="zh-CN" dirty="0" smtClean="0">
                <a:cs typeface="+mn-ea"/>
              </a:rPr>
              <a:t>i+2</a:t>
            </a:r>
            <a:r>
              <a:rPr lang="zh-CN" altLang="en-US" dirty="0" smtClean="0">
                <a:cs typeface="+mn-ea"/>
              </a:rPr>
              <a:t>站。所以递推关系：</a:t>
            </a:r>
            <a:r>
              <a:rPr lang="en-US" altLang="zh-CN" dirty="0" smtClean="0">
                <a:cs typeface="+mn-ea"/>
              </a:rPr>
              <a:t>f(i)=0.5×f(i+1)+0.5×f(i+2)</a:t>
            </a:r>
            <a:endParaRPr lang="zh-CN" altLang="zh-CN" dirty="0">
              <a:cs typeface="+mn-ea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991934" y="4907869"/>
            <a:ext cx="7905408" cy="646331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dirty="0" smtClean="0">
                <a:cs typeface="+mn-ea"/>
              </a:rPr>
              <a:t>考虑递推起点：第</a:t>
            </a:r>
            <a:r>
              <a:rPr lang="en-US" altLang="zh-CN" dirty="0" smtClean="0">
                <a:cs typeface="+mn-ea"/>
              </a:rPr>
              <a:t>n</a:t>
            </a:r>
            <a:r>
              <a:rPr lang="zh-CN" altLang="en-US" dirty="0" smtClean="0">
                <a:cs typeface="+mn-ea"/>
              </a:rPr>
              <a:t>站到达第</a:t>
            </a:r>
            <a:r>
              <a:rPr lang="en-US" altLang="zh-CN" dirty="0" smtClean="0">
                <a:cs typeface="+mn-ea"/>
              </a:rPr>
              <a:t>n</a:t>
            </a:r>
            <a:r>
              <a:rPr lang="zh-CN" altLang="en-US" dirty="0" smtClean="0">
                <a:cs typeface="+mn-ea"/>
              </a:rPr>
              <a:t>站的概率是</a:t>
            </a:r>
            <a:r>
              <a:rPr lang="en-US" altLang="zh-CN" dirty="0" smtClean="0">
                <a:cs typeface="+mn-ea"/>
              </a:rPr>
              <a:t>1</a:t>
            </a:r>
            <a:r>
              <a:rPr lang="zh-CN" altLang="en-US" dirty="0" smtClean="0">
                <a:cs typeface="+mn-ea"/>
              </a:rPr>
              <a:t>，第</a:t>
            </a:r>
            <a:r>
              <a:rPr lang="en-US" altLang="zh-CN" dirty="0" smtClean="0">
                <a:cs typeface="+mn-ea"/>
              </a:rPr>
              <a:t>n-1</a:t>
            </a:r>
            <a:r>
              <a:rPr lang="zh-CN" altLang="en-US" dirty="0" smtClean="0">
                <a:cs typeface="+mn-ea"/>
              </a:rPr>
              <a:t>到达第</a:t>
            </a:r>
            <a:r>
              <a:rPr lang="en-US" altLang="zh-CN" dirty="0" smtClean="0">
                <a:cs typeface="+mn-ea"/>
              </a:rPr>
              <a:t>n</a:t>
            </a:r>
            <a:r>
              <a:rPr lang="zh-CN" altLang="en-US" dirty="0" smtClean="0">
                <a:cs typeface="+mn-ea"/>
              </a:rPr>
              <a:t>站的概率是</a:t>
            </a:r>
            <a:r>
              <a:rPr lang="en-US" altLang="zh-CN" dirty="0" smtClean="0">
                <a:cs typeface="+mn-ea"/>
              </a:rPr>
              <a:t>0</a:t>
            </a:r>
            <a:r>
              <a:rPr lang="zh-CN" altLang="en-US" dirty="0" smtClean="0">
                <a:cs typeface="+mn-ea"/>
              </a:rPr>
              <a:t>：</a:t>
            </a:r>
            <a:r>
              <a:rPr lang="en-US" altLang="zh-CN" dirty="0" smtClean="0">
                <a:cs typeface="+mn-ea"/>
              </a:rPr>
              <a:t>f(n)=1</a:t>
            </a:r>
            <a:r>
              <a:rPr lang="zh-CN" altLang="en-US" dirty="0" smtClean="0">
                <a:cs typeface="+mn-ea"/>
              </a:rPr>
              <a:t>，</a:t>
            </a:r>
            <a:r>
              <a:rPr lang="en-US" altLang="zh-CN" dirty="0" smtClean="0">
                <a:cs typeface="+mn-ea"/>
              </a:rPr>
              <a:t>f(n-1)=0</a:t>
            </a:r>
            <a:endParaRPr lang="zh-CN" altLang="zh-CN" dirty="0"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4000">
        <p:random/>
      </p:transition>
    </mc:Choice>
    <mc:Fallback>
      <p:transition spd="slow" advTm="4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  <p:bldP spid="1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/>
          <p:cNvPicPr>
            <a:picLocks noChangeAspect="1"/>
          </p:cNvPicPr>
          <p:nvPr/>
        </p:nvPicPr>
        <p:blipFill rotWithShape="1">
          <a:blip r:embed="rId1" cstate="email"/>
          <a:srcRect/>
          <a:stretch>
            <a:fillRect/>
          </a:stretch>
        </p:blipFill>
        <p:spPr>
          <a:xfrm>
            <a:off x="0" y="-1"/>
            <a:ext cx="2346266" cy="1738323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/>
        </p:nvPicPr>
        <p:blipFill rotWithShape="1">
          <a:blip r:embed="rId2" cstate="email"/>
          <a:srcRect/>
          <a:stretch>
            <a:fillRect/>
          </a:stretch>
        </p:blipFill>
        <p:spPr>
          <a:xfrm>
            <a:off x="10197363" y="4506451"/>
            <a:ext cx="1994638" cy="2351549"/>
          </a:xfrm>
          <a:prstGeom prst="rect">
            <a:avLst/>
          </a:prstGeom>
        </p:spPr>
      </p:pic>
      <p:sp>
        <p:nvSpPr>
          <p:cNvPr id="33" name="文本框 32"/>
          <p:cNvSpPr txBox="1"/>
          <p:nvPr/>
        </p:nvSpPr>
        <p:spPr>
          <a:xfrm>
            <a:off x="1996803" y="254168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extrusionH="12700"/>
          </a:bodyPr>
          <a:lstStyle/>
          <a:p>
            <a:r>
              <a:rPr lang="zh-CN" altLang="en-US" sz="32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基本概念</a:t>
            </a:r>
            <a:endParaRPr lang="zh-CN" altLang="en-US" sz="32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1996803" y="776898"/>
            <a:ext cx="379286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u="none" strike="noStrike" kern="1200" cap="none" spc="0" normalizeH="0" baseline="0" noProof="0" dirty="0" smtClean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cs typeface="+mn-ea"/>
                <a:sym typeface="+mn-lt"/>
              </a:rPr>
              <a:t>Basic Concepts</a:t>
            </a:r>
            <a:endParaRPr kumimoji="0" lang="zh-CN" altLang="en-US" sz="1200" u="none" strike="noStrike" kern="1200" cap="none" spc="0" normalizeH="0" baseline="0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cxnSp>
        <p:nvCxnSpPr>
          <p:cNvPr id="35" name="直接连接符 34"/>
          <p:cNvCxnSpPr/>
          <p:nvPr/>
        </p:nvCxnSpPr>
        <p:spPr>
          <a:xfrm>
            <a:off x="5671226" y="622570"/>
            <a:ext cx="6520774" cy="0"/>
          </a:xfrm>
          <a:prstGeom prst="line">
            <a:avLst/>
          </a:prstGeom>
          <a:ln w="50800" cmpd="thickThin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本框 2919"/>
          <p:cNvSpPr txBox="1"/>
          <p:nvPr/>
        </p:nvSpPr>
        <p:spPr>
          <a:xfrm>
            <a:off x="10511351" y="177223"/>
            <a:ext cx="646332" cy="369332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extrusionH="12700"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effectLst>
                  <a:outerShdw blurRad="203200" dist="38100" dir="5400000" algn="t" rotWithShape="0">
                    <a:prstClr val="black">
                      <a:alpha val="83000"/>
                    </a:prstClr>
                  </a:outerShdw>
                </a:effectLst>
                <a:cs typeface="+mn-ea"/>
                <a:sym typeface="+mn-lt"/>
              </a:rPr>
              <a:t>递归</a:t>
            </a:r>
            <a:endParaRPr lang="zh-CN" altLang="en-US" dirty="0">
              <a:solidFill>
                <a:schemeClr val="bg1"/>
              </a:solidFill>
              <a:effectLst>
                <a:outerShdw blurRad="203200" dist="38100" dir="5400000" algn="t" rotWithShape="0">
                  <a:prstClr val="black">
                    <a:alpha val="83000"/>
                  </a:prst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1691914" y="1706968"/>
            <a:ext cx="8505449" cy="429861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20000"/>
              </a:lnSpc>
            </a:pP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   </a:t>
            </a: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公差为</a:t>
            </a:r>
            <a:r>
              <a:rPr lang="en-US" altLang="zh-CN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3</a:t>
            </a: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的等差数列，首项是</a:t>
            </a:r>
            <a:r>
              <a:rPr lang="en-US" altLang="zh-CN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1</a:t>
            </a: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，计算其第</a:t>
            </a:r>
            <a:r>
              <a:rPr lang="en-US" altLang="zh-CN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n</a:t>
            </a: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项的值。</a:t>
            </a:r>
            <a:endParaRPr lang="zh-CN" altLang="en-US" sz="2000" b="1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2346266" y="2341972"/>
            <a:ext cx="7851096" cy="92333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zh-CN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做法②，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设</a:t>
            </a:r>
            <a:r>
              <a:rPr lang="zh-CN" altLang="zh-CN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第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n</a:t>
            </a:r>
            <a:r>
              <a:rPr lang="zh-CN" altLang="zh-CN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项值为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f[n]</a:t>
            </a:r>
            <a:r>
              <a:rPr lang="zh-CN" altLang="zh-CN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，第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n-1</a:t>
            </a:r>
            <a:r>
              <a:rPr lang="zh-CN" altLang="zh-CN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项值为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f[n-1]</a:t>
            </a:r>
            <a:r>
              <a:rPr lang="zh-CN" altLang="zh-CN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，由公差为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3</a:t>
            </a:r>
            <a:r>
              <a:rPr lang="zh-CN" altLang="zh-CN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，可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建立</a:t>
            </a:r>
            <a:r>
              <a:rPr lang="zh-CN" altLang="en-US" dirty="0">
                <a:solidFill>
                  <a:srgbClr val="FF0000"/>
                </a:solidFill>
                <a:cs typeface="+mn-ea"/>
              </a:rPr>
              <a:t>递归关系</a:t>
            </a:r>
            <a:r>
              <a:rPr lang="zh-CN" altLang="zh-CN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：</a:t>
            </a:r>
            <a:endParaRPr lang="zh-CN" altLang="zh-CN" dirty="0">
              <a:solidFill>
                <a:schemeClr val="tx1">
                  <a:lumMod val="50000"/>
                  <a:lumOff val="50000"/>
                </a:schemeClr>
              </a:solidFill>
              <a:cs typeface="+mn-ea"/>
            </a:endParaRPr>
          </a:p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	f[n]-f[n-1]=3</a:t>
            </a:r>
            <a:endParaRPr lang="zh-CN" altLang="zh-CN" dirty="0">
              <a:solidFill>
                <a:schemeClr val="tx1">
                  <a:lumMod val="50000"/>
                  <a:lumOff val="50000"/>
                </a:schemeClr>
              </a:solidFill>
              <a:cs typeface="+mn-ea"/>
            </a:endParaRPr>
          </a:p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	</a:t>
            </a:r>
            <a:r>
              <a:rPr lang="zh-CN" altLang="zh-CN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可得通项式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f[i]=f[i-1]+3</a:t>
            </a:r>
            <a:r>
              <a:rPr lang="zh-CN" altLang="zh-CN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，可由</a:t>
            </a:r>
            <a:r>
              <a:rPr lang="zh-CN" altLang="en-US" dirty="0">
                <a:solidFill>
                  <a:srgbClr val="FF0000"/>
                </a:solidFill>
                <a:cs typeface="+mn-ea"/>
              </a:rPr>
              <a:t>递归出口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1</a:t>
            </a:r>
            <a:r>
              <a:rPr lang="zh-CN" altLang="zh-CN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计算得来。</a:t>
            </a:r>
            <a:endParaRPr lang="zh-CN" altLang="zh-CN" dirty="0">
              <a:solidFill>
                <a:schemeClr val="tx1">
                  <a:lumMod val="50000"/>
                  <a:lumOff val="50000"/>
                </a:schemeClr>
              </a:solidFill>
              <a:cs typeface="+mn-ea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424428" y="3481048"/>
            <a:ext cx="5086923" cy="2585323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dirty="0" smtClean="0"/>
              <a:t>递归</a:t>
            </a:r>
            <a:r>
              <a:rPr lang="zh-CN" altLang="en-US" dirty="0"/>
              <a:t>：从已知问题的结果出发，用迭代表达式逐步</a:t>
            </a:r>
            <a:r>
              <a:rPr lang="zh-CN" altLang="en-US" dirty="0" smtClean="0"/>
              <a:t>推算至问题开始</a:t>
            </a:r>
            <a:r>
              <a:rPr lang="zh-CN" altLang="en-US" dirty="0"/>
              <a:t>的条件，即顺推法的逆过程，</a:t>
            </a:r>
            <a:r>
              <a:rPr lang="zh-CN" altLang="en-US" dirty="0">
                <a:cs typeface="+mn-ea"/>
              </a:rPr>
              <a:t>称为递归。</a:t>
            </a:r>
            <a:endParaRPr lang="en-US" altLang="zh-CN" dirty="0">
              <a:cs typeface="+mn-ea"/>
            </a:endParaRPr>
          </a:p>
          <a:p>
            <a:endParaRPr lang="en-US" altLang="zh-CN" dirty="0">
              <a:cs typeface="+mn-ea"/>
            </a:endParaRPr>
          </a:p>
          <a:p>
            <a:r>
              <a:rPr lang="zh-CN" altLang="en-US" dirty="0" smtClean="0">
                <a:cs typeface="+mn-ea"/>
              </a:rPr>
              <a:t>递归是在一个函数的定义中又直接或间接地调用本身，把</a:t>
            </a:r>
            <a:r>
              <a:rPr lang="zh-CN" altLang="en-US" dirty="0">
                <a:cs typeface="+mn-ea"/>
              </a:rPr>
              <a:t>规模大的、较难解决的问题变成规模较小的、易解决的同一问题。规模较小的问题又变成规模更小的问题，并且小到一定程度可以直接得出它的解，从而得到原来问题的解</a:t>
            </a:r>
            <a:r>
              <a:rPr lang="zh-CN" altLang="en-US" dirty="0" smtClean="0">
                <a:cs typeface="+mn-ea"/>
              </a:rPr>
              <a:t>。</a:t>
            </a:r>
            <a:endParaRPr lang="zh-CN" altLang="en-US" dirty="0">
              <a:cs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914" y="3831867"/>
            <a:ext cx="2638786" cy="141649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4000">
        <p:random/>
      </p:transition>
    </mc:Choice>
    <mc:Fallback>
      <p:transition spd="slow" advTm="4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/>
          <p:cNvPicPr>
            <a:picLocks noChangeAspect="1"/>
          </p:cNvPicPr>
          <p:nvPr/>
        </p:nvPicPr>
        <p:blipFill rotWithShape="1">
          <a:blip r:embed="rId1" cstate="email"/>
          <a:srcRect/>
          <a:stretch>
            <a:fillRect/>
          </a:stretch>
        </p:blipFill>
        <p:spPr>
          <a:xfrm>
            <a:off x="0" y="-1"/>
            <a:ext cx="2346266" cy="1738323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/>
        </p:nvPicPr>
        <p:blipFill rotWithShape="1">
          <a:blip r:embed="rId2" cstate="email"/>
          <a:srcRect/>
          <a:stretch>
            <a:fillRect/>
          </a:stretch>
        </p:blipFill>
        <p:spPr>
          <a:xfrm>
            <a:off x="10197363" y="4506451"/>
            <a:ext cx="1994638" cy="2351549"/>
          </a:xfrm>
          <a:prstGeom prst="rect">
            <a:avLst/>
          </a:prstGeom>
        </p:spPr>
      </p:pic>
      <p:sp>
        <p:nvSpPr>
          <p:cNvPr id="33" name="文本框 32"/>
          <p:cNvSpPr txBox="1"/>
          <p:nvPr/>
        </p:nvSpPr>
        <p:spPr>
          <a:xfrm>
            <a:off x="1996803" y="254168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extrusionH="12700"/>
          </a:bodyPr>
          <a:lstStyle/>
          <a:p>
            <a:r>
              <a:rPr lang="zh-CN" altLang="en-US" sz="32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递归</a:t>
            </a:r>
            <a:endParaRPr lang="zh-CN" altLang="en-US" sz="32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1996803" y="776898"/>
            <a:ext cx="379286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u="none" strike="noStrike" kern="1200" cap="none" spc="0" normalizeH="0" baseline="0" noProof="0" dirty="0" smtClean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cs typeface="+mn-ea"/>
                <a:sym typeface="+mn-lt"/>
              </a:rPr>
              <a:t>Recursion</a:t>
            </a:r>
            <a:endParaRPr kumimoji="0" lang="zh-CN" altLang="en-US" sz="1200" u="none" strike="noStrike" kern="1200" cap="none" spc="0" normalizeH="0" baseline="0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cxnSp>
        <p:nvCxnSpPr>
          <p:cNvPr id="35" name="直接连接符 34"/>
          <p:cNvCxnSpPr/>
          <p:nvPr/>
        </p:nvCxnSpPr>
        <p:spPr>
          <a:xfrm>
            <a:off x="5671226" y="622570"/>
            <a:ext cx="6520774" cy="0"/>
          </a:xfrm>
          <a:prstGeom prst="line">
            <a:avLst/>
          </a:prstGeom>
          <a:ln w="50800" cmpd="thickThin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本框 2919"/>
          <p:cNvSpPr txBox="1"/>
          <p:nvPr/>
        </p:nvSpPr>
        <p:spPr>
          <a:xfrm>
            <a:off x="9902211" y="177223"/>
            <a:ext cx="1864613" cy="369332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extrusionH="12700"/>
          </a:bodyPr>
          <a:lstStyle/>
          <a:p>
            <a:pPr algn="ctr"/>
            <a:r>
              <a:rPr lang="zh-CN" altLang="en-US" dirty="0" smtClean="0">
                <a:solidFill>
                  <a:schemeClr val="bg1"/>
                </a:solidFill>
                <a:effectLst>
                  <a:outerShdw blurRad="203200" dist="38100" dir="5400000" algn="t" rotWithShape="0">
                    <a:prstClr val="black">
                      <a:alpha val="83000"/>
                    </a:prstClr>
                  </a:outerShdw>
                </a:effectLst>
                <a:cs typeface="+mn-ea"/>
                <a:sym typeface="+mn-lt"/>
              </a:rPr>
              <a:t>例题② 平面划分</a:t>
            </a:r>
            <a:endParaRPr lang="zh-CN" altLang="en-US" dirty="0">
              <a:solidFill>
                <a:schemeClr val="bg1"/>
              </a:solidFill>
              <a:effectLst>
                <a:outerShdw blurRad="203200" dist="38100" dir="5400000" algn="t" rotWithShape="0">
                  <a:prstClr val="black">
                    <a:alpha val="83000"/>
                  </a:prst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1691914" y="1706968"/>
            <a:ext cx="8505449" cy="429861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20000"/>
              </a:lnSpc>
            </a:pP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    平面上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n</a:t>
            </a: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条直线最多能把平面分成几部分？</a:t>
            </a:r>
            <a:endParaRPr lang="zh-CN" altLang="en-US" sz="2000" b="1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2346266" y="2341972"/>
            <a:ext cx="7851096" cy="646331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dirty="0" smtClean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Tips</a:t>
            </a:r>
            <a:r>
              <a:rPr lang="zh-CN" altLang="zh-CN" dirty="0" smtClean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：</a:t>
            </a:r>
            <a:endParaRPr lang="zh-CN" altLang="zh-CN" dirty="0">
              <a:solidFill>
                <a:schemeClr val="tx1">
                  <a:lumMod val="50000"/>
                  <a:lumOff val="50000"/>
                </a:schemeClr>
              </a:solidFill>
              <a:cs typeface="+mn-ea"/>
            </a:endParaRPr>
          </a:p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	</a:t>
            </a:r>
            <a:r>
              <a:rPr lang="zh-CN" alt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计算</a:t>
            </a:r>
            <a:r>
              <a:rPr lang="en-US" altLang="zh-CN" dirty="0" smtClean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f(i)</a:t>
            </a:r>
            <a:r>
              <a:rPr lang="zh-CN" alt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时，只需前一项。</a:t>
            </a:r>
            <a:endParaRPr lang="zh-CN" altLang="zh-CN" dirty="0">
              <a:solidFill>
                <a:schemeClr val="tx1">
                  <a:lumMod val="50000"/>
                  <a:lumOff val="50000"/>
                </a:schemeClr>
              </a:solidFill>
              <a:cs typeface="+mn-ea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996803" y="3304495"/>
            <a:ext cx="7905408" cy="369332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dirty="0" smtClean="0">
                <a:cs typeface="+mn-ea"/>
              </a:rPr>
              <a:t>假定</a:t>
            </a:r>
            <a:r>
              <a:rPr lang="en-US" altLang="zh-CN" dirty="0">
                <a:cs typeface="+mn-ea"/>
              </a:rPr>
              <a:t>i</a:t>
            </a:r>
            <a:r>
              <a:rPr lang="zh-CN" altLang="en-US" dirty="0">
                <a:cs typeface="+mn-ea"/>
              </a:rPr>
              <a:t>条直线把</a:t>
            </a:r>
            <a:r>
              <a:rPr lang="zh-CN" altLang="en-US" dirty="0" smtClean="0">
                <a:cs typeface="+mn-ea"/>
              </a:rPr>
              <a:t>平面分成最多</a:t>
            </a:r>
            <a:r>
              <a:rPr lang="en-US" altLang="zh-CN" dirty="0" smtClean="0">
                <a:cs typeface="+mn-ea"/>
              </a:rPr>
              <a:t>f(i</a:t>
            </a:r>
            <a:r>
              <a:rPr lang="en-US" altLang="zh-CN" dirty="0">
                <a:cs typeface="+mn-ea"/>
              </a:rPr>
              <a:t>)</a:t>
            </a:r>
            <a:r>
              <a:rPr lang="zh-CN" altLang="en-US" dirty="0" smtClean="0">
                <a:cs typeface="+mn-ea"/>
              </a:rPr>
              <a:t>部分，则</a:t>
            </a:r>
            <a:r>
              <a:rPr lang="en-US" altLang="zh-CN" dirty="0" smtClean="0">
                <a:cs typeface="+mn-ea"/>
              </a:rPr>
              <a:t>i-1</a:t>
            </a:r>
            <a:r>
              <a:rPr lang="zh-CN" altLang="en-US" dirty="0" smtClean="0">
                <a:cs typeface="+mn-ea"/>
              </a:rPr>
              <a:t>条直线时最多有</a:t>
            </a:r>
            <a:r>
              <a:rPr lang="en-US" altLang="zh-CN" dirty="0" smtClean="0">
                <a:cs typeface="+mn-ea"/>
              </a:rPr>
              <a:t>f(i-1)</a:t>
            </a:r>
            <a:r>
              <a:rPr lang="zh-CN" altLang="en-US" dirty="0" smtClean="0">
                <a:cs typeface="+mn-ea"/>
              </a:rPr>
              <a:t>部分</a:t>
            </a:r>
            <a:endParaRPr lang="zh-CN" altLang="zh-CN" dirty="0">
              <a:cs typeface="+mn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996803" y="3673827"/>
            <a:ext cx="7905408" cy="92333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dirty="0" smtClean="0">
                <a:cs typeface="+mn-ea"/>
              </a:rPr>
              <a:t>在</a:t>
            </a:r>
            <a:r>
              <a:rPr lang="en-US" altLang="zh-CN" dirty="0">
                <a:cs typeface="+mn-ea"/>
              </a:rPr>
              <a:t>i-1</a:t>
            </a:r>
            <a:r>
              <a:rPr lang="zh-CN" altLang="en-US" dirty="0">
                <a:cs typeface="+mn-ea"/>
              </a:rPr>
              <a:t>条直线的平面上增加直线</a:t>
            </a:r>
            <a:r>
              <a:rPr lang="en-US" altLang="zh-CN" dirty="0">
                <a:cs typeface="+mn-ea"/>
              </a:rPr>
              <a:t>i</a:t>
            </a:r>
            <a:r>
              <a:rPr lang="zh-CN" altLang="en-US" dirty="0">
                <a:cs typeface="+mn-ea"/>
              </a:rPr>
              <a:t>，易得</a:t>
            </a:r>
            <a:r>
              <a:rPr lang="en-US" altLang="zh-CN" dirty="0">
                <a:cs typeface="+mn-ea"/>
              </a:rPr>
              <a:t>i</a:t>
            </a:r>
            <a:r>
              <a:rPr lang="zh-CN" altLang="en-US" dirty="0">
                <a:cs typeface="+mn-ea"/>
              </a:rPr>
              <a:t>与平面上已经存在了的</a:t>
            </a:r>
            <a:r>
              <a:rPr lang="en-US" altLang="zh-CN" dirty="0">
                <a:cs typeface="+mn-ea"/>
              </a:rPr>
              <a:t>i-1</a:t>
            </a:r>
            <a:r>
              <a:rPr lang="zh-CN" altLang="en-US" dirty="0">
                <a:cs typeface="+mn-ea"/>
              </a:rPr>
              <a:t>条直线最多各有一个交点，即直线</a:t>
            </a:r>
            <a:r>
              <a:rPr lang="en-US" altLang="zh-CN" dirty="0">
                <a:cs typeface="+mn-ea"/>
              </a:rPr>
              <a:t>i</a:t>
            </a:r>
            <a:r>
              <a:rPr lang="zh-CN" altLang="en-US" dirty="0">
                <a:cs typeface="+mn-ea"/>
              </a:rPr>
              <a:t>最多被分成</a:t>
            </a:r>
            <a:r>
              <a:rPr lang="en-US" altLang="zh-CN" dirty="0">
                <a:cs typeface="+mn-ea"/>
              </a:rPr>
              <a:t>i</a:t>
            </a:r>
            <a:r>
              <a:rPr lang="zh-CN" altLang="en-US" dirty="0">
                <a:cs typeface="+mn-ea"/>
              </a:rPr>
              <a:t>段，而这</a:t>
            </a:r>
            <a:r>
              <a:rPr lang="en-US" altLang="zh-CN" dirty="0">
                <a:cs typeface="+mn-ea"/>
              </a:rPr>
              <a:t>i</a:t>
            </a:r>
            <a:r>
              <a:rPr lang="zh-CN" altLang="en-US" dirty="0">
                <a:cs typeface="+mn-ea"/>
              </a:rPr>
              <a:t>段将会依次将平面</a:t>
            </a:r>
            <a:r>
              <a:rPr lang="zh-CN" altLang="en-US" dirty="0" smtClean="0">
                <a:cs typeface="+mn-ea"/>
              </a:rPr>
              <a:t>一分为二，即多</a:t>
            </a:r>
            <a:r>
              <a:rPr lang="zh-CN" altLang="en-US" dirty="0">
                <a:cs typeface="+mn-ea"/>
              </a:rPr>
              <a:t>增加</a:t>
            </a:r>
            <a:r>
              <a:rPr lang="en-US" altLang="zh-CN" dirty="0">
                <a:cs typeface="+mn-ea"/>
              </a:rPr>
              <a:t>i</a:t>
            </a:r>
            <a:r>
              <a:rPr lang="zh-CN" altLang="en-US" dirty="0">
                <a:cs typeface="+mn-ea"/>
              </a:rPr>
              <a:t>部分。</a:t>
            </a:r>
            <a:endParaRPr lang="zh-CN" altLang="zh-CN" dirty="0">
              <a:cs typeface="+mn-ea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996803" y="4597157"/>
            <a:ext cx="7905408" cy="369332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dirty="0">
                <a:cs typeface="+mn-ea"/>
              </a:rPr>
              <a:t>递归</a:t>
            </a:r>
            <a:r>
              <a:rPr lang="zh-CN" altLang="en-US" dirty="0" smtClean="0">
                <a:cs typeface="+mn-ea"/>
              </a:rPr>
              <a:t>关系：</a:t>
            </a:r>
            <a:r>
              <a:rPr lang="en-US" altLang="zh-CN" dirty="0">
                <a:cs typeface="+mn-ea"/>
              </a:rPr>
              <a:t>f(i)=f(i-1)+i</a:t>
            </a:r>
            <a:endParaRPr lang="zh-CN" altLang="zh-CN" dirty="0">
              <a:cs typeface="+mn-ea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996803" y="4966489"/>
            <a:ext cx="7905408" cy="369332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dirty="0" smtClean="0">
                <a:cs typeface="+mn-ea"/>
              </a:rPr>
              <a:t>易</a:t>
            </a:r>
            <a:r>
              <a:rPr lang="zh-CN" altLang="en-US" dirty="0">
                <a:cs typeface="+mn-ea"/>
              </a:rPr>
              <a:t>得当</a:t>
            </a:r>
            <a:r>
              <a:rPr lang="en-US" altLang="zh-CN" dirty="0">
                <a:cs typeface="+mn-ea"/>
              </a:rPr>
              <a:t>0</a:t>
            </a:r>
            <a:r>
              <a:rPr lang="zh-CN" altLang="en-US" dirty="0">
                <a:cs typeface="+mn-ea"/>
              </a:rPr>
              <a:t>条直线时</a:t>
            </a:r>
            <a:r>
              <a:rPr lang="zh-CN" altLang="en-US" dirty="0" smtClean="0">
                <a:cs typeface="+mn-ea"/>
              </a:rPr>
              <a:t>，只有一个平面。</a:t>
            </a:r>
            <a:r>
              <a:rPr lang="zh-CN" altLang="en-US" dirty="0">
                <a:cs typeface="+mn-ea"/>
              </a:rPr>
              <a:t>所以</a:t>
            </a:r>
            <a:r>
              <a:rPr lang="en-US" altLang="zh-CN" dirty="0">
                <a:cs typeface="+mn-ea"/>
              </a:rPr>
              <a:t>f(0)=1</a:t>
            </a:r>
            <a:r>
              <a:rPr lang="zh-CN" altLang="en-US" dirty="0" smtClean="0">
                <a:cs typeface="+mn-ea"/>
              </a:rPr>
              <a:t>为递归出口。</a:t>
            </a:r>
            <a:endParaRPr lang="zh-CN" altLang="zh-CN" dirty="0"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4000">
        <p:random/>
      </p:transition>
    </mc:Choice>
    <mc:Fallback>
      <p:transition spd="slow" advTm="4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/>
          <p:cNvPicPr>
            <a:picLocks noChangeAspect="1"/>
          </p:cNvPicPr>
          <p:nvPr/>
        </p:nvPicPr>
        <p:blipFill rotWithShape="1">
          <a:blip r:embed="rId1" cstate="email"/>
          <a:srcRect/>
          <a:stretch>
            <a:fillRect/>
          </a:stretch>
        </p:blipFill>
        <p:spPr>
          <a:xfrm>
            <a:off x="0" y="-1"/>
            <a:ext cx="2346266" cy="1738323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/>
        </p:nvPicPr>
        <p:blipFill rotWithShape="1">
          <a:blip r:embed="rId2" cstate="email"/>
          <a:srcRect/>
          <a:stretch>
            <a:fillRect/>
          </a:stretch>
        </p:blipFill>
        <p:spPr>
          <a:xfrm>
            <a:off x="10197363" y="4506451"/>
            <a:ext cx="1994638" cy="2351549"/>
          </a:xfrm>
          <a:prstGeom prst="rect">
            <a:avLst/>
          </a:prstGeom>
        </p:spPr>
      </p:pic>
      <p:sp>
        <p:nvSpPr>
          <p:cNvPr id="33" name="文本框 32"/>
          <p:cNvSpPr txBox="1"/>
          <p:nvPr/>
        </p:nvSpPr>
        <p:spPr>
          <a:xfrm>
            <a:off x="1996803" y="254168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extrusionH="12700"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递归</a:t>
            </a:r>
            <a:endParaRPr lang="zh-CN" altLang="en-US" sz="32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1996803" y="776898"/>
            <a:ext cx="379286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zh-CN" sz="1200" dirty="0" smtClean="0">
                <a:solidFill>
                  <a:schemeClr val="accent3"/>
                </a:solidFill>
                <a:cs typeface="+mn-ea"/>
                <a:sym typeface="+mn-lt"/>
              </a:rPr>
              <a:t>Recursion</a:t>
            </a:r>
            <a:endParaRPr kumimoji="0" lang="zh-CN" altLang="en-US" sz="1200" u="none" strike="noStrike" kern="1200" cap="none" spc="0" normalizeH="0" baseline="0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cxnSp>
        <p:nvCxnSpPr>
          <p:cNvPr id="35" name="直接连接符 34"/>
          <p:cNvCxnSpPr/>
          <p:nvPr/>
        </p:nvCxnSpPr>
        <p:spPr>
          <a:xfrm>
            <a:off x="5671226" y="622570"/>
            <a:ext cx="6520774" cy="0"/>
          </a:xfrm>
          <a:prstGeom prst="line">
            <a:avLst/>
          </a:prstGeom>
          <a:ln w="50800" cmpd="thickThin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本框 2919"/>
          <p:cNvSpPr txBox="1"/>
          <p:nvPr/>
        </p:nvSpPr>
        <p:spPr>
          <a:xfrm>
            <a:off x="9902209" y="177223"/>
            <a:ext cx="1864613" cy="369332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extrusionH="12700"/>
          </a:bodyPr>
          <a:lstStyle/>
          <a:p>
            <a:pPr algn="ctr"/>
            <a:r>
              <a:rPr lang="zh-CN" altLang="en-US" dirty="0" smtClean="0">
                <a:solidFill>
                  <a:schemeClr val="bg1"/>
                </a:solidFill>
                <a:effectLst>
                  <a:outerShdw blurRad="203200" dist="38100" dir="5400000" algn="t" rotWithShape="0">
                    <a:prstClr val="black">
                      <a:alpha val="83000"/>
                    </a:prstClr>
                  </a:outerShdw>
                </a:effectLst>
                <a:cs typeface="+mn-ea"/>
                <a:sym typeface="+mn-lt"/>
              </a:rPr>
              <a:t>例题③ 台阶问题</a:t>
            </a:r>
            <a:endParaRPr lang="zh-CN" altLang="en-US" dirty="0">
              <a:solidFill>
                <a:schemeClr val="bg1"/>
              </a:solidFill>
              <a:effectLst>
                <a:outerShdw blurRad="203200" dist="38100" dir="5400000" algn="t" rotWithShape="0">
                  <a:prstClr val="black">
                    <a:alpha val="83000"/>
                  </a:prst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1691914" y="1706968"/>
            <a:ext cx="8505449" cy="799193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20000"/>
              </a:lnSpc>
            </a:pP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    有</a:t>
            </a:r>
            <a:r>
              <a:rPr lang="en-US" altLang="zh-CN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N</a:t>
            </a: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级台阶，你一开始在底部，每次可以向上迈最多</a:t>
            </a:r>
            <a:r>
              <a:rPr lang="en-US" altLang="zh-CN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</a:t>
            </a: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级台阶</a:t>
            </a:r>
            <a:r>
              <a:rPr lang="en-US" altLang="zh-CN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(</a:t>
            </a: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最少</a:t>
            </a:r>
            <a:r>
              <a:rPr lang="en-US" altLang="zh-CN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1</a:t>
            </a: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级</a:t>
            </a:r>
            <a:r>
              <a:rPr lang="en-US" altLang="zh-CN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)</a:t>
            </a: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，问到达第</a:t>
            </a:r>
            <a:r>
              <a:rPr lang="en-US" altLang="zh-CN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N</a:t>
            </a: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级台阶有多少种不同方式。</a:t>
            </a:r>
            <a:endParaRPr lang="zh-CN" altLang="en-US" sz="2000" b="1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2346266" y="2567752"/>
            <a:ext cx="7851096" cy="646331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dirty="0" smtClean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Tips</a:t>
            </a:r>
            <a:r>
              <a:rPr lang="zh-CN" altLang="zh-CN" dirty="0" smtClean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：</a:t>
            </a:r>
            <a:endParaRPr lang="zh-CN" altLang="zh-CN" dirty="0">
              <a:solidFill>
                <a:schemeClr val="tx1">
                  <a:lumMod val="50000"/>
                  <a:lumOff val="50000"/>
                </a:schemeClr>
              </a:solidFill>
              <a:cs typeface="+mn-ea"/>
            </a:endParaRPr>
          </a:p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	</a:t>
            </a:r>
            <a:r>
              <a:rPr lang="zh-CN" alt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计算</a:t>
            </a:r>
            <a:r>
              <a:rPr lang="en-US" altLang="zh-CN" dirty="0" smtClean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f(i)</a:t>
            </a:r>
            <a:r>
              <a:rPr lang="zh-CN" alt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时，要用到前面计算过的多项值。</a:t>
            </a:r>
            <a:endParaRPr lang="zh-CN" altLang="zh-CN" dirty="0">
              <a:solidFill>
                <a:schemeClr val="tx1">
                  <a:lumMod val="50000"/>
                  <a:lumOff val="50000"/>
                </a:schemeClr>
              </a:solidFill>
              <a:cs typeface="+mn-ea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996803" y="3473830"/>
            <a:ext cx="7905408" cy="369332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dirty="0" smtClean="0">
                <a:cs typeface="+mn-ea"/>
              </a:rPr>
              <a:t>要到达第</a:t>
            </a:r>
            <a:r>
              <a:rPr lang="en-US" altLang="zh-CN" dirty="0" smtClean="0">
                <a:cs typeface="+mn-ea"/>
              </a:rPr>
              <a:t>i</a:t>
            </a:r>
            <a:r>
              <a:rPr lang="zh-CN" altLang="en-US" dirty="0" smtClean="0">
                <a:cs typeface="+mn-ea"/>
              </a:rPr>
              <a:t>级台阶，只有两种方式：</a:t>
            </a:r>
            <a:endParaRPr lang="zh-CN" altLang="zh-CN" dirty="0">
              <a:cs typeface="+mn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996803" y="3843162"/>
            <a:ext cx="7905408" cy="369332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dirty="0" smtClean="0">
                <a:cs typeface="+mn-ea"/>
              </a:rPr>
              <a:t>由第</a:t>
            </a:r>
            <a:r>
              <a:rPr lang="en-US" altLang="zh-CN" dirty="0" smtClean="0">
                <a:cs typeface="+mn-ea"/>
              </a:rPr>
              <a:t>i-2</a:t>
            </a:r>
            <a:r>
              <a:rPr lang="zh-CN" altLang="en-US" dirty="0" smtClean="0">
                <a:cs typeface="+mn-ea"/>
              </a:rPr>
              <a:t>级台阶迈两步到达；由第</a:t>
            </a:r>
            <a:r>
              <a:rPr lang="en-US" altLang="zh-CN" dirty="0" smtClean="0">
                <a:cs typeface="+mn-ea"/>
              </a:rPr>
              <a:t>i-1</a:t>
            </a:r>
            <a:r>
              <a:rPr lang="zh-CN" altLang="en-US" dirty="0" smtClean="0">
                <a:cs typeface="+mn-ea"/>
              </a:rPr>
              <a:t>级台阶迈一步到达。</a:t>
            </a:r>
            <a:endParaRPr lang="zh-CN" altLang="zh-CN" dirty="0">
              <a:cs typeface="+mn-ea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991934" y="4212494"/>
            <a:ext cx="7905408" cy="369332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dirty="0" smtClean="0">
                <a:cs typeface="+mn-ea"/>
              </a:rPr>
              <a:t>递归关系：</a:t>
            </a:r>
            <a:r>
              <a:rPr lang="en-US" altLang="zh-CN" dirty="0">
                <a:cs typeface="+mn-ea"/>
              </a:rPr>
              <a:t>f(i)=f(i-1</a:t>
            </a:r>
            <a:r>
              <a:rPr lang="en-US" altLang="zh-CN" dirty="0" smtClean="0">
                <a:cs typeface="+mn-ea"/>
              </a:rPr>
              <a:t>)×1+f(i-2)×1</a:t>
            </a:r>
            <a:endParaRPr lang="zh-CN" altLang="zh-CN" dirty="0">
              <a:cs typeface="+mn-ea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991934" y="4550986"/>
            <a:ext cx="7905408" cy="646331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dirty="0" smtClean="0">
                <a:cs typeface="+mn-ea"/>
              </a:rPr>
              <a:t>则迈到第一级台阶的方案有</a:t>
            </a:r>
            <a:r>
              <a:rPr lang="en-US" altLang="zh-CN" dirty="0" smtClean="0">
                <a:cs typeface="+mn-ea"/>
              </a:rPr>
              <a:t>1</a:t>
            </a:r>
            <a:r>
              <a:rPr lang="zh-CN" altLang="en-US" dirty="0" smtClean="0">
                <a:cs typeface="+mn-ea"/>
              </a:rPr>
              <a:t>种，迈到第二级台阶有</a:t>
            </a:r>
            <a:r>
              <a:rPr lang="en-US" altLang="zh-CN" dirty="0" smtClean="0">
                <a:cs typeface="+mn-ea"/>
              </a:rPr>
              <a:t>2</a:t>
            </a:r>
            <a:r>
              <a:rPr lang="zh-CN" altLang="en-US" dirty="0" smtClean="0">
                <a:cs typeface="+mn-ea"/>
              </a:rPr>
              <a:t>种</a:t>
            </a:r>
            <a:r>
              <a:rPr lang="en-US" altLang="zh-CN" dirty="0" smtClean="0">
                <a:cs typeface="+mn-ea"/>
              </a:rPr>
              <a:t>(</a:t>
            </a:r>
            <a:r>
              <a:rPr lang="zh-CN" altLang="en-US" dirty="0" smtClean="0">
                <a:cs typeface="+mn-ea"/>
              </a:rPr>
              <a:t>底部</a:t>
            </a:r>
            <a:r>
              <a:rPr lang="en-US" altLang="zh-CN" dirty="0" smtClean="0">
                <a:cs typeface="+mn-ea"/>
              </a:rPr>
              <a:t>/</a:t>
            </a:r>
            <a:r>
              <a:rPr lang="zh-CN" altLang="en-US" dirty="0" smtClean="0">
                <a:cs typeface="+mn-ea"/>
              </a:rPr>
              <a:t>第一级</a:t>
            </a:r>
            <a:r>
              <a:rPr lang="en-US" altLang="zh-CN" dirty="0" smtClean="0">
                <a:cs typeface="+mn-ea"/>
              </a:rPr>
              <a:t>)</a:t>
            </a:r>
            <a:r>
              <a:rPr lang="zh-CN" altLang="en-US" dirty="0" smtClean="0">
                <a:cs typeface="+mn-ea"/>
              </a:rPr>
              <a:t>，可得递归出口</a:t>
            </a:r>
            <a:r>
              <a:rPr lang="en-US" altLang="zh-CN" dirty="0" smtClean="0">
                <a:cs typeface="+mn-ea"/>
              </a:rPr>
              <a:t>f[0]=f[1]=1</a:t>
            </a:r>
            <a:endParaRPr lang="zh-CN" altLang="zh-CN" dirty="0"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4000">
        <p:random/>
      </p:transition>
    </mc:Choice>
    <mc:Fallback>
      <p:transition spd="slow" advTm="4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/>
          <p:cNvPicPr>
            <a:picLocks noChangeAspect="1"/>
          </p:cNvPicPr>
          <p:nvPr/>
        </p:nvPicPr>
        <p:blipFill rotWithShape="1">
          <a:blip r:embed="rId1" cstate="email"/>
          <a:srcRect/>
          <a:stretch>
            <a:fillRect/>
          </a:stretch>
        </p:blipFill>
        <p:spPr>
          <a:xfrm>
            <a:off x="0" y="-1"/>
            <a:ext cx="2346266" cy="1738323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/>
        </p:nvPicPr>
        <p:blipFill rotWithShape="1">
          <a:blip r:embed="rId2" cstate="email"/>
          <a:srcRect/>
          <a:stretch>
            <a:fillRect/>
          </a:stretch>
        </p:blipFill>
        <p:spPr>
          <a:xfrm>
            <a:off x="10197363" y="4506451"/>
            <a:ext cx="1994638" cy="2351549"/>
          </a:xfrm>
          <a:prstGeom prst="rect">
            <a:avLst/>
          </a:prstGeom>
        </p:spPr>
      </p:pic>
      <p:sp>
        <p:nvSpPr>
          <p:cNvPr id="33" name="文本框 32"/>
          <p:cNvSpPr txBox="1"/>
          <p:nvPr/>
        </p:nvSpPr>
        <p:spPr>
          <a:xfrm>
            <a:off x="1996803" y="254168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extrusionH="12700"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递归</a:t>
            </a:r>
            <a:endParaRPr lang="zh-CN" altLang="en-US" sz="32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1996803" y="776898"/>
            <a:ext cx="379286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zh-CN" sz="1200" dirty="0" smtClean="0">
                <a:solidFill>
                  <a:schemeClr val="accent3"/>
                </a:solidFill>
                <a:cs typeface="+mn-ea"/>
                <a:sym typeface="+mn-lt"/>
              </a:rPr>
              <a:t>Recursion</a:t>
            </a:r>
            <a:endParaRPr kumimoji="0" lang="zh-CN" altLang="en-US" sz="1200" u="none" strike="noStrike" kern="1200" cap="none" spc="0" normalizeH="0" baseline="0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cxnSp>
        <p:nvCxnSpPr>
          <p:cNvPr id="35" name="直接连接符 34"/>
          <p:cNvCxnSpPr/>
          <p:nvPr/>
        </p:nvCxnSpPr>
        <p:spPr>
          <a:xfrm>
            <a:off x="5671226" y="622570"/>
            <a:ext cx="6520774" cy="0"/>
          </a:xfrm>
          <a:prstGeom prst="line">
            <a:avLst/>
          </a:prstGeom>
          <a:ln w="50800" cmpd="thickThin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本框 2919"/>
          <p:cNvSpPr txBox="1"/>
          <p:nvPr/>
        </p:nvSpPr>
        <p:spPr>
          <a:xfrm>
            <a:off x="9902209" y="177223"/>
            <a:ext cx="1864613" cy="369332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extrusionH="12700"/>
          </a:bodyPr>
          <a:lstStyle/>
          <a:p>
            <a:pPr algn="ctr"/>
            <a:r>
              <a:rPr lang="zh-CN" altLang="en-US" dirty="0" smtClean="0">
                <a:solidFill>
                  <a:schemeClr val="bg1"/>
                </a:solidFill>
                <a:effectLst>
                  <a:outerShdw blurRad="203200" dist="38100" dir="5400000" algn="t" rotWithShape="0">
                    <a:prstClr val="black">
                      <a:alpha val="83000"/>
                    </a:prstClr>
                  </a:outerShdw>
                </a:effectLst>
                <a:cs typeface="+mn-ea"/>
                <a:sym typeface="+mn-lt"/>
              </a:rPr>
              <a:t>例题③ 台阶问题</a:t>
            </a:r>
            <a:endParaRPr lang="zh-CN" altLang="en-US" dirty="0">
              <a:solidFill>
                <a:schemeClr val="bg1"/>
              </a:solidFill>
              <a:effectLst>
                <a:outerShdw blurRad="203200" dist="38100" dir="5400000" algn="t" rotWithShape="0">
                  <a:prstClr val="black">
                    <a:alpha val="83000"/>
                  </a:prst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1691914" y="1706968"/>
            <a:ext cx="8505449" cy="799193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20000"/>
              </a:lnSpc>
            </a:pP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    有</a:t>
            </a:r>
            <a:r>
              <a:rPr lang="en-US" altLang="zh-CN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N</a:t>
            </a: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级台阶，你一开始在底部，每次可以向上迈最多</a:t>
            </a:r>
            <a:r>
              <a:rPr lang="en-US" altLang="zh-CN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</a:t>
            </a: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级台阶</a:t>
            </a:r>
            <a:r>
              <a:rPr lang="en-US" altLang="zh-CN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(</a:t>
            </a: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最少</a:t>
            </a:r>
            <a:r>
              <a:rPr lang="en-US" altLang="zh-CN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1</a:t>
            </a: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级</a:t>
            </a:r>
            <a:r>
              <a:rPr lang="en-US" altLang="zh-CN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)</a:t>
            </a: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，问到达第</a:t>
            </a:r>
            <a:r>
              <a:rPr lang="en-US" altLang="zh-CN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N</a:t>
            </a: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级台阶有多少种不同方式。</a:t>
            </a:r>
            <a:endParaRPr lang="zh-CN" altLang="en-US" sz="2000" b="1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986" y="2981388"/>
            <a:ext cx="3259035" cy="1455141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986" y="4538129"/>
            <a:ext cx="3820688" cy="1185334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4690674" y="2868498"/>
            <a:ext cx="6504008" cy="1754326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dirty="0" smtClean="0"/>
              <a:t>    递归函数</a:t>
            </a:r>
            <a:r>
              <a:rPr lang="zh-CN" altLang="en-US" dirty="0"/>
              <a:t>每次调用自身都会生成一个激活帧（包含程序的参数、局部变量、返回值、以及该程序执行完毕后返回上一层的指令地址等），同时把计算控制交给下一次调用。这些激活帧存在在系统中先进后出</a:t>
            </a:r>
            <a:r>
              <a:rPr lang="zh-CN" altLang="en-US" dirty="0" smtClean="0"/>
              <a:t>的堆栈</a:t>
            </a:r>
            <a:r>
              <a:rPr lang="zh-CN" altLang="en-US" dirty="0"/>
              <a:t>里。所以，程序的递归调用过大的话，会引发栈</a:t>
            </a:r>
            <a:r>
              <a:rPr lang="zh-CN" altLang="en-US" dirty="0" smtClean="0"/>
              <a:t>溢出，也就是大家常见的</a:t>
            </a:r>
            <a:r>
              <a:rPr lang="en-US" altLang="zh-CN" dirty="0" smtClean="0"/>
              <a:t>Runtime Error(Stack Overflow)</a:t>
            </a:r>
            <a:r>
              <a:rPr lang="zh-CN" altLang="en-US" dirty="0" smtClean="0"/>
              <a:t>。</a:t>
            </a:r>
            <a:endParaRPr lang="en-US" altLang="zh-CN" dirty="0"/>
          </a:p>
        </p:txBody>
      </p:sp>
      <p:sp>
        <p:nvSpPr>
          <p:cNvPr id="18" name="矩形 17"/>
          <p:cNvSpPr/>
          <p:nvPr/>
        </p:nvSpPr>
        <p:spPr>
          <a:xfrm>
            <a:off x="4690674" y="4622824"/>
            <a:ext cx="6504008" cy="646331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mtClean="0"/>
              <a:t>    进程</a:t>
            </a:r>
            <a:r>
              <a:rPr lang="zh-CN" altLang="en-US" dirty="0"/>
              <a:t>栈的大小</a:t>
            </a:r>
            <a:r>
              <a:rPr lang="en-US" altLang="zh-CN" dirty="0"/>
              <a:t>64bits</a:t>
            </a:r>
            <a:r>
              <a:rPr lang="zh-CN" altLang="en-US" dirty="0"/>
              <a:t>的</a:t>
            </a:r>
            <a:r>
              <a:rPr lang="en-US" altLang="zh-CN" dirty="0"/>
              <a:t>Windows</a:t>
            </a:r>
            <a:r>
              <a:rPr lang="zh-CN" altLang="en-US" dirty="0"/>
              <a:t>默认</a:t>
            </a:r>
            <a:r>
              <a:rPr lang="en-US" altLang="zh-CN" dirty="0" smtClean="0"/>
              <a:t>1(2?)MB</a:t>
            </a:r>
            <a:r>
              <a:rPr lang="zh-CN" altLang="en-US" dirty="0"/>
              <a:t>，</a:t>
            </a:r>
            <a:r>
              <a:rPr lang="en-US" altLang="zh-CN" dirty="0"/>
              <a:t>64bits</a:t>
            </a:r>
            <a:r>
              <a:rPr lang="zh-CN" altLang="en-US" dirty="0"/>
              <a:t>的</a:t>
            </a:r>
            <a:r>
              <a:rPr lang="en-US" altLang="zh-CN" dirty="0"/>
              <a:t>Linux</a:t>
            </a:r>
            <a:r>
              <a:rPr lang="zh-CN" altLang="en-US" dirty="0" smtClean="0"/>
              <a:t>默认</a:t>
            </a:r>
            <a:r>
              <a:rPr lang="en-US" altLang="zh-CN" dirty="0" smtClean="0"/>
              <a:t>8MB</a:t>
            </a:r>
            <a:r>
              <a:rPr lang="zh-CN" altLang="en-US" dirty="0" smtClean="0"/>
              <a:t>。</a:t>
            </a: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4000">
        <p:random/>
      </p:transition>
    </mc:Choice>
    <mc:Fallback>
      <p:transition spd="slow" advTm="4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/>
          <p:cNvPicPr>
            <a:picLocks noChangeAspect="1"/>
          </p:cNvPicPr>
          <p:nvPr/>
        </p:nvPicPr>
        <p:blipFill rotWithShape="1">
          <a:blip r:embed="rId1" cstate="email"/>
          <a:srcRect/>
          <a:stretch>
            <a:fillRect/>
          </a:stretch>
        </p:blipFill>
        <p:spPr>
          <a:xfrm>
            <a:off x="0" y="-1"/>
            <a:ext cx="2346266" cy="1738323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/>
        </p:nvPicPr>
        <p:blipFill rotWithShape="1">
          <a:blip r:embed="rId2" cstate="email"/>
          <a:srcRect/>
          <a:stretch>
            <a:fillRect/>
          </a:stretch>
        </p:blipFill>
        <p:spPr>
          <a:xfrm>
            <a:off x="10197363" y="4506451"/>
            <a:ext cx="1994638" cy="2351549"/>
          </a:xfrm>
          <a:prstGeom prst="rect">
            <a:avLst/>
          </a:prstGeom>
        </p:spPr>
      </p:pic>
      <p:sp>
        <p:nvSpPr>
          <p:cNvPr id="33" name="文本框 32"/>
          <p:cNvSpPr txBox="1"/>
          <p:nvPr/>
        </p:nvSpPr>
        <p:spPr>
          <a:xfrm>
            <a:off x="1996803" y="254168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extrusionH="12700"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递归</a:t>
            </a:r>
            <a:endParaRPr lang="zh-CN" altLang="en-US" sz="32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1996803" y="776898"/>
            <a:ext cx="379286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zh-CN" sz="1200" dirty="0" smtClean="0">
                <a:solidFill>
                  <a:schemeClr val="accent3"/>
                </a:solidFill>
                <a:cs typeface="+mn-ea"/>
                <a:sym typeface="+mn-lt"/>
              </a:rPr>
              <a:t>Recursion</a:t>
            </a:r>
            <a:endParaRPr kumimoji="0" lang="zh-CN" altLang="en-US" sz="1200" u="none" strike="noStrike" kern="1200" cap="none" spc="0" normalizeH="0" baseline="0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cxnSp>
        <p:nvCxnSpPr>
          <p:cNvPr id="35" name="直接连接符 34"/>
          <p:cNvCxnSpPr/>
          <p:nvPr/>
        </p:nvCxnSpPr>
        <p:spPr>
          <a:xfrm>
            <a:off x="5671226" y="622570"/>
            <a:ext cx="6520774" cy="0"/>
          </a:xfrm>
          <a:prstGeom prst="line">
            <a:avLst/>
          </a:prstGeom>
          <a:ln w="50800" cmpd="thickThin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本框 2919"/>
          <p:cNvSpPr txBox="1"/>
          <p:nvPr/>
        </p:nvSpPr>
        <p:spPr>
          <a:xfrm>
            <a:off x="9902209" y="177223"/>
            <a:ext cx="1864613" cy="369332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extrusionH="12700"/>
          </a:bodyPr>
          <a:lstStyle/>
          <a:p>
            <a:pPr algn="ctr"/>
            <a:r>
              <a:rPr lang="zh-CN" altLang="en-US" dirty="0" smtClean="0">
                <a:solidFill>
                  <a:schemeClr val="bg1"/>
                </a:solidFill>
                <a:effectLst>
                  <a:outerShdw blurRad="203200" dist="38100" dir="5400000" algn="t" rotWithShape="0">
                    <a:prstClr val="black">
                      <a:alpha val="83000"/>
                    </a:prstClr>
                  </a:outerShdw>
                </a:effectLst>
                <a:cs typeface="+mn-ea"/>
                <a:sym typeface="+mn-lt"/>
              </a:rPr>
              <a:t>例题③ 台阶问题</a:t>
            </a:r>
            <a:endParaRPr lang="zh-CN" altLang="en-US" dirty="0">
              <a:solidFill>
                <a:schemeClr val="bg1"/>
              </a:solidFill>
              <a:effectLst>
                <a:outerShdw blurRad="203200" dist="38100" dir="5400000" algn="t" rotWithShape="0">
                  <a:prstClr val="black">
                    <a:alpha val="83000"/>
                  </a:prst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1691914" y="1706968"/>
            <a:ext cx="8505449" cy="799193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20000"/>
              </a:lnSpc>
            </a:pP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    有</a:t>
            </a:r>
            <a:r>
              <a:rPr lang="en-US" altLang="zh-CN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N</a:t>
            </a: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级台阶，你一开始在底部，每次可以向上迈最多</a:t>
            </a:r>
            <a:r>
              <a:rPr lang="en-US" altLang="zh-CN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</a:t>
            </a: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级台阶</a:t>
            </a:r>
            <a:r>
              <a:rPr lang="en-US" altLang="zh-CN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(</a:t>
            </a: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最少</a:t>
            </a:r>
            <a:r>
              <a:rPr lang="en-US" altLang="zh-CN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1</a:t>
            </a: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级</a:t>
            </a:r>
            <a:r>
              <a:rPr lang="en-US" altLang="zh-CN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)</a:t>
            </a: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，问到达第</a:t>
            </a:r>
            <a:r>
              <a:rPr lang="en-US" altLang="zh-CN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N</a:t>
            </a: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级台阶有多少种不同方式。</a:t>
            </a:r>
            <a:endParaRPr lang="zh-CN" altLang="en-US" sz="2000" b="1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641232" y="3353925"/>
            <a:ext cx="6504008" cy="92333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dirty="0" smtClean="0"/>
              <a:t>    尾递归：</a:t>
            </a:r>
            <a:r>
              <a:rPr lang="zh-CN" altLang="en-US" dirty="0"/>
              <a:t>在计算机科学里，尾调用是指一个函数里的最后一个动作是一个函数调用的情形：即这个调用的返回值直接被当前函数返回的情形</a:t>
            </a:r>
            <a:r>
              <a:rPr lang="zh-CN" altLang="en-US" dirty="0" smtClean="0"/>
              <a:t>。</a:t>
            </a:r>
            <a:endParaRPr lang="en-US" altLang="zh-CN" dirty="0"/>
          </a:p>
        </p:txBody>
      </p:sp>
      <p:sp>
        <p:nvSpPr>
          <p:cNvPr id="18" name="矩形 17"/>
          <p:cNvSpPr/>
          <p:nvPr/>
        </p:nvSpPr>
        <p:spPr>
          <a:xfrm>
            <a:off x="641232" y="4489546"/>
            <a:ext cx="6504008" cy="1200329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dirty="0" smtClean="0"/>
              <a:t>    递归函数</a:t>
            </a:r>
            <a:r>
              <a:rPr lang="zh-CN" altLang="en-US" dirty="0"/>
              <a:t>需要在调用多次时需要保留很多激活帧，这会引发栈溢出。但如果采用尾递归的话，就可以避免这个情况。因为尾递归在程序的最后动作只是调用函数，不涉及其他计算问题，所以可以优化删去很多中间的激活帧。</a:t>
            </a:r>
            <a:endParaRPr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9851" y="2863387"/>
            <a:ext cx="4161037" cy="129092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3918" y="4277255"/>
            <a:ext cx="4412904" cy="9675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4000">
        <p:random/>
      </p:transition>
    </mc:Choice>
    <mc:Fallback>
      <p:transition spd="slow" advTm="4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/>
          <p:cNvPicPr>
            <a:picLocks noChangeAspect="1"/>
          </p:cNvPicPr>
          <p:nvPr/>
        </p:nvPicPr>
        <p:blipFill rotWithShape="1">
          <a:blip r:embed="rId1" cstate="email"/>
          <a:srcRect/>
          <a:stretch>
            <a:fillRect/>
          </a:stretch>
        </p:blipFill>
        <p:spPr>
          <a:xfrm>
            <a:off x="0" y="-1"/>
            <a:ext cx="2346266" cy="1738323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 rotWithShape="1">
          <a:blip r:embed="rId2" cstate="email"/>
          <a:srcRect/>
          <a:stretch>
            <a:fillRect/>
          </a:stretch>
        </p:blipFill>
        <p:spPr>
          <a:xfrm>
            <a:off x="10197363" y="4506451"/>
            <a:ext cx="1994638" cy="2351549"/>
          </a:xfrm>
          <a:prstGeom prst="rect">
            <a:avLst/>
          </a:prstGeom>
        </p:spPr>
      </p:pic>
      <p:pic>
        <p:nvPicPr>
          <p:cNvPr id="19" name="图片占位符 18"/>
          <p:cNvPicPr>
            <a:picLocks noGrp="1" noChangeAspect="1"/>
          </p:cNvPicPr>
          <p:nvPr>
            <p:ph type="pic" sz="quarter" idx="10"/>
          </p:nvPr>
        </p:nvPicPr>
        <p:blipFill>
          <a:blip r:embed="rId3" cstate="email"/>
          <a:srcRect/>
          <a:stretch>
            <a:fillRect/>
          </a:stretch>
        </p:blipFill>
        <p:spPr/>
      </p:pic>
      <p:sp>
        <p:nvSpPr>
          <p:cNvPr id="6" name="平行四边形 5"/>
          <p:cNvSpPr/>
          <p:nvPr/>
        </p:nvSpPr>
        <p:spPr>
          <a:xfrm>
            <a:off x="3248026" y="1370013"/>
            <a:ext cx="7762872" cy="4829175"/>
          </a:xfrm>
          <a:prstGeom prst="parallelogram">
            <a:avLst>
              <a:gd name="adj" fmla="val 58446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dirty="0">
              <a:cs typeface="+mn-ea"/>
              <a:sym typeface="+mn-lt"/>
            </a:endParaRPr>
          </a:p>
        </p:txBody>
      </p:sp>
      <p:sp>
        <p:nvSpPr>
          <p:cNvPr id="7" name="直角三角形 6"/>
          <p:cNvSpPr/>
          <p:nvPr/>
        </p:nvSpPr>
        <p:spPr>
          <a:xfrm flipH="1">
            <a:off x="10791824" y="3913188"/>
            <a:ext cx="1400175" cy="2286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dirty="0">
              <a:cs typeface="+mn-ea"/>
              <a:sym typeface="+mn-lt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5346700" y="3045057"/>
            <a:ext cx="3054291" cy="1922284"/>
            <a:chOff x="7400320" y="1678126"/>
            <a:chExt cx="3054291" cy="1922284"/>
          </a:xfrm>
        </p:grpSpPr>
        <p:sp>
          <p:nvSpPr>
            <p:cNvPr id="16" name="矩形 15"/>
            <p:cNvSpPr/>
            <p:nvPr/>
          </p:nvSpPr>
          <p:spPr>
            <a:xfrm>
              <a:off x="7400320" y="2030750"/>
              <a:ext cx="3054291" cy="1569660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>
                <a:lnSpc>
                  <a:spcPct val="120000"/>
                </a:lnSpc>
              </a:pPr>
              <a:r>
                <a:rPr lang="zh-CN" altLang="en-US" sz="1600" dirty="0" smtClean="0">
                  <a:solidFill>
                    <a:schemeClr val="bg1"/>
                  </a:solidFill>
                  <a:cs typeface="+mn-ea"/>
                  <a:sym typeface="+mn-lt"/>
                </a:rPr>
                <a:t>相对于递归算法，递推算法免除了数据进出栈的过程，也就是说，不需要函数不断地向边界值靠拢，而</a:t>
              </a:r>
              <a:r>
                <a:rPr lang="zh-CN" altLang="en-US" sz="1600" dirty="0" smtClean="0">
                  <a:solidFill>
                    <a:srgbClr val="FF0000"/>
                  </a:solidFill>
                  <a:cs typeface="+mn-ea"/>
                  <a:sym typeface="+mn-lt"/>
                </a:rPr>
                <a:t>直接从边界出发，直到求出函数值</a:t>
              </a:r>
              <a:r>
                <a:rPr lang="zh-CN" altLang="en-US" sz="1600" dirty="0" smtClean="0">
                  <a:solidFill>
                    <a:schemeClr val="bg1"/>
                  </a:solidFill>
                  <a:cs typeface="+mn-ea"/>
                  <a:sym typeface="+mn-lt"/>
                </a:rPr>
                <a:t>。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8212637" y="1678126"/>
              <a:ext cx="2241974" cy="429861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>
                <a:lnSpc>
                  <a:spcPct val="120000"/>
                </a:lnSpc>
              </a:pPr>
              <a:r>
                <a:rPr lang="zh-CN" altLang="en-US" sz="2000" b="1" dirty="0" smtClean="0">
                  <a:solidFill>
                    <a:schemeClr val="bg1"/>
                  </a:solidFill>
                  <a:cs typeface="+mn-ea"/>
                  <a:sym typeface="+mn-lt"/>
                </a:rPr>
                <a:t>递归与递推区别</a:t>
              </a:r>
              <a:endParaRPr lang="zh-CN" altLang="en-US" sz="20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22" name="文本框 21"/>
          <p:cNvSpPr txBox="1"/>
          <p:nvPr/>
        </p:nvSpPr>
        <p:spPr>
          <a:xfrm>
            <a:off x="1996803" y="254168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extrusionH="12700"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总结</a:t>
            </a:r>
            <a:endParaRPr lang="zh-CN" altLang="en-US" sz="32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996803" y="776898"/>
            <a:ext cx="379286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u="none" strike="noStrike" kern="1200" cap="none" spc="0" normalizeH="0" baseline="0" noProof="0" dirty="0" smtClean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cs typeface="+mn-ea"/>
                <a:sym typeface="+mn-lt"/>
              </a:rPr>
              <a:t>Summary</a:t>
            </a:r>
            <a:endParaRPr kumimoji="0" lang="zh-CN" altLang="en-US" sz="1200" u="none" strike="noStrike" kern="1200" cap="none" spc="0" normalizeH="0" baseline="0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cxnSp>
        <p:nvCxnSpPr>
          <p:cNvPr id="24" name="直接连接符 23"/>
          <p:cNvCxnSpPr/>
          <p:nvPr/>
        </p:nvCxnSpPr>
        <p:spPr>
          <a:xfrm>
            <a:off x="5671226" y="622570"/>
            <a:ext cx="6520774" cy="0"/>
          </a:xfrm>
          <a:prstGeom prst="line">
            <a:avLst/>
          </a:prstGeom>
          <a:ln w="50800" cmpd="thickThin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4000">
        <p:random/>
      </p:transition>
    </mc:Choice>
    <mc:Fallback>
      <p:transition spd="slow" advTm="4000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/>
          <p:cNvPicPr>
            <a:picLocks noChangeAspect="1"/>
          </p:cNvPicPr>
          <p:nvPr/>
        </p:nvPicPr>
        <p:blipFill rotWithShape="1">
          <a:blip r:embed="rId1" cstate="email"/>
          <a:srcRect/>
          <a:stretch>
            <a:fillRect/>
          </a:stretch>
        </p:blipFill>
        <p:spPr>
          <a:xfrm>
            <a:off x="0" y="-1"/>
            <a:ext cx="2346266" cy="1738323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/>
        </p:nvPicPr>
        <p:blipFill rotWithShape="1">
          <a:blip r:embed="rId2" cstate="email"/>
          <a:srcRect/>
          <a:stretch>
            <a:fillRect/>
          </a:stretch>
        </p:blipFill>
        <p:spPr>
          <a:xfrm>
            <a:off x="10197363" y="4506451"/>
            <a:ext cx="1994638" cy="2351549"/>
          </a:xfrm>
          <a:prstGeom prst="rect">
            <a:avLst/>
          </a:prstGeom>
        </p:spPr>
      </p:pic>
      <p:sp>
        <p:nvSpPr>
          <p:cNvPr id="33" name="文本框 32"/>
          <p:cNvSpPr txBox="1"/>
          <p:nvPr/>
        </p:nvSpPr>
        <p:spPr>
          <a:xfrm>
            <a:off x="1996803" y="254168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extrusionH="12700"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例题</a:t>
            </a:r>
            <a:endParaRPr lang="zh-CN" altLang="en-US" sz="32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1996803" y="776898"/>
            <a:ext cx="379286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zh-CN" sz="1200" dirty="0">
                <a:solidFill>
                  <a:schemeClr val="accent3"/>
                </a:solidFill>
                <a:cs typeface="+mn-ea"/>
                <a:sym typeface="+mn-lt"/>
              </a:rPr>
              <a:t>Recurrence</a:t>
            </a:r>
            <a:endParaRPr kumimoji="0" lang="zh-CN" altLang="en-US" sz="1200" u="none" strike="noStrike" kern="1200" cap="none" spc="0" normalizeH="0" baseline="0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cxnSp>
        <p:nvCxnSpPr>
          <p:cNvPr id="35" name="直接连接符 34"/>
          <p:cNvCxnSpPr/>
          <p:nvPr/>
        </p:nvCxnSpPr>
        <p:spPr>
          <a:xfrm>
            <a:off x="5671226" y="622570"/>
            <a:ext cx="6520774" cy="0"/>
          </a:xfrm>
          <a:prstGeom prst="line">
            <a:avLst/>
          </a:prstGeom>
          <a:ln w="50800" cmpd="thickThin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本框 2919"/>
          <p:cNvSpPr txBox="1"/>
          <p:nvPr/>
        </p:nvSpPr>
        <p:spPr>
          <a:xfrm>
            <a:off x="9902208" y="177223"/>
            <a:ext cx="1864613" cy="369332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extrusionH="12700"/>
          </a:bodyPr>
          <a:lstStyle/>
          <a:p>
            <a:pPr algn="ctr"/>
            <a:r>
              <a:rPr lang="zh-CN" altLang="en-US" dirty="0" smtClean="0">
                <a:solidFill>
                  <a:schemeClr val="bg1"/>
                </a:solidFill>
                <a:effectLst>
                  <a:outerShdw blurRad="203200" dist="38100" dir="5400000" algn="t" rotWithShape="0">
                    <a:prstClr val="black">
                      <a:alpha val="83000"/>
                    </a:prstClr>
                  </a:outerShdw>
                </a:effectLst>
                <a:cs typeface="+mn-ea"/>
                <a:sym typeface="+mn-lt"/>
              </a:rPr>
              <a:t>例题⑥ 错排问题</a:t>
            </a:r>
            <a:endParaRPr lang="zh-CN" altLang="en-US" dirty="0">
              <a:solidFill>
                <a:schemeClr val="bg1"/>
              </a:solidFill>
              <a:effectLst>
                <a:outerShdw blurRad="203200" dist="38100" dir="5400000" algn="t" rotWithShape="0">
                  <a:prstClr val="black">
                    <a:alpha val="83000"/>
                  </a:prst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1691914" y="1706968"/>
            <a:ext cx="8505449" cy="427746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20000"/>
              </a:lnSpc>
            </a:pP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    求多少个</a:t>
            </a:r>
            <a:r>
              <a:rPr lang="en-US" altLang="zh-CN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n</a:t>
            </a: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个数的排列</a:t>
            </a:r>
            <a:r>
              <a:rPr lang="en-US" altLang="zh-CN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A</a:t>
            </a: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，满足对于任意的</a:t>
            </a:r>
            <a:r>
              <a:rPr lang="en-US" altLang="zh-CN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i(1&lt;=i&lt;=n)Ai</a:t>
            </a: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≠</a:t>
            </a:r>
            <a:r>
              <a:rPr lang="en-US" altLang="zh-CN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i</a:t>
            </a: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。</a:t>
            </a:r>
            <a:endParaRPr lang="zh-CN" altLang="en-US" sz="2000" b="1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996803" y="2398561"/>
            <a:ext cx="7905408" cy="369332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dirty="0" smtClean="0">
                <a:cs typeface="+mn-ea"/>
              </a:rPr>
              <a:t>设</a:t>
            </a:r>
            <a:r>
              <a:rPr lang="en-US" altLang="zh-CN" dirty="0" smtClean="0">
                <a:cs typeface="+mn-ea"/>
              </a:rPr>
              <a:t>a[i]</a:t>
            </a:r>
            <a:r>
              <a:rPr lang="zh-CN" altLang="en-US" dirty="0" smtClean="0">
                <a:cs typeface="+mn-ea"/>
              </a:rPr>
              <a:t>表示</a:t>
            </a:r>
            <a:r>
              <a:rPr lang="en-US" altLang="zh-CN" dirty="0" smtClean="0">
                <a:cs typeface="+mn-ea"/>
              </a:rPr>
              <a:t>i</a:t>
            </a:r>
            <a:r>
              <a:rPr lang="zh-CN" altLang="en-US" dirty="0" smtClean="0">
                <a:cs typeface="+mn-ea"/>
              </a:rPr>
              <a:t>个数错排的方法数，故</a:t>
            </a:r>
            <a:r>
              <a:rPr lang="en-US" altLang="zh-CN" dirty="0" smtClean="0">
                <a:cs typeface="+mn-ea"/>
              </a:rPr>
              <a:t>a[i]=(n-1)×a[i-1]</a:t>
            </a:r>
            <a:endParaRPr lang="zh-CN" altLang="zh-CN" dirty="0">
              <a:cs typeface="+mn-ea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996803" y="2782693"/>
            <a:ext cx="7905408" cy="369332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dirty="0" smtClean="0">
                <a:solidFill>
                  <a:srgbClr val="FF0000"/>
                </a:solidFill>
                <a:cs typeface="+mn-ea"/>
              </a:rPr>
              <a:t>Wrong</a:t>
            </a:r>
            <a:r>
              <a:rPr lang="zh-CN" altLang="en-US" dirty="0" smtClean="0">
                <a:cs typeface="+mn-ea"/>
              </a:rPr>
              <a:t>：对于数</a:t>
            </a:r>
            <a:r>
              <a:rPr lang="en-US" altLang="zh-CN" dirty="0" smtClean="0">
                <a:cs typeface="+mn-ea"/>
              </a:rPr>
              <a:t>j</a:t>
            </a:r>
            <a:r>
              <a:rPr lang="zh-CN" altLang="en-US" dirty="0" smtClean="0">
                <a:cs typeface="+mn-ea"/>
              </a:rPr>
              <a:t>放置位置</a:t>
            </a:r>
            <a:r>
              <a:rPr lang="en-US" altLang="zh-CN" dirty="0" smtClean="0">
                <a:cs typeface="+mn-ea"/>
              </a:rPr>
              <a:t>k(k</a:t>
            </a:r>
            <a:r>
              <a:rPr lang="zh-CN" altLang="en-US" dirty="0">
                <a:cs typeface="+mn-ea"/>
              </a:rPr>
              <a:t>≠</a:t>
            </a:r>
            <a:r>
              <a:rPr lang="en-US" altLang="zh-CN" dirty="0" smtClean="0">
                <a:cs typeface="+mn-ea"/>
              </a:rPr>
              <a:t>j)</a:t>
            </a:r>
            <a:r>
              <a:rPr lang="zh-CN" altLang="en-US" dirty="0" smtClean="0">
                <a:cs typeface="+mn-ea"/>
              </a:rPr>
              <a:t>，不构成错排，</a:t>
            </a:r>
            <a:r>
              <a:rPr lang="en-US" altLang="zh-CN" dirty="0" smtClean="0">
                <a:cs typeface="+mn-ea"/>
              </a:rPr>
              <a:t>a[i-1]</a:t>
            </a:r>
            <a:r>
              <a:rPr lang="zh-CN" altLang="en-US" dirty="0" smtClean="0">
                <a:cs typeface="+mn-ea"/>
              </a:rPr>
              <a:t>不可用</a:t>
            </a:r>
            <a:endParaRPr lang="zh-CN" altLang="zh-CN" dirty="0">
              <a:cs typeface="+mn-ea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996803" y="3496758"/>
            <a:ext cx="7905408" cy="369332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dirty="0" smtClean="0">
                <a:cs typeface="+mn-ea"/>
              </a:rPr>
              <a:t>① 数</a:t>
            </a:r>
            <a:r>
              <a:rPr lang="en-US" altLang="zh-CN" dirty="0" smtClean="0">
                <a:cs typeface="+mn-ea"/>
              </a:rPr>
              <a:t>k</a:t>
            </a:r>
            <a:r>
              <a:rPr lang="zh-CN" altLang="en-US" dirty="0" smtClean="0">
                <a:cs typeface="+mn-ea"/>
              </a:rPr>
              <a:t>放于位置</a:t>
            </a:r>
            <a:r>
              <a:rPr lang="en-US" altLang="zh-CN" dirty="0" smtClean="0">
                <a:cs typeface="+mn-ea"/>
              </a:rPr>
              <a:t>j</a:t>
            </a:r>
            <a:r>
              <a:rPr lang="zh-CN" altLang="en-US" dirty="0" smtClean="0">
                <a:cs typeface="+mn-ea"/>
              </a:rPr>
              <a:t>，构成错排</a:t>
            </a:r>
            <a:r>
              <a:rPr lang="en-US" altLang="zh-CN" dirty="0" smtClean="0">
                <a:cs typeface="+mn-ea"/>
              </a:rPr>
              <a:t>a[i-2]</a:t>
            </a:r>
            <a:r>
              <a:rPr lang="zh-CN" altLang="en-US" dirty="0" smtClean="0">
                <a:cs typeface="+mn-ea"/>
              </a:rPr>
              <a:t>；</a:t>
            </a:r>
            <a:endParaRPr lang="zh-CN" altLang="zh-CN" dirty="0">
              <a:cs typeface="+mn-ea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996803" y="3865736"/>
            <a:ext cx="7905408" cy="369332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dirty="0">
                <a:cs typeface="+mn-ea"/>
              </a:rPr>
              <a:t>②</a:t>
            </a:r>
            <a:r>
              <a:rPr lang="zh-CN" altLang="en-US" dirty="0" smtClean="0">
                <a:cs typeface="+mn-ea"/>
              </a:rPr>
              <a:t> 数</a:t>
            </a:r>
            <a:r>
              <a:rPr lang="en-US" altLang="zh-CN" dirty="0" smtClean="0">
                <a:cs typeface="+mn-ea"/>
              </a:rPr>
              <a:t>k</a:t>
            </a:r>
            <a:r>
              <a:rPr lang="zh-CN" altLang="en-US" dirty="0" smtClean="0">
                <a:cs typeface="+mn-ea"/>
              </a:rPr>
              <a:t>不能放于位置</a:t>
            </a:r>
            <a:r>
              <a:rPr lang="en-US" altLang="zh-CN" dirty="0" smtClean="0">
                <a:cs typeface="+mn-ea"/>
              </a:rPr>
              <a:t>j</a:t>
            </a:r>
            <a:r>
              <a:rPr lang="zh-CN" altLang="en-US" dirty="0" smtClean="0">
                <a:cs typeface="+mn-ea"/>
              </a:rPr>
              <a:t>，构成错排</a:t>
            </a:r>
            <a:r>
              <a:rPr lang="en-US" altLang="zh-CN" dirty="0" smtClean="0">
                <a:cs typeface="+mn-ea"/>
              </a:rPr>
              <a:t>a[i-1]</a:t>
            </a:r>
            <a:r>
              <a:rPr lang="zh-CN" altLang="en-US" dirty="0" smtClean="0">
                <a:cs typeface="+mn-ea"/>
              </a:rPr>
              <a:t>；</a:t>
            </a:r>
            <a:endParaRPr lang="zh-CN" altLang="zh-CN" dirty="0">
              <a:cs typeface="+mn-ea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996803" y="4210631"/>
            <a:ext cx="7905408" cy="369332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dirty="0">
                <a:cs typeface="+mn-ea"/>
              </a:rPr>
              <a:t>可</a:t>
            </a:r>
            <a:r>
              <a:rPr lang="zh-CN" altLang="en-US" dirty="0" smtClean="0">
                <a:cs typeface="+mn-ea"/>
              </a:rPr>
              <a:t>得递推</a:t>
            </a:r>
            <a:r>
              <a:rPr lang="zh-CN" altLang="en-US" dirty="0">
                <a:cs typeface="+mn-ea"/>
              </a:rPr>
              <a:t>关系</a:t>
            </a:r>
            <a:r>
              <a:rPr lang="zh-CN" altLang="en-US" dirty="0" smtClean="0">
                <a:cs typeface="+mn-ea"/>
              </a:rPr>
              <a:t>式</a:t>
            </a:r>
            <a:r>
              <a:rPr lang="en-US" altLang="zh-CN" dirty="0" smtClean="0">
                <a:cs typeface="+mn-ea"/>
              </a:rPr>
              <a:t>a[i]=(n-1)×(a[i-1]+a[i-2])</a:t>
            </a:r>
            <a:r>
              <a:rPr lang="zh-CN" altLang="en-US" dirty="0" smtClean="0">
                <a:cs typeface="+mn-ea"/>
              </a:rPr>
              <a:t>；</a:t>
            </a:r>
            <a:endParaRPr lang="zh-CN" altLang="zh-CN" dirty="0">
              <a:cs typeface="+mn-ea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996803" y="4604859"/>
            <a:ext cx="7905408" cy="369332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dirty="0">
                <a:cs typeface="+mn-ea"/>
              </a:rPr>
              <a:t>递</a:t>
            </a:r>
            <a:r>
              <a:rPr lang="zh-CN" altLang="en-US" dirty="0" smtClean="0">
                <a:cs typeface="+mn-ea"/>
              </a:rPr>
              <a:t>推起点</a:t>
            </a:r>
            <a:r>
              <a:rPr lang="en-US" altLang="zh-CN" dirty="0" smtClean="0">
                <a:cs typeface="+mn-ea"/>
              </a:rPr>
              <a:t>a[1]=0</a:t>
            </a:r>
            <a:r>
              <a:rPr lang="zh-CN" altLang="en-US" dirty="0" smtClean="0">
                <a:cs typeface="+mn-ea"/>
              </a:rPr>
              <a:t>；</a:t>
            </a:r>
            <a:r>
              <a:rPr lang="en-US" altLang="zh-CN" dirty="0" smtClean="0">
                <a:cs typeface="+mn-ea"/>
              </a:rPr>
              <a:t>a[2]=1</a:t>
            </a:r>
            <a:r>
              <a:rPr lang="zh-CN" altLang="en-US" dirty="0" smtClean="0">
                <a:cs typeface="+mn-ea"/>
              </a:rPr>
              <a:t>。</a:t>
            </a:r>
            <a:endParaRPr lang="zh-CN" altLang="zh-CN" dirty="0"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4000">
        <p:random/>
      </p:transition>
    </mc:Choice>
    <mc:Fallback>
      <p:transition spd="slow" advTm="4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  <p:bldP spid="17" grpId="0"/>
      <p:bldP spid="13" grpId="0"/>
      <p:bldP spid="15" grpId="0"/>
      <p:bldP spid="1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/>
          <p:cNvPicPr>
            <a:picLocks noChangeAspect="1"/>
          </p:cNvPicPr>
          <p:nvPr/>
        </p:nvPicPr>
        <p:blipFill rotWithShape="1">
          <a:blip r:embed="rId1" cstate="email"/>
          <a:srcRect/>
          <a:stretch>
            <a:fillRect/>
          </a:stretch>
        </p:blipFill>
        <p:spPr>
          <a:xfrm>
            <a:off x="0" y="-1"/>
            <a:ext cx="2346266" cy="1738323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/>
        </p:nvPicPr>
        <p:blipFill rotWithShape="1">
          <a:blip r:embed="rId2" cstate="email"/>
          <a:srcRect/>
          <a:stretch>
            <a:fillRect/>
          </a:stretch>
        </p:blipFill>
        <p:spPr>
          <a:xfrm>
            <a:off x="10197363" y="4506451"/>
            <a:ext cx="1994638" cy="2351549"/>
          </a:xfrm>
          <a:prstGeom prst="rect">
            <a:avLst/>
          </a:prstGeom>
        </p:spPr>
      </p:pic>
      <p:sp>
        <p:nvSpPr>
          <p:cNvPr id="33" name="文本框 32"/>
          <p:cNvSpPr txBox="1"/>
          <p:nvPr/>
        </p:nvSpPr>
        <p:spPr>
          <a:xfrm>
            <a:off x="1996803" y="254168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extrusionH="12700"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例题</a:t>
            </a:r>
            <a:endParaRPr lang="zh-CN" altLang="en-US" sz="32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1996803" y="776898"/>
            <a:ext cx="379286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zh-CN" sz="1200" dirty="0">
                <a:solidFill>
                  <a:schemeClr val="accent3"/>
                </a:solidFill>
                <a:cs typeface="+mn-ea"/>
                <a:sym typeface="+mn-lt"/>
              </a:rPr>
              <a:t>Recurrence</a:t>
            </a:r>
            <a:endParaRPr kumimoji="0" lang="zh-CN" altLang="en-US" sz="1200" u="none" strike="noStrike" kern="1200" cap="none" spc="0" normalizeH="0" baseline="0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cxnSp>
        <p:nvCxnSpPr>
          <p:cNvPr id="35" name="直接连接符 34"/>
          <p:cNvCxnSpPr/>
          <p:nvPr/>
        </p:nvCxnSpPr>
        <p:spPr>
          <a:xfrm>
            <a:off x="5671226" y="622570"/>
            <a:ext cx="6520774" cy="0"/>
          </a:xfrm>
          <a:prstGeom prst="line">
            <a:avLst/>
          </a:prstGeom>
          <a:ln w="50800" cmpd="thickThin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本框 2919"/>
          <p:cNvSpPr txBox="1"/>
          <p:nvPr/>
        </p:nvSpPr>
        <p:spPr>
          <a:xfrm>
            <a:off x="9902209" y="177223"/>
            <a:ext cx="1864613" cy="369332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extrusionH="12700"/>
          </a:bodyPr>
          <a:lstStyle/>
          <a:p>
            <a:pPr algn="ctr"/>
            <a:r>
              <a:rPr lang="zh-CN" altLang="en-US" dirty="0" smtClean="0">
                <a:solidFill>
                  <a:schemeClr val="bg1"/>
                </a:solidFill>
                <a:effectLst>
                  <a:outerShdw blurRad="203200" dist="38100" dir="5400000" algn="t" rotWithShape="0">
                    <a:prstClr val="black">
                      <a:alpha val="83000"/>
                    </a:prstClr>
                  </a:outerShdw>
                </a:effectLst>
                <a:cs typeface="+mn-ea"/>
                <a:sym typeface="+mn-lt"/>
              </a:rPr>
              <a:t>例题⑦ 数的划分</a:t>
            </a:r>
            <a:endParaRPr lang="zh-CN" altLang="en-US" dirty="0">
              <a:solidFill>
                <a:schemeClr val="bg1"/>
              </a:solidFill>
              <a:effectLst>
                <a:outerShdw blurRad="203200" dist="38100" dir="5400000" algn="t" rotWithShape="0">
                  <a:prstClr val="black">
                    <a:alpha val="83000"/>
                  </a:prst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1691914" y="1706968"/>
            <a:ext cx="8505449" cy="156966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20000"/>
              </a:lnSpc>
            </a:pP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    将整数</a:t>
            </a:r>
            <a:r>
              <a:rPr lang="en-US" altLang="zh-CN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n</a:t>
            </a: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分成</a:t>
            </a:r>
            <a:r>
              <a:rPr lang="en-US" altLang="zh-CN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k</a:t>
            </a: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份，且每份不能为空，任意两个方案不相同</a:t>
            </a:r>
            <a:r>
              <a:rPr lang="en-US" altLang="zh-CN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(</a:t>
            </a: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不考虑顺序</a:t>
            </a:r>
            <a:r>
              <a:rPr lang="en-US" altLang="zh-CN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)</a:t>
            </a: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。</a:t>
            </a:r>
            <a:endParaRPr lang="en-US" altLang="zh-CN" sz="2000" b="1" dirty="0" smtClean="0">
              <a:solidFill>
                <a:schemeClr val="tx1">
                  <a:lumMod val="65000"/>
                  <a:lumOff val="35000"/>
                </a:schemeClr>
              </a:solidFill>
              <a:cs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   </a:t>
            </a: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例如，</a:t>
            </a:r>
            <a:r>
              <a:rPr lang="en-US" altLang="zh-CN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n=7,k=3</a:t>
            </a: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，下面三种分法被认为是相同的：</a:t>
            </a:r>
            <a:endParaRPr lang="en-US" altLang="zh-CN" sz="2000" b="1" dirty="0" smtClean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       1,1,5</a:t>
            </a: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；</a:t>
            </a:r>
            <a:r>
              <a:rPr lang="en-US" altLang="zh-CN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1,5,1</a:t>
            </a: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；</a:t>
            </a:r>
            <a:r>
              <a:rPr lang="en-US" altLang="zh-CN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5,1,1.</a:t>
            </a:r>
            <a:endParaRPr lang="en-US" altLang="zh-CN" sz="2000" b="1" dirty="0" smtClean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   </a:t>
            </a: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问有多少种不同的分法。</a:t>
            </a:r>
            <a:endParaRPr lang="zh-CN" altLang="en-US" sz="2000" b="1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996803" y="3720227"/>
            <a:ext cx="7905408" cy="369332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dirty="0" smtClean="0">
                <a:cs typeface="+mn-ea"/>
              </a:rPr>
              <a:t>产生第</a:t>
            </a:r>
            <a:r>
              <a:rPr lang="en-US" altLang="zh-CN" dirty="0" smtClean="0">
                <a:cs typeface="+mn-ea"/>
              </a:rPr>
              <a:t>j</a:t>
            </a:r>
            <a:r>
              <a:rPr lang="zh-CN" altLang="en-US" dirty="0" smtClean="0">
                <a:cs typeface="+mn-ea"/>
              </a:rPr>
              <a:t>个新数，新数为最小值</a:t>
            </a:r>
            <a:r>
              <a:rPr lang="en-US" altLang="zh-CN" dirty="0" smtClean="0">
                <a:cs typeface="+mn-ea"/>
              </a:rPr>
              <a:t>1</a:t>
            </a:r>
            <a:r>
              <a:rPr lang="zh-CN" altLang="en-US" dirty="0" smtClean="0">
                <a:cs typeface="+mn-ea"/>
              </a:rPr>
              <a:t>，原方案数</a:t>
            </a:r>
            <a:r>
              <a:rPr lang="en-US" altLang="zh-CN" dirty="0" smtClean="0">
                <a:cs typeface="+mn-ea"/>
              </a:rPr>
              <a:t>a[i-1][j-1]</a:t>
            </a:r>
            <a:r>
              <a:rPr lang="zh-CN" altLang="en-US" dirty="0" smtClean="0">
                <a:cs typeface="+mn-ea"/>
              </a:rPr>
              <a:t>；</a:t>
            </a:r>
            <a:endParaRPr lang="zh-CN" altLang="zh-CN" dirty="0">
              <a:cs typeface="+mn-ea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996803" y="4104359"/>
            <a:ext cx="7905408" cy="369332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dirty="0" smtClean="0">
                <a:cs typeface="+mn-ea"/>
              </a:rPr>
              <a:t>已有</a:t>
            </a:r>
            <a:r>
              <a:rPr lang="en-US" altLang="zh-CN" dirty="0" smtClean="0">
                <a:cs typeface="+mn-ea"/>
              </a:rPr>
              <a:t>j</a:t>
            </a:r>
            <a:r>
              <a:rPr lang="zh-CN" altLang="en-US" dirty="0" smtClean="0">
                <a:cs typeface="+mn-ea"/>
              </a:rPr>
              <a:t>个数，考虑整体加</a:t>
            </a:r>
            <a:r>
              <a:rPr lang="en-US" altLang="zh-CN" dirty="0" smtClean="0">
                <a:cs typeface="+mn-ea"/>
              </a:rPr>
              <a:t>1</a:t>
            </a:r>
            <a:r>
              <a:rPr lang="zh-CN" altLang="en-US" dirty="0" smtClean="0">
                <a:cs typeface="+mn-ea"/>
              </a:rPr>
              <a:t>，原方案数</a:t>
            </a:r>
            <a:r>
              <a:rPr lang="en-US" altLang="zh-CN" dirty="0" smtClean="0">
                <a:cs typeface="+mn-ea"/>
              </a:rPr>
              <a:t>a[i-j][j]</a:t>
            </a:r>
            <a:r>
              <a:rPr lang="zh-CN" altLang="en-US" dirty="0" smtClean="0">
                <a:cs typeface="+mn-ea"/>
              </a:rPr>
              <a:t>；</a:t>
            </a:r>
            <a:endParaRPr lang="zh-CN" altLang="zh-CN" dirty="0">
              <a:cs typeface="+mn-ea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996803" y="4473691"/>
            <a:ext cx="7905408" cy="369332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dirty="0" smtClean="0">
                <a:cs typeface="+mn-ea"/>
              </a:rPr>
              <a:t>可得递推关系式</a:t>
            </a:r>
            <a:r>
              <a:rPr lang="en-US" altLang="zh-CN" dirty="0" smtClean="0">
                <a:cs typeface="+mn-ea"/>
              </a:rPr>
              <a:t>a[i][j]=a[i-1][j-1]+a[i-j][j]</a:t>
            </a:r>
            <a:r>
              <a:rPr lang="zh-CN" altLang="en-US" dirty="0" smtClean="0">
                <a:cs typeface="+mn-ea"/>
              </a:rPr>
              <a:t>；</a:t>
            </a:r>
            <a:endParaRPr lang="zh-CN" altLang="zh-CN" dirty="0">
              <a:cs typeface="+mn-ea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996803" y="4843023"/>
            <a:ext cx="7905408" cy="369332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dirty="0">
                <a:cs typeface="+mn-ea"/>
              </a:rPr>
              <a:t>递</a:t>
            </a:r>
            <a:r>
              <a:rPr lang="zh-CN" altLang="en-US" dirty="0" smtClean="0">
                <a:cs typeface="+mn-ea"/>
              </a:rPr>
              <a:t>推起点</a:t>
            </a:r>
            <a:r>
              <a:rPr lang="en-US" altLang="zh-CN" dirty="0" smtClean="0">
                <a:cs typeface="+mn-ea"/>
              </a:rPr>
              <a:t>f[1..n][1]=1</a:t>
            </a:r>
            <a:r>
              <a:rPr lang="zh-CN" altLang="en-US" dirty="0" smtClean="0">
                <a:cs typeface="+mn-ea"/>
              </a:rPr>
              <a:t>。</a:t>
            </a:r>
            <a:endParaRPr lang="zh-CN" altLang="zh-CN" dirty="0"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4000">
        <p:random/>
      </p:transition>
    </mc:Choice>
    <mc:Fallback>
      <p:transition spd="slow" advTm="4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  <p:bldP spid="17" grpId="0"/>
      <p:bldP spid="1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/>
          <p:cNvPicPr>
            <a:picLocks noChangeAspect="1"/>
          </p:cNvPicPr>
          <p:nvPr/>
        </p:nvPicPr>
        <p:blipFill rotWithShape="1">
          <a:blip r:embed="rId1" cstate="email"/>
          <a:srcRect/>
          <a:stretch>
            <a:fillRect/>
          </a:stretch>
        </p:blipFill>
        <p:spPr>
          <a:xfrm>
            <a:off x="0" y="-1"/>
            <a:ext cx="2346266" cy="1738323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/>
        </p:nvPicPr>
        <p:blipFill rotWithShape="1">
          <a:blip r:embed="rId2" cstate="email"/>
          <a:srcRect/>
          <a:stretch>
            <a:fillRect/>
          </a:stretch>
        </p:blipFill>
        <p:spPr>
          <a:xfrm>
            <a:off x="10197363" y="4506451"/>
            <a:ext cx="1994638" cy="2351549"/>
          </a:xfrm>
          <a:prstGeom prst="rect">
            <a:avLst/>
          </a:prstGeom>
        </p:spPr>
      </p:pic>
      <p:sp>
        <p:nvSpPr>
          <p:cNvPr id="33" name="文本框 32"/>
          <p:cNvSpPr txBox="1"/>
          <p:nvPr/>
        </p:nvSpPr>
        <p:spPr>
          <a:xfrm>
            <a:off x="1996803" y="254168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extrusionH="12700"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例题</a:t>
            </a:r>
            <a:endParaRPr lang="zh-CN" altLang="en-US" sz="32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1996803" y="776898"/>
            <a:ext cx="379286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zh-CN" sz="1200" dirty="0">
                <a:solidFill>
                  <a:schemeClr val="accent3"/>
                </a:solidFill>
                <a:cs typeface="+mn-ea"/>
                <a:sym typeface="+mn-lt"/>
              </a:rPr>
              <a:t>Recurrence</a:t>
            </a:r>
            <a:endParaRPr kumimoji="0" lang="zh-CN" altLang="en-US" sz="1200" u="none" strike="noStrike" kern="1200" cap="none" spc="0" normalizeH="0" baseline="0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cxnSp>
        <p:nvCxnSpPr>
          <p:cNvPr id="35" name="直接连接符 34"/>
          <p:cNvCxnSpPr/>
          <p:nvPr/>
        </p:nvCxnSpPr>
        <p:spPr>
          <a:xfrm>
            <a:off x="5671226" y="622570"/>
            <a:ext cx="6520774" cy="0"/>
          </a:xfrm>
          <a:prstGeom prst="line">
            <a:avLst/>
          </a:prstGeom>
          <a:ln w="50800" cmpd="thickThin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本框 2919"/>
          <p:cNvSpPr txBox="1"/>
          <p:nvPr/>
        </p:nvSpPr>
        <p:spPr>
          <a:xfrm>
            <a:off x="9870149" y="177223"/>
            <a:ext cx="1928733" cy="369332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extrusionH="12700"/>
          </a:bodyPr>
          <a:lstStyle/>
          <a:p>
            <a:pPr algn="ctr"/>
            <a:r>
              <a:rPr lang="zh-CN" altLang="en-US" dirty="0" smtClean="0">
                <a:solidFill>
                  <a:schemeClr val="bg1"/>
                </a:solidFill>
                <a:effectLst>
                  <a:outerShdw blurRad="203200" dist="38100" dir="5400000" algn="t" rotWithShape="0">
                    <a:prstClr val="black">
                      <a:alpha val="83000"/>
                    </a:prstClr>
                  </a:outerShdw>
                </a:effectLst>
                <a:cs typeface="+mn-ea"/>
                <a:sym typeface="+mn-lt"/>
              </a:rPr>
              <a:t>例题⑧ 无限序列</a:t>
            </a:r>
            <a:endParaRPr lang="zh-CN" altLang="en-US" dirty="0">
              <a:solidFill>
                <a:schemeClr val="bg1"/>
              </a:solidFill>
              <a:effectLst>
                <a:outerShdw blurRad="203200" dist="38100" dir="5400000" algn="t" rotWithShape="0">
                  <a:prstClr val="black">
                    <a:alpha val="83000"/>
                  </a:prst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1691914" y="1706968"/>
            <a:ext cx="8505449" cy="1938992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    我们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按以下方式产生序列：</a:t>
            </a:r>
            <a:endParaRPr lang="zh-CN" altLang="en-US" sz="2000" b="1" dirty="0">
              <a:solidFill>
                <a:schemeClr val="tx1">
                  <a:lumMod val="65000"/>
                  <a:lumOff val="35000"/>
                </a:schemeClr>
              </a:solidFill>
              <a:cs typeface="+mn-ea"/>
            </a:endParaRPr>
          </a:p>
          <a:p>
            <a:r>
              <a:rPr lang="en-US" altLang="zh-CN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	1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.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开始时序列是</a:t>
            </a: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：</a:t>
            </a:r>
            <a:r>
              <a:rPr lang="en-US" altLang="zh-CN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1</a:t>
            </a: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；</a:t>
            </a:r>
            <a:endParaRPr lang="zh-CN" altLang="en-US" sz="2000" b="1" dirty="0">
              <a:solidFill>
                <a:schemeClr val="tx1">
                  <a:lumMod val="65000"/>
                  <a:lumOff val="35000"/>
                </a:schemeClr>
              </a:solidFill>
              <a:cs typeface="+mn-ea"/>
            </a:endParaRPr>
          </a:p>
          <a:p>
            <a:r>
              <a:rPr lang="en-US" altLang="zh-CN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	2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.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每一次变化把序列</a:t>
            </a: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中的</a:t>
            </a:r>
            <a:r>
              <a:rPr lang="en-US" altLang="zh-CN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1</a:t>
            </a: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变成</a:t>
            </a:r>
            <a:r>
              <a:rPr lang="en-US" altLang="zh-CN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10</a:t>
            </a: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，</a:t>
            </a:r>
            <a:r>
              <a:rPr lang="en-US" altLang="zh-CN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0</a:t>
            </a: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变成</a:t>
            </a:r>
            <a:r>
              <a:rPr lang="en-US" altLang="zh-CN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1</a:t>
            </a: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。</a:t>
            </a:r>
            <a:endParaRPr lang="zh-CN" altLang="en-US" sz="2000" b="1" dirty="0">
              <a:solidFill>
                <a:schemeClr val="tx1">
                  <a:lumMod val="65000"/>
                  <a:lumOff val="35000"/>
                </a:schemeClr>
              </a:solidFill>
              <a:cs typeface="+mn-ea"/>
            </a:endParaRPr>
          </a:p>
          <a:p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 </a:t>
            </a:r>
            <a:r>
              <a:rPr lang="en-US" altLang="zh-CN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   </a:t>
            </a: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经过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无限次变化，我们得到</a:t>
            </a: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序列</a:t>
            </a:r>
            <a:r>
              <a:rPr lang="en-US" altLang="zh-CN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1011010110110101101……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。</a:t>
            </a:r>
            <a:endParaRPr lang="zh-CN" altLang="en-US" sz="2000" b="1" dirty="0">
              <a:solidFill>
                <a:schemeClr val="tx1">
                  <a:lumMod val="65000"/>
                  <a:lumOff val="35000"/>
                </a:schemeClr>
              </a:solidFill>
              <a:cs typeface="+mn-ea"/>
            </a:endParaRPr>
          </a:p>
          <a:p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    总共有</a:t>
            </a:r>
            <a:r>
              <a:rPr lang="en-US" altLang="zh-CN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Q</a:t>
            </a: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个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询问，每次询问为：在</a:t>
            </a: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区间</a:t>
            </a:r>
            <a:r>
              <a:rPr lang="en-US" altLang="zh-CN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a</a:t>
            </a: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和</a:t>
            </a:r>
            <a:r>
              <a:rPr lang="en-US" altLang="zh-CN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b</a:t>
            </a: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之间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有多少</a:t>
            </a: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个</a:t>
            </a:r>
            <a:r>
              <a:rPr lang="en-US" altLang="zh-CN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1</a:t>
            </a: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。</a:t>
            </a:r>
            <a:endParaRPr lang="zh-CN" altLang="en-US" sz="2000" b="1" dirty="0">
              <a:solidFill>
                <a:schemeClr val="tx1">
                  <a:lumMod val="65000"/>
                  <a:lumOff val="35000"/>
                </a:schemeClr>
              </a:solidFill>
              <a:cs typeface="+mn-ea"/>
            </a:endParaRPr>
          </a:p>
          <a:p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    任务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：写一个程序</a:t>
            </a: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回答</a:t>
            </a:r>
            <a:r>
              <a:rPr lang="en-US" altLang="zh-CN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Q</a:t>
            </a: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个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询问</a:t>
            </a: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。</a:t>
            </a:r>
            <a:endParaRPr lang="zh-CN" altLang="en-US" sz="2000" b="1" dirty="0">
              <a:solidFill>
                <a:schemeClr val="tx1">
                  <a:lumMod val="65000"/>
                  <a:lumOff val="35000"/>
                </a:schemeClr>
              </a:solidFill>
              <a:cs typeface="+mn-ea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996803" y="3821827"/>
            <a:ext cx="7905408" cy="1200329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dirty="0" smtClean="0">
                <a:cs typeface="+mn-ea"/>
              </a:rPr>
              <a:t>由</a:t>
            </a:r>
            <a:r>
              <a:rPr lang="en-US" altLang="zh-CN" dirty="0" smtClean="0">
                <a:cs typeface="+mn-ea"/>
              </a:rPr>
              <a:t>1</a:t>
            </a:r>
            <a:r>
              <a:rPr lang="zh-CN" altLang="en-US" dirty="0" smtClean="0">
                <a:cs typeface="+mn-ea"/>
              </a:rPr>
              <a:t>变成</a:t>
            </a:r>
            <a:r>
              <a:rPr lang="en-US" altLang="zh-CN" dirty="0" smtClean="0">
                <a:cs typeface="+mn-ea"/>
              </a:rPr>
              <a:t>10</a:t>
            </a:r>
            <a:r>
              <a:rPr lang="zh-CN" altLang="en-US" dirty="0" smtClean="0">
                <a:cs typeface="+mn-ea"/>
              </a:rPr>
              <a:t>，长度</a:t>
            </a:r>
            <a:r>
              <a:rPr lang="en-US" altLang="zh-CN" dirty="0" smtClean="0">
                <a:cs typeface="+mn-ea"/>
              </a:rPr>
              <a:t>+1,1</a:t>
            </a:r>
            <a:r>
              <a:rPr lang="zh-CN" altLang="en-US" dirty="0" smtClean="0">
                <a:cs typeface="+mn-ea"/>
              </a:rPr>
              <a:t>个数不变；</a:t>
            </a:r>
            <a:r>
              <a:rPr lang="en-US" altLang="zh-CN" dirty="0" smtClean="0">
                <a:cs typeface="+mn-ea"/>
              </a:rPr>
              <a:t>0</a:t>
            </a:r>
            <a:r>
              <a:rPr lang="zh-CN" altLang="en-US" dirty="0" smtClean="0">
                <a:cs typeface="+mn-ea"/>
              </a:rPr>
              <a:t>变成</a:t>
            </a:r>
            <a:r>
              <a:rPr lang="en-US" altLang="zh-CN" dirty="0" smtClean="0">
                <a:cs typeface="+mn-ea"/>
              </a:rPr>
              <a:t>1</a:t>
            </a:r>
            <a:r>
              <a:rPr lang="zh-CN" altLang="en-US" dirty="0" smtClean="0">
                <a:cs typeface="+mn-ea"/>
              </a:rPr>
              <a:t>，长度不变，</a:t>
            </a:r>
            <a:r>
              <a:rPr lang="en-US" altLang="zh-CN" dirty="0" smtClean="0">
                <a:cs typeface="+mn-ea"/>
              </a:rPr>
              <a:t>1</a:t>
            </a:r>
            <a:r>
              <a:rPr lang="zh-CN" altLang="en-US" dirty="0" smtClean="0">
                <a:cs typeface="+mn-ea"/>
              </a:rPr>
              <a:t>个数</a:t>
            </a:r>
            <a:r>
              <a:rPr lang="en-US" altLang="zh-CN" dirty="0" smtClean="0">
                <a:cs typeface="+mn-ea"/>
              </a:rPr>
              <a:t>+1</a:t>
            </a:r>
            <a:r>
              <a:rPr lang="zh-CN" altLang="en-US" dirty="0" smtClean="0">
                <a:cs typeface="+mn-ea"/>
              </a:rPr>
              <a:t>。设</a:t>
            </a:r>
            <a:r>
              <a:rPr lang="en-US" altLang="zh-CN" dirty="0" err="1" smtClean="0">
                <a:cs typeface="+mn-ea"/>
              </a:rPr>
              <a:t>len</a:t>
            </a:r>
            <a:r>
              <a:rPr lang="en-US" altLang="zh-CN" dirty="0" smtClean="0">
                <a:cs typeface="+mn-ea"/>
              </a:rPr>
              <a:t>[i]</a:t>
            </a:r>
            <a:r>
              <a:rPr lang="zh-CN" altLang="en-US" dirty="0" smtClean="0">
                <a:cs typeface="+mn-ea"/>
              </a:rPr>
              <a:t>表示长度，</a:t>
            </a:r>
            <a:r>
              <a:rPr lang="en-US" altLang="zh-CN" dirty="0" err="1" smtClean="0">
                <a:cs typeface="+mn-ea"/>
              </a:rPr>
              <a:t>cnt</a:t>
            </a:r>
            <a:r>
              <a:rPr lang="en-US" altLang="zh-CN" dirty="0" smtClean="0">
                <a:cs typeface="+mn-ea"/>
              </a:rPr>
              <a:t>[i]</a:t>
            </a:r>
            <a:r>
              <a:rPr lang="zh-CN" altLang="en-US" dirty="0" smtClean="0">
                <a:cs typeface="+mn-ea"/>
              </a:rPr>
              <a:t>表示</a:t>
            </a:r>
            <a:r>
              <a:rPr lang="en-US" altLang="zh-CN" dirty="0" smtClean="0">
                <a:cs typeface="+mn-ea"/>
              </a:rPr>
              <a:t>1</a:t>
            </a:r>
            <a:r>
              <a:rPr lang="zh-CN" altLang="en-US" dirty="0" smtClean="0">
                <a:cs typeface="+mn-ea"/>
              </a:rPr>
              <a:t>的个数，可得：</a:t>
            </a:r>
            <a:endParaRPr lang="en-US" altLang="zh-CN" dirty="0" smtClean="0">
              <a:cs typeface="+mn-ea"/>
            </a:endParaRPr>
          </a:p>
          <a:p>
            <a:r>
              <a:rPr lang="en-US" altLang="zh-CN" dirty="0">
                <a:cs typeface="+mn-ea"/>
              </a:rPr>
              <a:t> </a:t>
            </a:r>
            <a:r>
              <a:rPr lang="en-US" altLang="zh-CN" dirty="0" smtClean="0">
                <a:cs typeface="+mn-ea"/>
              </a:rPr>
              <a:t>   </a:t>
            </a:r>
            <a:r>
              <a:rPr lang="en-US" altLang="zh-CN" dirty="0" err="1" smtClean="0">
                <a:cs typeface="+mn-ea"/>
              </a:rPr>
              <a:t>len</a:t>
            </a:r>
            <a:r>
              <a:rPr lang="en-US" altLang="zh-CN" dirty="0" smtClean="0">
                <a:cs typeface="+mn-ea"/>
              </a:rPr>
              <a:t>[i]=</a:t>
            </a:r>
            <a:r>
              <a:rPr lang="en-US" altLang="zh-CN" dirty="0" err="1" smtClean="0">
                <a:cs typeface="+mn-ea"/>
              </a:rPr>
              <a:t>len</a:t>
            </a:r>
            <a:r>
              <a:rPr lang="en-US" altLang="zh-CN" dirty="0" smtClean="0">
                <a:cs typeface="+mn-ea"/>
              </a:rPr>
              <a:t>[i-1]+</a:t>
            </a:r>
            <a:r>
              <a:rPr lang="en-US" altLang="zh-CN" dirty="0" err="1" smtClean="0">
                <a:cs typeface="+mn-ea"/>
              </a:rPr>
              <a:t>cnt</a:t>
            </a:r>
            <a:r>
              <a:rPr lang="en-US" altLang="zh-CN" dirty="0" smtClean="0">
                <a:cs typeface="+mn-ea"/>
              </a:rPr>
              <a:t>[i-1]</a:t>
            </a:r>
            <a:endParaRPr lang="en-US" altLang="zh-CN" dirty="0" smtClean="0">
              <a:cs typeface="+mn-ea"/>
            </a:endParaRPr>
          </a:p>
          <a:p>
            <a:r>
              <a:rPr lang="en-US" altLang="zh-CN" dirty="0">
                <a:cs typeface="+mn-ea"/>
              </a:rPr>
              <a:t> </a:t>
            </a:r>
            <a:r>
              <a:rPr lang="en-US" altLang="zh-CN" dirty="0" smtClean="0">
                <a:cs typeface="+mn-ea"/>
              </a:rPr>
              <a:t>   </a:t>
            </a:r>
            <a:r>
              <a:rPr lang="en-US" altLang="zh-CN" dirty="0" err="1" smtClean="0">
                <a:cs typeface="+mn-ea"/>
              </a:rPr>
              <a:t>cnt</a:t>
            </a:r>
            <a:r>
              <a:rPr lang="en-US" altLang="zh-CN" dirty="0" smtClean="0">
                <a:cs typeface="+mn-ea"/>
              </a:rPr>
              <a:t>[i]=</a:t>
            </a:r>
            <a:r>
              <a:rPr lang="en-US" altLang="zh-CN" dirty="0" err="1" smtClean="0">
                <a:cs typeface="+mn-ea"/>
              </a:rPr>
              <a:t>cnt</a:t>
            </a:r>
            <a:r>
              <a:rPr lang="en-US" altLang="zh-CN" dirty="0" smtClean="0">
                <a:cs typeface="+mn-ea"/>
              </a:rPr>
              <a:t>[i-1]+</a:t>
            </a:r>
            <a:r>
              <a:rPr lang="en-US" altLang="zh-CN" dirty="0" err="1" smtClean="0">
                <a:cs typeface="+mn-ea"/>
              </a:rPr>
              <a:t>len</a:t>
            </a:r>
            <a:r>
              <a:rPr lang="en-US" altLang="zh-CN" dirty="0" smtClean="0">
                <a:cs typeface="+mn-ea"/>
              </a:rPr>
              <a:t>[i-1]-</a:t>
            </a:r>
            <a:r>
              <a:rPr lang="en-US" altLang="zh-CN" dirty="0" err="1" smtClean="0">
                <a:cs typeface="+mn-ea"/>
              </a:rPr>
              <a:t>cnt</a:t>
            </a:r>
            <a:r>
              <a:rPr lang="en-US" altLang="zh-CN" smtClean="0">
                <a:cs typeface="+mn-ea"/>
              </a:rPr>
              <a:t>[i-1]</a:t>
            </a:r>
            <a:endParaRPr lang="zh-CN" altLang="zh-CN" dirty="0">
              <a:cs typeface="+mn-ea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996803" y="5001833"/>
            <a:ext cx="7905408" cy="369332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dirty="0" smtClean="0">
                <a:cs typeface="+mn-ea"/>
              </a:rPr>
              <a:t>观察变化，可得</a:t>
            </a:r>
            <a:r>
              <a:rPr lang="en-US" altLang="zh-CN" dirty="0" err="1" smtClean="0">
                <a:cs typeface="+mn-ea"/>
              </a:rPr>
              <a:t>len</a:t>
            </a:r>
            <a:r>
              <a:rPr lang="en-US" altLang="zh-CN" dirty="0" smtClean="0">
                <a:cs typeface="+mn-ea"/>
              </a:rPr>
              <a:t>[i]=</a:t>
            </a:r>
            <a:r>
              <a:rPr lang="en-US" altLang="zh-CN" dirty="0" err="1" smtClean="0">
                <a:cs typeface="+mn-ea"/>
              </a:rPr>
              <a:t>len</a:t>
            </a:r>
            <a:r>
              <a:rPr lang="en-US" altLang="zh-CN" dirty="0" smtClean="0">
                <a:cs typeface="+mn-ea"/>
              </a:rPr>
              <a:t>[i-1]+</a:t>
            </a:r>
            <a:r>
              <a:rPr lang="en-US" altLang="zh-CN" dirty="0" err="1" smtClean="0">
                <a:cs typeface="+mn-ea"/>
              </a:rPr>
              <a:t>len</a:t>
            </a:r>
            <a:r>
              <a:rPr lang="en-US" altLang="zh-CN" dirty="0" smtClean="0">
                <a:cs typeface="+mn-ea"/>
              </a:rPr>
              <a:t>[i-2]</a:t>
            </a:r>
            <a:r>
              <a:rPr lang="zh-CN" altLang="en-US" dirty="0" smtClean="0">
                <a:cs typeface="+mn-ea"/>
              </a:rPr>
              <a:t>，推得</a:t>
            </a:r>
            <a:r>
              <a:rPr lang="en-US" altLang="zh-CN" dirty="0" err="1" smtClean="0">
                <a:cs typeface="+mn-ea"/>
              </a:rPr>
              <a:t>cnt</a:t>
            </a:r>
            <a:r>
              <a:rPr lang="en-US" altLang="zh-CN" dirty="0" smtClean="0">
                <a:cs typeface="+mn-ea"/>
              </a:rPr>
              <a:t>[i]=</a:t>
            </a:r>
            <a:r>
              <a:rPr lang="en-US" altLang="zh-CN" dirty="0" err="1" smtClean="0">
                <a:cs typeface="+mn-ea"/>
              </a:rPr>
              <a:t>cnt</a:t>
            </a:r>
            <a:r>
              <a:rPr lang="en-US" altLang="zh-CN" dirty="0" smtClean="0">
                <a:cs typeface="+mn-ea"/>
              </a:rPr>
              <a:t>[i-1]+</a:t>
            </a:r>
            <a:r>
              <a:rPr lang="en-US" altLang="zh-CN" dirty="0" err="1" smtClean="0">
                <a:cs typeface="+mn-ea"/>
              </a:rPr>
              <a:t>cnt</a:t>
            </a:r>
            <a:r>
              <a:rPr lang="en-US" altLang="zh-CN" dirty="0" smtClean="0">
                <a:cs typeface="+mn-ea"/>
              </a:rPr>
              <a:t>[i-2]</a:t>
            </a:r>
            <a:endParaRPr lang="zh-CN" altLang="zh-CN" dirty="0">
              <a:cs typeface="+mn-ea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996803" y="5371165"/>
            <a:ext cx="7905408" cy="646331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dirty="0" smtClean="0">
                <a:cs typeface="+mn-ea"/>
              </a:rPr>
              <a:t>根据序列产生原理，对大序列分解成小序列进而求解</a:t>
            </a:r>
            <a:r>
              <a:rPr lang="en-US" altLang="zh-CN" dirty="0" smtClean="0">
                <a:cs typeface="+mn-ea"/>
              </a:rPr>
              <a:t>[1,b]</a:t>
            </a:r>
            <a:r>
              <a:rPr lang="zh-CN" altLang="en-US" dirty="0" smtClean="0">
                <a:cs typeface="+mn-ea"/>
              </a:rPr>
              <a:t>与</a:t>
            </a:r>
            <a:r>
              <a:rPr lang="en-US" altLang="zh-CN" dirty="0" smtClean="0">
                <a:cs typeface="+mn-ea"/>
              </a:rPr>
              <a:t>[1,a-1]</a:t>
            </a:r>
            <a:r>
              <a:rPr lang="zh-CN" altLang="en-US" dirty="0" smtClean="0">
                <a:cs typeface="+mn-ea"/>
              </a:rPr>
              <a:t>的</a:t>
            </a:r>
            <a:r>
              <a:rPr lang="en-US" altLang="zh-CN" dirty="0" smtClean="0">
                <a:cs typeface="+mn-ea"/>
              </a:rPr>
              <a:t>1</a:t>
            </a:r>
            <a:r>
              <a:rPr lang="zh-CN" altLang="en-US" dirty="0" smtClean="0">
                <a:cs typeface="+mn-ea"/>
              </a:rPr>
              <a:t>的个数之差。</a:t>
            </a:r>
            <a:endParaRPr lang="zh-CN" altLang="zh-CN" dirty="0"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4000">
        <p:random/>
      </p:transition>
    </mc:Choice>
    <mc:Fallback>
      <p:transition spd="slow" advTm="4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  <p:bldP spid="1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1" cstate="email"/>
          <a:srcRect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pic>
        <p:nvPicPr>
          <p:cNvPr id="2919" name="图片 2918"/>
          <p:cNvPicPr>
            <a:picLocks noChangeAspect="1"/>
          </p:cNvPicPr>
          <p:nvPr/>
        </p:nvPicPr>
        <p:blipFill rotWithShape="1">
          <a:blip r:embed="rId2" cstate="email"/>
          <a:srcRect/>
          <a:stretch>
            <a:fillRect/>
          </a:stretch>
        </p:blipFill>
        <p:spPr>
          <a:xfrm>
            <a:off x="3289300" y="622299"/>
            <a:ext cx="5613400" cy="5613400"/>
          </a:xfrm>
          <a:prstGeom prst="ellipse">
            <a:avLst/>
          </a:prstGeom>
          <a:effectLst>
            <a:outerShdw blurRad="482600" sx="102000" sy="102000" algn="ctr" rotWithShape="0">
              <a:prstClr val="black">
                <a:alpha val="61000"/>
              </a:prstClr>
            </a:outerShdw>
          </a:effectLst>
        </p:spPr>
      </p:pic>
      <p:sp>
        <p:nvSpPr>
          <p:cNvPr id="2920" name="文本框 2919"/>
          <p:cNvSpPr txBox="1"/>
          <p:nvPr/>
        </p:nvSpPr>
        <p:spPr>
          <a:xfrm>
            <a:off x="4618676" y="2006600"/>
            <a:ext cx="2954656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extrusionH="127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5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203200" dist="38100" dir="5400000" algn="t" rotWithShape="0">
                    <a:prstClr val="black">
                      <a:alpha val="83000"/>
                    </a:prstClr>
                  </a:outerShdw>
                </a:effectLst>
                <a:uLnTx/>
                <a:uFillTx/>
                <a:cs typeface="+mn-ea"/>
                <a:sym typeface="+mn-lt"/>
              </a:rPr>
              <a:t>谢谢观看</a:t>
            </a:r>
            <a:endParaRPr kumimoji="0" lang="zh-CN" altLang="en-US" sz="5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203200" dist="38100" dir="5400000" algn="t" rotWithShape="0">
                  <a:prstClr val="black">
                    <a:alpha val="83000"/>
                  </a:prstClr>
                </a:outerShdw>
              </a:effectLst>
              <a:uLnTx/>
              <a:uFillTx/>
              <a:cs typeface="+mn-ea"/>
              <a:sym typeface="+mn-lt"/>
            </a:endParaRPr>
          </a:p>
        </p:txBody>
      </p:sp>
      <p:sp>
        <p:nvSpPr>
          <p:cNvPr id="2921" name="文本框 2920"/>
          <p:cNvSpPr txBox="1"/>
          <p:nvPr/>
        </p:nvSpPr>
        <p:spPr>
          <a:xfrm>
            <a:off x="4708440" y="3019922"/>
            <a:ext cx="2775119" cy="707886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extrusionH="127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4000" dirty="0" smtClean="0">
                <a:solidFill>
                  <a:srgbClr val="FFFFFF"/>
                </a:solidFill>
                <a:effectLst>
                  <a:outerShdw blurRad="203200" dist="38100" dir="5400000" algn="t" rotWithShape="0">
                    <a:prstClr val="black">
                      <a:alpha val="83000"/>
                    </a:prstClr>
                  </a:outerShdw>
                </a:effectLst>
                <a:cs typeface="+mn-ea"/>
                <a:sym typeface="+mn-lt"/>
              </a:rPr>
              <a:t>THANKS</a:t>
            </a:r>
            <a:r>
              <a:rPr lang="zh-CN" altLang="en-US" sz="4000" dirty="0" smtClean="0">
                <a:solidFill>
                  <a:srgbClr val="FFFFFF"/>
                </a:solidFill>
                <a:effectLst>
                  <a:outerShdw blurRad="203200" dist="38100" dir="5400000" algn="t" rotWithShape="0">
                    <a:prstClr val="black">
                      <a:alpha val="83000"/>
                    </a:prstClr>
                  </a:outerShdw>
                </a:effectLst>
                <a:cs typeface="+mn-ea"/>
                <a:sym typeface="+mn-lt"/>
              </a:rPr>
              <a:t>！</a:t>
            </a: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203200" dist="38100" dir="5400000" algn="t" rotWithShape="0">
                  <a:prstClr val="black">
                    <a:alpha val="83000"/>
                  </a:prstClr>
                </a:outerShdw>
              </a:effectLst>
              <a:uLnTx/>
              <a:uFillTx/>
              <a:cs typeface="+mn-ea"/>
              <a:sym typeface="+mn-lt"/>
            </a:endParaRPr>
          </a:p>
        </p:txBody>
      </p:sp>
      <p:cxnSp>
        <p:nvCxnSpPr>
          <p:cNvPr id="2923" name="直接连接符 2922"/>
          <p:cNvCxnSpPr/>
          <p:nvPr/>
        </p:nvCxnSpPr>
        <p:spPr>
          <a:xfrm>
            <a:off x="4849338" y="3962400"/>
            <a:ext cx="2493324" cy="0"/>
          </a:xfrm>
          <a:prstGeom prst="line">
            <a:avLst/>
          </a:prstGeom>
          <a:ln w="25400" cap="rnd">
            <a:solidFill>
              <a:schemeClr val="bg1"/>
            </a:solidFill>
            <a:rou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24" name="矩形: 圆角 2923"/>
          <p:cNvSpPr/>
          <p:nvPr/>
        </p:nvSpPr>
        <p:spPr>
          <a:xfrm>
            <a:off x="5379720" y="4497425"/>
            <a:ext cx="1432560" cy="367031"/>
          </a:xfrm>
          <a:prstGeom prst="roundRect">
            <a:avLst>
              <a:gd name="adj" fmla="val 50000"/>
            </a:avLst>
          </a:prstGeom>
          <a:ln>
            <a:solidFill>
              <a:schemeClr val="bg1"/>
            </a:solidFill>
          </a:ln>
          <a:effectLst>
            <a:outerShdw blurRad="203200" sx="102000" sy="102000" algn="ctr" rotWithShape="0">
              <a:prstClr val="black">
                <a:alpha val="4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rPr>
              <a:t>2026.01.13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4000">
        <p:random/>
      </p:transition>
    </mc:Choice>
    <mc:Fallback>
      <p:transition spd="slow" advTm="4000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ISPRING_PRESENTATION_TITLE" val="PowerPoint 演示文稿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FF8100"/>
      </a:accent1>
      <a:accent2>
        <a:srgbClr val="FFA74C"/>
      </a:accent2>
      <a:accent3>
        <a:srgbClr val="FF5C00"/>
      </a:accent3>
      <a:accent4>
        <a:srgbClr val="FF9F00"/>
      </a:accent4>
      <a:accent5>
        <a:srgbClr val="FFC34D"/>
      </a:accent5>
      <a:accent6>
        <a:srgbClr val="B44010"/>
      </a:accent6>
      <a:hlink>
        <a:srgbClr val="FF8100"/>
      </a:hlink>
      <a:folHlink>
        <a:srgbClr val="BFBFBF"/>
      </a:folHlink>
    </a:clrScheme>
    <a:fontScheme name="wkbwvqjf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778495"/>
    </a:dk2>
    <a:lt2>
      <a:srgbClr val="F0F0F0"/>
    </a:lt2>
    <a:accent1>
      <a:srgbClr val="FF8100"/>
    </a:accent1>
    <a:accent2>
      <a:srgbClr val="FFA74C"/>
    </a:accent2>
    <a:accent3>
      <a:srgbClr val="FF5C00"/>
    </a:accent3>
    <a:accent4>
      <a:srgbClr val="FF9F00"/>
    </a:accent4>
    <a:accent5>
      <a:srgbClr val="FFC34D"/>
    </a:accent5>
    <a:accent6>
      <a:srgbClr val="B44010"/>
    </a:accent6>
    <a:hlink>
      <a:srgbClr val="FF8100"/>
    </a:hlink>
    <a:folHlink>
      <a:srgbClr val="BFBFBF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778495"/>
    </a:dk2>
    <a:lt2>
      <a:srgbClr val="F0F0F0"/>
    </a:lt2>
    <a:accent1>
      <a:srgbClr val="FF8100"/>
    </a:accent1>
    <a:accent2>
      <a:srgbClr val="FFA74C"/>
    </a:accent2>
    <a:accent3>
      <a:srgbClr val="FF5C00"/>
    </a:accent3>
    <a:accent4>
      <a:srgbClr val="FF9F00"/>
    </a:accent4>
    <a:accent5>
      <a:srgbClr val="FFC34D"/>
    </a:accent5>
    <a:accent6>
      <a:srgbClr val="B44010"/>
    </a:accent6>
    <a:hlink>
      <a:srgbClr val="FF8100"/>
    </a:hlink>
    <a:folHlink>
      <a:srgbClr val="BFBFB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3776</Words>
  <Application>WPS 演示</Application>
  <PresentationFormat>自定义</PresentationFormat>
  <Paragraphs>270</Paragraphs>
  <Slides>17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5" baseType="lpstr">
      <vt:lpstr>Arial</vt:lpstr>
      <vt:lpstr>宋体</vt:lpstr>
      <vt:lpstr>Wingdings</vt:lpstr>
      <vt:lpstr>Calibri</vt:lpstr>
      <vt:lpstr>微软雅黑</vt:lpstr>
      <vt:lpstr>Arial Unicode MS</vt:lpstr>
      <vt:lpstr>等线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第一PPT，www.1ppt.com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创意水彩</dc:title>
  <dc:creator>第一PPT</dc:creator>
  <cp:keywords>www.1ppt.com</cp:keywords>
  <dc:description>www.1ppt.com</dc:description>
  <cp:lastModifiedBy>Kcm</cp:lastModifiedBy>
  <cp:revision>451</cp:revision>
  <dcterms:created xsi:type="dcterms:W3CDTF">2017-05-14T07:05:00Z</dcterms:created>
  <dcterms:modified xsi:type="dcterms:W3CDTF">2026-01-08T08:33:50Z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2052-11.8.2.10154</vt:lpwstr>
  </property>
</Properties>
</file>