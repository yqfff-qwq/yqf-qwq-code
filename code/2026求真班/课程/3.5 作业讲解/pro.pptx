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16" r:id="rId3"/>
    <p:sldId id="346" r:id="rId4"/>
    <p:sldId id="347" r:id="rId5"/>
    <p:sldId id="344" r:id="rId6"/>
    <p:sldId id="345" r:id="rId7"/>
    <p:sldId id="348" r:id="rId8"/>
    <p:sldId id="342" r:id="rId9"/>
    <p:sldId id="315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9EE"/>
    <a:srgbClr val="33E98A"/>
    <a:srgbClr val="ACF6CF"/>
    <a:srgbClr val="70F0AD"/>
    <a:srgbClr val="55F7F7"/>
    <a:srgbClr val="4AF80C"/>
    <a:srgbClr val="FC28D4"/>
    <a:srgbClr val="60EEA4"/>
    <a:srgbClr val="41E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67" autoAdjust="0"/>
    <p:restoredTop sz="93778" autoAdjust="0"/>
  </p:normalViewPr>
  <p:slideViewPr>
    <p:cSldViewPr snapToGrid="0" showGuides="1">
      <p:cViewPr varScale="1">
        <p:scale>
          <a:sx n="75" d="100"/>
          <a:sy n="75" d="100"/>
        </p:scale>
        <p:origin x="-84" y="-2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2237E-A286-49FD-9984-05DBA88D6692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9CF8-F7EC-4A95-888B-BB5C40F63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09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882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156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10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10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10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10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10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9CF8-F7EC-4A95-888B-BB5C40F63F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80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18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1073043" y="1960358"/>
            <a:ext cx="2111018" cy="2111018"/>
          </a:xfrm>
          <a:custGeom>
            <a:avLst/>
            <a:gdLst>
              <a:gd name="connsiteX0" fmla="*/ 1055509 w 2111018"/>
              <a:gd name="connsiteY0" fmla="*/ 0 h 2111018"/>
              <a:gd name="connsiteX1" fmla="*/ 2111018 w 2111018"/>
              <a:gd name="connsiteY1" fmla="*/ 1055509 h 2111018"/>
              <a:gd name="connsiteX2" fmla="*/ 1055509 w 2111018"/>
              <a:gd name="connsiteY2" fmla="*/ 2111018 h 2111018"/>
              <a:gd name="connsiteX3" fmla="*/ 0 w 2111018"/>
              <a:gd name="connsiteY3" fmla="*/ 1055509 h 2111018"/>
              <a:gd name="connsiteX4" fmla="*/ 1055509 w 2111018"/>
              <a:gd name="connsiteY4" fmla="*/ 0 h 211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018" h="2111018">
                <a:moveTo>
                  <a:pt x="1055509" y="0"/>
                </a:moveTo>
                <a:cubicBezTo>
                  <a:pt x="1638451" y="0"/>
                  <a:pt x="2111018" y="472567"/>
                  <a:pt x="2111018" y="1055509"/>
                </a:cubicBezTo>
                <a:cubicBezTo>
                  <a:pt x="2111018" y="1638451"/>
                  <a:pt x="1638451" y="2111018"/>
                  <a:pt x="1055509" y="2111018"/>
                </a:cubicBezTo>
                <a:cubicBezTo>
                  <a:pt x="472567" y="2111018"/>
                  <a:pt x="0" y="1638451"/>
                  <a:pt x="0" y="1055509"/>
                </a:cubicBezTo>
                <a:cubicBezTo>
                  <a:pt x="0" y="472567"/>
                  <a:pt x="472567" y="0"/>
                  <a:pt x="1055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758186" y="1960358"/>
            <a:ext cx="2111018" cy="2111018"/>
          </a:xfrm>
          <a:custGeom>
            <a:avLst/>
            <a:gdLst>
              <a:gd name="connsiteX0" fmla="*/ 1055509 w 2111018"/>
              <a:gd name="connsiteY0" fmla="*/ 0 h 2111018"/>
              <a:gd name="connsiteX1" fmla="*/ 2111018 w 2111018"/>
              <a:gd name="connsiteY1" fmla="*/ 1055509 h 2111018"/>
              <a:gd name="connsiteX2" fmla="*/ 1055509 w 2111018"/>
              <a:gd name="connsiteY2" fmla="*/ 2111018 h 2111018"/>
              <a:gd name="connsiteX3" fmla="*/ 0 w 2111018"/>
              <a:gd name="connsiteY3" fmla="*/ 1055509 h 2111018"/>
              <a:gd name="connsiteX4" fmla="*/ 1055509 w 2111018"/>
              <a:gd name="connsiteY4" fmla="*/ 0 h 211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018" h="2111018">
                <a:moveTo>
                  <a:pt x="1055509" y="0"/>
                </a:moveTo>
                <a:cubicBezTo>
                  <a:pt x="1638451" y="0"/>
                  <a:pt x="2111018" y="472567"/>
                  <a:pt x="2111018" y="1055509"/>
                </a:cubicBezTo>
                <a:cubicBezTo>
                  <a:pt x="2111018" y="1638451"/>
                  <a:pt x="1638451" y="2111018"/>
                  <a:pt x="1055509" y="2111018"/>
                </a:cubicBezTo>
                <a:cubicBezTo>
                  <a:pt x="472567" y="2111018"/>
                  <a:pt x="0" y="1638451"/>
                  <a:pt x="0" y="1055509"/>
                </a:cubicBezTo>
                <a:cubicBezTo>
                  <a:pt x="0" y="472567"/>
                  <a:pt x="472567" y="0"/>
                  <a:pt x="10555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28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" y="2441574"/>
            <a:ext cx="6013449" cy="3438524"/>
          </a:xfrm>
          <a:custGeom>
            <a:avLst/>
            <a:gdLst>
              <a:gd name="connsiteX0" fmla="*/ 0 w 6013449"/>
              <a:gd name="connsiteY0" fmla="*/ 0 h 3438524"/>
              <a:gd name="connsiteX1" fmla="*/ 6013449 w 6013449"/>
              <a:gd name="connsiteY1" fmla="*/ 0 h 3438524"/>
              <a:gd name="connsiteX2" fmla="*/ 6013449 w 6013449"/>
              <a:gd name="connsiteY2" fmla="*/ 3438524 h 3438524"/>
              <a:gd name="connsiteX3" fmla="*/ 0 w 6013449"/>
              <a:gd name="connsiteY3" fmla="*/ 3438524 h 34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3449" h="3438524">
                <a:moveTo>
                  <a:pt x="0" y="0"/>
                </a:moveTo>
                <a:lnTo>
                  <a:pt x="6013449" y="0"/>
                </a:lnTo>
                <a:lnTo>
                  <a:pt x="6013449" y="3438524"/>
                </a:lnTo>
                <a:lnTo>
                  <a:pt x="0" y="34385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6207127" y="2441575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9296400" y="2441575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9296400" y="4248151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4"/>
          </p:nvPr>
        </p:nvSpPr>
        <p:spPr>
          <a:xfrm>
            <a:off x="6207127" y="4248151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53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" y="2441574"/>
            <a:ext cx="6013449" cy="3438524"/>
          </a:xfrm>
          <a:custGeom>
            <a:avLst/>
            <a:gdLst>
              <a:gd name="connsiteX0" fmla="*/ 0 w 6013449"/>
              <a:gd name="connsiteY0" fmla="*/ 0 h 3438524"/>
              <a:gd name="connsiteX1" fmla="*/ 6013449 w 6013449"/>
              <a:gd name="connsiteY1" fmla="*/ 0 h 3438524"/>
              <a:gd name="connsiteX2" fmla="*/ 6013449 w 6013449"/>
              <a:gd name="connsiteY2" fmla="*/ 3438524 h 3438524"/>
              <a:gd name="connsiteX3" fmla="*/ 0 w 6013449"/>
              <a:gd name="connsiteY3" fmla="*/ 3438524 h 34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3449" h="3438524">
                <a:moveTo>
                  <a:pt x="0" y="0"/>
                </a:moveTo>
                <a:lnTo>
                  <a:pt x="6013449" y="0"/>
                </a:lnTo>
                <a:lnTo>
                  <a:pt x="6013449" y="3438524"/>
                </a:lnTo>
                <a:lnTo>
                  <a:pt x="0" y="34385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6207127" y="2441575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9296400" y="2441575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9296400" y="4248151"/>
            <a:ext cx="2895600" cy="1631951"/>
          </a:xfrm>
          <a:custGeom>
            <a:avLst/>
            <a:gdLst>
              <a:gd name="connsiteX0" fmla="*/ 0 w 2895600"/>
              <a:gd name="connsiteY0" fmla="*/ 0 h 1631951"/>
              <a:gd name="connsiteX1" fmla="*/ 2895600 w 2895600"/>
              <a:gd name="connsiteY1" fmla="*/ 0 h 1631951"/>
              <a:gd name="connsiteX2" fmla="*/ 2895600 w 2895600"/>
              <a:gd name="connsiteY2" fmla="*/ 1631951 h 1631951"/>
              <a:gd name="connsiteX3" fmla="*/ 0 w 2895600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631951">
                <a:moveTo>
                  <a:pt x="0" y="0"/>
                </a:moveTo>
                <a:lnTo>
                  <a:pt x="2895600" y="0"/>
                </a:lnTo>
                <a:lnTo>
                  <a:pt x="2895600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4"/>
          </p:nvPr>
        </p:nvSpPr>
        <p:spPr>
          <a:xfrm>
            <a:off x="6207127" y="4248151"/>
            <a:ext cx="2895601" cy="1631951"/>
          </a:xfrm>
          <a:custGeom>
            <a:avLst/>
            <a:gdLst>
              <a:gd name="connsiteX0" fmla="*/ 0 w 2895601"/>
              <a:gd name="connsiteY0" fmla="*/ 0 h 1631951"/>
              <a:gd name="connsiteX1" fmla="*/ 2895601 w 2895601"/>
              <a:gd name="connsiteY1" fmla="*/ 0 h 1631951"/>
              <a:gd name="connsiteX2" fmla="*/ 2895601 w 2895601"/>
              <a:gd name="connsiteY2" fmla="*/ 1631951 h 1631951"/>
              <a:gd name="connsiteX3" fmla="*/ 0 w 2895601"/>
              <a:gd name="connsiteY3" fmla="*/ 1631951 h 163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1" h="1631951">
                <a:moveTo>
                  <a:pt x="0" y="0"/>
                </a:moveTo>
                <a:lnTo>
                  <a:pt x="2895601" y="0"/>
                </a:lnTo>
                <a:lnTo>
                  <a:pt x="2895601" y="1631951"/>
                </a:lnTo>
                <a:lnTo>
                  <a:pt x="0" y="163195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325228" y="65454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059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1592798"/>
            <a:ext cx="12192000" cy="4523843"/>
          </a:xfrm>
          <a:custGeom>
            <a:avLst/>
            <a:gdLst>
              <a:gd name="connsiteX0" fmla="*/ 0 w 12192000"/>
              <a:gd name="connsiteY0" fmla="*/ 0 h 4523843"/>
              <a:gd name="connsiteX1" fmla="*/ 12192000 w 12192000"/>
              <a:gd name="connsiteY1" fmla="*/ 0 h 4523843"/>
              <a:gd name="connsiteX2" fmla="*/ 12192000 w 12192000"/>
              <a:gd name="connsiteY2" fmla="*/ 4523843 h 4523843"/>
              <a:gd name="connsiteX3" fmla="*/ 0 w 12192000"/>
              <a:gd name="connsiteY3" fmla="*/ 4523843 h 4523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523843">
                <a:moveTo>
                  <a:pt x="0" y="0"/>
                </a:moveTo>
                <a:lnTo>
                  <a:pt x="12192000" y="0"/>
                </a:lnTo>
                <a:lnTo>
                  <a:pt x="12192000" y="4523843"/>
                </a:lnTo>
                <a:lnTo>
                  <a:pt x="0" y="45238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46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-1" y="1370014"/>
            <a:ext cx="12192002" cy="4829175"/>
          </a:xfrm>
          <a:custGeom>
            <a:avLst/>
            <a:gdLst>
              <a:gd name="connsiteX0" fmla="*/ 7747119 w 12192002"/>
              <a:gd name="connsiteY0" fmla="*/ 0 h 4829175"/>
              <a:gd name="connsiteX1" fmla="*/ 12192002 w 12192002"/>
              <a:gd name="connsiteY1" fmla="*/ 0 h 4829175"/>
              <a:gd name="connsiteX2" fmla="*/ 12192002 w 12192002"/>
              <a:gd name="connsiteY2" fmla="*/ 4829175 h 4829175"/>
              <a:gd name="connsiteX3" fmla="*/ 7747119 w 12192002"/>
              <a:gd name="connsiteY3" fmla="*/ 4829175 h 4829175"/>
              <a:gd name="connsiteX4" fmla="*/ 0 w 12192002"/>
              <a:gd name="connsiteY4" fmla="*/ 0 h 4829175"/>
              <a:gd name="connsiteX5" fmla="*/ 6095999 w 12192002"/>
              <a:gd name="connsiteY5" fmla="*/ 0 h 4829175"/>
              <a:gd name="connsiteX6" fmla="*/ 6095999 w 12192002"/>
              <a:gd name="connsiteY6" fmla="*/ 4829175 h 4829175"/>
              <a:gd name="connsiteX7" fmla="*/ 0 w 12192002"/>
              <a:gd name="connsiteY7" fmla="*/ 4829175 h 482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4829175">
                <a:moveTo>
                  <a:pt x="7747119" y="0"/>
                </a:moveTo>
                <a:lnTo>
                  <a:pt x="12192002" y="0"/>
                </a:lnTo>
                <a:lnTo>
                  <a:pt x="12192002" y="4829175"/>
                </a:lnTo>
                <a:lnTo>
                  <a:pt x="7747119" y="4829175"/>
                </a:lnTo>
                <a:close/>
                <a:moveTo>
                  <a:pt x="0" y="0"/>
                </a:moveTo>
                <a:lnTo>
                  <a:pt x="6095999" y="0"/>
                </a:lnTo>
                <a:lnTo>
                  <a:pt x="6095999" y="4829175"/>
                </a:lnTo>
                <a:lnTo>
                  <a:pt x="0" y="4829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66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41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719137" y="1357274"/>
            <a:ext cx="5238792" cy="2683795"/>
          </a:xfrm>
          <a:custGeom>
            <a:avLst/>
            <a:gdLst>
              <a:gd name="connsiteX0" fmla="*/ 0 w 5238792"/>
              <a:gd name="connsiteY0" fmla="*/ 0 h 2683795"/>
              <a:gd name="connsiteX1" fmla="*/ 5238792 w 5238792"/>
              <a:gd name="connsiteY1" fmla="*/ 0 h 2683795"/>
              <a:gd name="connsiteX2" fmla="*/ 5238792 w 5238792"/>
              <a:gd name="connsiteY2" fmla="*/ 2683795 h 2683795"/>
              <a:gd name="connsiteX3" fmla="*/ 0 w 5238792"/>
              <a:gd name="connsiteY3" fmla="*/ 2683795 h 268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8792" h="2683795">
                <a:moveTo>
                  <a:pt x="0" y="0"/>
                </a:moveTo>
                <a:lnTo>
                  <a:pt x="5238792" y="0"/>
                </a:lnTo>
                <a:lnTo>
                  <a:pt x="5238792" y="2683795"/>
                </a:lnTo>
                <a:lnTo>
                  <a:pt x="0" y="2683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6234071" y="1357278"/>
            <a:ext cx="5238792" cy="2683795"/>
          </a:xfrm>
          <a:custGeom>
            <a:avLst/>
            <a:gdLst>
              <a:gd name="connsiteX0" fmla="*/ 0 w 5238792"/>
              <a:gd name="connsiteY0" fmla="*/ 0 h 2683795"/>
              <a:gd name="connsiteX1" fmla="*/ 5238792 w 5238792"/>
              <a:gd name="connsiteY1" fmla="*/ 0 h 2683795"/>
              <a:gd name="connsiteX2" fmla="*/ 5238792 w 5238792"/>
              <a:gd name="connsiteY2" fmla="*/ 2683795 h 2683795"/>
              <a:gd name="connsiteX3" fmla="*/ 0 w 5238792"/>
              <a:gd name="connsiteY3" fmla="*/ 2683795 h 268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8792" h="2683795">
                <a:moveTo>
                  <a:pt x="0" y="0"/>
                </a:moveTo>
                <a:lnTo>
                  <a:pt x="5238792" y="0"/>
                </a:lnTo>
                <a:lnTo>
                  <a:pt x="5238792" y="2683795"/>
                </a:lnTo>
                <a:lnTo>
                  <a:pt x="0" y="2683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05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4106" y="0"/>
            <a:ext cx="12187894" cy="3571540"/>
          </a:xfrm>
          <a:custGeom>
            <a:avLst/>
            <a:gdLst>
              <a:gd name="connsiteX0" fmla="*/ 0 w 12187894"/>
              <a:gd name="connsiteY0" fmla="*/ 0 h 3571540"/>
              <a:gd name="connsiteX1" fmla="*/ 12187894 w 12187894"/>
              <a:gd name="connsiteY1" fmla="*/ 0 h 3571540"/>
              <a:gd name="connsiteX2" fmla="*/ 12187894 w 12187894"/>
              <a:gd name="connsiteY2" fmla="*/ 3571540 h 3571540"/>
              <a:gd name="connsiteX3" fmla="*/ 0 w 12187894"/>
              <a:gd name="connsiteY3" fmla="*/ 3571540 h 357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7894" h="3571540">
                <a:moveTo>
                  <a:pt x="0" y="0"/>
                </a:moveTo>
                <a:lnTo>
                  <a:pt x="12187894" y="0"/>
                </a:lnTo>
                <a:lnTo>
                  <a:pt x="12187894" y="3571540"/>
                </a:lnTo>
                <a:lnTo>
                  <a:pt x="0" y="3571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234798" y="2528900"/>
            <a:ext cx="2263853" cy="3264506"/>
          </a:xfrm>
          <a:custGeom>
            <a:avLst/>
            <a:gdLst>
              <a:gd name="connsiteX0" fmla="*/ 0 w 2263853"/>
              <a:gd name="connsiteY0" fmla="*/ 0 h 3264506"/>
              <a:gd name="connsiteX1" fmla="*/ 2263853 w 2263853"/>
              <a:gd name="connsiteY1" fmla="*/ 0 h 3264506"/>
              <a:gd name="connsiteX2" fmla="*/ 2263853 w 2263853"/>
              <a:gd name="connsiteY2" fmla="*/ 3264506 h 3264506"/>
              <a:gd name="connsiteX3" fmla="*/ 0 w 2263853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853" h="3264506">
                <a:moveTo>
                  <a:pt x="0" y="0"/>
                </a:moveTo>
                <a:lnTo>
                  <a:pt x="2263853" y="0"/>
                </a:lnTo>
                <a:lnTo>
                  <a:pt x="2263853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3720984" y="2528900"/>
            <a:ext cx="2272185" cy="3264506"/>
          </a:xfrm>
          <a:custGeom>
            <a:avLst/>
            <a:gdLst>
              <a:gd name="connsiteX0" fmla="*/ 0 w 2272185"/>
              <a:gd name="connsiteY0" fmla="*/ 0 h 3264506"/>
              <a:gd name="connsiteX1" fmla="*/ 2272185 w 2272185"/>
              <a:gd name="connsiteY1" fmla="*/ 0 h 3264506"/>
              <a:gd name="connsiteX2" fmla="*/ 2272185 w 2272185"/>
              <a:gd name="connsiteY2" fmla="*/ 3264506 h 3264506"/>
              <a:gd name="connsiteX3" fmla="*/ 0 w 2272185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85" h="3264506">
                <a:moveTo>
                  <a:pt x="0" y="0"/>
                </a:moveTo>
                <a:lnTo>
                  <a:pt x="2272185" y="0"/>
                </a:lnTo>
                <a:lnTo>
                  <a:pt x="2272185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6198835" y="2528900"/>
            <a:ext cx="2272185" cy="3264506"/>
          </a:xfrm>
          <a:custGeom>
            <a:avLst/>
            <a:gdLst>
              <a:gd name="connsiteX0" fmla="*/ 0 w 2272185"/>
              <a:gd name="connsiteY0" fmla="*/ 0 h 3264506"/>
              <a:gd name="connsiteX1" fmla="*/ 2272185 w 2272185"/>
              <a:gd name="connsiteY1" fmla="*/ 0 h 3264506"/>
              <a:gd name="connsiteX2" fmla="*/ 2272185 w 2272185"/>
              <a:gd name="connsiteY2" fmla="*/ 3264506 h 3264506"/>
              <a:gd name="connsiteX3" fmla="*/ 0 w 2272185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85" h="3264506">
                <a:moveTo>
                  <a:pt x="0" y="0"/>
                </a:moveTo>
                <a:lnTo>
                  <a:pt x="2272185" y="0"/>
                </a:lnTo>
                <a:lnTo>
                  <a:pt x="2272185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3"/>
          </p:nvPr>
        </p:nvSpPr>
        <p:spPr>
          <a:xfrm>
            <a:off x="8693352" y="2528900"/>
            <a:ext cx="2263853" cy="3264506"/>
          </a:xfrm>
          <a:custGeom>
            <a:avLst/>
            <a:gdLst>
              <a:gd name="connsiteX0" fmla="*/ 0 w 2263853"/>
              <a:gd name="connsiteY0" fmla="*/ 0 h 3264506"/>
              <a:gd name="connsiteX1" fmla="*/ 2263853 w 2263853"/>
              <a:gd name="connsiteY1" fmla="*/ 0 h 3264506"/>
              <a:gd name="connsiteX2" fmla="*/ 2263853 w 2263853"/>
              <a:gd name="connsiteY2" fmla="*/ 3264506 h 3264506"/>
              <a:gd name="connsiteX3" fmla="*/ 0 w 2263853"/>
              <a:gd name="connsiteY3" fmla="*/ 3264506 h 32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853" h="3264506">
                <a:moveTo>
                  <a:pt x="0" y="0"/>
                </a:moveTo>
                <a:lnTo>
                  <a:pt x="2263853" y="0"/>
                </a:lnTo>
                <a:lnTo>
                  <a:pt x="2263853" y="3264506"/>
                </a:lnTo>
                <a:lnTo>
                  <a:pt x="0" y="3264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43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7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1CE03-90C0-4E22-B7FA-3A1ECBAF6F4F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176E6-63FA-43A7-8DE8-B4DDEC857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59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3" r:id="rId3"/>
    <p:sldLayoutId id="2147483665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2919" name="图片 291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9300" y="622299"/>
            <a:ext cx="5613400" cy="5613400"/>
          </a:xfrm>
          <a:prstGeom prst="ellipse">
            <a:avLst/>
          </a:prstGeom>
          <a:effectLst>
            <a:outerShdw blurRad="482600" sx="102000" sy="102000" algn="ctr" rotWithShape="0">
              <a:prstClr val="black">
                <a:alpha val="61000"/>
              </a:prstClr>
            </a:outerShdw>
          </a:effectLst>
        </p:spPr>
      </p:pic>
      <p:sp>
        <p:nvSpPr>
          <p:cNvPr id="2920" name="文本框 2919"/>
          <p:cNvSpPr txBox="1"/>
          <p:nvPr/>
        </p:nvSpPr>
        <p:spPr>
          <a:xfrm>
            <a:off x="5599713" y="2006600"/>
            <a:ext cx="99257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sz="5400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Ex</a:t>
            </a:r>
            <a:endParaRPr lang="zh-CN" altLang="en-US" sz="5400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921" name="文本框 2920"/>
          <p:cNvSpPr txBox="1"/>
          <p:nvPr/>
        </p:nvSpPr>
        <p:spPr>
          <a:xfrm>
            <a:off x="4977742" y="3019922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sz="4000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习题讲解</a:t>
            </a:r>
            <a:endParaRPr lang="zh-CN" altLang="en-US" sz="4000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2923" name="直接连接符 2922"/>
          <p:cNvCxnSpPr/>
          <p:nvPr/>
        </p:nvCxnSpPr>
        <p:spPr>
          <a:xfrm>
            <a:off x="4849338" y="3962400"/>
            <a:ext cx="2493324" cy="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4" name="矩形: 圆角 2923"/>
          <p:cNvSpPr/>
          <p:nvPr/>
        </p:nvSpPr>
        <p:spPr>
          <a:xfrm>
            <a:off x="5379720" y="4497425"/>
            <a:ext cx="1432560" cy="36703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outerShdw blurRad="203200" sx="102000" sy="102000" algn="ctr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cs typeface="+mn-ea"/>
                <a:sym typeface="+mn-lt"/>
              </a:rPr>
              <a:t>2026.03.05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文本框 2919"/>
          <p:cNvSpPr txBox="1"/>
          <p:nvPr/>
        </p:nvSpPr>
        <p:spPr>
          <a:xfrm>
            <a:off x="10013199" y="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第？部分 ？？？？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272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0" grpId="0"/>
      <p:bldP spid="2921" grpId="0"/>
      <p:bldP spid="2924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421068" y="1636721"/>
            <a:ext cx="4368600" cy="2082768"/>
            <a:chOff x="7692478" y="1678126"/>
            <a:chExt cx="3945422" cy="1745431"/>
          </a:xfrm>
        </p:grpSpPr>
        <p:sp>
          <p:nvSpPr>
            <p:cNvPr id="30" name="矩形 29"/>
            <p:cNvSpPr/>
            <p:nvPr/>
          </p:nvSpPr>
          <p:spPr>
            <a:xfrm>
              <a:off x="7692478" y="2030750"/>
              <a:ext cx="3945422" cy="139280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	</a:t>
              </a:r>
              <a:r>
                <a:rPr lang="zh-CN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第一次投票作为体验，就不抓人了。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	</a:t>
              </a:r>
              <a:r>
                <a:rPr lang="zh-CN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但提供一些非法操作：</a:t>
              </a:r>
              <a:endPara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3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No.1!	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P8052 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罗宁远 重复提交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40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次</a:t>
              </a:r>
              <a:endParaRPr lang="en-US" altLang="zh-CN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No.2	U203183 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裘泽燑 重复提交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2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次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+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姓名是</a:t>
              </a:r>
              <a:r>
                <a:rPr lang="en-US" altLang="zh-CN" sz="105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qzt</a:t>
              </a:r>
              <a:endParaRPr lang="en-US" altLang="zh-CN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No.3	P4823 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俞景瀚重复提交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2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次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+P4090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俞景瀚重复提交</a:t>
              </a:r>
              <a:r>
                <a:rPr lang="en-US" altLang="zh-CN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2</a:t>
              </a:r>
              <a:r>
                <a:rPr lang="zh-CN" altLang="en-US" sz="105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次</a:t>
              </a:r>
              <a:endPara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7692478" y="1678126"/>
              <a:ext cx="3838452" cy="3559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 smtClean="0">
                  <a:cs typeface="+mn-ea"/>
                  <a:sym typeface="+mn-lt"/>
                </a:rPr>
                <a:t>讲课投票（依票数多少从上到下）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sp>
        <p:nvSpPr>
          <p:cNvPr id="21" name="文本框 21"/>
          <p:cNvSpPr txBox="1"/>
          <p:nvPr/>
        </p:nvSpPr>
        <p:spPr>
          <a:xfrm>
            <a:off x="1996803" y="25416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投票总结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noProof="0" dirty="0" smtClean="0">
                <a:solidFill>
                  <a:schemeClr val="accent3"/>
                </a:solidFill>
                <a:cs typeface="+mn-ea"/>
                <a:sym typeface="+mn-lt"/>
              </a:rPr>
              <a:t>Vote Summary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919"/>
          <p:cNvSpPr txBox="1"/>
          <p:nvPr/>
        </p:nvSpPr>
        <p:spPr>
          <a:xfrm>
            <a:off x="10280522" y="1772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投票总结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06534" y="1636719"/>
            <a:ext cx="4250158" cy="2581366"/>
            <a:chOff x="7692478" y="1678126"/>
            <a:chExt cx="3838453" cy="2163276"/>
          </a:xfrm>
        </p:grpSpPr>
        <p:sp>
          <p:nvSpPr>
            <p:cNvPr id="12" name="矩形 11"/>
            <p:cNvSpPr/>
            <p:nvPr/>
          </p:nvSpPr>
          <p:spPr>
            <a:xfrm>
              <a:off x="7692478" y="2030750"/>
              <a:ext cx="3838453" cy="181065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U203183</a:t>
              </a: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P4019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pl-PL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P2293</a:t>
              </a:r>
              <a:endParaRPr lang="pl-PL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pl-PL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P4574</a:t>
              </a:r>
              <a:endParaRPr lang="pl-PL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pl-PL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U200539</a:t>
              </a:r>
              <a:endPara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P4823</a:t>
              </a:r>
              <a:endPara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...</a:t>
              </a:r>
              <a:endParaRPr lang="pl-PL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692478" y="1678126"/>
              <a:ext cx="3838452" cy="3559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 smtClean="0">
                  <a:cs typeface="+mn-ea"/>
                  <a:sym typeface="+mn-lt"/>
                </a:rPr>
                <a:t>题目投票（依票数多少从上到下）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960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274113" y="177223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U203183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375487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 dirty="0" smtClean="0"/>
              <a:t> </a:t>
            </a:r>
            <a:r>
              <a:rPr lang="en-US" altLang="zh-CN" sz="1400" b="1" dirty="0" err="1" smtClean="0"/>
              <a:t>Ambigram</a:t>
            </a:r>
            <a:r>
              <a:rPr lang="zh-CN" altLang="en-US" sz="1400" b="1" dirty="0"/>
              <a:t>串</a:t>
            </a:r>
            <a:endParaRPr lang="zh-CN" altLang="zh-CN" sz="1400" dirty="0" smtClean="0"/>
          </a:p>
          <a:p>
            <a:r>
              <a:rPr lang="zh-CN" altLang="zh-CN" sz="1400" b="1" dirty="0" smtClean="0"/>
              <a:t>【题目描述】</a:t>
            </a:r>
            <a:endParaRPr lang="zh-CN" altLang="zh-CN" sz="1400" dirty="0"/>
          </a:p>
          <a:p>
            <a:r>
              <a:rPr lang="zh-CN" altLang="en-US" sz="1400" dirty="0" smtClean="0"/>
              <a:t>    如果</a:t>
            </a:r>
            <a:r>
              <a:rPr lang="zh-CN" altLang="en-US" sz="1400" dirty="0"/>
              <a:t>一个只包含大写字母的非空字符串</a:t>
            </a:r>
            <a:r>
              <a:rPr lang="zh-CN" altLang="en-US" sz="1400" dirty="0" smtClean="0"/>
              <a:t>旋转</a:t>
            </a:r>
            <a:r>
              <a:rPr lang="en-US" altLang="zh-CN" sz="1400" dirty="0" smtClean="0"/>
              <a:t>180</a:t>
            </a:r>
            <a:r>
              <a:rPr lang="zh-CN" altLang="en-US" sz="1400" dirty="0" smtClean="0"/>
              <a:t>度</a:t>
            </a:r>
            <a:r>
              <a:rPr lang="zh-CN" altLang="en-US" sz="1400" dirty="0"/>
              <a:t>和原串一模一样，那么就叫</a:t>
            </a:r>
            <a:r>
              <a:rPr lang="zh-CN" altLang="en-US" sz="1400" dirty="0" smtClean="0"/>
              <a:t>它</a:t>
            </a:r>
            <a:r>
              <a:rPr lang="en-US" altLang="zh-CN" sz="1400" dirty="0" err="1" smtClean="0"/>
              <a:t>Ambigram</a:t>
            </a:r>
            <a:r>
              <a:rPr lang="zh-CN" altLang="en-US" sz="1400" dirty="0" smtClean="0"/>
              <a:t>串</a:t>
            </a:r>
            <a:r>
              <a:rPr lang="zh-CN" altLang="en-US" sz="1400" dirty="0"/>
              <a:t>。</a:t>
            </a:r>
            <a:r>
              <a:rPr lang="zh-CN" altLang="en-US" sz="1400" dirty="0" smtClean="0"/>
              <a:t>比如</a:t>
            </a:r>
            <a:r>
              <a:rPr lang="en-US" altLang="zh-CN" sz="1400" dirty="0" smtClean="0"/>
              <a:t>“</a:t>
            </a:r>
            <a:r>
              <a:rPr lang="en-US" altLang="zh-CN" sz="1400" dirty="0"/>
              <a:t>MOW</a:t>
            </a:r>
            <a:r>
              <a:rPr lang="en-US" altLang="zh-CN" sz="1400" dirty="0" smtClean="0"/>
              <a:t>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“</a:t>
            </a:r>
            <a:r>
              <a:rPr lang="en-US" altLang="zh-CN" sz="1400" dirty="0"/>
              <a:t>XXXX</a:t>
            </a:r>
            <a:r>
              <a:rPr lang="en-US" altLang="zh-CN" sz="1400" dirty="0" smtClean="0"/>
              <a:t>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“</a:t>
            </a:r>
            <a:r>
              <a:rPr lang="en-US" altLang="zh-CN" sz="1400" dirty="0"/>
              <a:t>HXHXH</a:t>
            </a:r>
            <a:r>
              <a:rPr lang="en-US" altLang="zh-CN" sz="1400" dirty="0" smtClean="0"/>
              <a:t>”</a:t>
            </a:r>
            <a:r>
              <a:rPr lang="zh-CN" altLang="en-US" sz="1400" dirty="0" smtClean="0"/>
              <a:t>等</a:t>
            </a:r>
            <a:r>
              <a:rPr lang="zh-CN" altLang="en-US" sz="1400" dirty="0"/>
              <a:t>。要求的就是把一个任意的只包含大写字母的非空字符串修改</a:t>
            </a:r>
            <a:r>
              <a:rPr lang="zh-CN" altLang="en-US" sz="1400" dirty="0" smtClean="0"/>
              <a:t>成</a:t>
            </a:r>
            <a:r>
              <a:rPr lang="en-US" altLang="zh-CN" sz="1400" dirty="0" err="1" smtClean="0"/>
              <a:t>Ambigram</a:t>
            </a:r>
            <a:r>
              <a:rPr lang="zh-CN" altLang="en-US" sz="1400" dirty="0" smtClean="0"/>
              <a:t>串</a:t>
            </a:r>
            <a:r>
              <a:rPr lang="zh-CN" altLang="en-US" sz="1400" dirty="0"/>
              <a:t>最少要多少花费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zh-CN" altLang="en-US" sz="1400" dirty="0"/>
              <a:t>操作有以下两种</a:t>
            </a:r>
            <a:r>
              <a:rPr lang="zh-CN" altLang="en-US" sz="1400" dirty="0" smtClean="0"/>
              <a:t>：</a:t>
            </a:r>
            <a:endParaRPr lang="zh-CN" altLang="en-US" sz="1400" dirty="0"/>
          </a:p>
          <a:p>
            <a:r>
              <a:rPr lang="en-US" altLang="zh-CN" sz="1400" dirty="0"/>
              <a:t>1</a:t>
            </a:r>
            <a:r>
              <a:rPr lang="zh-CN" altLang="en-US" sz="1400" dirty="0" smtClean="0"/>
              <a:t>）删除</a:t>
            </a:r>
            <a:r>
              <a:rPr lang="zh-CN" altLang="en-US" sz="1400" dirty="0"/>
              <a:t>一个字符，需要的花费为这个字符</a:t>
            </a:r>
            <a:r>
              <a:rPr lang="zh-CN" altLang="en-US" sz="1400" dirty="0" smtClean="0"/>
              <a:t>与</a:t>
            </a:r>
            <a:r>
              <a:rPr lang="en-US" altLang="zh-CN" sz="1400" dirty="0" smtClean="0"/>
              <a:t>'A'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'Z'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差的较小值</a:t>
            </a:r>
            <a:r>
              <a:rPr lang="zh-CN" altLang="en-US" sz="1400" dirty="0" smtClean="0"/>
              <a:t>加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en-US" altLang="zh-CN" sz="1400" dirty="0"/>
              <a:t>2</a:t>
            </a:r>
            <a:r>
              <a:rPr lang="zh-CN" altLang="en-US" sz="1400" dirty="0" smtClean="0"/>
              <a:t>）修改</a:t>
            </a:r>
            <a:r>
              <a:rPr lang="zh-CN" altLang="en-US" sz="1400" dirty="0"/>
              <a:t>一个字符，需要的花费为两个字符的差。</a:t>
            </a:r>
          </a:p>
          <a:p>
            <a:r>
              <a:rPr lang="zh-CN" altLang="en-US" sz="1400" dirty="0"/>
              <a:t>旋转一个仍然和本身一样的字符有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H,X,O,Z,N,I,S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en-US" altLang="zh-CN" sz="1400" dirty="0" smtClean="0"/>
              <a:t>M</a:t>
            </a:r>
            <a:r>
              <a:rPr lang="zh-CN" altLang="en-US" sz="1400" dirty="0" smtClean="0"/>
              <a:t>旋转</a:t>
            </a:r>
            <a:r>
              <a:rPr lang="zh-CN" altLang="en-US" sz="1400" dirty="0"/>
              <a:t>以后</a:t>
            </a:r>
            <a:r>
              <a:rPr lang="zh-CN" altLang="en-US" sz="1400" dirty="0" smtClean="0"/>
              <a:t>是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W</a:t>
            </a:r>
            <a:r>
              <a:rPr lang="zh-CN" altLang="en-US" sz="1400" dirty="0" smtClean="0"/>
              <a:t>旋转</a:t>
            </a:r>
            <a:r>
              <a:rPr lang="zh-CN" altLang="en-US" sz="1400" dirty="0"/>
              <a:t>以后</a:t>
            </a:r>
            <a:r>
              <a:rPr lang="zh-CN" altLang="en-US" sz="1400" dirty="0" smtClean="0"/>
              <a:t>是</a:t>
            </a:r>
            <a:r>
              <a:rPr lang="en-US" altLang="zh-CN" sz="1400" dirty="0" smtClean="0"/>
              <a:t>M</a:t>
            </a:r>
            <a:r>
              <a:rPr lang="zh-CN" altLang="en-US" sz="1400" dirty="0" smtClean="0"/>
              <a:t>。</a:t>
            </a:r>
            <a:endParaRPr lang="zh-CN" altLang="zh-CN" sz="1400" dirty="0" smtClean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/>
              <a:t>XIXHZMOAOSHXIX</a:t>
            </a:r>
            <a:endParaRPr lang="en-US" altLang="zh-CN" sz="1400" dirty="0" smtClean="0"/>
          </a:p>
          <a:p>
            <a:r>
              <a:rPr lang="zh-CN" altLang="zh-CN" sz="1400" b="1" dirty="0" smtClean="0"/>
              <a:t>【样例</a:t>
            </a:r>
            <a:r>
              <a:rPr lang="zh-CN" altLang="en-US" sz="1400" b="1" dirty="0" smtClean="0"/>
              <a:t>输出</a:t>
            </a:r>
            <a:r>
              <a:rPr lang="zh-CN" altLang="zh-CN" sz="1400" b="1" dirty="0" smtClean="0"/>
              <a:t>】</a:t>
            </a:r>
            <a:endParaRPr lang="zh-CN" altLang="zh-CN" sz="1400" dirty="0"/>
          </a:p>
          <a:p>
            <a:r>
              <a:rPr lang="en-US" altLang="zh-CN" sz="1400" dirty="0"/>
              <a:t>XIXHMOOWHXIX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934530"/>
            <a:ext cx="5368017" cy="95410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</a:t>
            </a:r>
            <a:r>
              <a:rPr lang="zh-CN" altLang="en-US" sz="1400" b="1" dirty="0"/>
              <a:t>算法分析</a:t>
            </a:r>
            <a:r>
              <a:rPr lang="zh-CN" altLang="zh-CN" sz="1400" b="1" dirty="0"/>
              <a:t>】</a:t>
            </a:r>
            <a:endParaRPr lang="zh-CN" altLang="zh-CN" sz="1400" dirty="0"/>
          </a:p>
          <a:p>
            <a:r>
              <a:rPr lang="zh-CN" altLang="en-US" sz="1400" dirty="0"/>
              <a:t>    </a:t>
            </a:r>
            <a:r>
              <a:rPr lang="zh-CN" altLang="en-US" sz="1400" dirty="0" smtClean="0"/>
              <a:t>根据题目要求，一是要求最优解。二是要输出方案。</a:t>
            </a:r>
            <a:endParaRPr lang="en-US" altLang="zh-CN" sz="1400" dirty="0" smtClean="0"/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且字符串长度偏小，不是常见字符串算法的狩猎范围。长度偏小，意味着状态偏少</a:t>
            </a:r>
            <a:r>
              <a:rPr lang="zh-CN" altLang="zh-CN" sz="1400" dirty="0" smtClean="0"/>
              <a:t>，</a:t>
            </a:r>
            <a:r>
              <a:rPr lang="zh-CN" altLang="zh-CN" sz="1400" dirty="0"/>
              <a:t>可以用</a:t>
            </a:r>
            <a:r>
              <a:rPr lang="en-US" altLang="zh-CN" sz="1400" dirty="0"/>
              <a:t>DP</a:t>
            </a:r>
            <a:r>
              <a:rPr lang="zh-CN" altLang="zh-CN" sz="1400" dirty="0" smtClean="0"/>
              <a:t>试试。</a:t>
            </a:r>
            <a:endParaRPr lang="zh-CN" altLang="zh-CN" sz="1400" dirty="0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1888637"/>
            <a:ext cx="5368017" cy="310854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400" dirty="0" smtClean="0"/>
              <a:t>    注意</a:t>
            </a:r>
            <a:r>
              <a:rPr lang="zh-CN" altLang="en-US" sz="1400" dirty="0"/>
              <a:t>到任一字符只有一次修改机会，以此得出小区间最优解推得大区接最优解的过程，因为符合最优子结构性质。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用</a:t>
            </a:r>
            <a:r>
              <a:rPr lang="en-US" altLang="zh-CN" sz="1400" dirty="0"/>
              <a:t>F[i][j]</a:t>
            </a:r>
            <a:r>
              <a:rPr lang="zh-CN" altLang="zh-CN" sz="1400" dirty="0"/>
              <a:t>表示</a:t>
            </a:r>
            <a:r>
              <a:rPr lang="en-US" altLang="zh-CN" sz="1400" dirty="0" err="1"/>
              <a:t>i..j</a:t>
            </a:r>
            <a:r>
              <a:rPr lang="zh-CN" altLang="zh-CN" sz="1400" dirty="0"/>
              <a:t>这一段变成非空中心对称串所需要的代价。</a:t>
            </a:r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转移分为</a:t>
            </a:r>
            <a:r>
              <a:rPr lang="en-US" altLang="zh-CN" sz="1400" dirty="0"/>
              <a:t>4</a:t>
            </a:r>
            <a:r>
              <a:rPr lang="zh-CN" altLang="zh-CN" sz="1400" dirty="0"/>
              <a:t>种</a:t>
            </a:r>
            <a:r>
              <a:rPr lang="en-US" altLang="zh-CN" sz="1400" dirty="0"/>
              <a:t>(</a:t>
            </a:r>
            <a:r>
              <a:rPr lang="zh-CN" altLang="en-US" sz="1400" dirty="0"/>
              <a:t>其实就是考虑所有使之合法的可能</a:t>
            </a:r>
            <a:r>
              <a:rPr lang="en-US" altLang="zh-CN" sz="1400" dirty="0"/>
              <a:t>)</a:t>
            </a:r>
            <a:r>
              <a:rPr lang="zh-CN" altLang="zh-CN" sz="1400" dirty="0"/>
              <a:t>：</a:t>
            </a:r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删除第</a:t>
            </a:r>
            <a:r>
              <a:rPr lang="en-US" altLang="zh-CN" sz="1400" dirty="0"/>
              <a:t>i</a:t>
            </a:r>
            <a:r>
              <a:rPr lang="zh-CN" altLang="zh-CN" sz="1400" dirty="0"/>
              <a:t>个字符</a:t>
            </a:r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删除第</a:t>
            </a:r>
            <a:r>
              <a:rPr lang="en-US" altLang="zh-CN" sz="1400" dirty="0"/>
              <a:t>j</a:t>
            </a:r>
            <a:r>
              <a:rPr lang="zh-CN" altLang="zh-CN" sz="1400" dirty="0"/>
              <a:t>个字符</a:t>
            </a:r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把第</a:t>
            </a:r>
            <a:r>
              <a:rPr lang="en-US" altLang="zh-CN" sz="1400" dirty="0"/>
              <a:t>i</a:t>
            </a:r>
            <a:r>
              <a:rPr lang="zh-CN" altLang="zh-CN" sz="1400" dirty="0"/>
              <a:t>个字符和第</a:t>
            </a:r>
            <a:r>
              <a:rPr lang="en-US" altLang="zh-CN" sz="1400" dirty="0"/>
              <a:t>j</a:t>
            </a:r>
            <a:r>
              <a:rPr lang="zh-CN" altLang="zh-CN" sz="1400" dirty="0"/>
              <a:t>个字符变成对应字符，然后加上</a:t>
            </a:r>
            <a:r>
              <a:rPr lang="en-US" altLang="zh-CN" sz="1400" dirty="0"/>
              <a:t>F[i+1][j-1]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把第</a:t>
            </a:r>
            <a:r>
              <a:rPr lang="en-US" altLang="zh-CN" sz="1400" dirty="0"/>
              <a:t>i</a:t>
            </a:r>
            <a:r>
              <a:rPr lang="zh-CN" altLang="zh-CN" sz="1400" dirty="0"/>
              <a:t>个字符和第</a:t>
            </a:r>
            <a:r>
              <a:rPr lang="en-US" altLang="zh-CN" sz="1400" dirty="0"/>
              <a:t>j</a:t>
            </a:r>
            <a:r>
              <a:rPr lang="zh-CN" altLang="zh-CN" sz="1400" dirty="0"/>
              <a:t>个字符变成对应字符，然后把</a:t>
            </a:r>
            <a:r>
              <a:rPr lang="en-US" altLang="zh-CN" sz="1400" dirty="0"/>
              <a:t>(i+1)..(j-1)</a:t>
            </a:r>
            <a:r>
              <a:rPr lang="zh-CN" altLang="zh-CN" sz="1400" dirty="0"/>
              <a:t>变为空串</a:t>
            </a:r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把一段修改的空串可以预处理得到，不用每次求。否则可能会超时。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zh-CN" altLang="en-US" sz="1400" dirty="0"/>
              <a:t>因为状态少，长度小，直接在计算最优解的时候同步记录达成解的字符串即可。</a:t>
            </a:r>
          </a:p>
          <a:p>
            <a:endParaRPr lang="zh-CN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7251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408765" y="17722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P4019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461664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 dirty="0" smtClean="0"/>
              <a:t> </a:t>
            </a:r>
            <a:r>
              <a:rPr lang="zh-CN" altLang="en-US" sz="1400" b="1" dirty="0" smtClean="0"/>
              <a:t>多边形染色</a:t>
            </a:r>
            <a:endParaRPr lang="zh-CN" altLang="zh-CN" sz="1400" dirty="0" smtClean="0"/>
          </a:p>
          <a:p>
            <a:r>
              <a:rPr lang="zh-CN" altLang="zh-CN" sz="1400" b="1" dirty="0" smtClean="0"/>
              <a:t>【题目描述】</a:t>
            </a:r>
            <a:endParaRPr lang="zh-CN" altLang="zh-CN" sz="1400" dirty="0"/>
          </a:p>
          <a:p>
            <a:r>
              <a:rPr lang="zh-CN" altLang="en-US" sz="1400" dirty="0" smtClean="0"/>
              <a:t>    </a:t>
            </a:r>
            <a:r>
              <a:rPr lang="en-US" altLang="zh-CN" sz="1400" dirty="0" err="1" smtClean="0"/>
              <a:t>Flokirie</a:t>
            </a:r>
            <a:r>
              <a:rPr lang="en-US" altLang="zh-CN" sz="1400" dirty="0" smtClean="0"/>
              <a:t> </a:t>
            </a:r>
            <a:r>
              <a:rPr lang="zh-CN" altLang="en-US" sz="1400" dirty="0"/>
              <a:t>有一个美丽的</a:t>
            </a:r>
            <a:r>
              <a:rPr lang="zh-CN" altLang="en-US" sz="1400" dirty="0" smtClean="0"/>
              <a:t>凸</a:t>
            </a:r>
            <a:r>
              <a:rPr lang="en-US" altLang="zh-CN" sz="1400" dirty="0" smtClean="0"/>
              <a:t>n</a:t>
            </a:r>
            <a:r>
              <a:rPr lang="zh-CN" altLang="en-US" sz="1400" dirty="0" smtClean="0"/>
              <a:t>边</a:t>
            </a:r>
            <a:r>
              <a:rPr lang="zh-CN" altLang="en-US" sz="1400" dirty="0"/>
              <a:t>形，顶点编号</a:t>
            </a:r>
            <a:r>
              <a:rPr lang="zh-CN" altLang="en-US" sz="1400" dirty="0" smtClean="0"/>
              <a:t>为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到</a:t>
            </a:r>
            <a:r>
              <a:rPr lang="en-US" altLang="zh-CN" sz="1400" dirty="0" smtClean="0"/>
              <a:t>n</a:t>
            </a:r>
            <a:r>
              <a:rPr lang="zh-CN" altLang="en-US" sz="1400" dirty="0" smtClean="0"/>
              <a:t>，</a:t>
            </a:r>
            <a:r>
              <a:rPr lang="zh-CN" altLang="en-US" sz="1400" dirty="0"/>
              <a:t>每条边连接</a:t>
            </a:r>
            <a:r>
              <a:rPr lang="zh-CN" altLang="en-US" sz="1400" dirty="0" smtClean="0"/>
              <a:t>顶点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i+1</a:t>
            </a:r>
            <a:r>
              <a:rPr lang="zh-CN" altLang="en-US" sz="1400" dirty="0" smtClean="0"/>
              <a:t>。</a:t>
            </a:r>
            <a:r>
              <a:rPr lang="zh-CN" altLang="en-US" sz="1400" dirty="0"/>
              <a:t>特别的，</a:t>
            </a:r>
            <a:r>
              <a:rPr lang="zh-CN" altLang="en-US" sz="1400" dirty="0" smtClean="0"/>
              <a:t>顶点</a:t>
            </a:r>
            <a:r>
              <a:rPr lang="en-US" altLang="zh-CN" sz="1400" dirty="0" smtClean="0"/>
              <a:t>n</a:t>
            </a:r>
            <a:r>
              <a:rPr lang="zh-CN" altLang="en-US" sz="1400" dirty="0" smtClean="0"/>
              <a:t>与顶点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相连。</a:t>
            </a:r>
            <a:endParaRPr lang="zh-CN" altLang="en-US" sz="1400" dirty="0"/>
          </a:p>
          <a:p>
            <a:r>
              <a:rPr lang="zh-CN" altLang="en-US" sz="1400" dirty="0" smtClean="0"/>
              <a:t>    他</a:t>
            </a:r>
            <a:r>
              <a:rPr lang="zh-CN" altLang="en-US" sz="1400" dirty="0"/>
              <a:t>想把每个顶点都染成某一种</a:t>
            </a:r>
            <a:r>
              <a:rPr lang="zh-CN" altLang="en-US" sz="1400" dirty="0" smtClean="0"/>
              <a:t>颜色</a:t>
            </a:r>
            <a:r>
              <a:rPr lang="en-US" altLang="zh-CN" sz="1400" dirty="0" smtClean="0"/>
              <a:t>k(k</a:t>
            </a:r>
            <a:r>
              <a:rPr lang="zh-CN" altLang="en-US" sz="1400" dirty="0" smtClean="0"/>
              <a:t>≤</a:t>
            </a:r>
            <a:r>
              <a:rPr lang="en-US" altLang="zh-CN" sz="1400" dirty="0" smtClean="0"/>
              <a:t>c)</a:t>
            </a:r>
            <a:r>
              <a:rPr lang="zh-CN" altLang="en-US" sz="1400" dirty="0" smtClean="0"/>
              <a:t>，</a:t>
            </a:r>
            <a:r>
              <a:rPr lang="zh-CN" altLang="en-US" sz="1400" dirty="0"/>
              <a:t>且相邻顶点颜色不能相同。</a:t>
            </a:r>
          </a:p>
          <a:p>
            <a:r>
              <a:rPr lang="zh-CN" altLang="en-US" sz="1400" dirty="0" smtClean="0"/>
              <a:t>    他</a:t>
            </a:r>
            <a:r>
              <a:rPr lang="zh-CN" altLang="en-US" sz="1400" dirty="0"/>
              <a:t>想知道所有可行方案共有多少。于是他在纸上算了算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5</a:t>
            </a:r>
            <a:r>
              <a:rPr lang="zh-CN" altLang="en-US" sz="1400" dirty="0" smtClean="0"/>
              <a:t>分钟</a:t>
            </a:r>
            <a:r>
              <a:rPr lang="zh-CN" altLang="en-US" sz="1400" dirty="0"/>
              <a:t>就解决了这题。</a:t>
            </a:r>
          </a:p>
          <a:p>
            <a:r>
              <a:rPr lang="zh-CN" altLang="en-US" sz="1400" dirty="0" smtClean="0"/>
              <a:t>    于是</a:t>
            </a:r>
            <a:r>
              <a:rPr lang="zh-CN" altLang="en-US" sz="1400" dirty="0"/>
              <a:t>他觉得</a:t>
            </a:r>
            <a:r>
              <a:rPr lang="zh-CN" altLang="en-US" sz="1400" dirty="0" smtClean="0"/>
              <a:t>太</a:t>
            </a:r>
            <a:r>
              <a:rPr lang="en-US" altLang="zh-CN" sz="1400" dirty="0" smtClean="0"/>
              <a:t>low</a:t>
            </a:r>
            <a:r>
              <a:rPr lang="zh-CN" altLang="en-US" sz="1400" dirty="0" smtClean="0"/>
              <a:t>了</a:t>
            </a:r>
            <a:r>
              <a:rPr lang="zh-CN" altLang="en-US" sz="1400" dirty="0"/>
              <a:t>，便定义了以下骚操作。</a:t>
            </a:r>
          </a:p>
          <a:p>
            <a:r>
              <a:rPr lang="zh-CN" altLang="en-US" sz="1400" dirty="0" smtClean="0"/>
              <a:t>    </a:t>
            </a:r>
            <a:r>
              <a:rPr lang="en-US" altLang="zh-CN" sz="1400" dirty="0" smtClean="0"/>
              <a:t>1</a:t>
            </a:r>
            <a:r>
              <a:rPr lang="en-US" altLang="zh-CN" sz="1400" dirty="0"/>
              <a:t>. </a:t>
            </a:r>
            <a:r>
              <a:rPr lang="en-US" altLang="zh-CN" sz="1400" b="1" dirty="0" smtClean="0"/>
              <a:t>1 </a:t>
            </a:r>
            <a:r>
              <a:rPr lang="en-US" altLang="zh-CN" sz="1400" b="1" dirty="0"/>
              <a:t>x </a:t>
            </a:r>
            <a:r>
              <a:rPr lang="en-US" altLang="zh-CN" sz="1400" b="1" dirty="0" smtClean="0"/>
              <a:t>p</a:t>
            </a:r>
            <a:r>
              <a:rPr lang="zh-CN" altLang="en-US" sz="1400" dirty="0" smtClean="0"/>
              <a:t>：</a:t>
            </a:r>
            <a:r>
              <a:rPr lang="zh-CN" altLang="en-US" sz="1400" dirty="0"/>
              <a:t>表示</a:t>
            </a:r>
            <a:r>
              <a:rPr lang="zh-CN" altLang="en-US" sz="1400" dirty="0" smtClean="0"/>
              <a:t>第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顶点必须染</a:t>
            </a:r>
            <a:r>
              <a:rPr lang="zh-CN" altLang="en-US" sz="1400" dirty="0" smtClean="0"/>
              <a:t>颜色</a:t>
            </a:r>
            <a:r>
              <a:rPr lang="en-US" altLang="zh-CN" sz="1400" dirty="0" smtClean="0"/>
              <a:t>p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zh-CN" altLang="en-US" sz="1400" dirty="0" smtClean="0"/>
              <a:t>    </a:t>
            </a:r>
            <a:r>
              <a:rPr lang="en-US" altLang="zh-CN" sz="1400" dirty="0" smtClean="0"/>
              <a:t>2</a:t>
            </a:r>
            <a:r>
              <a:rPr lang="en-US" altLang="zh-CN" sz="1400" dirty="0"/>
              <a:t>. </a:t>
            </a:r>
            <a:r>
              <a:rPr lang="en-US" altLang="zh-CN" sz="1400" b="1" dirty="0" smtClean="0"/>
              <a:t>2 </a:t>
            </a:r>
            <a:r>
              <a:rPr lang="en-US" altLang="zh-CN" sz="1400" b="1" dirty="0"/>
              <a:t>x </a:t>
            </a:r>
            <a:r>
              <a:rPr lang="en-US" altLang="zh-CN" sz="1400" b="1" dirty="0" smtClean="0"/>
              <a:t>p</a:t>
            </a:r>
            <a:r>
              <a:rPr lang="zh-CN" altLang="en-US" sz="1400" dirty="0" smtClean="0"/>
              <a:t>：</a:t>
            </a:r>
            <a:r>
              <a:rPr lang="zh-CN" altLang="en-US" sz="1400" dirty="0"/>
              <a:t>表示</a:t>
            </a:r>
            <a:r>
              <a:rPr lang="zh-CN" altLang="en-US" sz="1400" dirty="0" smtClean="0"/>
              <a:t>第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顶点必须不染</a:t>
            </a:r>
            <a:r>
              <a:rPr lang="zh-CN" altLang="en-US" sz="1400" dirty="0" smtClean="0"/>
              <a:t>颜色</a:t>
            </a:r>
            <a:r>
              <a:rPr lang="en-US" altLang="zh-CN" sz="1400" dirty="0" smtClean="0"/>
              <a:t>p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zh-CN" altLang="en-US" sz="1400" dirty="0" smtClean="0"/>
              <a:t>    </a:t>
            </a:r>
            <a:r>
              <a:rPr lang="en-US" altLang="zh-CN" sz="1400" dirty="0" smtClean="0"/>
              <a:t>3. </a:t>
            </a:r>
            <a:r>
              <a:rPr lang="en-US" altLang="zh-CN" sz="1400" b="1" dirty="0" smtClean="0"/>
              <a:t>3 </a:t>
            </a:r>
            <a:r>
              <a:rPr lang="en-US" altLang="zh-CN" sz="1400" b="1" dirty="0"/>
              <a:t>x </a:t>
            </a:r>
            <a:r>
              <a:rPr lang="en-US" altLang="zh-CN" sz="1400" b="1" dirty="0" smtClean="0"/>
              <a:t>y</a:t>
            </a:r>
            <a:r>
              <a:rPr lang="zh-CN" altLang="en-US" sz="1400" dirty="0" smtClean="0"/>
              <a:t>：</a:t>
            </a:r>
            <a:r>
              <a:rPr lang="zh-CN" altLang="en-US" sz="1400" dirty="0"/>
              <a:t>表示更改</a:t>
            </a:r>
            <a:r>
              <a:rPr lang="zh-CN" altLang="en-US" sz="1400" dirty="0" smtClean="0"/>
              <a:t>第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顶点与</a:t>
            </a:r>
            <a:r>
              <a:rPr lang="zh-CN" altLang="en-US" sz="1400" dirty="0" smtClean="0"/>
              <a:t>第</a:t>
            </a:r>
            <a:r>
              <a:rPr lang="en-US" altLang="zh-CN" sz="1400" dirty="0" smtClean="0"/>
              <a:t>y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顶点之间边的属性（保证 </a:t>
            </a:r>
            <a:r>
              <a:rPr lang="en-US" altLang="zh-CN" sz="1400" dirty="0" smtClean="0"/>
              <a:t>y=x±1</a:t>
            </a:r>
            <a:r>
              <a:rPr lang="zh-CN" altLang="en-US" sz="1400" dirty="0" smtClean="0"/>
              <a:t>，</a:t>
            </a:r>
            <a:r>
              <a:rPr lang="zh-CN" altLang="en-US" sz="1400" dirty="0"/>
              <a:t>且 </a:t>
            </a:r>
            <a:r>
              <a:rPr lang="en-US" altLang="zh-CN" sz="1400" dirty="0" smtClean="0"/>
              <a:t>x,y</a:t>
            </a:r>
            <a:r>
              <a:rPr lang="en-US" altLang="zh-CN" sz="1400" dirty="0"/>
              <a:t>≠</a:t>
            </a:r>
            <a:r>
              <a:rPr lang="en-US" altLang="zh-CN" sz="1400" dirty="0" smtClean="0"/>
              <a:t>1,n</a:t>
            </a:r>
            <a:r>
              <a:rPr lang="zh-CN" altLang="en-US" sz="1400" dirty="0" smtClean="0"/>
              <a:t>），</a:t>
            </a:r>
            <a:r>
              <a:rPr lang="zh-CN" altLang="en-US" sz="1400" dirty="0"/>
              <a:t>即</a:t>
            </a:r>
            <a:r>
              <a:rPr lang="zh-CN" altLang="en-US" sz="1400" dirty="0" smtClean="0"/>
              <a:t>第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顶点必须与</a:t>
            </a:r>
            <a:r>
              <a:rPr lang="zh-CN" altLang="en-US" sz="1400" dirty="0" smtClean="0"/>
              <a:t>第</a:t>
            </a:r>
            <a:r>
              <a:rPr lang="en-US" altLang="zh-CN" sz="1400" dirty="0" smtClean="0"/>
              <a:t>y</a:t>
            </a:r>
            <a:r>
              <a:rPr lang="zh-CN" altLang="en-US" sz="1400" dirty="0" smtClean="0"/>
              <a:t>个</a:t>
            </a:r>
            <a:r>
              <a:rPr lang="zh-CN" altLang="en-US" sz="1400" dirty="0"/>
              <a:t>顶点颜色相同。</a:t>
            </a:r>
          </a:p>
          <a:p>
            <a:r>
              <a:rPr lang="zh-CN" altLang="en-US" sz="1400" dirty="0" smtClean="0"/>
              <a:t>    现在</a:t>
            </a:r>
            <a:r>
              <a:rPr lang="zh-CN" altLang="en-US" sz="1400" dirty="0"/>
              <a:t>，他想知道所有可行的方案共有多少种。由于结果可能过大，你只需输出它</a:t>
            </a:r>
            <a:r>
              <a:rPr lang="zh-CN" altLang="en-US" sz="1400" dirty="0" smtClean="0"/>
              <a:t>对</a:t>
            </a:r>
            <a:r>
              <a:rPr lang="en-US" altLang="zh-CN" sz="1400" dirty="0" smtClean="0"/>
              <a:t>987654321</a:t>
            </a:r>
            <a:r>
              <a:rPr lang="zh-CN" altLang="en-US" sz="1400" dirty="0" smtClean="0"/>
              <a:t>取</a:t>
            </a:r>
            <a:r>
              <a:rPr lang="zh-CN" altLang="en-US" sz="1400" dirty="0"/>
              <a:t>模的结果即可。</a:t>
            </a:r>
            <a:endParaRPr lang="zh-CN" altLang="zh-CN" sz="1400" dirty="0" smtClean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/>
              <a:t>3 0 3</a:t>
            </a:r>
          </a:p>
          <a:p>
            <a:r>
              <a:rPr lang="zh-CN" altLang="zh-CN" sz="1400" b="1" dirty="0"/>
              <a:t>【样例</a:t>
            </a:r>
            <a:r>
              <a:rPr lang="zh-CN" altLang="en-US" sz="1400" b="1" dirty="0"/>
              <a:t>输出</a:t>
            </a:r>
            <a:r>
              <a:rPr lang="zh-CN" altLang="zh-CN" sz="1400" b="1" dirty="0"/>
              <a:t>】</a:t>
            </a:r>
            <a:endParaRPr lang="zh-CN" altLang="zh-CN" sz="1400" dirty="0"/>
          </a:p>
          <a:p>
            <a:r>
              <a:rPr lang="en-US" altLang="zh-CN" sz="1400" dirty="0"/>
              <a:t>6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934530"/>
            <a:ext cx="5368017" cy="116955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</a:t>
            </a:r>
            <a:r>
              <a:rPr lang="zh-CN" altLang="en-US" sz="1400" b="1" dirty="0"/>
              <a:t>算法分析</a:t>
            </a:r>
            <a:r>
              <a:rPr lang="zh-CN" altLang="zh-CN" sz="1400" b="1" dirty="0"/>
              <a:t>】</a:t>
            </a:r>
            <a:endParaRPr lang="zh-CN" altLang="zh-CN" sz="1400" dirty="0"/>
          </a:p>
          <a:p>
            <a:r>
              <a:rPr lang="zh-CN" altLang="en-US" sz="1400" dirty="0"/>
              <a:t>    </a:t>
            </a:r>
            <a:r>
              <a:rPr lang="zh-CN" altLang="en-US" sz="1400" dirty="0" smtClean="0"/>
              <a:t>注意到只有相邻点存在限制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相同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不相同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，可以说前一个顶点的颜色确定后，后一个顶点可选颜色可被确定。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因为颜色种数很少，可以直接枚举前一个顶点选颜色</a:t>
            </a:r>
            <a:r>
              <a:rPr lang="en-US" altLang="zh-CN" sz="1400" dirty="0" smtClean="0"/>
              <a:t>j</a:t>
            </a:r>
            <a:r>
              <a:rPr lang="zh-CN" altLang="en-US" sz="1400" dirty="0" smtClean="0"/>
              <a:t>，后一个顶点选颜色</a:t>
            </a:r>
            <a:r>
              <a:rPr lang="en-US" altLang="zh-CN" sz="1400" dirty="0" smtClean="0"/>
              <a:t>k</a:t>
            </a:r>
            <a:r>
              <a:rPr lang="zh-CN" altLang="en-US" sz="1400" dirty="0" smtClean="0"/>
              <a:t>的所有情况。</a:t>
            </a:r>
            <a:endParaRPr lang="en-US" altLang="zh-CN" sz="1400" dirty="0" smtClean="0"/>
          </a:p>
        </p:txBody>
      </p:sp>
      <p:sp>
        <p:nvSpPr>
          <p:cNvPr id="2" name="矩形 1"/>
          <p:cNvSpPr/>
          <p:nvPr/>
        </p:nvSpPr>
        <p:spPr>
          <a:xfrm>
            <a:off x="4098791" y="5005126"/>
            <a:ext cx="15724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b="1" dirty="0"/>
              <a:t>【样例输入】</a:t>
            </a:r>
          </a:p>
          <a:p>
            <a:r>
              <a:rPr lang="en-US" altLang="zh-CN" sz="1400" dirty="0" smtClean="0"/>
              <a:t>5 </a:t>
            </a:r>
            <a:r>
              <a:rPr lang="en-US" altLang="zh-CN" sz="1400" dirty="0"/>
              <a:t>2 5</a:t>
            </a:r>
          </a:p>
          <a:p>
            <a:r>
              <a:rPr lang="en-US" altLang="zh-CN" sz="1400" dirty="0"/>
              <a:t>2 3 4</a:t>
            </a:r>
          </a:p>
          <a:p>
            <a:r>
              <a:rPr lang="en-US" altLang="zh-CN" sz="1400" dirty="0"/>
              <a:t>3 2 3</a:t>
            </a:r>
          </a:p>
          <a:p>
            <a:r>
              <a:rPr lang="zh-CN" altLang="zh-CN" sz="1400" b="1" dirty="0"/>
              <a:t>【样例</a:t>
            </a:r>
            <a:r>
              <a:rPr lang="zh-CN" altLang="en-US" sz="1400" b="1" dirty="0"/>
              <a:t>输出</a:t>
            </a:r>
            <a:r>
              <a:rPr lang="zh-CN" altLang="zh-CN" sz="1400" b="1" dirty="0"/>
              <a:t>】</a:t>
            </a:r>
          </a:p>
          <a:p>
            <a:r>
              <a:rPr lang="en-US" altLang="zh-CN" sz="1400" dirty="0" smtClean="0"/>
              <a:t>208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/>
              <p:nvPr/>
            </p:nvSpPr>
            <p:spPr>
              <a:xfrm>
                <a:off x="5892263" y="2104081"/>
                <a:ext cx="5368017" cy="97142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dirty="0" smtClean="0"/>
                  <a:t>    预处理</a:t>
                </a:r>
                <a:r>
                  <a:rPr lang="en-US" altLang="zh-CN" sz="1400" dirty="0" err="1" smtClean="0"/>
                  <a:t>a</a:t>
                </a:r>
                <a:r>
                  <a:rPr lang="en-US" altLang="zh-CN" sz="1400" baseline="-25000" dirty="0" err="1" smtClean="0"/>
                  <a:t>i,j</a:t>
                </a:r>
                <a:r>
                  <a:rPr lang="zh-CN" altLang="en-US" sz="1400" dirty="0" smtClean="0"/>
                  <a:t>，表示第</a:t>
                </a:r>
                <a:r>
                  <a:rPr lang="en-US" altLang="zh-CN" sz="1400" dirty="0" smtClean="0"/>
                  <a:t>i</a:t>
                </a:r>
                <a:r>
                  <a:rPr lang="zh-CN" altLang="en-US" sz="1400" dirty="0" smtClean="0"/>
                  <a:t>个点能否选颜色</a:t>
                </a:r>
                <a:r>
                  <a:rPr lang="en-US" altLang="zh-CN" sz="1400" dirty="0" smtClean="0"/>
                  <a:t>j</a:t>
                </a:r>
                <a:r>
                  <a:rPr lang="zh-CN" altLang="en-US" sz="1400" dirty="0" smtClean="0"/>
                  <a:t>，可以预处理操作</a:t>
                </a:r>
                <a:r>
                  <a:rPr lang="en-US" altLang="zh-CN" sz="1400" dirty="0" smtClean="0"/>
                  <a:t>1,2</a:t>
                </a:r>
                <a:r>
                  <a:rPr lang="zh-CN" altLang="en-US" sz="1400" dirty="0" smtClean="0"/>
                  <a:t>得。</a:t>
                </a:r>
                <a:endParaRPr lang="en-US" altLang="zh-CN" sz="1400" dirty="0" smtClean="0"/>
              </a:p>
              <a:p>
                <a:r>
                  <a:rPr lang="en-US" altLang="zh-CN" sz="1400" dirty="0"/>
                  <a:t> </a:t>
                </a:r>
                <a:r>
                  <a:rPr lang="en-US" altLang="zh-CN" sz="1400" dirty="0" smtClean="0"/>
                  <a:t>   </a:t>
                </a:r>
                <a:r>
                  <a:rPr lang="zh-CN" altLang="en-US" sz="1400" dirty="0" smtClean="0"/>
                  <a:t>对于</a:t>
                </a:r>
                <a:r>
                  <a:rPr lang="en-US" altLang="zh-CN" sz="1400" dirty="0" err="1" smtClean="0"/>
                  <a:t>f</a:t>
                </a:r>
                <a:r>
                  <a:rPr lang="en-US" altLang="zh-CN" sz="1400" baseline="-25000" dirty="0" err="1" smtClean="0"/>
                  <a:t>i,j</a:t>
                </a:r>
                <a:r>
                  <a:rPr lang="zh-CN" altLang="en-US" sz="1400" dirty="0" smtClean="0"/>
                  <a:t>表示第</a:t>
                </a:r>
                <a:r>
                  <a:rPr lang="en-US" altLang="zh-CN" sz="1400" dirty="0" smtClean="0"/>
                  <a:t>i</a:t>
                </a:r>
                <a:r>
                  <a:rPr lang="zh-CN" altLang="en-US" sz="1400" dirty="0" smtClean="0"/>
                  <a:t>个点选了颜色</a:t>
                </a:r>
                <a:r>
                  <a:rPr lang="en-US" altLang="zh-CN" sz="1400" dirty="0" smtClean="0"/>
                  <a:t>j</a:t>
                </a:r>
                <a:r>
                  <a:rPr lang="zh-CN" altLang="en-US" sz="1400" dirty="0" smtClean="0"/>
                  <a:t>、前</a:t>
                </a:r>
                <a:r>
                  <a:rPr lang="en-US" altLang="zh-CN" sz="1400" dirty="0" smtClean="0"/>
                  <a:t>i</a:t>
                </a:r>
                <a:r>
                  <a:rPr lang="zh-CN" altLang="en-US" sz="1400" dirty="0" smtClean="0"/>
                  <a:t>个点颜色选好的总方案数。</a:t>
                </a:r>
                <a:endParaRPr lang="en-US" altLang="zh-CN" sz="1400" dirty="0" smtClean="0"/>
              </a:p>
              <a:p>
                <a:r>
                  <a:rPr lang="en-US" altLang="zh-CN" sz="1400" dirty="0"/>
                  <a:t> </a:t>
                </a:r>
                <a:r>
                  <a:rPr lang="en-US" altLang="zh-CN" sz="1400" dirty="0" smtClean="0"/>
                  <a:t>   </a:t>
                </a:r>
                <a:r>
                  <a:rPr lang="zh-CN" altLang="en-US" sz="1400" dirty="0" smtClean="0"/>
                  <a:t>显然，若操作</a:t>
                </a:r>
                <a:r>
                  <a:rPr lang="en-US" altLang="zh-CN" sz="1400" dirty="0" smtClean="0"/>
                  <a:t>3</a:t>
                </a:r>
                <a:r>
                  <a:rPr lang="zh-CN" altLang="en-US" sz="1400" dirty="0" smtClean="0"/>
                  <a:t>要求点</a:t>
                </a:r>
                <a:r>
                  <a:rPr lang="en-US" altLang="zh-CN" sz="1400" dirty="0" smtClean="0"/>
                  <a:t>i-1,i</a:t>
                </a:r>
                <a:r>
                  <a:rPr lang="zh-CN" altLang="en-US" sz="1400" dirty="0" smtClean="0"/>
                  <a:t>颜色相同：</a:t>
                </a:r>
                <a:endParaRPr lang="en-US" altLang="zh-CN" sz="1400" dirty="0" smtClean="0"/>
              </a:p>
              <a:p>
                <a:r>
                  <a:rPr lang="en-US" altLang="zh-CN" sz="1400" dirty="0"/>
                  <a:t>	</a:t>
                </a: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1400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,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CN" sz="1400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1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1400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−1,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CN" sz="1400" i="1" dirty="0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zh-CN" sz="1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1400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,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1400" baseline="-25000" dirty="0" smtClean="0"/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63" y="2104081"/>
                <a:ext cx="5368017" cy="971420"/>
              </a:xfrm>
              <a:prstGeom prst="rect">
                <a:avLst/>
              </a:prstGeom>
              <a:blipFill rotWithShape="1">
                <a:blip r:embed="rId5"/>
                <a:stretch>
                  <a:fillRect t="-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/>
              <p:nvPr/>
            </p:nvSpPr>
            <p:spPr>
              <a:xfrm>
                <a:off x="5892261" y="3082443"/>
                <a:ext cx="5368017" cy="97295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dirty="0" smtClean="0"/>
                  <a:t>    </a:t>
                </a:r>
                <a:r>
                  <a:rPr lang="zh-CN" altLang="en-US" sz="1400" dirty="0" smtClean="0"/>
                  <a:t>若要求不相同，则：</a:t>
                </a:r>
                <a:endParaRPr lang="en-US" altLang="zh-CN" sz="1400" dirty="0" smtClean="0"/>
              </a:p>
              <a:p>
                <a:r>
                  <a:rPr lang="en-US" altLang="zh-CN" sz="1400" baseline="-25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1400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,</m:t>
                        </m:r>
                        <m:r>
                          <a:rPr lang="en-US" altLang="zh-CN" sz="1400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/>
                      </a:rPr>
                      <m:t>=(</m:t>
                    </m:r>
                    <m:r>
                      <a:rPr lang="en-US" altLang="zh-CN" sz="1400" b="0" i="1" dirty="0" smtClean="0">
                        <a:latin typeface="Cambria Math"/>
                      </a:rPr>
                      <m:t>𝑠𝑢𝑚</m:t>
                    </m:r>
                    <m:r>
                      <a:rPr lang="en-US" altLang="zh-CN" sz="1400" b="0" i="1" dirty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1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1400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−1,</m:t>
                        </m:r>
                        <m:r>
                          <a:rPr lang="en-US" altLang="zh-CN" sz="1400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/>
                      </a:rPr>
                      <m:t>)</m:t>
                    </m:r>
                    <m:r>
                      <a:rPr lang="en-US" altLang="zh-CN" sz="1400" b="0" i="1" dirty="0" smtClean="0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altLang="zh-CN" sz="1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1400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sz="1400" i="1" dirty="0">
                            <a:latin typeface="Cambria Math"/>
                          </a:rPr>
                          <m:t>,</m:t>
                        </m:r>
                        <m:r>
                          <a:rPr lang="en-US" altLang="zh-CN" sz="1400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1400" baseline="-25000" dirty="0" smtClean="0"/>
              </a:p>
              <a:p>
                <a:r>
                  <a:rPr lang="en-US" altLang="zh-CN" sz="1400" dirty="0" smtClean="0"/>
                  <a:t>    </a:t>
                </a:r>
                <a:r>
                  <a:rPr lang="zh-CN" altLang="en-US" sz="1400" dirty="0" smtClean="0"/>
                  <a:t>其中</a:t>
                </a:r>
                <a:endParaRPr lang="en-US" altLang="zh-CN" sz="1400" dirty="0" smtClean="0"/>
              </a:p>
              <a:p>
                <a:r>
                  <a:rPr lang="en-US" altLang="zh-CN" sz="1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dirty="0" smtClean="0">
                        <a:latin typeface="Cambria Math"/>
                      </a:rPr>
                      <m:t>sum</m:t>
                    </m:r>
                    <m:r>
                      <a:rPr lang="en-US" altLang="zh-CN" sz="1400" b="0" i="0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400" b="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400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400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sz="1400" b="0" i="1" dirty="0" smtClean="0">
                            <a:latin typeface="Cambria Math"/>
                          </a:rPr>
                          <m:t>𝑐</m:t>
                        </m:r>
                      </m:sup>
                      <m:e>
                        <m:sSub>
                          <m:sSubPr>
                            <m:ctrlPr>
                              <a:rPr lang="en-US" altLang="zh-CN" sz="1400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sz="1400" b="0" i="1" dirty="0" smtClean="0">
                                <a:latin typeface="Cambria Math"/>
                              </a:rPr>
                              <m:t>−1,</m:t>
                            </m:r>
                            <m:r>
                              <a:rPr lang="en-US" altLang="zh-CN" sz="1400" b="0" i="1" dirty="0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1400" dirty="0" smtClean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61" y="3082443"/>
                <a:ext cx="5368017" cy="972959"/>
              </a:xfrm>
              <a:prstGeom prst="rect">
                <a:avLst/>
              </a:prstGeom>
              <a:blipFill rotWithShape="1">
                <a:blip r:embed="rId6"/>
                <a:stretch>
                  <a:fillRect t="-629" b="-50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3" y="4055402"/>
            <a:ext cx="5368017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400" dirty="0" smtClean="0"/>
              <a:t>    考虑到环的问题，复刻点</a:t>
            </a:r>
            <a:r>
              <a:rPr lang="en-US" altLang="zh-CN" sz="1400" dirty="0" smtClean="0"/>
              <a:t>n+1=1</a:t>
            </a:r>
            <a:r>
              <a:rPr lang="zh-CN" altLang="en-US" sz="1400" dirty="0" smtClean="0"/>
              <a:t>号点即可。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05532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408765" y="17722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P2293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332398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 dirty="0" smtClean="0"/>
              <a:t> [</a:t>
            </a:r>
            <a:r>
              <a:rPr lang="en-US" altLang="zh-CN" sz="1400" b="1" dirty="0"/>
              <a:t>HNOI2004] </a:t>
            </a:r>
            <a:r>
              <a:rPr lang="zh-CN" altLang="en-US" sz="1400" b="1" dirty="0"/>
              <a:t>高精度开</a:t>
            </a:r>
            <a:r>
              <a:rPr lang="zh-CN" altLang="en-US" sz="1400" b="1" dirty="0" smtClean="0"/>
              <a:t>根</a:t>
            </a:r>
            <a:endParaRPr lang="zh-CN" altLang="zh-CN" sz="1400" dirty="0" smtClean="0"/>
          </a:p>
          <a:p>
            <a:r>
              <a:rPr lang="zh-CN" altLang="zh-CN" sz="1400" b="1" dirty="0" smtClean="0"/>
              <a:t>【题目描述】</a:t>
            </a:r>
            <a:endParaRPr lang="zh-CN" altLang="zh-CN" sz="1400" dirty="0"/>
          </a:p>
          <a:p>
            <a:r>
              <a:rPr lang="zh-CN" altLang="en-US" sz="1400" dirty="0" smtClean="0"/>
              <a:t>    实数</a:t>
            </a:r>
            <a:r>
              <a:rPr lang="zh-CN" altLang="en-US" sz="1400" dirty="0"/>
              <a:t>的高精度开</a:t>
            </a:r>
            <a:r>
              <a:rPr lang="en-US" altLang="zh-CN" sz="1400" dirty="0"/>
              <a:t>m</a:t>
            </a:r>
            <a:r>
              <a:rPr lang="zh-CN" altLang="en-US" sz="1400" dirty="0"/>
              <a:t>次根。</a:t>
            </a:r>
          </a:p>
          <a:p>
            <a:r>
              <a:rPr lang="zh-CN" altLang="en-US" sz="1400" dirty="0" smtClean="0"/>
              <a:t>    现在</a:t>
            </a:r>
            <a:r>
              <a:rPr lang="zh-CN" altLang="en-US" sz="1400" dirty="0"/>
              <a:t>要做的只是这项工作的第一步：只对自然数进行开整数次根，求出它的一个非负根，并且不考虑结果的小数部分，只要求把结果截断取整即可。</a:t>
            </a:r>
          </a:p>
          <a:p>
            <a:r>
              <a:rPr lang="zh-CN" altLang="en-US" sz="1400" dirty="0" smtClean="0"/>
              <a:t>    程序</a:t>
            </a:r>
            <a:r>
              <a:rPr lang="zh-CN" altLang="en-US" sz="1400" dirty="0"/>
              <a:t>需要根据给定的输入，包括需要开根的次数，以及被开根的整数；计算出它的非负根取整后的结果</a:t>
            </a:r>
            <a:r>
              <a:rPr lang="zh-CN" altLang="en-US" sz="1400" dirty="0" smtClean="0"/>
              <a:t>。</a:t>
            </a:r>
            <a:endParaRPr lang="zh-CN" altLang="zh-CN" sz="1400" dirty="0" smtClean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 smtClean="0"/>
              <a:t>3</a:t>
            </a:r>
            <a:endParaRPr lang="en-US" altLang="zh-CN" sz="1400" dirty="0"/>
          </a:p>
          <a:p>
            <a:r>
              <a:rPr lang="en-US" altLang="zh-CN" sz="1400" dirty="0"/>
              <a:t>1000000000</a:t>
            </a:r>
          </a:p>
          <a:p>
            <a:endParaRPr lang="en-US" altLang="zh-CN" sz="1400" dirty="0" smtClean="0"/>
          </a:p>
          <a:p>
            <a:r>
              <a:rPr lang="zh-CN" altLang="zh-CN" sz="1400" b="1" dirty="0" smtClean="0"/>
              <a:t>【样例</a:t>
            </a:r>
            <a:r>
              <a:rPr lang="zh-CN" altLang="en-US" sz="1400" b="1" dirty="0" smtClean="0"/>
              <a:t>输出</a:t>
            </a:r>
            <a:r>
              <a:rPr lang="zh-CN" altLang="zh-CN" sz="1400" b="1" dirty="0" smtClean="0"/>
              <a:t>】</a:t>
            </a:r>
            <a:endParaRPr lang="zh-CN" altLang="zh-CN" sz="1400" dirty="0"/>
          </a:p>
          <a:p>
            <a:r>
              <a:rPr lang="en-US" altLang="zh-CN" sz="1400" dirty="0" smtClean="0"/>
              <a:t>1000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934530"/>
            <a:ext cx="5368017" cy="48320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</a:t>
            </a:r>
            <a:r>
              <a:rPr lang="zh-CN" altLang="en-US" sz="1400" b="1" dirty="0"/>
              <a:t>算法分析</a:t>
            </a:r>
            <a:r>
              <a:rPr lang="zh-CN" altLang="zh-CN" sz="1400" b="1" dirty="0"/>
              <a:t>】</a:t>
            </a:r>
            <a:endParaRPr lang="zh-CN" altLang="zh-CN" sz="1400" dirty="0"/>
          </a:p>
          <a:p>
            <a:r>
              <a:rPr lang="zh-CN" altLang="en-US" sz="1400" dirty="0"/>
              <a:t>    </a:t>
            </a:r>
            <a:r>
              <a:rPr lang="zh-CN" altLang="en-US" sz="1400" dirty="0" smtClean="0"/>
              <a:t>根据题意，给出</a:t>
            </a:r>
            <a:r>
              <a:rPr lang="en-US" altLang="zh-CN" sz="1400" dirty="0" smtClean="0"/>
              <a:t>B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，求出</a:t>
            </a:r>
            <a:r>
              <a:rPr lang="en-US" altLang="zh-CN" sz="1400" dirty="0" smtClean="0"/>
              <a:t>A</a:t>
            </a:r>
            <a:r>
              <a:rPr lang="en-US" altLang="zh-CN" sz="1400" baseline="30000" dirty="0" smtClean="0"/>
              <a:t>B</a:t>
            </a:r>
            <a:r>
              <a:rPr lang="en-US" altLang="zh-CN" sz="1400" dirty="0" smtClean="0"/>
              <a:t>=C</a:t>
            </a:r>
            <a:r>
              <a:rPr lang="zh-CN" altLang="en-US" sz="1400" dirty="0" smtClean="0"/>
              <a:t>的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，对结果保留整数部分向下取整。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我们可以用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在</a:t>
            </a:r>
            <a:r>
              <a:rPr lang="en-US" altLang="zh-CN" sz="1400" dirty="0" smtClean="0"/>
              <a:t>[1,C]</a:t>
            </a:r>
            <a:r>
              <a:rPr lang="zh-CN" altLang="en-US" sz="1400" dirty="0" smtClean="0"/>
              <a:t>的范围枚举</a:t>
            </a:r>
            <a:r>
              <a:rPr lang="en-US" altLang="zh-CN" sz="1400" dirty="0" err="1" smtClean="0"/>
              <a:t>i</a:t>
            </a:r>
            <a:r>
              <a:rPr lang="en-US" altLang="zh-CN" sz="1400" baseline="30000" dirty="0" err="1" smtClean="0"/>
              <a:t>B</a:t>
            </a:r>
            <a:r>
              <a:rPr lang="zh-CN" altLang="en-US" sz="1400" dirty="0" smtClean="0"/>
              <a:t>的结果。若存在</a:t>
            </a:r>
            <a:r>
              <a:rPr lang="en-US" altLang="zh-CN" sz="1400" dirty="0" err="1" smtClean="0"/>
              <a:t>i</a:t>
            </a:r>
            <a:r>
              <a:rPr lang="en-US" altLang="zh-CN" sz="1400" baseline="30000" dirty="0" err="1" smtClean="0"/>
              <a:t>B</a:t>
            </a:r>
            <a:r>
              <a:rPr lang="en-US" altLang="zh-CN" sz="1400" dirty="0" smtClean="0"/>
              <a:t>&lt;=C&lt;i</a:t>
            </a:r>
            <a:r>
              <a:rPr lang="en-US" altLang="zh-CN" sz="1400" baseline="30000" dirty="0" smtClean="0"/>
              <a:t>B+1</a:t>
            </a:r>
            <a:r>
              <a:rPr lang="zh-CN" altLang="en-US" sz="1400" dirty="0" smtClean="0"/>
              <a:t>，则说明</a:t>
            </a:r>
            <a:r>
              <a:rPr lang="en-US" altLang="zh-CN" sz="1400" dirty="0" smtClean="0"/>
              <a:t>A=i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因为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是一个不超过</a:t>
            </a:r>
            <a:r>
              <a:rPr lang="en-US" altLang="zh-CN" sz="1400" dirty="0" smtClean="0"/>
              <a:t>10</a:t>
            </a:r>
            <a:r>
              <a:rPr lang="en-US" altLang="zh-CN" sz="1400" baseline="30000" dirty="0" smtClean="0"/>
              <a:t>10000</a:t>
            </a:r>
            <a:r>
              <a:rPr lang="zh-CN" altLang="en-US" sz="1400" dirty="0" smtClean="0"/>
              <a:t>的数。对于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我们需要用高精度去存储。且满足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越大，</a:t>
            </a:r>
            <a:r>
              <a:rPr lang="en-US" altLang="zh-CN" sz="1400" dirty="0" err="1" smtClean="0"/>
              <a:t>i</a:t>
            </a:r>
            <a:r>
              <a:rPr lang="en-US" altLang="zh-CN" sz="1400" baseline="30000" dirty="0" err="1" smtClean="0"/>
              <a:t>B</a:t>
            </a:r>
            <a:r>
              <a:rPr lang="zh-CN" altLang="en-US" sz="1400" dirty="0" smtClean="0"/>
              <a:t>越大，因此可以对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的枚举用二分进行。</a:t>
            </a:r>
            <a:endParaRPr lang="en-US" altLang="zh-CN" sz="1400" dirty="0" smtClean="0"/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二分的次数是</a:t>
            </a:r>
            <a:r>
              <a:rPr lang="en-US" altLang="zh-CN" sz="1400" dirty="0" smtClean="0"/>
              <a:t>log2(10</a:t>
            </a:r>
            <a:r>
              <a:rPr lang="en-US" altLang="zh-CN" sz="1400" baseline="30000" dirty="0" smtClean="0"/>
              <a:t>10000</a:t>
            </a:r>
            <a:r>
              <a:rPr lang="en-US" altLang="zh-CN" sz="1400" dirty="0" smtClean="0"/>
              <a:t>)=10000×log2(10)</a:t>
            </a:r>
            <a:r>
              <a:rPr lang="zh-CN" altLang="en-US" sz="1400" dirty="0" smtClean="0"/>
              <a:t>≈</a:t>
            </a:r>
            <a:r>
              <a:rPr lang="en-US" altLang="zh-CN" sz="1400" dirty="0" smtClean="0"/>
              <a:t>33219</a:t>
            </a:r>
            <a:r>
              <a:rPr lang="zh-CN" altLang="en-US" sz="1400" dirty="0" smtClean="0"/>
              <a:t>次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每次二分都需要计算当前枚举的重点</a:t>
            </a:r>
            <a:r>
              <a:rPr lang="en-US" altLang="zh-CN" sz="1400" dirty="0" err="1" smtClean="0"/>
              <a:t>i</a:t>
            </a:r>
            <a:r>
              <a:rPr lang="en-US" altLang="zh-CN" sz="1400" baseline="30000" dirty="0" err="1" smtClean="0"/>
              <a:t>B</a:t>
            </a:r>
            <a:r>
              <a:rPr lang="zh-CN" altLang="en-US" sz="1400" dirty="0" smtClean="0"/>
              <a:t>，需要对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进行</a:t>
            </a:r>
            <a:r>
              <a:rPr lang="en-US" altLang="zh-CN" sz="1400" dirty="0" smtClean="0"/>
              <a:t>B-1</a:t>
            </a:r>
            <a:r>
              <a:rPr lang="zh-CN" altLang="en-US" sz="1400" dirty="0" smtClean="0"/>
              <a:t>次高精度乘法。可以对求</a:t>
            </a:r>
            <a:r>
              <a:rPr lang="en-US" altLang="zh-CN" sz="1400" dirty="0" err="1" smtClean="0"/>
              <a:t>i</a:t>
            </a:r>
            <a:r>
              <a:rPr lang="en-US" altLang="zh-CN" sz="1400" baseline="30000" dirty="0" err="1" smtClean="0"/>
              <a:t>B</a:t>
            </a:r>
            <a:r>
              <a:rPr lang="zh-CN" altLang="en-US" sz="1400" dirty="0" smtClean="0"/>
              <a:t>进行快速幂，如此最多求</a:t>
            </a:r>
            <a:r>
              <a:rPr lang="en-US" altLang="zh-CN" sz="1400" dirty="0" smtClean="0"/>
              <a:t>log2(B)</a:t>
            </a:r>
            <a:r>
              <a:rPr lang="zh-CN" altLang="en-US" sz="1400" dirty="0" smtClean="0"/>
              <a:t>次高精度乘法，也就是</a:t>
            </a:r>
            <a:r>
              <a:rPr lang="en-US" altLang="zh-CN" sz="1400" dirty="0" smtClean="0"/>
              <a:t>8</a:t>
            </a:r>
            <a:r>
              <a:rPr lang="zh-CN" altLang="en-US" sz="1400" dirty="0" smtClean="0"/>
              <a:t>次。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每次高精度乘法，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的最长长度可能是</a:t>
            </a:r>
            <a:r>
              <a:rPr lang="en-US" altLang="zh-CN" sz="1400" dirty="0" smtClean="0"/>
              <a:t>10000</a:t>
            </a:r>
            <a:r>
              <a:rPr lang="zh-CN" altLang="en-US" sz="1400" dirty="0" smtClean="0"/>
              <a:t>，理论高精乘法复杂度</a:t>
            </a:r>
            <a:r>
              <a:rPr lang="en-US" altLang="zh-CN" sz="1400" dirty="0" smtClean="0"/>
              <a:t>O(10</a:t>
            </a:r>
            <a:r>
              <a:rPr lang="en-US" altLang="zh-CN" sz="1400" baseline="30000" dirty="0" smtClean="0"/>
              <a:t>8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，可以采用高精度压位的方式，将十进制看作</a:t>
            </a:r>
            <a:r>
              <a:rPr lang="en-US" altLang="zh-CN" sz="1400" dirty="0" smtClean="0"/>
              <a:t>10000</a:t>
            </a:r>
            <a:r>
              <a:rPr lang="zh-CN" altLang="en-US" sz="1400" dirty="0" smtClean="0"/>
              <a:t>进制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)/10</a:t>
            </a:r>
            <a:r>
              <a:rPr lang="en-US" altLang="zh-CN" sz="1400" baseline="30000" dirty="0" smtClean="0"/>
              <a:t>8</a:t>
            </a:r>
            <a:r>
              <a:rPr lang="zh-CN" altLang="en-US" sz="1400" dirty="0" smtClean="0"/>
              <a:t>进制</a:t>
            </a:r>
            <a:r>
              <a:rPr lang="en-US" altLang="zh-CN" sz="1400" dirty="0" smtClean="0"/>
              <a:t>(long long)</a:t>
            </a:r>
            <a:r>
              <a:rPr lang="zh-CN" altLang="en-US" sz="1400" dirty="0" smtClean="0"/>
              <a:t>。就可以将时间复杂度压到原来的</a:t>
            </a:r>
            <a:r>
              <a:rPr lang="en-US" altLang="zh-CN" sz="1400" dirty="0" smtClean="0"/>
              <a:t>1/16</a:t>
            </a:r>
            <a:r>
              <a:rPr lang="zh-CN" altLang="en-US" sz="1400" dirty="0" smtClean="0"/>
              <a:t>或</a:t>
            </a:r>
            <a:r>
              <a:rPr lang="en-US" altLang="zh-CN" sz="1400" dirty="0" smtClean="0"/>
              <a:t>1/64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如此总时间复杂度为</a:t>
            </a:r>
            <a:r>
              <a:rPr lang="en-US" altLang="zh-CN" sz="1400" dirty="0" smtClean="0"/>
              <a:t>33219*8*10</a:t>
            </a:r>
            <a:r>
              <a:rPr lang="en-US" altLang="zh-CN" sz="1400" baseline="30000" dirty="0" smtClean="0"/>
              <a:t>8</a:t>
            </a:r>
            <a:r>
              <a:rPr lang="en-US" altLang="zh-CN" sz="1400" dirty="0" smtClean="0"/>
              <a:t>/64</a:t>
            </a:r>
            <a:r>
              <a:rPr lang="zh-CN" altLang="en-US" sz="1400" dirty="0" smtClean="0"/>
              <a:t>。看起来还是超时。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首先当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取到</a:t>
            </a:r>
            <a:r>
              <a:rPr lang="en-US" altLang="zh-CN" sz="1400" dirty="0" smtClean="0"/>
              <a:t>10</a:t>
            </a:r>
            <a:r>
              <a:rPr lang="en-US" altLang="zh-CN" sz="1400" baseline="30000" dirty="0" smtClean="0"/>
              <a:t>10000</a:t>
            </a:r>
            <a:r>
              <a:rPr lang="zh-CN" altLang="en-US" sz="1400" dirty="0" smtClean="0"/>
              <a:t>时，</a:t>
            </a:r>
            <a:r>
              <a:rPr lang="en-US" altLang="zh-CN" sz="1400" dirty="0" smtClean="0"/>
              <a:t>B=1</a:t>
            </a:r>
            <a:r>
              <a:rPr lang="zh-CN" altLang="en-US" sz="1400" dirty="0" smtClean="0"/>
              <a:t>，不需要进行高精度乘法；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当</a:t>
            </a:r>
            <a:r>
              <a:rPr lang="en-US" altLang="zh-CN" sz="1400" dirty="0" smtClean="0"/>
              <a:t>B</a:t>
            </a:r>
            <a:r>
              <a:rPr lang="zh-CN" altLang="en-US" sz="1400" dirty="0" smtClean="0"/>
              <a:t>取到</a:t>
            </a:r>
            <a:r>
              <a:rPr lang="en-US" altLang="zh-CN" sz="1400" dirty="0" smtClean="0"/>
              <a:t>50</a:t>
            </a:r>
            <a:r>
              <a:rPr lang="zh-CN" altLang="en-US" sz="1400" dirty="0" smtClean="0"/>
              <a:t>时，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取到</a:t>
            </a:r>
            <a:r>
              <a:rPr lang="en-US" altLang="zh-CN" sz="1400" dirty="0" smtClean="0"/>
              <a:t>10</a:t>
            </a:r>
            <a:r>
              <a:rPr lang="en-US" altLang="zh-CN" sz="1400" baseline="30000" dirty="0" smtClean="0"/>
              <a:t>200</a:t>
            </a:r>
            <a:r>
              <a:rPr lang="zh-CN" altLang="en-US" sz="1400" dirty="0" smtClean="0"/>
              <a:t>，高精度乘法复杂度很小。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实际高精度运算是到不了上限的。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亦可考虑优化二分，如果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的长度为</a:t>
            </a:r>
            <a:r>
              <a:rPr lang="en-US" altLang="zh-CN" sz="1400" dirty="0" smtClean="0"/>
              <a:t>L</a:t>
            </a:r>
            <a:r>
              <a:rPr lang="zh-CN" altLang="en-US" sz="1400" dirty="0" smtClean="0"/>
              <a:t>，则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的长度必然在</a:t>
            </a:r>
            <a:r>
              <a:rPr lang="en-US" altLang="zh-CN" sz="1400" dirty="0" smtClean="0"/>
              <a:t>L/B~L/B+1</a:t>
            </a:r>
            <a:r>
              <a:rPr lang="zh-CN" altLang="en-US" sz="1400" dirty="0" smtClean="0"/>
              <a:t>之间，只需要枚举这两个长度区间内的数即可。</a:t>
            </a:r>
            <a:r>
              <a:rPr lang="en-US" altLang="zh-CN" sz="1400" dirty="0" smtClean="0"/>
              <a:t>B=1</a:t>
            </a:r>
            <a:r>
              <a:rPr lang="zh-CN" altLang="en-US" sz="1400" dirty="0" smtClean="0"/>
              <a:t>，不需要枚举；</a:t>
            </a:r>
            <a:r>
              <a:rPr lang="en-US" altLang="zh-CN" sz="1400" dirty="0" smtClean="0"/>
              <a:t>B</a:t>
            </a:r>
            <a:r>
              <a:rPr lang="zh-CN" altLang="en-US" sz="1400" smtClean="0"/>
              <a:t>越大，需要枚举的长度区间越小，二分次数越小。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44446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408761" y="177223"/>
            <a:ext cx="851516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P4574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440120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 b="1" dirty="0"/>
              <a:t>二进制</a:t>
            </a:r>
            <a:r>
              <a:rPr lang="en-US" altLang="zh-CN" sz="1400" b="1" dirty="0"/>
              <a:t>A+B</a:t>
            </a:r>
            <a:endParaRPr lang="zh-CN" altLang="zh-CN" sz="1400" dirty="0"/>
          </a:p>
          <a:p>
            <a:r>
              <a:rPr lang="zh-CN" altLang="zh-CN" sz="1400" b="1" dirty="0"/>
              <a:t>【题目描述】</a:t>
            </a:r>
            <a:endParaRPr lang="zh-CN" altLang="zh-CN" sz="1400" dirty="0"/>
          </a:p>
          <a:p>
            <a:r>
              <a:rPr lang="zh-CN" altLang="en-US" sz="1400" dirty="0"/>
              <a:t>    输入三个整数</a:t>
            </a:r>
            <a:r>
              <a:rPr lang="en-US" altLang="zh-CN" sz="1400" dirty="0" err="1"/>
              <a:t>a,b,c</a:t>
            </a:r>
            <a:r>
              <a:rPr lang="zh-CN" altLang="en-US" sz="1400" dirty="0"/>
              <a:t>，把它们写成无前导</a:t>
            </a:r>
            <a:r>
              <a:rPr lang="en-US" altLang="zh-CN" sz="1400" dirty="0"/>
              <a:t>0</a:t>
            </a:r>
            <a:r>
              <a:rPr lang="zh-CN" altLang="en-US" sz="1400" dirty="0"/>
              <a:t>的二进制整数。 比如</a:t>
            </a:r>
            <a:r>
              <a:rPr lang="en-US" altLang="zh-CN" sz="1400" dirty="0"/>
              <a:t>a=7,b=6,c=9</a:t>
            </a:r>
            <a:r>
              <a:rPr lang="zh-CN" altLang="en-US" sz="1400" dirty="0"/>
              <a:t>，写成二进制为</a:t>
            </a:r>
            <a:r>
              <a:rPr lang="en-US" altLang="zh-CN" sz="1400" dirty="0"/>
              <a:t>a=111,b=110,c=1001</a:t>
            </a:r>
            <a:r>
              <a:rPr lang="zh-CN" altLang="en-US" sz="1400" dirty="0"/>
              <a:t>。</a:t>
            </a:r>
          </a:p>
          <a:p>
            <a:r>
              <a:rPr lang="zh-CN" altLang="en-US" sz="1400" dirty="0"/>
              <a:t>    接下来以位数最多的为基准，其他整数在前面添加前导</a:t>
            </a:r>
            <a:r>
              <a:rPr lang="en-US" altLang="zh-CN" sz="1400" dirty="0"/>
              <a:t>0</a:t>
            </a:r>
            <a:r>
              <a:rPr lang="zh-CN" altLang="en-US" sz="1400" dirty="0"/>
              <a:t>，使得</a:t>
            </a:r>
            <a:r>
              <a:rPr lang="en-US" altLang="zh-CN" sz="1400" dirty="0" err="1"/>
              <a:t>a,b,c</a:t>
            </a:r>
            <a:r>
              <a:rPr lang="zh-CN" altLang="en-US" sz="1400" dirty="0"/>
              <a:t>拥有相同的位数。比如在刚才的例子中，添加完前导</a:t>
            </a:r>
            <a:r>
              <a:rPr lang="en-US" altLang="zh-CN" sz="1400" dirty="0"/>
              <a:t>0</a:t>
            </a:r>
            <a:r>
              <a:rPr lang="zh-CN" altLang="en-US" sz="1400" dirty="0"/>
              <a:t>后为</a:t>
            </a:r>
            <a:r>
              <a:rPr lang="en-US" altLang="zh-CN" sz="1400" dirty="0"/>
              <a:t>a=0111,b=0110,c=1001</a:t>
            </a:r>
            <a:r>
              <a:rPr lang="zh-CN" altLang="en-US" sz="1400" dirty="0"/>
              <a:t>。</a:t>
            </a:r>
          </a:p>
          <a:p>
            <a:r>
              <a:rPr lang="zh-CN" altLang="en-US" sz="1400" dirty="0"/>
              <a:t>    最后，把</a:t>
            </a:r>
            <a:r>
              <a:rPr lang="en-US" altLang="zh-CN" sz="1400" dirty="0" err="1"/>
              <a:t>a,b,c</a:t>
            </a:r>
            <a:r>
              <a:rPr lang="zh-CN" altLang="en-US" sz="1400" dirty="0"/>
              <a:t>的各位进行重排，得到</a:t>
            </a:r>
            <a:r>
              <a:rPr lang="en-US" altLang="zh-CN" sz="1400" dirty="0"/>
              <a:t>a’, b’, c’</a:t>
            </a:r>
            <a:r>
              <a:rPr lang="zh-CN" altLang="en-US" sz="1400" dirty="0"/>
              <a:t>，使得</a:t>
            </a:r>
            <a:r>
              <a:rPr lang="en-US" altLang="zh-CN" sz="1400" dirty="0" err="1"/>
              <a:t>a’+b</a:t>
            </a:r>
            <a:r>
              <a:rPr lang="en-US" altLang="zh-CN" sz="1400" dirty="0"/>
              <a:t>’=c’</a:t>
            </a:r>
            <a:r>
              <a:rPr lang="zh-CN" altLang="en-US" sz="1400" dirty="0"/>
              <a:t>。比如在刚才的例子中，可以这样重排：</a:t>
            </a:r>
            <a:r>
              <a:rPr lang="en-US" altLang="zh-CN" sz="1400" dirty="0"/>
              <a:t>a’=0111, b’=0011, c’=1010</a:t>
            </a:r>
            <a:r>
              <a:rPr lang="zh-CN" altLang="en-US" sz="1400" dirty="0"/>
              <a:t>。</a:t>
            </a:r>
          </a:p>
          <a:p>
            <a:r>
              <a:rPr lang="zh-CN" altLang="en-US" sz="1400" dirty="0"/>
              <a:t>    你的任务是让</a:t>
            </a:r>
            <a:r>
              <a:rPr lang="en-US" altLang="zh-CN" sz="1400" dirty="0"/>
              <a:t>c’</a:t>
            </a:r>
            <a:r>
              <a:rPr lang="zh-CN" altLang="en-US" sz="1400" dirty="0"/>
              <a:t>最小。如果无解，输出</a:t>
            </a:r>
            <a:r>
              <a:rPr lang="en-US" altLang="zh-CN" sz="1400" dirty="0"/>
              <a:t>-1</a:t>
            </a:r>
            <a:r>
              <a:rPr lang="zh-CN" altLang="en-US" sz="1400" dirty="0"/>
              <a:t>。</a:t>
            </a:r>
            <a:endParaRPr lang="zh-CN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/>
              <a:t>7 6 9</a:t>
            </a:r>
          </a:p>
          <a:p>
            <a:endParaRPr lang="zh-CN" altLang="zh-CN" sz="1400" dirty="0"/>
          </a:p>
          <a:p>
            <a:r>
              <a:rPr lang="zh-CN" altLang="zh-CN" sz="1400" b="1" dirty="0"/>
              <a:t>【样例输出】</a:t>
            </a:r>
            <a:endParaRPr lang="zh-CN" altLang="zh-CN" sz="1400" dirty="0"/>
          </a:p>
          <a:p>
            <a:r>
              <a:rPr lang="en-US" altLang="zh-CN" sz="1400" dirty="0"/>
              <a:t>10</a:t>
            </a:r>
          </a:p>
          <a:p>
            <a:endParaRPr lang="en-US" altLang="zh-CN" sz="1400" dirty="0"/>
          </a:p>
          <a:p>
            <a:r>
              <a:rPr lang="zh-CN" altLang="zh-CN" sz="1400" b="1" dirty="0"/>
              <a:t>【</a:t>
            </a:r>
            <a:r>
              <a:rPr lang="zh-CN" altLang="en-US" sz="1400" b="1" dirty="0"/>
              <a:t>数据范围</a:t>
            </a:r>
            <a:r>
              <a:rPr lang="zh-CN" altLang="zh-CN" sz="1400" b="1" dirty="0"/>
              <a:t>】</a:t>
            </a:r>
            <a:endParaRPr lang="en-US" altLang="zh-CN" sz="1400" dirty="0"/>
          </a:p>
          <a:p>
            <a:r>
              <a:rPr lang="en-US" altLang="zh-CN" sz="1400" dirty="0"/>
              <a:t> a,b,c≤2</a:t>
            </a:r>
            <a:r>
              <a:rPr lang="en-US" altLang="zh-CN" sz="1400" baseline="30000" dirty="0"/>
              <a:t>30</a:t>
            </a:r>
            <a:endParaRPr lang="zh-CN" altLang="zh-CN" sz="1400" baseline="30000" dirty="0"/>
          </a:p>
        </p:txBody>
      </p:sp>
      <p:sp>
        <p:nvSpPr>
          <p:cNvPr id="11" name="矩形 10"/>
          <p:cNvSpPr/>
          <p:nvPr/>
        </p:nvSpPr>
        <p:spPr>
          <a:xfrm>
            <a:off x="5671226" y="1053897"/>
            <a:ext cx="4964872" cy="181588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</a:t>
            </a:r>
            <a:r>
              <a:rPr lang="zh-CN" altLang="en-US" sz="1400" b="1" dirty="0"/>
              <a:t>算法分析</a:t>
            </a:r>
            <a:r>
              <a:rPr lang="zh-CN" altLang="zh-CN" sz="1400" b="1" dirty="0"/>
              <a:t>】</a:t>
            </a:r>
            <a:endParaRPr lang="en-US" altLang="zh-CN" sz="1400" b="1" dirty="0"/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设</a:t>
            </a:r>
            <a:r>
              <a:rPr lang="en-US" altLang="zh-CN" sz="1400" dirty="0">
                <a:sym typeface="+mn-ea"/>
              </a:rPr>
              <a:t>A</a:t>
            </a:r>
            <a:r>
              <a:rPr lang="zh-CN" altLang="en-US" sz="1400" dirty="0">
                <a:sym typeface="+mn-ea"/>
              </a:rPr>
              <a:t>为</a:t>
            </a:r>
            <a:r>
              <a:rPr lang="en-US" altLang="zh-CN" sz="1400" dirty="0">
                <a:sym typeface="+mn-ea"/>
              </a:rPr>
              <a:t>a</a:t>
            </a:r>
            <a:r>
              <a:rPr lang="zh-CN" altLang="en-US" sz="1400" dirty="0">
                <a:sym typeface="+mn-ea"/>
              </a:rPr>
              <a:t>中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的个数，</a:t>
            </a:r>
            <a:r>
              <a:rPr lang="en-US" altLang="zh-CN" sz="1400" dirty="0">
                <a:sym typeface="+mn-ea"/>
              </a:rPr>
              <a:t>B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C</a:t>
            </a:r>
            <a:r>
              <a:rPr lang="zh-CN" altLang="en-US" sz="1400" dirty="0">
                <a:sym typeface="+mn-ea"/>
              </a:rPr>
              <a:t>同理，</a:t>
            </a:r>
            <a:r>
              <a:rPr lang="en-US" altLang="zh-CN" sz="1400" dirty="0">
                <a:sym typeface="+mn-ea"/>
              </a:rPr>
              <a:t>a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b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c</a:t>
            </a:r>
            <a:r>
              <a:rPr lang="zh-CN" altLang="en-US" sz="1400" dirty="0">
                <a:sym typeface="+mn-ea"/>
              </a:rPr>
              <a:t>最大长度为</a:t>
            </a:r>
            <a:r>
              <a:rPr lang="en-US" altLang="zh-CN" sz="1400" dirty="0">
                <a:sym typeface="+mn-ea"/>
              </a:rPr>
              <a:t>L</a:t>
            </a:r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若</a:t>
            </a:r>
            <a:r>
              <a:rPr lang="en-US" altLang="zh-CN" sz="1400" dirty="0">
                <a:sym typeface="+mn-ea"/>
              </a:rPr>
              <a:t>A+B&lt;C</a:t>
            </a:r>
            <a:r>
              <a:rPr lang="zh-CN" altLang="en-US" sz="1400" dirty="0">
                <a:sym typeface="+mn-ea"/>
              </a:rPr>
              <a:t>，显然</a:t>
            </a:r>
            <a:r>
              <a:rPr lang="en-US" altLang="zh-CN" sz="1400" dirty="0">
                <a:sym typeface="+mn-ea"/>
              </a:rPr>
              <a:t>-1</a:t>
            </a:r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若</a:t>
            </a:r>
            <a:r>
              <a:rPr lang="en-US" altLang="zh-CN" sz="1400" dirty="0">
                <a:sym typeface="+mn-ea"/>
              </a:rPr>
              <a:t>A+B==C</a:t>
            </a:r>
            <a:r>
              <a:rPr lang="zh-CN" altLang="en-US" sz="1400" dirty="0">
                <a:sym typeface="+mn-ea"/>
              </a:rPr>
              <a:t>，显然</a:t>
            </a:r>
            <a:r>
              <a:rPr lang="en-US" altLang="zh-CN" sz="1400" dirty="0">
                <a:sym typeface="+mn-ea"/>
              </a:rPr>
              <a:t>c’</a:t>
            </a:r>
            <a:r>
              <a:rPr lang="zh-CN" altLang="en-US" sz="1400" dirty="0">
                <a:sym typeface="+mn-ea"/>
              </a:rPr>
              <a:t>有</a:t>
            </a:r>
            <a:r>
              <a:rPr lang="en-US" altLang="zh-CN" sz="1400" dirty="0">
                <a:sym typeface="+mn-ea"/>
              </a:rPr>
              <a:t>C</a:t>
            </a:r>
            <a:r>
              <a:rPr lang="zh-CN" altLang="en-US" sz="1400" dirty="0">
                <a:sym typeface="+mn-ea"/>
              </a:rPr>
              <a:t>个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组成，拼成连续</a:t>
            </a:r>
            <a:r>
              <a:rPr lang="en-US" altLang="zh-CN" sz="1400" dirty="0">
                <a:sym typeface="+mn-ea"/>
              </a:rPr>
              <a:t>C</a:t>
            </a:r>
            <a:r>
              <a:rPr lang="zh-CN" altLang="en-US" sz="1400" dirty="0">
                <a:sym typeface="+mn-ea"/>
              </a:rPr>
              <a:t>个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的数</a:t>
            </a:r>
            <a:r>
              <a:rPr lang="en-US" altLang="zh-CN" sz="1400" dirty="0">
                <a:sym typeface="+mn-ea"/>
              </a:rPr>
              <a:t>(C&lt;=L)</a:t>
            </a:r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若</a:t>
            </a:r>
            <a:r>
              <a:rPr lang="en-US" altLang="zh-CN" sz="1400" dirty="0">
                <a:sym typeface="+mn-ea"/>
              </a:rPr>
              <a:t>A+B&gt;C</a:t>
            </a:r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显然</a:t>
            </a:r>
            <a:r>
              <a:rPr lang="en-US" altLang="zh-CN" sz="1400" dirty="0">
                <a:sym typeface="+mn-ea"/>
              </a:rPr>
              <a:t>A+B-C</a:t>
            </a:r>
            <a:r>
              <a:rPr lang="zh-CN" altLang="en-US" sz="1400" dirty="0">
                <a:sym typeface="+mn-ea"/>
              </a:rPr>
              <a:t>多出的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都通过进位消除</a:t>
            </a:r>
            <a:endParaRPr lang="en-US" altLang="zh-CN" sz="1400" dirty="0">
              <a:sym typeface="+mn-ea"/>
            </a:endParaRPr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小的数的一部分可以填充在</a:t>
            </a:r>
            <a:r>
              <a:rPr lang="en-US" altLang="zh-CN" sz="1400" dirty="0">
                <a:sym typeface="+mn-ea"/>
              </a:rPr>
              <a:t>10000…</a:t>
            </a:r>
            <a:r>
              <a:rPr lang="zh-CN" altLang="en-US" sz="1400" dirty="0">
                <a:sym typeface="+mn-ea"/>
              </a:rPr>
              <a:t>中</a:t>
            </a:r>
            <a:endParaRPr lang="en-US" altLang="zh-CN" sz="1400" dirty="0">
              <a:sym typeface="+mn-ea"/>
            </a:endParaRPr>
          </a:p>
          <a:p>
            <a:r>
              <a:rPr lang="en-US" altLang="zh-CN" sz="1400" dirty="0">
                <a:sym typeface="+mn-ea"/>
              </a:rPr>
              <a:t>· </a:t>
            </a:r>
            <a:r>
              <a:rPr lang="zh-CN" altLang="en-US" sz="1400" dirty="0">
                <a:sym typeface="+mn-ea"/>
              </a:rPr>
              <a:t>多余的填充在低位较优</a:t>
            </a:r>
            <a:endParaRPr lang="en-US" altLang="zh-CN" sz="14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77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13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274113" y="177223"/>
            <a:ext cx="1120821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U200539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310854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 dirty="0" smtClean="0"/>
              <a:t> </a:t>
            </a:r>
            <a:r>
              <a:rPr lang="zh-CN" altLang="en-US" sz="1400" b="1" dirty="0" smtClean="0"/>
              <a:t>棋盘旅行</a:t>
            </a:r>
            <a:endParaRPr lang="zh-CN" altLang="zh-CN" sz="1400" dirty="0" smtClean="0"/>
          </a:p>
          <a:p>
            <a:r>
              <a:rPr lang="zh-CN" altLang="zh-CN" sz="1400" b="1" dirty="0" smtClean="0"/>
              <a:t>【题目描述】</a:t>
            </a:r>
            <a:endParaRPr lang="zh-CN" altLang="zh-CN" sz="1400" dirty="0"/>
          </a:p>
          <a:p>
            <a:r>
              <a:rPr lang="zh-CN" altLang="en-US" sz="1400" dirty="0" smtClean="0"/>
              <a:t>    有</a:t>
            </a:r>
            <a:r>
              <a:rPr lang="zh-CN" altLang="en-US" sz="1400" dirty="0"/>
              <a:t>一个 </a:t>
            </a:r>
            <a:r>
              <a:rPr lang="en-US" altLang="zh-CN" sz="1400" dirty="0" smtClean="0"/>
              <a:t>8×8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棋盘，每个格子上有个小写字母，记</a:t>
            </a:r>
            <a:r>
              <a:rPr lang="zh-CN" altLang="en-US" sz="1400" dirty="0" smtClean="0"/>
              <a:t>为</a:t>
            </a:r>
            <a:r>
              <a:rPr lang="en-US" altLang="zh-CN" sz="1400" dirty="0" smtClean="0"/>
              <a:t>B(</a:t>
            </a:r>
            <a:r>
              <a:rPr lang="en-US" altLang="zh-CN" sz="1400" dirty="0" err="1" smtClean="0"/>
              <a:t>x,y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zh-CN" altLang="en-US" sz="1400" dirty="0" smtClean="0"/>
              <a:t>    给</a:t>
            </a:r>
            <a:r>
              <a:rPr lang="zh-CN" altLang="en-US" sz="1400" dirty="0"/>
              <a:t>出一个长度</a:t>
            </a:r>
            <a:r>
              <a:rPr lang="zh-CN" altLang="en-US" sz="1400" dirty="0" smtClean="0"/>
              <a:t>为</a:t>
            </a:r>
            <a:r>
              <a:rPr lang="en-US" altLang="zh-CN" sz="1400" dirty="0" smtClean="0"/>
              <a:t>k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目标串，记</a:t>
            </a:r>
            <a:r>
              <a:rPr lang="zh-CN" altLang="en-US" sz="1400" dirty="0" smtClean="0"/>
              <a:t>为</a:t>
            </a:r>
            <a:r>
              <a:rPr lang="en-US" altLang="zh-CN" sz="1400" dirty="0" smtClean="0"/>
              <a:t>s_1,s_2,...,</a:t>
            </a:r>
            <a:r>
              <a:rPr lang="en-US" altLang="zh-CN" sz="1400" dirty="0" err="1" smtClean="0"/>
              <a:t>s_k</a:t>
            </a:r>
            <a:r>
              <a:rPr lang="zh-CN" altLang="en-US" sz="1400" dirty="0" smtClean="0"/>
              <a:t>。</a:t>
            </a:r>
            <a:r>
              <a:rPr lang="zh-CN" altLang="en-US" sz="1400" dirty="0"/>
              <a:t>询问有多少条国王的</a:t>
            </a:r>
            <a:r>
              <a:rPr lang="zh-CN" altLang="en-US" sz="1400" dirty="0" smtClean="0"/>
              <a:t>旅行路线</a:t>
            </a:r>
            <a:r>
              <a:rPr lang="en-US" altLang="zh-CN" sz="1400" dirty="0" smtClean="0"/>
              <a:t>(</a:t>
            </a:r>
            <a:r>
              <a:rPr lang="en-US" altLang="zh-CN" sz="1400" dirty="0"/>
              <a:t>x_1, y_1</a:t>
            </a:r>
            <a:r>
              <a:rPr lang="en-US" altLang="zh-CN" sz="1400" dirty="0" smtClean="0"/>
              <a:t>),...,(</a:t>
            </a:r>
            <a:r>
              <a:rPr lang="en-US" altLang="zh-CN" sz="1400" dirty="0" err="1"/>
              <a:t>x_k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y_k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满足</a:t>
            </a:r>
            <a:r>
              <a:rPr lang="zh-CN" altLang="en-US" sz="1400" dirty="0"/>
              <a:t>以下要求</a:t>
            </a:r>
            <a:r>
              <a:rPr lang="zh-CN" altLang="en-US" sz="1400" dirty="0" smtClean="0"/>
              <a:t>：</a:t>
            </a:r>
            <a:endParaRPr lang="zh-CN" altLang="en-US" sz="1400" dirty="0"/>
          </a:p>
          <a:p>
            <a:r>
              <a:rPr lang="en-US" altLang="zh-CN" sz="1400" dirty="0"/>
              <a:t>- 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≤</a:t>
            </a:r>
            <a:r>
              <a:rPr lang="en-US" altLang="zh-CN" sz="1400" dirty="0" err="1" smtClean="0"/>
              <a:t>x_i,y_i</a:t>
            </a:r>
            <a:r>
              <a:rPr lang="zh-CN" altLang="en-US" sz="1400" dirty="0" smtClean="0"/>
              <a:t>≤</a:t>
            </a:r>
            <a:r>
              <a:rPr lang="en-US" altLang="zh-CN" sz="1400" dirty="0" smtClean="0"/>
              <a:t>8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 1</a:t>
            </a:r>
            <a:r>
              <a:rPr lang="zh-CN" altLang="en-US" sz="1400" dirty="0" smtClean="0"/>
              <a:t>≤</a:t>
            </a:r>
            <a:r>
              <a:rPr lang="en-US" altLang="zh-CN" sz="1400" dirty="0" smtClean="0"/>
              <a:t>i</a:t>
            </a:r>
            <a:r>
              <a:rPr lang="zh-CN" altLang="en-US" sz="1400" dirty="0"/>
              <a:t> ≤ </a:t>
            </a:r>
            <a:r>
              <a:rPr lang="en-US" altLang="zh-CN" sz="1400" dirty="0" smtClean="0"/>
              <a:t>k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en-US" altLang="zh-CN" sz="1400" dirty="0"/>
              <a:t>- </a:t>
            </a:r>
            <a:r>
              <a:rPr lang="en-US" altLang="zh-CN" sz="1400" dirty="0" smtClean="0"/>
              <a:t>B(</a:t>
            </a:r>
            <a:r>
              <a:rPr lang="en-US" altLang="zh-CN" sz="1400" dirty="0" err="1" smtClean="0"/>
              <a:t>x_i,y_i</a:t>
            </a:r>
            <a:r>
              <a:rPr lang="en-US" altLang="zh-CN" sz="1400" dirty="0"/>
              <a:t>)=</a:t>
            </a:r>
            <a:r>
              <a:rPr lang="en-US" altLang="zh-CN" sz="1400" dirty="0" err="1" smtClean="0"/>
              <a:t>s_i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/>
              <a:t> ≤</a:t>
            </a:r>
            <a:r>
              <a:rPr lang="en-US" altLang="zh-CN" sz="1400" dirty="0" smtClean="0"/>
              <a:t> i</a:t>
            </a:r>
            <a:r>
              <a:rPr lang="zh-CN" altLang="en-US" sz="1400" dirty="0"/>
              <a:t> ≤</a:t>
            </a:r>
            <a:r>
              <a:rPr lang="en-US" altLang="zh-CN" sz="1400" dirty="0" smtClean="0"/>
              <a:t> k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en-US" altLang="zh-CN" sz="1400" dirty="0"/>
              <a:t>- </a:t>
            </a:r>
            <a:r>
              <a:rPr lang="en-US" altLang="zh-CN" sz="1400" dirty="0" smtClean="0"/>
              <a:t>(</a:t>
            </a:r>
            <a:r>
              <a:rPr lang="en-US" altLang="zh-CN" sz="1400" dirty="0" err="1"/>
              <a:t>x_i,y_i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≠</a:t>
            </a:r>
            <a:r>
              <a:rPr lang="en-US" altLang="zh-CN" sz="1400" dirty="0" smtClean="0"/>
              <a:t>(</a:t>
            </a:r>
            <a:r>
              <a:rPr lang="en-US" altLang="zh-CN" sz="1400" dirty="0" err="1"/>
              <a:t>x_j,y_j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 1</a:t>
            </a:r>
            <a:r>
              <a:rPr lang="zh-CN" altLang="en-US" sz="1400" dirty="0"/>
              <a:t> ≤</a:t>
            </a:r>
            <a:r>
              <a:rPr lang="en-US" altLang="zh-CN" sz="1400" dirty="0" smtClean="0"/>
              <a:t> i&lt;j</a:t>
            </a:r>
            <a:r>
              <a:rPr lang="zh-CN" altLang="en-US" sz="1400" dirty="0"/>
              <a:t> ≤</a:t>
            </a:r>
            <a:r>
              <a:rPr lang="en-US" altLang="zh-CN" sz="1400" dirty="0" smtClean="0"/>
              <a:t> k</a:t>
            </a:r>
            <a:r>
              <a:rPr lang="zh-CN" altLang="en-US" sz="1400" dirty="0" smtClean="0"/>
              <a:t>。</a:t>
            </a:r>
            <a:endParaRPr lang="zh-CN" altLang="en-US" sz="1400" dirty="0"/>
          </a:p>
          <a:p>
            <a:r>
              <a:rPr lang="en-US" altLang="zh-CN" sz="1400" dirty="0"/>
              <a:t>- </a:t>
            </a:r>
            <a:r>
              <a:rPr lang="en-US" altLang="zh-CN" sz="1400" dirty="0" smtClean="0"/>
              <a:t>max</a:t>
            </a:r>
            <a:r>
              <a:rPr lang="en-US" altLang="zh-CN" sz="1400" dirty="0"/>
              <a:t>(|</a:t>
            </a:r>
            <a:r>
              <a:rPr lang="en-US" altLang="zh-CN" sz="1400" dirty="0" err="1"/>
              <a:t>x_i</a:t>
            </a:r>
            <a:r>
              <a:rPr lang="en-US" altLang="zh-CN" sz="1400" dirty="0"/>
              <a:t> − x_{i+1}|, |</a:t>
            </a:r>
            <a:r>
              <a:rPr lang="en-US" altLang="zh-CN" sz="1400" dirty="0" err="1"/>
              <a:t>y_i</a:t>
            </a:r>
            <a:r>
              <a:rPr lang="en-US" altLang="zh-CN" sz="1400" dirty="0"/>
              <a:t> − y_{i+1}|) = 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/>
              <a:t> ≤</a:t>
            </a:r>
            <a:r>
              <a:rPr lang="en-US" altLang="zh-CN" sz="1400" dirty="0" smtClean="0"/>
              <a:t> i</a:t>
            </a:r>
            <a:r>
              <a:rPr lang="zh-CN" altLang="en-US" sz="1400" dirty="0"/>
              <a:t> ≤</a:t>
            </a:r>
            <a:r>
              <a:rPr lang="en-US" altLang="zh-CN" sz="1400" dirty="0" smtClean="0"/>
              <a:t> k</a:t>
            </a:r>
            <a:r>
              <a:rPr lang="zh-CN" altLang="en-US" sz="1400" dirty="0" smtClean="0"/>
              <a:t>。</a:t>
            </a:r>
            <a:endParaRPr lang="zh-CN" altLang="zh-CN" sz="1400" dirty="0" smtClean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/>
              <a:t>XIXHZMOAOSHXIX</a:t>
            </a:r>
            <a:endParaRPr lang="en-US" altLang="zh-CN" sz="1400" dirty="0" smtClean="0"/>
          </a:p>
          <a:p>
            <a:r>
              <a:rPr lang="zh-CN" altLang="zh-CN" sz="1400" b="1" dirty="0" smtClean="0"/>
              <a:t>【样例</a:t>
            </a:r>
            <a:r>
              <a:rPr lang="zh-CN" altLang="en-US" sz="1400" b="1" dirty="0" smtClean="0"/>
              <a:t>输出</a:t>
            </a:r>
            <a:r>
              <a:rPr lang="zh-CN" altLang="zh-CN" sz="1400" b="1" dirty="0" smtClean="0"/>
              <a:t>】</a:t>
            </a:r>
            <a:endParaRPr lang="zh-CN" altLang="zh-CN" sz="1400" dirty="0"/>
          </a:p>
          <a:p>
            <a:r>
              <a:rPr lang="en-US" altLang="zh-CN" sz="1400" dirty="0"/>
              <a:t>XIXHMOOWHXIX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934530"/>
            <a:ext cx="5368017" cy="160043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</a:t>
            </a:r>
            <a:r>
              <a:rPr lang="zh-CN" altLang="en-US" sz="1400" b="1" dirty="0"/>
              <a:t>算法分析</a:t>
            </a:r>
            <a:r>
              <a:rPr lang="zh-CN" altLang="zh-CN" sz="1400" b="1" dirty="0"/>
              <a:t>】</a:t>
            </a:r>
            <a:endParaRPr lang="zh-CN" altLang="zh-CN" sz="1400" dirty="0"/>
          </a:p>
          <a:p>
            <a:r>
              <a:rPr lang="zh-CN" altLang="en-US" sz="1400" dirty="0"/>
              <a:t>    </a:t>
            </a:r>
            <a:r>
              <a:rPr lang="zh-CN" altLang="en-US" sz="1400" dirty="0" smtClean="0"/>
              <a:t>路径长度不超过</a:t>
            </a:r>
            <a:r>
              <a:rPr lang="en-US" altLang="zh-CN" sz="1400" dirty="0" smtClean="0"/>
              <a:t>11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首先可以想到枚举每个点作为起点，按照字符串</a:t>
            </a:r>
            <a:r>
              <a:rPr lang="en-US" altLang="zh-CN" sz="1400" dirty="0" smtClean="0"/>
              <a:t>s</a:t>
            </a:r>
            <a:r>
              <a:rPr lang="zh-CN" altLang="en-US" sz="1400" dirty="0" smtClean="0"/>
              <a:t>走完全程的所有路径条数，显然超时。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注意到一条不能经过重复点，且若按顺序搜索的话，获得的方案天然就保证路径访问顺序了。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因此对合法方案的记录只需记录经过状态集合即可。</a:t>
            </a:r>
            <a:endParaRPr lang="en-US" altLang="zh-CN" sz="1400" dirty="0" smtClean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7169A55A-483D-4542-B072-E8C204367D45}"/>
              </a:ext>
            </a:extLst>
          </p:cNvPr>
          <p:cNvSpPr/>
          <p:nvPr/>
        </p:nvSpPr>
        <p:spPr>
          <a:xfrm>
            <a:off x="5892262" y="2529936"/>
            <a:ext cx="5368017" cy="181588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400" dirty="0" smtClean="0"/>
              <a:t>    由此想到可以折半搜索，将一条路径对半分开，正着搜前半，倒着搜后半，最后拼起来即可。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以点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x,y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为交汇点，计算从任意格子出发，前半段是合法路径的到达交汇点的路径集合</a:t>
            </a:r>
            <a:r>
              <a:rPr lang="en-US" altLang="zh-CN" sz="1400" dirty="0" smtClean="0"/>
              <a:t>g1[x][y]</a:t>
            </a:r>
            <a:r>
              <a:rPr lang="zh-CN" altLang="en-US" sz="1400" dirty="0" smtClean="0"/>
              <a:t>，以及后半段的</a:t>
            </a:r>
            <a:r>
              <a:rPr lang="en-US" altLang="zh-CN" sz="1400" dirty="0" smtClean="0"/>
              <a:t>g2[x][y]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理论上来讲，点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x,y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作为交汇点产生的方案数是</a:t>
            </a:r>
            <a:endParaRPr lang="en-US" altLang="zh-CN" sz="1400" dirty="0" smtClean="0"/>
          </a:p>
          <a:p>
            <a:r>
              <a:rPr lang="en-US" altLang="zh-CN" sz="1400" dirty="0"/>
              <a:t>	</a:t>
            </a:r>
            <a:r>
              <a:rPr lang="en-US" altLang="zh-CN" sz="1400" dirty="0" smtClean="0"/>
              <a:t>|g1[x][y]|×|g2[x][y]|</a:t>
            </a:r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但是我们仅保证了搜索过程中的不经过重复点，即</a:t>
            </a:r>
            <a:r>
              <a:rPr lang="en-US" altLang="zh-CN" sz="1400" dirty="0" smtClean="0"/>
              <a:t>g1,g2</a:t>
            </a:r>
            <a:r>
              <a:rPr lang="zh-CN" altLang="en-US" sz="1400" dirty="0" smtClean="0"/>
              <a:t>本身的唯一性，没法保证前半段路和后半段路的方案中没有经过重复的点。</a:t>
            </a:r>
            <a:endParaRPr lang="en-US" altLang="zh-CN" sz="1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/>
              <p:nvPr/>
            </p:nvSpPr>
            <p:spPr>
              <a:xfrm>
                <a:off x="5892262" y="4335536"/>
                <a:ext cx="5368017" cy="1255985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dirty="0" smtClean="0"/>
                  <a:t>    我们枚举</a:t>
                </a:r>
                <a:r>
                  <a:rPr lang="en-US" altLang="zh-CN" sz="1400" dirty="0" smtClean="0"/>
                  <a:t>g1[x][y]</a:t>
                </a:r>
                <a:r>
                  <a:rPr lang="zh-CN" altLang="en-US" sz="1400" dirty="0" smtClean="0"/>
                  <a:t>各个路径的子集，哈希记录</a:t>
                </a:r>
                <a:r>
                  <a:rPr lang="en-US" altLang="zh-CN" sz="1400" dirty="0" err="1" smtClean="0"/>
                  <a:t>mp</a:t>
                </a:r>
                <a:r>
                  <a:rPr lang="en-US" altLang="zh-CN" sz="1400" dirty="0" smtClean="0"/>
                  <a:t>[x]</a:t>
                </a:r>
                <a:r>
                  <a:rPr lang="zh-CN" altLang="en-US" sz="1400" dirty="0" smtClean="0"/>
                  <a:t>表示包含重复点集</a:t>
                </a:r>
                <a:r>
                  <a:rPr lang="en-US" altLang="zh-CN" sz="1400" dirty="0" smtClean="0"/>
                  <a:t>x</a:t>
                </a:r>
                <a:r>
                  <a:rPr lang="zh-CN" altLang="en-US" sz="1400" dirty="0"/>
                  <a:t>这</a:t>
                </a:r>
                <a:r>
                  <a:rPr lang="zh-CN" altLang="en-US" sz="1400" dirty="0" smtClean="0"/>
                  <a:t>一子集的路径在</a:t>
                </a:r>
                <a:r>
                  <a:rPr lang="en-US" altLang="zh-CN" sz="1400" dirty="0" smtClean="0"/>
                  <a:t>g1[x][y]</a:t>
                </a:r>
                <a:r>
                  <a:rPr lang="zh-CN" altLang="en-US" sz="1400" dirty="0" smtClean="0"/>
                  <a:t>的所有路径中有多少。</a:t>
                </a:r>
                <a:endParaRPr lang="en-US" altLang="zh-CN" sz="1400" dirty="0" smtClean="0"/>
              </a:p>
              <a:p>
                <a:endParaRPr lang="en-US" altLang="zh-CN" sz="1400" dirty="0"/>
              </a:p>
              <a:p>
                <a:r>
                  <a:rPr lang="en-US" altLang="zh-CN" sz="1400" dirty="0" smtClean="0"/>
                  <a:t>    </a:t>
                </a:r>
                <a:r>
                  <a:rPr lang="zh-CN" altLang="en-US" sz="1400" dirty="0"/>
                  <a:t>枚举</a:t>
                </a:r>
                <a:r>
                  <a:rPr lang="en-US" altLang="zh-CN" sz="1400" dirty="0" smtClean="0"/>
                  <a:t>g2[x][y]</a:t>
                </a:r>
                <a:r>
                  <a:rPr lang="zh-CN" altLang="en-US" sz="1400" dirty="0" smtClean="0"/>
                  <a:t>各个路径的子集，容斥计算总方案：</a:t>
                </a:r>
                <a:endParaRPr lang="en-US" altLang="zh-CN" sz="1400" dirty="0" smtClean="0"/>
              </a:p>
              <a:p>
                <a:r>
                  <a:rPr lang="en-US" altLang="zh-CN" sz="1400" dirty="0"/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140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14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2[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][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]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1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/>
                              </a:rPr>
                              <m:t>−1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CN" sz="14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CN" sz="1400" b="0" i="1" smtClean="0">
                                <a:latin typeface="Cambria Math"/>
                              </a:rPr>
                              <m:t>|</m:t>
                            </m:r>
                          </m:sup>
                        </m:sSup>
                        <m:r>
                          <a:rPr lang="en-US" altLang="zh-CN" sz="140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𝑚𝑝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[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altLang="zh-CN" sz="1400" b="0" i="1" smtClean="0">
                            <a:latin typeface="Cambria Math"/>
                            <a:ea typeface="Cambria Math"/>
                          </a:rPr>
                          <m:t>]</m:t>
                        </m:r>
                      </m:e>
                    </m:nary>
                  </m:oMath>
                </a14:m>
                <a:endParaRPr lang="en-US" altLang="zh-CN" sz="1400" dirty="0" smtClean="0"/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62" y="4335536"/>
                <a:ext cx="5368017" cy="1255985"/>
              </a:xfrm>
              <a:prstGeom prst="rect">
                <a:avLst/>
              </a:prstGeom>
              <a:blipFill rotWithShape="1">
                <a:blip r:embed="rId5"/>
                <a:stretch>
                  <a:fillRect l="-341" t="-485" b="-33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/>
              <p:nvPr/>
            </p:nvSpPr>
            <p:spPr>
              <a:xfrm>
                <a:off x="5892262" y="5591521"/>
                <a:ext cx="5368017" cy="964495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400" dirty="0" smtClean="0"/>
                  <a:t>    </a:t>
                </a:r>
                <a:r>
                  <a:rPr lang="zh-CN" altLang="en-US" sz="1400" dirty="0" smtClean="0"/>
                  <a:t>因为折半搜索，对于每条合法路径，最多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zh-CN" altLang="en-US" sz="1400" dirty="0" smtClean="0"/>
                  <a:t>，受字符串限制，其实会少很多。</a:t>
                </a:r>
                <a:endParaRPr lang="en-US" altLang="zh-CN" sz="1400" dirty="0" smtClean="0"/>
              </a:p>
              <a:p>
                <a:r>
                  <a:rPr lang="en-US" altLang="zh-CN" sz="1400" dirty="0"/>
                  <a:t> </a:t>
                </a:r>
                <a:r>
                  <a:rPr lang="en-US" altLang="zh-CN" sz="1400" dirty="0" smtClean="0"/>
                  <a:t>   </a:t>
                </a:r>
                <a:r>
                  <a:rPr lang="zh-CN" altLang="en-US" sz="1400" dirty="0" smtClean="0"/>
                  <a:t>对于任一交换点</a:t>
                </a:r>
                <a:r>
                  <a:rPr lang="en-US" altLang="zh-CN" sz="1400" dirty="0" smtClean="0"/>
                  <a:t>(</a:t>
                </a:r>
                <a:r>
                  <a:rPr lang="en-US" altLang="zh-CN" sz="1400" dirty="0" err="1" smtClean="0"/>
                  <a:t>x,y</a:t>
                </a:r>
                <a:r>
                  <a:rPr lang="en-US" altLang="zh-CN" sz="1400" dirty="0" smtClean="0"/>
                  <a:t>)</a:t>
                </a:r>
                <a:r>
                  <a:rPr lang="zh-CN" altLang="en-US" sz="1400" dirty="0" smtClean="0"/>
                  <a:t>，计算合法方案枚举次数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400" i="1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400" b="0" i="1" smtClean="0">
                            <a:latin typeface="Cambria Math"/>
                          </a:rPr>
                          <m:t>|</m:t>
                        </m:r>
                        <m:r>
                          <a:rPr lang="en-US" altLang="zh-CN" sz="1400" b="0" i="1" smtClean="0">
                            <a:latin typeface="Cambria Math"/>
                          </a:rPr>
                          <m:t>𝑐𝑛𝑡</m:t>
                        </m:r>
                        <m:r>
                          <a:rPr lang="en-US" altLang="zh-CN" sz="1400" b="0" i="1" smtClean="0">
                            <a:latin typeface="Cambria Math"/>
                          </a:rPr>
                          <m:t>2|∙</m:t>
                        </m:r>
                        <m:sSup>
                          <m:sSupPr>
                            <m:ctrlPr>
                              <a:rPr lang="en-US" altLang="zh-CN" sz="14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r>
                              <a:rPr lang="en-US" altLang="zh-CN" sz="1400" b="0" i="1" smtClean="0">
                                <a:latin typeface="Cambria Math"/>
                                <a:ea typeface="Cambria Math"/>
                              </a:rPr>
                              <m:t>𝑐𝑛𝑡</m:t>
                            </m:r>
                            <m:r>
                              <a:rPr lang="en-US" altLang="zh-CN" sz="1400" b="0" i="1" smtClean="0">
                                <a:latin typeface="Cambria Math"/>
                                <a:ea typeface="Cambria Math"/>
                              </a:rPr>
                              <m:t>2|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1400" dirty="0" smtClean="0"/>
              </a:p>
              <a:p>
                <a:r>
                  <a:rPr lang="en-US" altLang="zh-CN" sz="1400" dirty="0" smtClean="0"/>
                  <a:t>    </a:t>
                </a:r>
                <a:r>
                  <a:rPr lang="zh-CN" altLang="en-US" sz="1400" dirty="0" smtClean="0"/>
                  <a:t>由于</a:t>
                </a:r>
                <a:r>
                  <a:rPr lang="en-US" altLang="zh-CN" sz="1400" dirty="0" smtClean="0"/>
                  <a:t>k</a:t>
                </a:r>
                <a:r>
                  <a:rPr lang="zh-CN" altLang="en-US" sz="1400" dirty="0" smtClean="0"/>
                  <a:t>很小，这也可行。</a:t>
                </a:r>
                <a:endParaRPr lang="en-US" altLang="zh-CN" sz="1400" dirty="0" smtClean="0"/>
              </a:p>
            </p:txBody>
          </p:sp>
        </mc:Choice>
        <mc:Fallback>
          <p:sp>
            <p:nvSpPr>
              <p:cNvPr id="16" name="矩形 15">
                <a:extLst>
                  <a:ext uri="{FF2B5EF4-FFF2-40B4-BE49-F238E27FC236}">
                    <a16:creationId xmlns="" xmlns:a16="http://schemas.microsoft.com/office/drawing/2014/main" id="{7169A55A-483D-4542-B072-E8C204367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62" y="5591521"/>
                <a:ext cx="5368017" cy="964495"/>
              </a:xfrm>
              <a:prstGeom prst="rect">
                <a:avLst/>
              </a:prstGeom>
              <a:blipFill rotWithShape="1">
                <a:blip r:embed="rId6"/>
                <a:stretch>
                  <a:fillRect l="-341" b="-29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76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7363" y="4506451"/>
            <a:ext cx="1994638" cy="235154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2346266" cy="1738323"/>
          </a:xfrm>
          <a:prstGeom prst="rect">
            <a:avLst/>
          </a:prstGeom>
        </p:spPr>
      </p:pic>
      <p:sp>
        <p:nvSpPr>
          <p:cNvPr id="38" name="文本框 29"/>
          <p:cNvSpPr txBox="1"/>
          <p:nvPr/>
        </p:nvSpPr>
        <p:spPr>
          <a:xfrm>
            <a:off x="1996803" y="2541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例题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996803" y="776898"/>
            <a:ext cx="3792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Examples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71226" y="622570"/>
            <a:ext cx="6520774" cy="0"/>
          </a:xfrm>
          <a:prstGeom prst="line">
            <a:avLst/>
          </a:prstGeom>
          <a:ln w="50800" cmpd="thickThin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2919"/>
          <p:cNvSpPr txBox="1"/>
          <p:nvPr/>
        </p:nvSpPr>
        <p:spPr>
          <a:xfrm>
            <a:off x="10408764" y="17722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P4823</a:t>
            </a:r>
            <a:endParaRPr lang="zh-CN" altLang="en-US" dirty="0">
              <a:solidFill>
                <a:schemeClr val="bg1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6354" y="1507685"/>
            <a:ext cx="4964872" cy="461664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 dirty="0" smtClean="0"/>
              <a:t>【TJOI2013】</a:t>
            </a:r>
            <a:r>
              <a:rPr lang="zh-CN" altLang="en-US" sz="1400" b="1" dirty="0" smtClean="0"/>
              <a:t>拯救小矮人</a:t>
            </a:r>
            <a:endParaRPr lang="zh-CN" altLang="zh-CN" sz="1400" dirty="0"/>
          </a:p>
          <a:p>
            <a:r>
              <a:rPr lang="zh-CN" altLang="zh-CN" sz="1400" b="1" dirty="0" smtClean="0"/>
              <a:t>【题目描述】</a:t>
            </a:r>
            <a:endParaRPr lang="zh-CN" altLang="zh-CN" sz="1400" dirty="0"/>
          </a:p>
          <a:p>
            <a:r>
              <a:rPr lang="zh-CN" altLang="en-US" sz="1400" dirty="0" smtClean="0"/>
              <a:t>    一群</a:t>
            </a:r>
            <a:r>
              <a:rPr lang="zh-CN" altLang="en-US" sz="1400" dirty="0"/>
              <a:t>小矮人掉进了一个很深的陷阱里，由于太矮爬不上来，于是他们决定搭一个人梯。即：一个小矮人站在另一小矮人的 肩膀上，直到最顶端的小矮人伸直胳膊可以碰到陷阱口。</a:t>
            </a:r>
          </a:p>
          <a:p>
            <a:r>
              <a:rPr lang="zh-CN" altLang="en-US" sz="1400" dirty="0"/>
              <a:t>对于每一个小矮人，我们知道他从脚到肩膀的</a:t>
            </a:r>
            <a:r>
              <a:rPr lang="zh-CN" altLang="en-US" sz="1400" dirty="0" smtClean="0"/>
              <a:t>高度</a:t>
            </a:r>
            <a:r>
              <a:rPr lang="en-US" altLang="zh-CN" sz="1400" dirty="0" smtClean="0"/>
              <a:t>A</a:t>
            </a:r>
            <a:r>
              <a:rPr lang="en-US" altLang="zh-CN" sz="1400" baseline="-25000" dirty="0" smtClean="0"/>
              <a:t>i</a:t>
            </a:r>
            <a:r>
              <a:rPr lang="zh-CN" altLang="en-US" sz="1400" dirty="0" smtClean="0"/>
              <a:t>，</a:t>
            </a:r>
            <a:r>
              <a:rPr lang="zh-CN" altLang="en-US" sz="1400" dirty="0"/>
              <a:t>并且他的胳膊长度</a:t>
            </a:r>
            <a:r>
              <a:rPr lang="zh-CN" altLang="en-US" sz="1400" dirty="0" smtClean="0"/>
              <a:t>为</a:t>
            </a:r>
            <a:r>
              <a:rPr lang="en-US" altLang="zh-CN" sz="1400" dirty="0" smtClean="0"/>
              <a:t>B</a:t>
            </a:r>
            <a:r>
              <a:rPr lang="en-US" altLang="zh-CN" sz="1400" baseline="-25000" dirty="0" smtClean="0"/>
              <a:t>i</a:t>
            </a:r>
            <a:r>
              <a:rPr lang="zh-CN" altLang="en-US" sz="1400" dirty="0" smtClean="0"/>
              <a:t>。</a:t>
            </a:r>
            <a:r>
              <a:rPr lang="zh-CN" altLang="en-US" sz="1400" dirty="0"/>
              <a:t>陷阱深度</a:t>
            </a:r>
            <a:r>
              <a:rPr lang="zh-CN" altLang="en-US" sz="1400" dirty="0" smtClean="0"/>
              <a:t>为</a:t>
            </a:r>
            <a:r>
              <a:rPr lang="en-US" altLang="zh-CN" sz="1400" dirty="0" smtClean="0"/>
              <a:t>H</a:t>
            </a:r>
            <a:r>
              <a:rPr lang="zh-CN" altLang="en-US" sz="1400" dirty="0"/>
              <a:t>。</a:t>
            </a:r>
          </a:p>
          <a:p>
            <a:r>
              <a:rPr lang="zh-CN" altLang="en-US" sz="1400" dirty="0" smtClean="0"/>
              <a:t>    如果</a:t>
            </a:r>
            <a:r>
              <a:rPr lang="zh-CN" altLang="en-US" sz="1400" dirty="0"/>
              <a:t>我们利用</a:t>
            </a:r>
            <a:r>
              <a:rPr lang="zh-CN" altLang="en-US" sz="1400" dirty="0" smtClean="0"/>
              <a:t>矮人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，矮人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，矮人</a:t>
            </a:r>
            <a:r>
              <a:rPr lang="en-US" altLang="zh-CN" sz="1400" dirty="0" smtClean="0"/>
              <a:t>3</a:t>
            </a:r>
            <a:r>
              <a:rPr lang="zh-CN" altLang="en-US" sz="1400" dirty="0" smtClean="0"/>
              <a:t>，</a:t>
            </a:r>
            <a:r>
              <a:rPr lang="en-US" altLang="zh-CN" sz="1400" dirty="0"/>
              <a:t>……</a:t>
            </a:r>
            <a:r>
              <a:rPr lang="zh-CN" altLang="en-US" sz="1400" dirty="0"/>
              <a:t>，</a:t>
            </a:r>
            <a:r>
              <a:rPr lang="zh-CN" altLang="en-US" sz="1400" dirty="0" smtClean="0"/>
              <a:t>矮人</a:t>
            </a:r>
            <a:r>
              <a:rPr lang="en-US" altLang="zh-CN" sz="1400" dirty="0" smtClean="0"/>
              <a:t>k</a:t>
            </a:r>
            <a:r>
              <a:rPr lang="zh-CN" altLang="en-US" sz="1400" dirty="0" smtClean="0"/>
              <a:t>搭</a:t>
            </a:r>
            <a:r>
              <a:rPr lang="zh-CN" altLang="en-US" sz="1400" dirty="0"/>
              <a:t>一个梯子，</a:t>
            </a:r>
            <a:r>
              <a:rPr lang="zh-CN" altLang="en-US" sz="1400" dirty="0" smtClean="0"/>
              <a:t>满足</a:t>
            </a:r>
            <a:r>
              <a:rPr lang="en-US" altLang="zh-CN" sz="1400" dirty="0" smtClean="0"/>
              <a:t>A</a:t>
            </a:r>
            <a:r>
              <a:rPr lang="en-US" altLang="zh-CN" sz="1400" baseline="-25000" dirty="0" smtClean="0"/>
              <a:t>1</a:t>
            </a:r>
            <a:r>
              <a:rPr lang="en-US" altLang="zh-CN" sz="1400" dirty="0" smtClean="0"/>
              <a:t>+A</a:t>
            </a:r>
            <a:r>
              <a:rPr lang="en-US" altLang="zh-CN" sz="1400" baseline="-25000" dirty="0" smtClean="0"/>
              <a:t>2</a:t>
            </a:r>
            <a:r>
              <a:rPr lang="en-US" altLang="zh-CN" sz="1400" dirty="0" smtClean="0"/>
              <a:t>+A</a:t>
            </a:r>
            <a:r>
              <a:rPr lang="en-US" altLang="zh-CN" sz="1400" baseline="-25000" dirty="0" smtClean="0"/>
              <a:t>3</a:t>
            </a:r>
            <a:r>
              <a:rPr lang="en-US" altLang="zh-CN" sz="1400" dirty="0" smtClean="0"/>
              <a:t>+</a:t>
            </a:r>
            <a:r>
              <a:rPr lang="en-US" altLang="zh-CN" sz="1400" dirty="0"/>
              <a:t>⋯+</a:t>
            </a:r>
            <a:r>
              <a:rPr lang="en-US" altLang="zh-CN" sz="1400" dirty="0" err="1" smtClean="0"/>
              <a:t>A</a:t>
            </a:r>
            <a:r>
              <a:rPr lang="en-US" altLang="zh-CN" sz="1400" baseline="-25000" dirty="0" err="1" smtClean="0"/>
              <a:t>k</a:t>
            </a:r>
            <a:r>
              <a:rPr lang="en-US" altLang="zh-CN" sz="1400" dirty="0" err="1" smtClean="0"/>
              <a:t>+B</a:t>
            </a:r>
            <a:r>
              <a:rPr lang="en-US" altLang="zh-CN" sz="1400" baseline="-25000" dirty="0" err="1" smtClean="0"/>
              <a:t>k</a:t>
            </a:r>
            <a:r>
              <a:rPr lang="en-US" altLang="zh-CN" sz="1400" dirty="0" err="1" smtClean="0"/>
              <a:t>≥</a:t>
            </a:r>
            <a:r>
              <a:rPr lang="en-US" altLang="zh-CN" sz="1400" dirty="0" err="1"/>
              <a:t>H</a:t>
            </a:r>
            <a:r>
              <a:rPr lang="zh-CN" altLang="en-US" sz="1400" dirty="0"/>
              <a:t>，那么</a:t>
            </a:r>
            <a:r>
              <a:rPr lang="zh-CN" altLang="en-US" sz="1400" dirty="0" smtClean="0"/>
              <a:t>矮人</a:t>
            </a:r>
            <a:r>
              <a:rPr lang="en-US" altLang="zh-CN" sz="1400" dirty="0" smtClean="0"/>
              <a:t>k</a:t>
            </a:r>
            <a:r>
              <a:rPr lang="zh-CN" altLang="en-US" sz="1400" dirty="0" smtClean="0"/>
              <a:t>就</a:t>
            </a:r>
            <a:r>
              <a:rPr lang="zh-CN" altLang="en-US" sz="1400" dirty="0"/>
              <a:t>可以离开陷阱逃跑了，一旦一个矮人逃跑了，他就不能再搭人梯了。</a:t>
            </a:r>
          </a:p>
          <a:p>
            <a:r>
              <a:rPr lang="zh-CN" altLang="en-US" sz="1400" dirty="0" smtClean="0"/>
              <a:t>    我们</a:t>
            </a:r>
            <a:r>
              <a:rPr lang="zh-CN" altLang="en-US" sz="1400" dirty="0"/>
              <a:t>希望尽可能多的小矮人逃跑，问最多可以使多少个小矮人逃跑</a:t>
            </a:r>
            <a:r>
              <a:rPr lang="zh-CN" altLang="en-US" sz="1400" dirty="0" smtClean="0"/>
              <a:t>。</a:t>
            </a:r>
            <a:endParaRPr lang="zh-CN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 smtClean="0"/>
              <a:t>2</a:t>
            </a:r>
          </a:p>
          <a:p>
            <a:r>
              <a:rPr lang="en-US" altLang="zh-CN" sz="1400" dirty="0" smtClean="0"/>
              <a:t>20 10</a:t>
            </a:r>
          </a:p>
          <a:p>
            <a:r>
              <a:rPr lang="en-US" altLang="zh-CN" sz="1400" dirty="0" smtClean="0"/>
              <a:t>5 5</a:t>
            </a:r>
          </a:p>
          <a:p>
            <a:r>
              <a:rPr lang="en-US" altLang="zh-CN" sz="1400" dirty="0" smtClean="0"/>
              <a:t>30</a:t>
            </a:r>
            <a:endParaRPr lang="en-US" altLang="zh-CN" sz="1400" b="1" dirty="0"/>
          </a:p>
          <a:p>
            <a:endParaRPr lang="zh-CN" altLang="zh-CN" sz="1400" dirty="0"/>
          </a:p>
          <a:p>
            <a:r>
              <a:rPr lang="zh-CN" altLang="zh-CN" sz="1400" b="1" dirty="0"/>
              <a:t>【样例输出】</a:t>
            </a:r>
            <a:endParaRPr lang="zh-CN" altLang="zh-CN" sz="1400" dirty="0"/>
          </a:p>
          <a:p>
            <a:r>
              <a:rPr lang="en-US" altLang="zh-CN" sz="1400" dirty="0" smtClean="0"/>
              <a:t>2</a:t>
            </a:r>
            <a:endParaRPr lang="zh-CN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7169A55A-483D-4542-B072-E8C204367D45}"/>
              </a:ext>
            </a:extLst>
          </p:cNvPr>
          <p:cNvSpPr/>
          <p:nvPr/>
        </p:nvSpPr>
        <p:spPr>
          <a:xfrm>
            <a:off x="5789669" y="941007"/>
            <a:ext cx="5368016" cy="116955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 smtClean="0"/>
              <a:t>【</a:t>
            </a:r>
            <a:r>
              <a:rPr lang="zh-CN" altLang="en-US" sz="1400" b="1" dirty="0" smtClean="0"/>
              <a:t>算法分析</a:t>
            </a:r>
            <a:r>
              <a:rPr lang="zh-CN" altLang="zh-CN" sz="1400" b="1" dirty="0" smtClean="0"/>
              <a:t>】</a:t>
            </a:r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考虑若已知最多能使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人逃跑，设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表示第</a:t>
            </a:r>
            <a:r>
              <a:rPr lang="en-US" altLang="zh-CN" sz="1400" dirty="0" smtClean="0"/>
              <a:t>i</a:t>
            </a:r>
            <a:r>
              <a:rPr lang="zh-CN" altLang="en-US" sz="1400" dirty="0" smtClean="0"/>
              <a:t>个逃跑的人，这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人必然满足一个最优的逃跑顺序：对于</a:t>
            </a:r>
            <a:r>
              <a:rPr lang="en-US" altLang="zh-CN" sz="1400" dirty="0" smtClean="0"/>
              <a:t>i&lt;j</a:t>
            </a:r>
            <a:r>
              <a:rPr lang="zh-CN" altLang="en-US" sz="1400" dirty="0" smtClean="0"/>
              <a:t>，</a:t>
            </a:r>
            <a:r>
              <a:rPr lang="en-US" altLang="zh-CN" sz="1400" dirty="0" err="1" smtClean="0"/>
              <a:t>a</a:t>
            </a:r>
            <a:r>
              <a:rPr lang="en-US" altLang="zh-CN" sz="1400" baseline="-25000" dirty="0" err="1" smtClean="0"/>
              <a:t>i</a:t>
            </a:r>
            <a:r>
              <a:rPr lang="en-US" altLang="zh-CN" sz="1400" dirty="0" err="1" smtClean="0"/>
              <a:t>+b</a:t>
            </a:r>
            <a:r>
              <a:rPr lang="en-US" altLang="zh-CN" sz="1400" baseline="-25000" dirty="0" err="1" smtClean="0"/>
              <a:t>i</a:t>
            </a:r>
            <a:r>
              <a:rPr lang="en-US" altLang="zh-CN" sz="1400" dirty="0" smtClean="0"/>
              <a:t>&lt;</a:t>
            </a:r>
            <a:r>
              <a:rPr lang="en-US" altLang="zh-CN" sz="1400" dirty="0" err="1" smtClean="0"/>
              <a:t>a</a:t>
            </a:r>
            <a:r>
              <a:rPr lang="en-US" altLang="zh-CN" sz="1400" baseline="-25000" dirty="0" err="1" smtClean="0"/>
              <a:t>j</a:t>
            </a:r>
            <a:r>
              <a:rPr lang="en-US" altLang="zh-CN" sz="1400" dirty="0" err="1" smtClean="0"/>
              <a:t>+b</a:t>
            </a:r>
            <a:r>
              <a:rPr lang="en-US" altLang="zh-CN" sz="1400" baseline="-25000" dirty="0" err="1" smtClean="0"/>
              <a:t>j</a:t>
            </a:r>
            <a:r>
              <a:rPr lang="zh-CN" altLang="en-US" sz="1400" dirty="0" smtClean="0"/>
              <a:t>。</a:t>
            </a:r>
            <a:endParaRPr lang="en-US" altLang="zh-CN" sz="1400" dirty="0"/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显然更易逃生不太需要帮助的可以留到最后，更难逃生需要别人帮助的要尽量先逃。</a:t>
            </a:r>
            <a:endParaRPr lang="en-US" altLang="zh-CN" sz="1400" dirty="0" smtClean="0"/>
          </a:p>
        </p:txBody>
      </p:sp>
      <p:sp>
        <p:nvSpPr>
          <p:cNvPr id="10" name="矩形 9"/>
          <p:cNvSpPr/>
          <p:nvPr/>
        </p:nvSpPr>
        <p:spPr>
          <a:xfrm>
            <a:off x="3002206" y="4293258"/>
            <a:ext cx="1781416" cy="181588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1400" b="1" dirty="0"/>
              <a:t>【样例输入】</a:t>
            </a:r>
            <a:endParaRPr lang="zh-CN" altLang="zh-CN" sz="1400" dirty="0"/>
          </a:p>
          <a:p>
            <a:r>
              <a:rPr lang="en-US" altLang="zh-CN" sz="1400" dirty="0"/>
              <a:t>2</a:t>
            </a:r>
          </a:p>
          <a:p>
            <a:r>
              <a:rPr lang="en-US" altLang="zh-CN" sz="1400" dirty="0"/>
              <a:t>20 10</a:t>
            </a:r>
          </a:p>
          <a:p>
            <a:r>
              <a:rPr lang="en-US" altLang="zh-CN" sz="1400" dirty="0"/>
              <a:t>5 5</a:t>
            </a:r>
          </a:p>
          <a:p>
            <a:r>
              <a:rPr lang="en-US" altLang="zh-CN" sz="1400" dirty="0" smtClean="0"/>
              <a:t>35</a:t>
            </a:r>
            <a:endParaRPr lang="en-US" altLang="zh-CN" sz="1400" b="1" dirty="0"/>
          </a:p>
          <a:p>
            <a:endParaRPr lang="zh-CN" altLang="zh-CN" sz="1400" dirty="0"/>
          </a:p>
          <a:p>
            <a:r>
              <a:rPr lang="zh-CN" altLang="zh-CN" sz="1400" b="1" dirty="0"/>
              <a:t>【样例输出】</a:t>
            </a:r>
            <a:endParaRPr lang="zh-CN" altLang="zh-CN" sz="1400" dirty="0"/>
          </a:p>
          <a:p>
            <a:r>
              <a:rPr lang="en-US" altLang="zh-CN" sz="1400" dirty="0" smtClean="0"/>
              <a:t>1</a:t>
            </a:r>
            <a:endParaRPr lang="zh-CN" altLang="zh-CN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7169A55A-483D-4542-B072-E8C204367D45}"/>
              </a:ext>
            </a:extLst>
          </p:cNvPr>
          <p:cNvSpPr/>
          <p:nvPr/>
        </p:nvSpPr>
        <p:spPr>
          <a:xfrm>
            <a:off x="5789669" y="2357763"/>
            <a:ext cx="5368016" cy="28931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400" b="1" dirty="0" smtClean="0"/>
              <a:t>    </a:t>
            </a:r>
            <a:r>
              <a:rPr lang="zh-CN" altLang="en-US" sz="1400" dirty="0" smtClean="0"/>
              <a:t>但是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并不已知，我们反而要求</a:t>
            </a:r>
            <a:r>
              <a:rPr lang="en-US" altLang="zh-CN" sz="1400" dirty="0" smtClean="0"/>
              <a:t>x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考虑我们在满足题目条件下，使人能跑就跑，获得一个答案</a:t>
            </a:r>
            <a:r>
              <a:rPr lang="en-US" altLang="zh-CN" sz="1400" dirty="0" smtClean="0"/>
              <a:t>x’</a:t>
            </a:r>
            <a:r>
              <a:rPr lang="zh-CN" altLang="en-US" sz="1400" dirty="0"/>
              <a:t>。</a:t>
            </a:r>
            <a:r>
              <a:rPr lang="zh-CN" altLang="en-US" sz="1400" dirty="0" smtClean="0"/>
              <a:t>它不是正确答案的可能就是</a:t>
            </a:r>
            <a:r>
              <a:rPr lang="en-US" altLang="zh-CN" sz="1400" dirty="0" smtClean="0"/>
              <a:t>x’&lt;x</a:t>
            </a:r>
            <a:r>
              <a:rPr lang="zh-CN" altLang="en-US" sz="1400" dirty="0" smtClean="0"/>
              <a:t>。也就是说应当能逃出更多，剩余的人里肯定有这样的人，但是目前只能获得答案</a:t>
            </a:r>
            <a:r>
              <a:rPr lang="en-US" altLang="zh-CN" sz="1400" dirty="0" smtClean="0"/>
              <a:t>x’</a:t>
            </a:r>
            <a:r>
              <a:rPr lang="zh-CN" altLang="en-US" sz="1400" dirty="0" smtClean="0"/>
              <a:t>说明剩余的人都已经逃不出去了，换言之就是原先逃出去的人得回来垫着，剩余的人才有机会出去，而且至少得一换一。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考虑能逃出去的人尽可能多，所以要优先考虑更容易逃出去的人，也就是</a:t>
            </a:r>
            <a:r>
              <a:rPr lang="en-US" altLang="zh-CN" sz="1400" dirty="0" err="1" smtClean="0"/>
              <a:t>a+b</a:t>
            </a:r>
            <a:r>
              <a:rPr lang="zh-CN" altLang="en-US" sz="1400" dirty="0" smtClean="0"/>
              <a:t>更大的人优先逃；其次是要被抓回来的人，不管抓谁，逃脱人数都</a:t>
            </a:r>
            <a:r>
              <a:rPr lang="en-US" altLang="zh-CN" sz="1400" dirty="0" smtClean="0"/>
              <a:t>-1</a:t>
            </a:r>
            <a:r>
              <a:rPr lang="zh-CN" altLang="en-US" sz="1400" dirty="0" smtClean="0"/>
              <a:t>，没有区别，且这个人的</a:t>
            </a:r>
            <a:r>
              <a:rPr lang="en-US" altLang="zh-CN" sz="1400" dirty="0" smtClean="0"/>
              <a:t>b</a:t>
            </a:r>
            <a:r>
              <a:rPr lang="zh-CN" altLang="en-US" sz="1400" dirty="0" smtClean="0"/>
              <a:t>属性已然无用，所以就是此人的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使得做垫脚令决策能比原来更优。也就是要抓逃出去里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最大的人回来，使得超过一人逃生或在</a:t>
            </a:r>
            <a:r>
              <a:rPr lang="en-US" altLang="zh-CN" sz="1400" dirty="0" smtClean="0"/>
              <a:t>x’</a:t>
            </a:r>
            <a:r>
              <a:rPr lang="zh-CN" altLang="en-US" sz="1400" dirty="0" smtClean="0"/>
              <a:t>不变的情况下，井底垫脚高度增加，则就是一个更优的决策。</a:t>
            </a:r>
            <a:endParaRPr lang="en-US" altLang="zh-CN" sz="1400" dirty="0" smtClean="0"/>
          </a:p>
          <a:p>
            <a:r>
              <a:rPr lang="en-US" altLang="zh-CN" sz="1400" dirty="0" smtClean="0"/>
              <a:t>    </a:t>
            </a:r>
            <a:r>
              <a:rPr lang="zh-CN" altLang="en-US" sz="1400" dirty="0" smtClean="0"/>
              <a:t>不断重复这个过程直到决策无法更优为止。</a:t>
            </a:r>
            <a:endParaRPr lang="en-US" altLang="zh-CN" sz="1400" dirty="0" smtClean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7169A55A-483D-4542-B072-E8C204367D45}"/>
              </a:ext>
            </a:extLst>
          </p:cNvPr>
          <p:cNvSpPr/>
          <p:nvPr/>
        </p:nvSpPr>
        <p:spPr>
          <a:xfrm>
            <a:off x="5789669" y="5277470"/>
            <a:ext cx="5368016" cy="116955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400" b="1" dirty="0" smtClean="0"/>
              <a:t>    </a:t>
            </a:r>
            <a:r>
              <a:rPr lang="zh-CN" altLang="en-US" sz="1400" dirty="0" smtClean="0"/>
              <a:t>对</a:t>
            </a:r>
            <a:r>
              <a:rPr lang="en-US" altLang="zh-CN" sz="1400" dirty="0" err="1" smtClean="0"/>
              <a:t>a+b</a:t>
            </a:r>
            <a:r>
              <a:rPr lang="zh-CN" altLang="en-US" sz="1400" dirty="0" smtClean="0"/>
              <a:t>排序，然后从难到易取人出井直到不能出为止，</a:t>
            </a:r>
            <a:r>
              <a:rPr lang="en-US" altLang="zh-CN" sz="1400" dirty="0" smtClean="0"/>
              <a:t>O(n)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维护井外最大身高</a:t>
            </a:r>
            <a:r>
              <a:rPr lang="en-US" altLang="zh-CN" sz="1400" dirty="0" smtClean="0"/>
              <a:t>a</a:t>
            </a:r>
            <a:r>
              <a:rPr lang="zh-CN" altLang="en-US" sz="1400" dirty="0" smtClean="0"/>
              <a:t>，可以用堆</a:t>
            </a:r>
            <a:r>
              <a:rPr lang="en-US" altLang="zh-CN" sz="1400" dirty="0" smtClean="0"/>
              <a:t>O(log)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维护井内垫脚人群，可以用队列，队首考虑出井，抓回来的人扔到队尾，</a:t>
            </a:r>
            <a:r>
              <a:rPr lang="en-US" altLang="zh-CN" sz="1400" dirty="0" smtClean="0"/>
              <a:t>O(n)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r>
              <a:rPr lang="en-US" altLang="zh-CN" sz="1400" dirty="0"/>
              <a:t> </a:t>
            </a:r>
            <a:r>
              <a:rPr lang="en-US" altLang="zh-CN" sz="1400" dirty="0" smtClean="0"/>
              <a:t>   </a:t>
            </a:r>
            <a:r>
              <a:rPr lang="zh-CN" altLang="en-US" sz="1400" dirty="0" smtClean="0"/>
              <a:t>时间复杂度</a:t>
            </a:r>
            <a:r>
              <a:rPr lang="en-US" altLang="zh-CN" sz="1400" dirty="0" smtClean="0"/>
              <a:t>O(</a:t>
            </a:r>
            <a:r>
              <a:rPr lang="en-US" altLang="zh-CN" sz="1400" dirty="0" err="1" smtClean="0"/>
              <a:t>nlogn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410787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2919" name="图片 2918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9300" y="622299"/>
            <a:ext cx="5613400" cy="5613400"/>
          </a:xfrm>
          <a:prstGeom prst="ellipse">
            <a:avLst/>
          </a:prstGeom>
          <a:effectLst>
            <a:outerShdw blurRad="482600" sx="102000" sy="102000" algn="ctr" rotWithShape="0">
              <a:prstClr val="black">
                <a:alpha val="61000"/>
              </a:prstClr>
            </a:outerShdw>
          </a:effectLst>
        </p:spPr>
      </p:pic>
      <p:sp>
        <p:nvSpPr>
          <p:cNvPr id="2920" name="文本框 2919"/>
          <p:cNvSpPr txBox="1"/>
          <p:nvPr/>
        </p:nvSpPr>
        <p:spPr>
          <a:xfrm>
            <a:off x="4618676" y="2006600"/>
            <a:ext cx="295465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uLnTx/>
                <a:uFillTx/>
                <a:cs typeface="+mn-ea"/>
                <a:sym typeface="+mn-lt"/>
              </a:rPr>
              <a:t>谢谢观看</a:t>
            </a:r>
          </a:p>
        </p:txBody>
      </p:sp>
      <p:sp>
        <p:nvSpPr>
          <p:cNvPr id="2921" name="文本框 2920"/>
          <p:cNvSpPr txBox="1"/>
          <p:nvPr/>
        </p:nvSpPr>
        <p:spPr>
          <a:xfrm>
            <a:off x="4708440" y="3019922"/>
            <a:ext cx="277511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dirty="0">
                <a:solidFill>
                  <a:srgbClr val="FFFFFF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THANKS</a:t>
            </a:r>
            <a:r>
              <a:rPr lang="zh-CN" altLang="en-US" sz="4000" dirty="0">
                <a:solidFill>
                  <a:srgbClr val="FFFFFF"/>
                </a:solidFill>
                <a:effectLst>
                  <a:outerShdw blurRad="203200" dist="38100" dir="5400000" algn="t" rotWithShape="0">
                    <a:prstClr val="black">
                      <a:alpha val="83000"/>
                    </a:prstClr>
                  </a:outerShdw>
                </a:effectLst>
                <a:cs typeface="+mn-ea"/>
                <a:sym typeface="+mn-lt"/>
              </a:rPr>
              <a:t>！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203200" dist="38100" dir="5400000" algn="t" rotWithShape="0">
                  <a:prstClr val="black">
                    <a:alpha val="83000"/>
                  </a:prstClr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cxnSp>
        <p:nvCxnSpPr>
          <p:cNvPr id="2923" name="直接连接符 2922"/>
          <p:cNvCxnSpPr/>
          <p:nvPr/>
        </p:nvCxnSpPr>
        <p:spPr>
          <a:xfrm>
            <a:off x="4849338" y="3962400"/>
            <a:ext cx="2493324" cy="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4" name="矩形: 圆角 2923"/>
          <p:cNvSpPr/>
          <p:nvPr/>
        </p:nvSpPr>
        <p:spPr>
          <a:xfrm>
            <a:off x="5379720" y="4497425"/>
            <a:ext cx="1432560" cy="36703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outerShdw blurRad="203200" sx="102000" sy="102000" algn="ctr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2026.03.05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542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random/>
      </p:transition>
    </mc:Choice>
    <mc:Fallback xmlns="">
      <p:transition spd="slow" advTm="4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8100"/>
      </a:accent1>
      <a:accent2>
        <a:srgbClr val="FFA74C"/>
      </a:accent2>
      <a:accent3>
        <a:srgbClr val="FF5C00"/>
      </a:accent3>
      <a:accent4>
        <a:srgbClr val="FF9F00"/>
      </a:accent4>
      <a:accent5>
        <a:srgbClr val="FFC34D"/>
      </a:accent5>
      <a:accent6>
        <a:srgbClr val="B44010"/>
      </a:accent6>
      <a:hlink>
        <a:srgbClr val="FF8100"/>
      </a:hlink>
      <a:folHlink>
        <a:srgbClr val="BFBFBF"/>
      </a:folHlink>
    </a:clrScheme>
    <a:fontScheme name="wkbwvqjf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F8100"/>
    </a:accent1>
    <a:accent2>
      <a:srgbClr val="FFA74C"/>
    </a:accent2>
    <a:accent3>
      <a:srgbClr val="FF5C00"/>
    </a:accent3>
    <a:accent4>
      <a:srgbClr val="FF9F00"/>
    </a:accent4>
    <a:accent5>
      <a:srgbClr val="FFC34D"/>
    </a:accent5>
    <a:accent6>
      <a:srgbClr val="B44010"/>
    </a:accent6>
    <a:hlink>
      <a:srgbClr val="FF8100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33353</TotalTime>
  <Words>2482</Words>
  <Application>Microsoft Office PowerPoint</Application>
  <PresentationFormat>自定义</PresentationFormat>
  <Paragraphs>220</Paragraphs>
  <Slides>9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创意水彩</dc:title>
  <dc:creator>第一PPT</dc:creator>
  <cp:keywords>www.1ppt.com</cp:keywords>
  <dc:description>www.1ppt.com</dc:description>
  <cp:lastModifiedBy>huweiya007</cp:lastModifiedBy>
  <cp:revision>860</cp:revision>
  <dcterms:created xsi:type="dcterms:W3CDTF">2017-05-14T07:05:11Z</dcterms:created>
  <dcterms:modified xsi:type="dcterms:W3CDTF">2026-03-04T12:00:23Z</dcterms:modified>
</cp:coreProperties>
</file>