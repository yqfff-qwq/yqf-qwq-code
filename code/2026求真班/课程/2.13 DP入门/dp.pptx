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16" r:id="rId3"/>
    <p:sldId id="326" r:id="rId4"/>
    <p:sldId id="317" r:id="rId5"/>
    <p:sldId id="327" r:id="rId6"/>
    <p:sldId id="328" r:id="rId7"/>
    <p:sldId id="329" r:id="rId8"/>
    <p:sldId id="330" r:id="rId9"/>
    <p:sldId id="331" r:id="rId10"/>
    <p:sldId id="332" r:id="rId11"/>
    <p:sldId id="333" r:id="rId12"/>
    <p:sldId id="334" r:id="rId13"/>
    <p:sldId id="335" r:id="rId14"/>
    <p:sldId id="337" r:id="rId15"/>
    <p:sldId id="336" r:id="rId16"/>
    <p:sldId id="315"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9EE"/>
    <a:srgbClr val="33E98A"/>
    <a:srgbClr val="ACF6CF"/>
    <a:srgbClr val="70F0AD"/>
    <a:srgbClr val="55F7F7"/>
    <a:srgbClr val="4AF80C"/>
    <a:srgbClr val="FC28D4"/>
    <a:srgbClr val="60EEA4"/>
    <a:srgbClr val="41E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67" autoAdjust="0"/>
    <p:restoredTop sz="93778" autoAdjust="0"/>
  </p:normalViewPr>
  <p:slideViewPr>
    <p:cSldViewPr snapToGrid="0" showGuides="1">
      <p:cViewPr varScale="1">
        <p:scale>
          <a:sx n="84" d="100"/>
          <a:sy n="84" d="100"/>
        </p:scale>
        <p:origin x="-384"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2237E-A286-49FD-9984-05DBA88D6692}" type="datetimeFigureOut">
              <a:rPr lang="zh-CN" altLang="en-US" smtClean="0"/>
              <a:t>2026/1/15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D9CF8-F7EC-4A95-888B-BB5C40F63F2F}" type="slidenum">
              <a:rPr lang="zh-CN" altLang="en-US" smtClean="0"/>
              <a:t>‹#›</a:t>
            </a:fld>
            <a:endParaRPr lang="zh-CN" altLang="en-US"/>
          </a:p>
        </p:txBody>
      </p:sp>
    </p:spTree>
    <p:extLst>
      <p:ext uri="{BB962C8B-B14F-4D97-AF65-F5344CB8AC3E}">
        <p14:creationId xmlns:p14="http://schemas.microsoft.com/office/powerpoint/2010/main" val="4182095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a:t>
            </a:fld>
            <a:endParaRPr lang="zh-CN" altLang="en-US"/>
          </a:p>
        </p:txBody>
      </p:sp>
    </p:spTree>
    <p:extLst>
      <p:ext uri="{BB962C8B-B14F-4D97-AF65-F5344CB8AC3E}">
        <p14:creationId xmlns:p14="http://schemas.microsoft.com/office/powerpoint/2010/main" val="2777882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2</a:t>
            </a:fld>
            <a:endParaRPr lang="zh-CN" altLang="en-US"/>
          </a:p>
        </p:txBody>
      </p:sp>
    </p:spTree>
    <p:extLst>
      <p:ext uri="{BB962C8B-B14F-4D97-AF65-F5344CB8AC3E}">
        <p14:creationId xmlns:p14="http://schemas.microsoft.com/office/powerpoint/2010/main" val="1865156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3</a:t>
            </a:fld>
            <a:endParaRPr lang="zh-CN" altLang="en-US"/>
          </a:p>
        </p:txBody>
      </p:sp>
    </p:spTree>
    <p:extLst>
      <p:ext uri="{BB962C8B-B14F-4D97-AF65-F5344CB8AC3E}">
        <p14:creationId xmlns:p14="http://schemas.microsoft.com/office/powerpoint/2010/main" val="1865156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4</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5</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6</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7</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8</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9</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10</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11</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12</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13</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14</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15</a:t>
            </a:fld>
            <a:endParaRPr lang="zh-CN" altLang="en-US"/>
          </a:p>
        </p:txBody>
      </p:sp>
    </p:spTree>
    <p:extLst>
      <p:ext uri="{BB962C8B-B14F-4D97-AF65-F5344CB8AC3E}">
        <p14:creationId xmlns:p14="http://schemas.microsoft.com/office/powerpoint/2010/main" val="1847910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16</a:t>
            </a:fld>
            <a:endParaRPr lang="zh-CN" altLang="en-US"/>
          </a:p>
        </p:txBody>
      </p:sp>
    </p:spTree>
    <p:extLst>
      <p:ext uri="{BB962C8B-B14F-4D97-AF65-F5344CB8AC3E}">
        <p14:creationId xmlns:p14="http://schemas.microsoft.com/office/powerpoint/2010/main" val="1710800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618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073043"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3758186"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3814280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2172539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8" name="矩形 7"/>
          <p:cNvSpPr/>
          <p:nvPr userDrawn="1"/>
        </p:nvSpPr>
        <p:spPr>
          <a:xfrm>
            <a:off x="8325228" y="6545425"/>
            <a:ext cx="775136" cy="230832"/>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r>
              <a:rPr lang="en-US" altLang="zh-CN" sz="100" dirty="0">
                <a:solidFill>
                  <a:prstClr val="white"/>
                </a:solidFill>
                <a:latin typeface="Calibri"/>
                <a:ea typeface="宋体"/>
              </a:rPr>
              <a:t> </a:t>
            </a:r>
          </a:p>
        </p:txBody>
      </p:sp>
    </p:spTree>
    <p:extLst>
      <p:ext uri="{BB962C8B-B14F-4D97-AF65-F5344CB8AC3E}">
        <p14:creationId xmlns:p14="http://schemas.microsoft.com/office/powerpoint/2010/main" val="4200599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1592798"/>
            <a:ext cx="12192000" cy="4523843"/>
          </a:xfrm>
          <a:custGeom>
            <a:avLst/>
            <a:gdLst>
              <a:gd name="connsiteX0" fmla="*/ 0 w 12192000"/>
              <a:gd name="connsiteY0" fmla="*/ 0 h 4523843"/>
              <a:gd name="connsiteX1" fmla="*/ 12192000 w 12192000"/>
              <a:gd name="connsiteY1" fmla="*/ 0 h 4523843"/>
              <a:gd name="connsiteX2" fmla="*/ 12192000 w 12192000"/>
              <a:gd name="connsiteY2" fmla="*/ 4523843 h 4523843"/>
              <a:gd name="connsiteX3" fmla="*/ 0 w 12192000"/>
              <a:gd name="connsiteY3" fmla="*/ 4523843 h 4523843"/>
            </a:gdLst>
            <a:ahLst/>
            <a:cxnLst>
              <a:cxn ang="0">
                <a:pos x="connsiteX0" y="connsiteY0"/>
              </a:cxn>
              <a:cxn ang="0">
                <a:pos x="connsiteX1" y="connsiteY1"/>
              </a:cxn>
              <a:cxn ang="0">
                <a:pos x="connsiteX2" y="connsiteY2"/>
              </a:cxn>
              <a:cxn ang="0">
                <a:pos x="connsiteX3" y="connsiteY3"/>
              </a:cxn>
            </a:cxnLst>
            <a:rect l="l" t="t" r="r" b="b"/>
            <a:pathLst>
              <a:path w="12192000" h="4523843">
                <a:moveTo>
                  <a:pt x="0" y="0"/>
                </a:moveTo>
                <a:lnTo>
                  <a:pt x="12192000" y="0"/>
                </a:lnTo>
                <a:lnTo>
                  <a:pt x="12192000" y="4523843"/>
                </a:lnTo>
                <a:lnTo>
                  <a:pt x="0" y="4523843"/>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2941460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 y="1370014"/>
            <a:ext cx="12192002" cy="4829175"/>
          </a:xfrm>
          <a:custGeom>
            <a:avLst/>
            <a:gdLst>
              <a:gd name="connsiteX0" fmla="*/ 7747119 w 12192002"/>
              <a:gd name="connsiteY0" fmla="*/ 0 h 4829175"/>
              <a:gd name="connsiteX1" fmla="*/ 12192002 w 12192002"/>
              <a:gd name="connsiteY1" fmla="*/ 0 h 4829175"/>
              <a:gd name="connsiteX2" fmla="*/ 12192002 w 12192002"/>
              <a:gd name="connsiteY2" fmla="*/ 4829175 h 4829175"/>
              <a:gd name="connsiteX3" fmla="*/ 7747119 w 12192002"/>
              <a:gd name="connsiteY3" fmla="*/ 4829175 h 4829175"/>
              <a:gd name="connsiteX4" fmla="*/ 0 w 12192002"/>
              <a:gd name="connsiteY4" fmla="*/ 0 h 4829175"/>
              <a:gd name="connsiteX5" fmla="*/ 6095999 w 12192002"/>
              <a:gd name="connsiteY5" fmla="*/ 0 h 4829175"/>
              <a:gd name="connsiteX6" fmla="*/ 6095999 w 12192002"/>
              <a:gd name="connsiteY6" fmla="*/ 4829175 h 4829175"/>
              <a:gd name="connsiteX7" fmla="*/ 0 w 12192002"/>
              <a:gd name="connsiteY7" fmla="*/ 4829175 h 482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4829175">
                <a:moveTo>
                  <a:pt x="7747119" y="0"/>
                </a:moveTo>
                <a:lnTo>
                  <a:pt x="12192002" y="0"/>
                </a:lnTo>
                <a:lnTo>
                  <a:pt x="12192002" y="4829175"/>
                </a:lnTo>
                <a:lnTo>
                  <a:pt x="7747119" y="4829175"/>
                </a:lnTo>
                <a:close/>
                <a:moveTo>
                  <a:pt x="0" y="0"/>
                </a:moveTo>
                <a:lnTo>
                  <a:pt x="6095999" y="0"/>
                </a:lnTo>
                <a:lnTo>
                  <a:pt x="6095999" y="4829175"/>
                </a:lnTo>
                <a:lnTo>
                  <a:pt x="0" y="4829175"/>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991660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3091419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719137" y="1357274"/>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6234071" y="1357278"/>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200056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4106" y="0"/>
            <a:ext cx="12187894" cy="3571540"/>
          </a:xfrm>
          <a:custGeom>
            <a:avLst/>
            <a:gdLst>
              <a:gd name="connsiteX0" fmla="*/ 0 w 12187894"/>
              <a:gd name="connsiteY0" fmla="*/ 0 h 3571540"/>
              <a:gd name="connsiteX1" fmla="*/ 12187894 w 12187894"/>
              <a:gd name="connsiteY1" fmla="*/ 0 h 3571540"/>
              <a:gd name="connsiteX2" fmla="*/ 12187894 w 12187894"/>
              <a:gd name="connsiteY2" fmla="*/ 3571540 h 3571540"/>
              <a:gd name="connsiteX3" fmla="*/ 0 w 12187894"/>
              <a:gd name="connsiteY3" fmla="*/ 3571540 h 3571540"/>
            </a:gdLst>
            <a:ahLst/>
            <a:cxnLst>
              <a:cxn ang="0">
                <a:pos x="connsiteX0" y="connsiteY0"/>
              </a:cxn>
              <a:cxn ang="0">
                <a:pos x="connsiteX1" y="connsiteY1"/>
              </a:cxn>
              <a:cxn ang="0">
                <a:pos x="connsiteX2" y="connsiteY2"/>
              </a:cxn>
              <a:cxn ang="0">
                <a:pos x="connsiteX3" y="connsiteY3"/>
              </a:cxn>
            </a:cxnLst>
            <a:rect l="l" t="t" r="r" b="b"/>
            <a:pathLst>
              <a:path w="12187894" h="3571540">
                <a:moveTo>
                  <a:pt x="0" y="0"/>
                </a:moveTo>
                <a:lnTo>
                  <a:pt x="12187894" y="0"/>
                </a:lnTo>
                <a:lnTo>
                  <a:pt x="12187894" y="3571540"/>
                </a:lnTo>
                <a:lnTo>
                  <a:pt x="0" y="357154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416881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234798"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
        <p:nvSpPr>
          <p:cNvPr id="16" name="图片占位符 15"/>
          <p:cNvSpPr>
            <a:spLocks noGrp="1"/>
          </p:cNvSpPr>
          <p:nvPr>
            <p:ph type="pic" sz="quarter" idx="11"/>
          </p:nvPr>
        </p:nvSpPr>
        <p:spPr>
          <a:xfrm>
            <a:off x="3720984"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7" name="图片占位符 16"/>
          <p:cNvSpPr>
            <a:spLocks noGrp="1"/>
          </p:cNvSpPr>
          <p:nvPr>
            <p:ph type="pic" sz="quarter" idx="12"/>
          </p:nvPr>
        </p:nvSpPr>
        <p:spPr>
          <a:xfrm>
            <a:off x="6198835"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8693352"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820438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8667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91CE03-90C0-4E22-B7FA-3A1ECBAF6F4F}" type="datetimeFigureOut">
              <a:rPr lang="zh-CN" altLang="en-US" smtClean="0"/>
              <a:t>2026/1/15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1176E6-63FA-43A7-8DE8-B4DDEC857A29}" type="slidenum">
              <a:rPr lang="zh-CN" altLang="en-US" smtClean="0"/>
              <a:t>‹#›</a:t>
            </a:fld>
            <a:endParaRPr lang="zh-CN" altLang="en-US"/>
          </a:p>
        </p:txBody>
      </p:sp>
    </p:spTree>
    <p:extLst>
      <p:ext uri="{BB962C8B-B14F-4D97-AF65-F5344CB8AC3E}">
        <p14:creationId xmlns:p14="http://schemas.microsoft.com/office/powerpoint/2010/main" val="1008591366"/>
      </p:ext>
    </p:extLst>
  </p:cSld>
  <p:clrMap bg1="lt1" tx1="dk1" bg2="lt2" tx2="dk2" accent1="accent1" accent2="accent2" accent3="accent3" accent4="accent4" accent5="accent5" accent6="accent6" hlink="hlink" folHlink="folHlink"/>
  <p:sldLayoutIdLst>
    <p:sldLayoutId id="2147483655" r:id="rId1"/>
    <p:sldLayoutId id="2147483664" r:id="rId2"/>
    <p:sldLayoutId id="2147483663" r:id="rId3"/>
    <p:sldLayoutId id="2147483665" r:id="rId4"/>
    <p:sldLayoutId id="2147483662" r:id="rId5"/>
    <p:sldLayoutId id="2147483661" r:id="rId6"/>
    <p:sldLayoutId id="2147483660" r:id="rId7"/>
    <p:sldLayoutId id="2147483659" r:id="rId8"/>
    <p:sldLayoutId id="2147483658" r:id="rId9"/>
    <p:sldLayoutId id="2147483657" r:id="rId10"/>
    <p:sldLayoutId id="214748365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5.png"/><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5.png"/><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2919" name="图片 2918"/>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964923" y="2006600"/>
            <a:ext cx="2262159" cy="923330"/>
          </a:xfrm>
          <a:prstGeom prst="rect">
            <a:avLst/>
          </a:prstGeom>
          <a:noFill/>
        </p:spPr>
        <p:txBody>
          <a:bodyPr wrap="none" rtlCol="0">
            <a:spAutoFit/>
            <a:scene3d>
              <a:camera prst="orthographicFront"/>
              <a:lightRig rig="threePt" dir="t"/>
            </a:scene3d>
            <a:sp3d extrusionH="12700"/>
          </a:bodyPr>
          <a:lstStyle/>
          <a:p>
            <a:pPr algn="ctr"/>
            <a:r>
              <a:rPr lang="zh-CN" altLang="en-US" sz="5400" dirty="0" smtClean="0">
                <a:solidFill>
                  <a:schemeClr val="bg1"/>
                </a:solidFill>
                <a:effectLst>
                  <a:outerShdw blurRad="203200" dist="38100" dir="5400000" algn="t" rotWithShape="0">
                    <a:prstClr val="black">
                      <a:alpha val="83000"/>
                    </a:prstClr>
                  </a:outerShdw>
                </a:effectLst>
                <a:cs typeface="+mn-ea"/>
                <a:sym typeface="+mn-lt"/>
              </a:rPr>
              <a:t>第九章</a:t>
            </a:r>
            <a:endParaRPr lang="zh-CN" altLang="en-US" sz="5400" dirty="0">
              <a:solidFill>
                <a:schemeClr val="bg1"/>
              </a:solidFill>
              <a:effectLst>
                <a:outerShdw blurRad="203200" dist="38100" dir="5400000" algn="t" rotWithShape="0">
                  <a:prstClr val="black">
                    <a:alpha val="83000"/>
                  </a:prstClr>
                </a:outerShdw>
              </a:effectLst>
              <a:cs typeface="+mn-ea"/>
              <a:sym typeface="+mn-lt"/>
            </a:endParaRPr>
          </a:p>
        </p:txBody>
      </p:sp>
      <p:sp>
        <p:nvSpPr>
          <p:cNvPr id="2921" name="文本框 2920"/>
          <p:cNvSpPr txBox="1"/>
          <p:nvPr/>
        </p:nvSpPr>
        <p:spPr>
          <a:xfrm>
            <a:off x="4977743" y="3019922"/>
            <a:ext cx="2236511" cy="707886"/>
          </a:xfrm>
          <a:prstGeom prst="rect">
            <a:avLst/>
          </a:prstGeom>
          <a:noFill/>
        </p:spPr>
        <p:txBody>
          <a:bodyPr wrap="none" rtlCol="0">
            <a:spAutoFit/>
            <a:scene3d>
              <a:camera prst="orthographicFront"/>
              <a:lightRig rig="threePt" dir="t"/>
            </a:scene3d>
            <a:sp3d extrusionH="12700"/>
          </a:bodyPr>
          <a:lstStyle/>
          <a:p>
            <a:pPr algn="ctr"/>
            <a:r>
              <a:rPr lang="zh-CN" altLang="en-US" sz="4000" dirty="0">
                <a:solidFill>
                  <a:schemeClr val="bg1"/>
                </a:solidFill>
                <a:effectLst>
                  <a:outerShdw blurRad="203200" dist="38100" dir="5400000" algn="t" rotWithShape="0">
                    <a:prstClr val="black">
                      <a:alpha val="83000"/>
                    </a:prstClr>
                  </a:outerShdw>
                </a:effectLst>
                <a:cs typeface="+mn-ea"/>
                <a:sym typeface="+mn-lt"/>
              </a:rPr>
              <a:t>动态规划</a:t>
            </a: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cs typeface="+mn-ea"/>
                <a:sym typeface="+mn-lt"/>
              </a:rPr>
              <a:t>2026.02.13</a:t>
            </a:r>
            <a:endParaRPr lang="zh-CN" altLang="en-US" sz="1400" dirty="0">
              <a:cs typeface="+mn-ea"/>
              <a:sym typeface="+mn-lt"/>
            </a:endParaRPr>
          </a:p>
        </p:txBody>
      </p:sp>
      <p:sp>
        <p:nvSpPr>
          <p:cNvPr id="9" name="文本框 2919"/>
          <p:cNvSpPr txBox="1"/>
          <p:nvPr/>
        </p:nvSpPr>
        <p:spPr>
          <a:xfrm>
            <a:off x="10013199" y="0"/>
            <a:ext cx="2095445"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第二部分 基础算法</a:t>
            </a:r>
          </a:p>
        </p:txBody>
      </p:sp>
    </p:spTree>
    <p:extLst>
      <p:ext uri="{BB962C8B-B14F-4D97-AF65-F5344CB8AC3E}">
        <p14:creationId xmlns:p14="http://schemas.microsoft.com/office/powerpoint/2010/main" val="242272367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0"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500"/>
                            </p:stCondLst>
                            <p:childTnLst>
                              <p:par>
                                <p:cTn id="14" presetID="23" presetClass="entr" presetSubtype="288" fill="hold" nodeType="afterEffect">
                                  <p:stCondLst>
                                    <p:cond delay="0"/>
                                  </p:stCondLst>
                                  <p:childTnLst>
                                    <p:set>
                                      <p:cBhvr>
                                        <p:cTn id="15" dur="1" fill="hold">
                                          <p:stCondLst>
                                            <p:cond delay="0"/>
                                          </p:stCondLst>
                                        </p:cTn>
                                        <p:tgtEl>
                                          <p:spTgt spid="2919"/>
                                        </p:tgtEl>
                                        <p:attrNameLst>
                                          <p:attrName>style.visibility</p:attrName>
                                        </p:attrNameLst>
                                      </p:cBhvr>
                                      <p:to>
                                        <p:strVal val="visible"/>
                                      </p:to>
                                    </p:set>
                                    <p:anim calcmode="lin" valueType="num">
                                      <p:cBhvr>
                                        <p:cTn id="16" dur="500" fill="hold"/>
                                        <p:tgtEl>
                                          <p:spTgt spid="2919"/>
                                        </p:tgtEl>
                                        <p:attrNameLst>
                                          <p:attrName>ppt_w</p:attrName>
                                        </p:attrNameLst>
                                      </p:cBhvr>
                                      <p:tavLst>
                                        <p:tav tm="0">
                                          <p:val>
                                            <p:strVal val="4/3*#ppt_w"/>
                                          </p:val>
                                        </p:tav>
                                        <p:tav tm="100000">
                                          <p:val>
                                            <p:strVal val="#ppt_w"/>
                                          </p:val>
                                        </p:tav>
                                      </p:tavLst>
                                    </p:anim>
                                    <p:anim calcmode="lin" valueType="num">
                                      <p:cBhvr>
                                        <p:cTn id="17" dur="500" fill="hold"/>
                                        <p:tgtEl>
                                          <p:spTgt spid="2919"/>
                                        </p:tgtEl>
                                        <p:attrNameLst>
                                          <p:attrName>ppt_h</p:attrName>
                                        </p:attrNameLst>
                                      </p:cBhvr>
                                      <p:tavLst>
                                        <p:tav tm="0">
                                          <p:val>
                                            <p:strVal val="4/3*#ppt_h"/>
                                          </p:val>
                                        </p:tav>
                                        <p:tav tm="100000">
                                          <p:val>
                                            <p:strVal val="#ppt_h"/>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20"/>
                                        </p:tgtEl>
                                        <p:attrNameLst>
                                          <p:attrName>style.visibility</p:attrName>
                                        </p:attrNameLst>
                                      </p:cBhvr>
                                      <p:to>
                                        <p:strVal val="visible"/>
                                      </p:to>
                                    </p:set>
                                    <p:anim calcmode="lin" valueType="num">
                                      <p:cBhvr>
                                        <p:cTn id="21" dur="500" fill="hold"/>
                                        <p:tgtEl>
                                          <p:spTgt spid="2920"/>
                                        </p:tgtEl>
                                        <p:attrNameLst>
                                          <p:attrName>ppt_w</p:attrName>
                                        </p:attrNameLst>
                                      </p:cBhvr>
                                      <p:tavLst>
                                        <p:tav tm="0">
                                          <p:val>
                                            <p:fltVal val="0"/>
                                          </p:val>
                                        </p:tav>
                                        <p:tav tm="100000">
                                          <p:val>
                                            <p:strVal val="#ppt_w"/>
                                          </p:val>
                                        </p:tav>
                                      </p:tavLst>
                                    </p:anim>
                                    <p:anim calcmode="lin" valueType="num">
                                      <p:cBhvr>
                                        <p:cTn id="22" dur="500" fill="hold"/>
                                        <p:tgtEl>
                                          <p:spTgt spid="2920"/>
                                        </p:tgtEl>
                                        <p:attrNameLst>
                                          <p:attrName>ppt_h</p:attrName>
                                        </p:attrNameLst>
                                      </p:cBhvr>
                                      <p:tavLst>
                                        <p:tav tm="0">
                                          <p:val>
                                            <p:fltVal val="0"/>
                                          </p:val>
                                        </p:tav>
                                        <p:tav tm="100000">
                                          <p:val>
                                            <p:strVal val="#ppt_h"/>
                                          </p:val>
                                        </p:tav>
                                      </p:tavLst>
                                    </p:anim>
                                    <p:animEffect transition="in" filter="fade">
                                      <p:cBhvr>
                                        <p:cTn id="23" dur="500"/>
                                        <p:tgtEl>
                                          <p:spTgt spid="2920"/>
                                        </p:tgtEl>
                                      </p:cBhvr>
                                    </p:animEffect>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2921"/>
                                        </p:tgtEl>
                                        <p:attrNameLst>
                                          <p:attrName>style.visibility</p:attrName>
                                        </p:attrNameLst>
                                      </p:cBhvr>
                                      <p:to>
                                        <p:strVal val="visible"/>
                                      </p:to>
                                    </p:set>
                                    <p:animEffect transition="in" filter="fade">
                                      <p:cBhvr>
                                        <p:cTn id="27" dur="1000"/>
                                        <p:tgtEl>
                                          <p:spTgt spid="2921"/>
                                        </p:tgtEl>
                                      </p:cBhvr>
                                    </p:animEffect>
                                    <p:anim calcmode="lin" valueType="num">
                                      <p:cBhvr>
                                        <p:cTn id="28" dur="1000" fill="hold"/>
                                        <p:tgtEl>
                                          <p:spTgt spid="2921"/>
                                        </p:tgtEl>
                                        <p:attrNameLst>
                                          <p:attrName>ppt_x</p:attrName>
                                        </p:attrNameLst>
                                      </p:cBhvr>
                                      <p:tavLst>
                                        <p:tav tm="0">
                                          <p:val>
                                            <p:strVal val="#ppt_x"/>
                                          </p:val>
                                        </p:tav>
                                        <p:tav tm="100000">
                                          <p:val>
                                            <p:strVal val="#ppt_x"/>
                                          </p:val>
                                        </p:tav>
                                      </p:tavLst>
                                    </p:anim>
                                    <p:anim calcmode="lin" valueType="num">
                                      <p:cBhvr>
                                        <p:cTn id="29" dur="1000" fill="hold"/>
                                        <p:tgtEl>
                                          <p:spTgt spid="2921"/>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16" presetClass="entr" presetSubtype="21" fill="hold" nodeType="afterEffect">
                                  <p:stCondLst>
                                    <p:cond delay="0"/>
                                  </p:stCondLst>
                                  <p:childTnLst>
                                    <p:set>
                                      <p:cBhvr>
                                        <p:cTn id="32" dur="1" fill="hold">
                                          <p:stCondLst>
                                            <p:cond delay="0"/>
                                          </p:stCondLst>
                                        </p:cTn>
                                        <p:tgtEl>
                                          <p:spTgt spid="2923"/>
                                        </p:tgtEl>
                                        <p:attrNameLst>
                                          <p:attrName>style.visibility</p:attrName>
                                        </p:attrNameLst>
                                      </p:cBhvr>
                                      <p:to>
                                        <p:strVal val="visible"/>
                                      </p:to>
                                    </p:set>
                                    <p:animEffect transition="in" filter="barn(inVertical)">
                                      <p:cBhvr>
                                        <p:cTn id="33" dur="500"/>
                                        <p:tgtEl>
                                          <p:spTgt spid="2923"/>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924"/>
                                        </p:tgtEl>
                                        <p:attrNameLst>
                                          <p:attrName>style.visibility</p:attrName>
                                        </p:attrNameLst>
                                      </p:cBhvr>
                                      <p:to>
                                        <p:strVal val="visible"/>
                                      </p:to>
                                    </p:set>
                                    <p:animEffect transition="in" filter="fade">
                                      <p:cBhvr>
                                        <p:cTn id="37" dur="500"/>
                                        <p:tgtEl>
                                          <p:spTgt spid="2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0" grpId="0"/>
      <p:bldP spid="2921" grpId="0"/>
      <p:bldP spid="2924"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grpSp>
        <p:nvGrpSpPr>
          <p:cNvPr id="28" name="组合 27"/>
          <p:cNvGrpSpPr/>
          <p:nvPr/>
        </p:nvGrpSpPr>
        <p:grpSpPr>
          <a:xfrm>
            <a:off x="1996801" y="1738322"/>
            <a:ext cx="9160883" cy="3467764"/>
            <a:chOff x="7692478" y="1678126"/>
            <a:chExt cx="3838453" cy="2906104"/>
          </a:xfrm>
        </p:grpSpPr>
        <p:sp>
          <p:nvSpPr>
            <p:cNvPr id="30" name="矩形 29"/>
            <p:cNvSpPr/>
            <p:nvPr/>
          </p:nvSpPr>
          <p:spPr>
            <a:xfrm>
              <a:off x="7692478" y="2030750"/>
              <a:ext cx="3838453" cy="2553480"/>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600" dirty="0" smtClean="0">
                  <a:solidFill>
                    <a:schemeClr val="tx1">
                      <a:lumMod val="75000"/>
                      <a:lumOff val="25000"/>
                    </a:schemeClr>
                  </a:solidFill>
                  <a:cs typeface="+mn-ea"/>
                </a:rPr>
                <a:t>	</a:t>
              </a:r>
              <a:r>
                <a:rPr lang="zh-CN" altLang="zh-CN" sz="1600" dirty="0" smtClean="0">
                  <a:solidFill>
                    <a:schemeClr val="tx1">
                      <a:lumMod val="75000"/>
                      <a:lumOff val="25000"/>
                    </a:schemeClr>
                  </a:solidFill>
                  <a:cs typeface="+mn-ea"/>
                </a:rPr>
                <a:t>动态规划算法</a:t>
              </a:r>
              <a:r>
                <a:rPr lang="zh-CN" altLang="zh-CN" sz="1600" dirty="0">
                  <a:solidFill>
                    <a:schemeClr val="tx1">
                      <a:lumMod val="75000"/>
                      <a:lumOff val="25000"/>
                    </a:schemeClr>
                  </a:solidFill>
                  <a:cs typeface="+mn-ea"/>
                </a:rPr>
                <a:t>通常用于求解具有某种最优性质的问题。在这类问题中，可能会有许多可行解。每一个解都对应于一个值，我们希望找到具有最优值的解</a:t>
              </a:r>
              <a:r>
                <a:rPr lang="zh-CN" altLang="zh-CN" sz="1600" dirty="0" smtClean="0">
                  <a:solidFill>
                    <a:schemeClr val="tx1">
                      <a:lumMod val="75000"/>
                      <a:lumOff val="25000"/>
                    </a:schemeClr>
                  </a:solidFill>
                  <a:cs typeface="+mn-ea"/>
                </a:rPr>
                <a:t>。</a:t>
              </a:r>
              <a:endParaRPr lang="en-US" altLang="zh-CN" sz="1600" dirty="0" smtClean="0">
                <a:solidFill>
                  <a:schemeClr val="tx1">
                    <a:lumMod val="75000"/>
                    <a:lumOff val="25000"/>
                  </a:schemeClr>
                </a:solidFill>
                <a:cs typeface="+mn-ea"/>
              </a:endParaRPr>
            </a:p>
            <a:p>
              <a:pPr algn="just">
                <a:lnSpc>
                  <a:spcPct val="120000"/>
                </a:lnSpc>
              </a:pPr>
              <a:r>
                <a:rPr lang="en-US" altLang="zh-CN" sz="1600" dirty="0">
                  <a:solidFill>
                    <a:schemeClr val="tx1">
                      <a:lumMod val="75000"/>
                      <a:lumOff val="25000"/>
                    </a:schemeClr>
                  </a:solidFill>
                  <a:cs typeface="+mn-ea"/>
                </a:rPr>
                <a:t>	</a:t>
              </a:r>
              <a:r>
                <a:rPr lang="zh-CN" altLang="zh-CN" sz="1600" dirty="0" smtClean="0">
                  <a:solidFill>
                    <a:schemeClr val="tx1">
                      <a:lumMod val="75000"/>
                      <a:lumOff val="25000"/>
                    </a:schemeClr>
                  </a:solidFill>
                  <a:cs typeface="+mn-ea"/>
                </a:rPr>
                <a:t>动态规划算法</a:t>
              </a:r>
              <a:r>
                <a:rPr lang="zh-CN" altLang="zh-CN" sz="1600" dirty="0">
                  <a:solidFill>
                    <a:schemeClr val="tx1">
                      <a:lumMod val="75000"/>
                      <a:lumOff val="25000"/>
                    </a:schemeClr>
                  </a:solidFill>
                  <a:cs typeface="+mn-ea"/>
                </a:rPr>
                <a:t>与分治法类似，其基本思想也是将待求解问题分解成若干个子问题，先求解子问题，然后从这些子问题的解得到原问题的解。</a:t>
              </a:r>
              <a:r>
                <a:rPr lang="zh-CN" altLang="zh-CN" sz="1600" b="1" dirty="0">
                  <a:solidFill>
                    <a:schemeClr val="tx1">
                      <a:lumMod val="75000"/>
                      <a:lumOff val="25000"/>
                    </a:schemeClr>
                  </a:solidFill>
                  <a:cs typeface="+mn-ea"/>
                </a:rPr>
                <a:t>与分治法不同的是，</a:t>
              </a:r>
              <a:r>
                <a:rPr lang="zh-CN" altLang="zh-CN" sz="1600" b="1" dirty="0" smtClean="0">
                  <a:solidFill>
                    <a:schemeClr val="tx1">
                      <a:lumMod val="75000"/>
                      <a:lumOff val="25000"/>
                    </a:schemeClr>
                  </a:solidFill>
                  <a:cs typeface="+mn-ea"/>
                </a:rPr>
                <a:t>适合用</a:t>
              </a:r>
              <a:r>
                <a:rPr lang="zh-CN" altLang="zh-CN" sz="1600" b="1" dirty="0">
                  <a:solidFill>
                    <a:schemeClr val="tx1">
                      <a:lumMod val="75000"/>
                      <a:lumOff val="25000"/>
                    </a:schemeClr>
                  </a:solidFill>
                  <a:cs typeface="+mn-ea"/>
                </a:rPr>
                <a:t>动态规划求解的问题，经分解</a:t>
              </a:r>
              <a:r>
                <a:rPr lang="zh-CN" altLang="zh-CN" sz="1600" b="1" dirty="0" smtClean="0">
                  <a:solidFill>
                    <a:schemeClr val="tx1">
                      <a:lumMod val="75000"/>
                      <a:lumOff val="25000"/>
                    </a:schemeClr>
                  </a:solidFill>
                  <a:cs typeface="+mn-ea"/>
                </a:rPr>
                <a:t>得到</a:t>
              </a:r>
              <a:r>
                <a:rPr lang="zh-CN" altLang="en-US" sz="1600" b="1" dirty="0" smtClean="0">
                  <a:solidFill>
                    <a:schemeClr val="tx1">
                      <a:lumMod val="75000"/>
                      <a:lumOff val="25000"/>
                    </a:schemeClr>
                  </a:solidFill>
                  <a:cs typeface="+mn-ea"/>
                </a:rPr>
                <a:t>的</a:t>
              </a:r>
              <a:r>
                <a:rPr lang="zh-CN" altLang="zh-CN" sz="1600" b="1" dirty="0" smtClean="0">
                  <a:solidFill>
                    <a:schemeClr val="tx1">
                      <a:lumMod val="75000"/>
                      <a:lumOff val="25000"/>
                    </a:schemeClr>
                  </a:solidFill>
                  <a:cs typeface="+mn-ea"/>
                </a:rPr>
                <a:t>子问题</a:t>
              </a:r>
              <a:r>
                <a:rPr lang="zh-CN" altLang="en-US" sz="1600" b="1" dirty="0" smtClean="0">
                  <a:solidFill>
                    <a:schemeClr val="tx1">
                      <a:lumMod val="75000"/>
                      <a:lumOff val="25000"/>
                    </a:schemeClr>
                  </a:solidFill>
                  <a:cs typeface="+mn-ea"/>
                </a:rPr>
                <a:t>通常不是相互</a:t>
              </a:r>
              <a:r>
                <a:rPr lang="zh-CN" altLang="zh-CN" sz="1600" b="1" dirty="0" smtClean="0">
                  <a:solidFill>
                    <a:schemeClr val="tx1">
                      <a:lumMod val="75000"/>
                      <a:lumOff val="25000"/>
                    </a:schemeClr>
                  </a:solidFill>
                  <a:cs typeface="+mn-ea"/>
                </a:rPr>
                <a:t>独立</a:t>
              </a:r>
              <a:r>
                <a:rPr lang="zh-CN" altLang="zh-CN" sz="1600" dirty="0">
                  <a:solidFill>
                    <a:schemeClr val="tx1">
                      <a:lumMod val="75000"/>
                      <a:lumOff val="25000"/>
                    </a:schemeClr>
                  </a:solidFill>
                  <a:cs typeface="+mn-ea"/>
                </a:rPr>
                <a:t>（即下一个子阶段的求解是建立在上一个子阶段的解的基础上，进行进一步的求解</a:t>
              </a:r>
              <a:r>
                <a:rPr lang="zh-CN" altLang="zh-CN" sz="1600" dirty="0" smtClean="0">
                  <a:solidFill>
                    <a:schemeClr val="tx1">
                      <a:lumMod val="75000"/>
                      <a:lumOff val="25000"/>
                    </a:schemeClr>
                  </a:solidFill>
                  <a:cs typeface="+mn-ea"/>
                </a:rPr>
                <a:t>）</a:t>
              </a:r>
              <a:r>
                <a:rPr lang="zh-CN" altLang="zh-CN" sz="1600" b="1" dirty="0" smtClean="0">
                  <a:solidFill>
                    <a:schemeClr val="tx1">
                      <a:lumMod val="75000"/>
                      <a:lumOff val="25000"/>
                    </a:schemeClr>
                  </a:solidFill>
                  <a:cs typeface="+mn-ea"/>
                </a:rPr>
                <a:t>。</a:t>
              </a:r>
              <a:r>
                <a:rPr lang="zh-CN" altLang="zh-CN" sz="1600" dirty="0">
                  <a:solidFill>
                    <a:schemeClr val="tx1">
                      <a:lumMod val="75000"/>
                      <a:lumOff val="25000"/>
                    </a:schemeClr>
                  </a:solidFill>
                  <a:cs typeface="+mn-ea"/>
                </a:rPr>
                <a:t>若用分治法来解这类问题，则分解得到的子问题数目太多，有些子问题被重复计算了很多次。</a:t>
              </a:r>
              <a:r>
                <a:rPr lang="zh-CN" altLang="zh-CN" sz="1600" b="1" dirty="0">
                  <a:solidFill>
                    <a:schemeClr val="tx1">
                      <a:lumMod val="75000"/>
                      <a:lumOff val="25000"/>
                    </a:schemeClr>
                  </a:solidFill>
                  <a:cs typeface="+mn-ea"/>
                </a:rPr>
                <a:t>如果我们能够保存已解决的子问题的答案，而在需要时再找出已求得的答案，这样就可以避免大量的重复计算，节省时间</a:t>
              </a:r>
              <a:r>
                <a:rPr lang="zh-CN" altLang="zh-CN" sz="1600" b="1" dirty="0" smtClean="0">
                  <a:solidFill>
                    <a:schemeClr val="tx1">
                      <a:lumMod val="75000"/>
                      <a:lumOff val="25000"/>
                    </a:schemeClr>
                  </a:solidFill>
                  <a:cs typeface="+mn-ea"/>
                </a:rPr>
                <a:t>。</a:t>
              </a:r>
              <a:endParaRPr lang="en-US" altLang="zh-CN" sz="1600" b="1" dirty="0" smtClean="0">
                <a:solidFill>
                  <a:schemeClr val="tx1">
                    <a:lumMod val="75000"/>
                    <a:lumOff val="25000"/>
                  </a:schemeClr>
                </a:solidFill>
                <a:cs typeface="+mn-ea"/>
              </a:endParaRPr>
            </a:p>
            <a:p>
              <a:pPr algn="just">
                <a:lnSpc>
                  <a:spcPct val="120000"/>
                </a:lnSpc>
              </a:pPr>
              <a:r>
                <a:rPr lang="en-US" altLang="zh-CN" sz="1600" dirty="0">
                  <a:solidFill>
                    <a:schemeClr val="tx1">
                      <a:lumMod val="75000"/>
                      <a:lumOff val="25000"/>
                    </a:schemeClr>
                  </a:solidFill>
                  <a:cs typeface="+mn-ea"/>
                </a:rPr>
                <a:t>	</a:t>
              </a:r>
              <a:r>
                <a:rPr lang="zh-CN" altLang="zh-CN" sz="1600" dirty="0" smtClean="0">
                  <a:solidFill>
                    <a:schemeClr val="tx1">
                      <a:lumMod val="75000"/>
                      <a:lumOff val="25000"/>
                    </a:schemeClr>
                  </a:solidFill>
                  <a:cs typeface="+mn-ea"/>
                </a:rPr>
                <a:t>我们</a:t>
              </a:r>
              <a:r>
                <a:rPr lang="zh-CN" altLang="zh-CN" sz="1600" dirty="0">
                  <a:solidFill>
                    <a:schemeClr val="tx1">
                      <a:lumMod val="75000"/>
                      <a:lumOff val="25000"/>
                    </a:schemeClr>
                  </a:solidFill>
                  <a:cs typeface="+mn-ea"/>
                </a:rPr>
                <a:t>可以用一个表来记录所有</a:t>
              </a:r>
              <a:r>
                <a:rPr lang="zh-CN" altLang="zh-CN" sz="1600" dirty="0" smtClean="0">
                  <a:solidFill>
                    <a:schemeClr val="tx1">
                      <a:lumMod val="75000"/>
                      <a:lumOff val="25000"/>
                    </a:schemeClr>
                  </a:solidFill>
                  <a:cs typeface="+mn-ea"/>
                </a:rPr>
                <a:t>已</a:t>
              </a:r>
              <a:r>
                <a:rPr lang="zh-CN" altLang="en-US" sz="1600" dirty="0" smtClean="0">
                  <a:solidFill>
                    <a:schemeClr val="tx1">
                      <a:lumMod val="75000"/>
                      <a:lumOff val="25000"/>
                    </a:schemeClr>
                  </a:solidFill>
                  <a:cs typeface="+mn-ea"/>
                </a:rPr>
                <a:t>得解</a:t>
              </a:r>
              <a:r>
                <a:rPr lang="zh-CN" altLang="zh-CN" sz="1600" dirty="0" smtClean="0">
                  <a:solidFill>
                    <a:schemeClr val="tx1">
                      <a:lumMod val="75000"/>
                      <a:lumOff val="25000"/>
                    </a:schemeClr>
                  </a:solidFill>
                  <a:cs typeface="+mn-ea"/>
                </a:rPr>
                <a:t>的</a:t>
              </a:r>
              <a:r>
                <a:rPr lang="zh-CN" altLang="zh-CN" sz="1600" dirty="0">
                  <a:solidFill>
                    <a:schemeClr val="tx1">
                      <a:lumMod val="75000"/>
                      <a:lumOff val="25000"/>
                    </a:schemeClr>
                  </a:solidFill>
                  <a:cs typeface="+mn-ea"/>
                </a:rPr>
                <a:t>子问题的答案。不管该子问题以后是否被用到，只要它被计算过，就将其结果填入表中。这就是动态规划法的基本思路</a:t>
              </a:r>
              <a:r>
                <a:rPr lang="zh-CN" altLang="zh-CN" sz="1600" dirty="0" smtClean="0">
                  <a:solidFill>
                    <a:schemeClr val="tx1">
                      <a:lumMod val="75000"/>
                      <a:lumOff val="25000"/>
                    </a:schemeClr>
                  </a:solidFill>
                  <a:cs typeface="+mn-ea"/>
                </a:rPr>
                <a:t>。</a:t>
              </a:r>
              <a:endParaRPr lang="zh-CN" altLang="zh-CN" sz="1600" dirty="0">
                <a:solidFill>
                  <a:schemeClr val="tx1">
                    <a:lumMod val="75000"/>
                    <a:lumOff val="25000"/>
                  </a:schemeClr>
                </a:solidFill>
                <a:cs typeface="+mn-ea"/>
              </a:endParaRPr>
            </a:p>
          </p:txBody>
        </p:sp>
        <p:sp>
          <p:nvSpPr>
            <p:cNvPr id="31" name="矩形 30"/>
            <p:cNvSpPr/>
            <p:nvPr/>
          </p:nvSpPr>
          <p:spPr>
            <a:xfrm>
              <a:off x="7692479" y="1678126"/>
              <a:ext cx="2241974" cy="33197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cs typeface="+mn-ea"/>
                  <a:sym typeface="+mn-lt"/>
                </a:rPr>
                <a:t>基本思想</a:t>
              </a:r>
              <a:endParaRPr lang="zh-CN" altLang="en-US" b="1" dirty="0">
                <a:cs typeface="+mn-ea"/>
                <a:sym typeface="+mn-lt"/>
              </a:endParaRPr>
            </a:p>
          </p:txBody>
        </p:sp>
      </p:grpSp>
      <p:pic>
        <p:nvPicPr>
          <p:cNvPr id="20" name="图片 19"/>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算法</a:t>
            </a: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3"/>
                </a:solidFill>
                <a:cs typeface="+mn-ea"/>
                <a:sym typeface="+mn-lt"/>
              </a:rPr>
              <a:t>Algorithm</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280522" y="177223"/>
            <a:ext cx="1107997"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动态规划</a:t>
            </a:r>
          </a:p>
        </p:txBody>
      </p:sp>
    </p:spTree>
    <p:extLst>
      <p:ext uri="{BB962C8B-B14F-4D97-AF65-F5344CB8AC3E}">
        <p14:creationId xmlns:p14="http://schemas.microsoft.com/office/powerpoint/2010/main" val="2739604696"/>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grpSp>
        <p:nvGrpSpPr>
          <p:cNvPr id="28" name="组合 27"/>
          <p:cNvGrpSpPr/>
          <p:nvPr/>
        </p:nvGrpSpPr>
        <p:grpSpPr>
          <a:xfrm>
            <a:off x="1996801" y="1738322"/>
            <a:ext cx="9160883" cy="4364527"/>
            <a:chOff x="7692478" y="1678126"/>
            <a:chExt cx="3838453" cy="3657626"/>
          </a:xfrm>
        </p:grpSpPr>
        <p:sp>
          <p:nvSpPr>
            <p:cNvPr id="30" name="矩形 29"/>
            <p:cNvSpPr/>
            <p:nvPr/>
          </p:nvSpPr>
          <p:spPr>
            <a:xfrm>
              <a:off x="7692478" y="2287049"/>
              <a:ext cx="3838453" cy="3048703"/>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600" b="1" dirty="0" smtClean="0">
                  <a:solidFill>
                    <a:schemeClr val="tx1">
                      <a:lumMod val="95000"/>
                      <a:lumOff val="5000"/>
                    </a:schemeClr>
                  </a:solidFill>
                  <a:cs typeface="+mn-ea"/>
                </a:rPr>
                <a:t>1</a:t>
              </a:r>
              <a:r>
                <a:rPr lang="en-US" altLang="zh-CN" sz="1600" b="1" dirty="0">
                  <a:solidFill>
                    <a:schemeClr val="tx1">
                      <a:lumMod val="95000"/>
                      <a:lumOff val="5000"/>
                    </a:schemeClr>
                  </a:solidFill>
                  <a:cs typeface="+mn-ea"/>
                </a:rPr>
                <a:t>.</a:t>
              </a:r>
              <a:r>
                <a:rPr lang="zh-CN" altLang="zh-CN" sz="1600" b="1" dirty="0">
                  <a:solidFill>
                    <a:schemeClr val="tx1">
                      <a:lumMod val="95000"/>
                      <a:lumOff val="5000"/>
                    </a:schemeClr>
                  </a:solidFill>
                  <a:cs typeface="+mn-ea"/>
                </a:rPr>
                <a:t>最优化原理</a:t>
              </a:r>
              <a:r>
                <a:rPr lang="zh-CN" altLang="zh-CN" sz="1600" dirty="0">
                  <a:solidFill>
                    <a:schemeClr val="tx1">
                      <a:lumMod val="75000"/>
                      <a:lumOff val="25000"/>
                    </a:schemeClr>
                  </a:solidFill>
                  <a:cs typeface="+mn-ea"/>
                </a:rPr>
                <a:t>（最优子结构性质） 最优化原理可这样阐述：一个最优化策略具有这样的性质，不论过去状态和决策如何，对前面的决策所形成的状态而言，余下</a:t>
              </a:r>
              <a:r>
                <a:rPr lang="zh-CN" altLang="zh-CN" sz="1600" dirty="0" smtClean="0">
                  <a:solidFill>
                    <a:schemeClr val="tx1">
                      <a:lumMod val="75000"/>
                      <a:lumOff val="25000"/>
                    </a:schemeClr>
                  </a:solidFill>
                  <a:cs typeface="+mn-ea"/>
                </a:rPr>
                <a:t>的决策</a:t>
              </a:r>
              <a:r>
                <a:rPr lang="zh-CN" altLang="zh-CN" sz="1600" dirty="0">
                  <a:solidFill>
                    <a:schemeClr val="tx1">
                      <a:lumMod val="75000"/>
                      <a:lumOff val="25000"/>
                    </a:schemeClr>
                  </a:solidFill>
                  <a:cs typeface="+mn-ea"/>
                </a:rPr>
                <a:t>必须构成最优策略。简而言之，一个最优化策略的子策略总是最优的。一个问题满足最优化原理又称其具有最优子结构性质。</a:t>
              </a:r>
              <a:endParaRPr lang="zh-CN" altLang="en-US" sz="1600" dirty="0">
                <a:solidFill>
                  <a:schemeClr val="tx1">
                    <a:lumMod val="75000"/>
                    <a:lumOff val="25000"/>
                  </a:schemeClr>
                </a:solidFill>
                <a:cs typeface="+mn-ea"/>
              </a:endParaRPr>
            </a:p>
            <a:p>
              <a:pPr algn="just">
                <a:lnSpc>
                  <a:spcPct val="120000"/>
                </a:lnSpc>
              </a:pPr>
              <a:endParaRPr lang="en-US" altLang="zh-CN" sz="1600" dirty="0" smtClean="0"/>
            </a:p>
            <a:p>
              <a:pPr algn="just">
                <a:lnSpc>
                  <a:spcPct val="120000"/>
                </a:lnSpc>
              </a:pPr>
              <a:r>
                <a:rPr lang="en-US" altLang="zh-CN" sz="1600" b="1" dirty="0">
                  <a:solidFill>
                    <a:schemeClr val="tx1">
                      <a:lumMod val="95000"/>
                      <a:lumOff val="5000"/>
                    </a:schemeClr>
                  </a:solidFill>
                  <a:cs typeface="+mn-ea"/>
                </a:rPr>
                <a:t>2.</a:t>
              </a:r>
              <a:r>
                <a:rPr lang="zh-CN" altLang="zh-CN" sz="1600" b="1" dirty="0">
                  <a:solidFill>
                    <a:schemeClr val="tx1">
                      <a:lumMod val="95000"/>
                      <a:lumOff val="5000"/>
                    </a:schemeClr>
                  </a:solidFill>
                  <a:cs typeface="+mn-ea"/>
                </a:rPr>
                <a:t>无后效性</a:t>
              </a:r>
              <a:r>
                <a:rPr lang="en-US" altLang="zh-CN" sz="1600" b="1" dirty="0">
                  <a:solidFill>
                    <a:schemeClr val="tx1">
                      <a:lumMod val="95000"/>
                      <a:lumOff val="5000"/>
                    </a:schemeClr>
                  </a:solidFill>
                  <a:cs typeface="+mn-ea"/>
                </a:rPr>
                <a:t> </a:t>
              </a:r>
              <a:r>
                <a:rPr lang="en-US" altLang="zh-CN" sz="1600" dirty="0">
                  <a:solidFill>
                    <a:schemeClr val="tx1">
                      <a:lumMod val="75000"/>
                      <a:lumOff val="25000"/>
                    </a:schemeClr>
                  </a:solidFill>
                  <a:cs typeface="+mn-ea"/>
                </a:rPr>
                <a:t> </a:t>
              </a:r>
              <a:r>
                <a:rPr lang="zh-CN" altLang="zh-CN" sz="1600" dirty="0">
                  <a:solidFill>
                    <a:schemeClr val="tx1">
                      <a:lumMod val="75000"/>
                      <a:lumOff val="25000"/>
                    </a:schemeClr>
                  </a:solidFill>
                  <a:cs typeface="+mn-ea"/>
                </a:rPr>
                <a:t>将各阶段按照一定的次序排列好之后，对于某个给定的阶段状态，它以前各阶段的状态无法直接影响它未来的决策，而只能通过当前的这个状态。换句话说，</a:t>
              </a:r>
              <a:r>
                <a:rPr lang="zh-CN" altLang="zh-CN" sz="1600" b="1" dirty="0">
                  <a:solidFill>
                    <a:schemeClr val="tx1">
                      <a:lumMod val="75000"/>
                      <a:lumOff val="25000"/>
                    </a:schemeClr>
                  </a:solidFill>
                  <a:cs typeface="+mn-ea"/>
                </a:rPr>
                <a:t>每个状态都是过去历史的一个完整总结。</a:t>
              </a:r>
              <a:r>
                <a:rPr lang="zh-CN" altLang="zh-CN" sz="1600" dirty="0">
                  <a:solidFill>
                    <a:schemeClr val="tx1">
                      <a:lumMod val="75000"/>
                      <a:lumOff val="25000"/>
                    </a:schemeClr>
                  </a:solidFill>
                  <a:cs typeface="+mn-ea"/>
                </a:rPr>
                <a:t>这就是无后向性，又称为无后效性</a:t>
              </a:r>
              <a:r>
                <a:rPr lang="zh-CN" altLang="zh-CN" sz="1600" dirty="0" smtClean="0">
                  <a:solidFill>
                    <a:schemeClr val="tx1">
                      <a:lumMod val="75000"/>
                      <a:lumOff val="25000"/>
                    </a:schemeClr>
                  </a:solidFill>
                  <a:cs typeface="+mn-ea"/>
                </a:rPr>
                <a:t>。</a:t>
              </a:r>
              <a:endParaRPr lang="en-US" altLang="zh-CN" sz="1600" dirty="0" smtClean="0">
                <a:solidFill>
                  <a:schemeClr val="tx1">
                    <a:lumMod val="75000"/>
                    <a:lumOff val="25000"/>
                  </a:schemeClr>
                </a:solidFill>
                <a:cs typeface="+mn-ea"/>
              </a:endParaRPr>
            </a:p>
            <a:p>
              <a:pPr algn="just">
                <a:lnSpc>
                  <a:spcPct val="120000"/>
                </a:lnSpc>
              </a:pPr>
              <a:endParaRPr lang="en-US" altLang="zh-CN" sz="1600" dirty="0">
                <a:solidFill>
                  <a:schemeClr val="tx1">
                    <a:lumMod val="75000"/>
                    <a:lumOff val="25000"/>
                  </a:schemeClr>
                </a:solidFill>
                <a:cs typeface="+mn-ea"/>
              </a:endParaRPr>
            </a:p>
            <a:p>
              <a:pPr algn="just">
                <a:lnSpc>
                  <a:spcPct val="120000"/>
                </a:lnSpc>
              </a:pPr>
              <a:r>
                <a:rPr lang="en-US" altLang="zh-CN" sz="1600" b="1" dirty="0">
                  <a:solidFill>
                    <a:schemeClr val="tx1">
                      <a:lumMod val="95000"/>
                      <a:lumOff val="5000"/>
                    </a:schemeClr>
                  </a:solidFill>
                  <a:cs typeface="+mn-ea"/>
                </a:rPr>
                <a:t>3.</a:t>
              </a:r>
              <a:r>
                <a:rPr lang="zh-CN" altLang="zh-CN" sz="1600" b="1" dirty="0">
                  <a:solidFill>
                    <a:schemeClr val="tx1">
                      <a:lumMod val="95000"/>
                      <a:lumOff val="5000"/>
                    </a:schemeClr>
                  </a:solidFill>
                  <a:cs typeface="+mn-ea"/>
                </a:rPr>
                <a:t>子问题的重叠性</a:t>
              </a:r>
              <a:r>
                <a:rPr lang="en-US" altLang="zh-CN" sz="1600" dirty="0">
                  <a:solidFill>
                    <a:schemeClr val="tx1">
                      <a:lumMod val="75000"/>
                      <a:lumOff val="25000"/>
                    </a:schemeClr>
                  </a:solidFill>
                  <a:cs typeface="+mn-ea"/>
                </a:rPr>
                <a:t>  </a:t>
              </a:r>
              <a:r>
                <a:rPr lang="zh-CN" altLang="zh-CN" sz="1600" dirty="0">
                  <a:solidFill>
                    <a:schemeClr val="tx1">
                      <a:lumMod val="75000"/>
                      <a:lumOff val="25000"/>
                    </a:schemeClr>
                  </a:solidFill>
                  <a:cs typeface="+mn-ea"/>
                </a:rPr>
                <a:t>动态规划将原来具有指数级时间复杂度的搜索算法改进成了具有多项式时间复杂度的算法。</a:t>
              </a:r>
              <a:r>
                <a:rPr lang="zh-CN" altLang="zh-CN" sz="1600" b="1" dirty="0">
                  <a:solidFill>
                    <a:schemeClr val="tx1">
                      <a:lumMod val="75000"/>
                      <a:lumOff val="25000"/>
                    </a:schemeClr>
                  </a:solidFill>
                  <a:cs typeface="+mn-ea"/>
                </a:rPr>
                <a:t>其中的关键在于解决冗余，这是动态规划算法的根本目的。</a:t>
              </a:r>
              <a:r>
                <a:rPr lang="zh-CN" altLang="zh-CN" sz="1600" dirty="0">
                  <a:solidFill>
                    <a:schemeClr val="tx1">
                      <a:lumMod val="75000"/>
                      <a:lumOff val="25000"/>
                    </a:schemeClr>
                  </a:solidFill>
                  <a:cs typeface="+mn-ea"/>
                </a:rPr>
                <a:t>动态规划实质上是一种以</a:t>
              </a:r>
              <a:r>
                <a:rPr lang="zh-CN" altLang="zh-CN" sz="1600" b="1" dirty="0">
                  <a:solidFill>
                    <a:schemeClr val="tx1">
                      <a:lumMod val="75000"/>
                      <a:lumOff val="25000"/>
                    </a:schemeClr>
                  </a:solidFill>
                  <a:cs typeface="+mn-ea"/>
                </a:rPr>
                <a:t>空间换时间</a:t>
              </a:r>
              <a:r>
                <a:rPr lang="zh-CN" altLang="zh-CN" sz="1600" dirty="0">
                  <a:solidFill>
                    <a:schemeClr val="tx1">
                      <a:lumMod val="75000"/>
                      <a:lumOff val="25000"/>
                    </a:schemeClr>
                  </a:solidFill>
                  <a:cs typeface="+mn-ea"/>
                </a:rPr>
                <a:t>的技术，它在实现的过程中，不得不存储产生过程中的各种状态，所以它的空间复杂度要大于其它的算法。</a:t>
              </a:r>
            </a:p>
          </p:txBody>
        </p:sp>
        <p:sp>
          <p:nvSpPr>
            <p:cNvPr id="31" name="矩形 30"/>
            <p:cNvSpPr/>
            <p:nvPr/>
          </p:nvSpPr>
          <p:spPr>
            <a:xfrm>
              <a:off x="7692479" y="1678126"/>
              <a:ext cx="3838452" cy="63450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95000"/>
                      <a:lumOff val="5000"/>
                    </a:schemeClr>
                  </a:solidFill>
                  <a:cs typeface="+mn-ea"/>
                  <a:sym typeface="+mn-lt"/>
                </a:rPr>
                <a:t>应用场景</a:t>
              </a:r>
              <a:endParaRPr lang="en-US" altLang="zh-CN" b="1" dirty="0" smtClean="0">
                <a:solidFill>
                  <a:schemeClr val="tx1">
                    <a:lumMod val="95000"/>
                    <a:lumOff val="5000"/>
                  </a:schemeClr>
                </a:solidFill>
                <a:cs typeface="+mn-ea"/>
                <a:sym typeface="+mn-lt"/>
              </a:endParaRPr>
            </a:p>
            <a:p>
              <a:pPr algn="just">
                <a:lnSpc>
                  <a:spcPct val="120000"/>
                </a:lnSpc>
              </a:pPr>
              <a:r>
                <a:rPr lang="en-US" altLang="zh-CN" b="1" dirty="0">
                  <a:solidFill>
                    <a:schemeClr val="tx1">
                      <a:lumMod val="75000"/>
                      <a:lumOff val="25000"/>
                    </a:schemeClr>
                  </a:solidFill>
                  <a:cs typeface="+mn-ea"/>
                  <a:sym typeface="+mn-lt"/>
                </a:rPr>
                <a:t>	</a:t>
              </a:r>
              <a:r>
                <a:rPr lang="zh-CN" altLang="en-US" dirty="0" smtClean="0">
                  <a:solidFill>
                    <a:schemeClr val="tx1">
                      <a:lumMod val="75000"/>
                      <a:lumOff val="25000"/>
                    </a:schemeClr>
                  </a:solidFill>
                  <a:cs typeface="+mn-ea"/>
                  <a:sym typeface="+mn-lt"/>
                </a:rPr>
                <a:t>适用动态规划的问题必须满足</a:t>
              </a:r>
              <a:r>
                <a:rPr lang="zh-CN" altLang="en-US" b="1" dirty="0" smtClean="0">
                  <a:solidFill>
                    <a:schemeClr val="tx1">
                      <a:lumMod val="75000"/>
                      <a:lumOff val="25000"/>
                    </a:schemeClr>
                  </a:solidFill>
                  <a:cs typeface="+mn-ea"/>
                  <a:sym typeface="+mn-lt"/>
                </a:rPr>
                <a:t>最优化原理</a:t>
              </a:r>
              <a:r>
                <a:rPr lang="zh-CN" altLang="en-US" dirty="0" smtClean="0">
                  <a:solidFill>
                    <a:schemeClr val="tx1">
                      <a:lumMod val="75000"/>
                      <a:lumOff val="25000"/>
                    </a:schemeClr>
                  </a:solidFill>
                  <a:cs typeface="+mn-ea"/>
                  <a:sym typeface="+mn-lt"/>
                </a:rPr>
                <a:t>、</a:t>
              </a:r>
              <a:r>
                <a:rPr lang="zh-CN" altLang="en-US" b="1" dirty="0" smtClean="0">
                  <a:solidFill>
                    <a:schemeClr val="tx1">
                      <a:lumMod val="75000"/>
                      <a:lumOff val="25000"/>
                    </a:schemeClr>
                  </a:solidFill>
                  <a:cs typeface="+mn-ea"/>
                  <a:sym typeface="+mn-lt"/>
                </a:rPr>
                <a:t>无后效性</a:t>
              </a:r>
              <a:r>
                <a:rPr lang="zh-CN" altLang="en-US" dirty="0" smtClean="0">
                  <a:solidFill>
                    <a:schemeClr val="tx1">
                      <a:lumMod val="75000"/>
                      <a:lumOff val="25000"/>
                    </a:schemeClr>
                  </a:solidFill>
                  <a:cs typeface="+mn-ea"/>
                  <a:sym typeface="+mn-lt"/>
                </a:rPr>
                <a:t>和</a:t>
              </a:r>
              <a:r>
                <a:rPr lang="zh-CN" altLang="en-US" b="1" dirty="0" smtClean="0">
                  <a:solidFill>
                    <a:schemeClr val="tx1">
                      <a:lumMod val="75000"/>
                      <a:lumOff val="25000"/>
                    </a:schemeClr>
                  </a:solidFill>
                  <a:cs typeface="+mn-ea"/>
                  <a:sym typeface="+mn-lt"/>
                </a:rPr>
                <a:t>重叠性</a:t>
              </a:r>
              <a:r>
                <a:rPr lang="zh-CN" altLang="en-US" dirty="0" smtClean="0">
                  <a:solidFill>
                    <a:schemeClr val="tx1">
                      <a:lumMod val="75000"/>
                      <a:lumOff val="25000"/>
                    </a:schemeClr>
                  </a:solidFill>
                  <a:cs typeface="+mn-ea"/>
                  <a:sym typeface="+mn-lt"/>
                </a:rPr>
                <a:t>。</a:t>
              </a:r>
              <a:endParaRPr lang="zh-CN" altLang="en-US" dirty="0">
                <a:solidFill>
                  <a:schemeClr val="tx1">
                    <a:lumMod val="75000"/>
                    <a:lumOff val="25000"/>
                  </a:schemeClr>
                </a:solidFill>
                <a:cs typeface="+mn-ea"/>
                <a:sym typeface="+mn-lt"/>
              </a:endParaRPr>
            </a:p>
          </p:txBody>
        </p:sp>
      </p:grpSp>
      <p:pic>
        <p:nvPicPr>
          <p:cNvPr id="20" name="图片 19"/>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1" name="文本框 21"/>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算法</a:t>
            </a: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3"/>
                </a:solidFill>
                <a:cs typeface="+mn-ea"/>
                <a:sym typeface="+mn-lt"/>
              </a:rPr>
              <a:t>Algorithm</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280522" y="177223"/>
            <a:ext cx="1107997"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动态规划</a:t>
            </a:r>
          </a:p>
        </p:txBody>
      </p:sp>
    </p:spTree>
    <p:extLst>
      <p:ext uri="{BB962C8B-B14F-4D97-AF65-F5344CB8AC3E}">
        <p14:creationId xmlns:p14="http://schemas.microsoft.com/office/powerpoint/2010/main" val="1199110513"/>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017629" y="177223"/>
            <a:ext cx="1633782"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① 数字三角形</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970318"/>
          </a:xfrm>
          <a:prstGeom prst="rect">
            <a:avLst/>
          </a:prstGeom>
        </p:spPr>
        <p:txBody>
          <a:bodyPr wrap="square">
            <a:spAutoFit/>
            <a:scene3d>
              <a:camera prst="orthographicFront"/>
              <a:lightRig rig="threePt" dir="t"/>
            </a:scene3d>
            <a:sp3d contourW="12700"/>
          </a:bodyPr>
          <a:lstStyle/>
          <a:p>
            <a:pPr algn="ctr"/>
            <a:r>
              <a:rPr lang="zh-CN" altLang="en-US" sz="1400" b="1" dirty="0" smtClean="0"/>
              <a:t>数字三角形</a:t>
            </a:r>
            <a:endParaRPr lang="zh-CN" altLang="zh-CN" sz="1400" dirty="0"/>
          </a:p>
          <a:p>
            <a:r>
              <a:rPr lang="zh-CN" altLang="zh-CN" sz="1400" b="1" dirty="0"/>
              <a:t>【题目描述】</a:t>
            </a:r>
            <a:endParaRPr lang="zh-CN" altLang="zh-CN" sz="1400" dirty="0"/>
          </a:p>
          <a:p>
            <a:r>
              <a:rPr lang="en-US" altLang="zh-CN" sz="1400" dirty="0" smtClean="0"/>
              <a:t>    </a:t>
            </a:r>
            <a:r>
              <a:rPr lang="zh-CN" altLang="en-US" sz="1400" dirty="0" smtClean="0"/>
              <a:t>观察</a:t>
            </a:r>
            <a:r>
              <a:rPr lang="zh-CN" altLang="en-US" sz="1400" dirty="0"/>
              <a:t>下面的数字金字塔。写一个程序查找从最高点到底部任意处结束的路径，使路径经过数字的和最大。每一步可以从当前点走到左下方的点也可以到达右下方的点。</a:t>
            </a:r>
          </a:p>
          <a:p>
            <a:r>
              <a:rPr lang="zh-CN" altLang="en-US" sz="1400" dirty="0" smtClean="0"/>
              <a:t>    在</a:t>
            </a:r>
            <a:r>
              <a:rPr lang="zh-CN" altLang="en-US" sz="1400" dirty="0"/>
              <a:t>上面的样例中</a:t>
            </a:r>
            <a:r>
              <a:rPr lang="en-US" altLang="zh-CN" sz="1400" dirty="0"/>
              <a:t>,</a:t>
            </a:r>
            <a:r>
              <a:rPr lang="zh-CN" altLang="en-US" sz="1400" dirty="0"/>
              <a:t>从</a:t>
            </a:r>
            <a:r>
              <a:rPr lang="en-US" altLang="zh-CN" sz="1400" dirty="0"/>
              <a:t>13</a:t>
            </a:r>
            <a:r>
              <a:rPr lang="zh-CN" altLang="en-US" sz="1400" dirty="0"/>
              <a:t>到</a:t>
            </a:r>
            <a:r>
              <a:rPr lang="en-US" altLang="zh-CN" sz="1400" dirty="0"/>
              <a:t>8</a:t>
            </a:r>
            <a:r>
              <a:rPr lang="zh-CN" altLang="en-US" sz="1400" dirty="0"/>
              <a:t>到</a:t>
            </a:r>
            <a:r>
              <a:rPr lang="en-US" altLang="zh-CN" sz="1400" dirty="0"/>
              <a:t>26</a:t>
            </a:r>
            <a:r>
              <a:rPr lang="zh-CN" altLang="en-US" sz="1400" dirty="0"/>
              <a:t>到</a:t>
            </a:r>
            <a:r>
              <a:rPr lang="en-US" altLang="zh-CN" sz="1400" dirty="0"/>
              <a:t>15</a:t>
            </a:r>
            <a:r>
              <a:rPr lang="zh-CN" altLang="en-US" sz="1400" dirty="0"/>
              <a:t>到</a:t>
            </a:r>
            <a:r>
              <a:rPr lang="en-US" altLang="zh-CN" sz="1400" dirty="0"/>
              <a:t>24</a:t>
            </a:r>
            <a:r>
              <a:rPr lang="zh-CN" altLang="en-US" sz="1400" dirty="0"/>
              <a:t>的路径</a:t>
            </a:r>
            <a:r>
              <a:rPr lang="zh-CN" altLang="en-US" sz="1400" dirty="0" smtClean="0"/>
              <a:t>产生最大</a:t>
            </a:r>
            <a:r>
              <a:rPr lang="zh-CN" altLang="en-US" sz="1400" dirty="0"/>
              <a:t>的和</a:t>
            </a:r>
            <a:r>
              <a:rPr lang="en-US" altLang="zh-CN" sz="1400" dirty="0"/>
              <a:t>86</a:t>
            </a:r>
            <a:r>
              <a:rPr lang="zh-CN" altLang="en-US" sz="1400" dirty="0" smtClean="0"/>
              <a:t>。</a:t>
            </a:r>
            <a:endParaRPr lang="zh-CN" altLang="zh-CN" sz="1400" dirty="0"/>
          </a:p>
          <a:p>
            <a:endParaRPr lang="zh-CN" altLang="zh-CN" sz="1400" dirty="0"/>
          </a:p>
          <a:p>
            <a:r>
              <a:rPr lang="zh-CN" altLang="zh-CN" sz="1400" b="1" dirty="0"/>
              <a:t>【样例输入】</a:t>
            </a:r>
            <a:endParaRPr lang="zh-CN" altLang="zh-CN" sz="1400" dirty="0"/>
          </a:p>
          <a:p>
            <a:r>
              <a:rPr lang="en-US" altLang="zh-CN" sz="1400" dirty="0"/>
              <a:t>5                    //</a:t>
            </a:r>
            <a:r>
              <a:rPr lang="zh-CN" altLang="en-US" sz="1400" dirty="0"/>
              <a:t>数塔层数</a:t>
            </a:r>
          </a:p>
          <a:p>
            <a:r>
              <a:rPr lang="en-US" altLang="zh-CN" sz="1400" dirty="0"/>
              <a:t>13</a:t>
            </a:r>
          </a:p>
          <a:p>
            <a:r>
              <a:rPr lang="en-US" altLang="zh-CN" sz="1400" dirty="0"/>
              <a:t>11   8</a:t>
            </a:r>
          </a:p>
          <a:p>
            <a:r>
              <a:rPr lang="en-US" altLang="zh-CN" sz="1400" dirty="0"/>
              <a:t>12   7    26</a:t>
            </a:r>
          </a:p>
          <a:p>
            <a:r>
              <a:rPr lang="en-US" altLang="zh-CN" sz="1400" dirty="0"/>
              <a:t>6   14    15    8</a:t>
            </a:r>
          </a:p>
          <a:p>
            <a:r>
              <a:rPr lang="en-US" altLang="zh-CN" sz="1400" dirty="0"/>
              <a:t>12   7    13   24    11</a:t>
            </a:r>
            <a:endParaRPr lang="en-US" altLang="zh-CN" sz="1400" b="1" dirty="0"/>
          </a:p>
          <a:p>
            <a:endParaRPr lang="zh-CN" altLang="zh-CN" sz="1400" dirty="0"/>
          </a:p>
          <a:p>
            <a:r>
              <a:rPr lang="zh-CN" altLang="zh-CN" sz="1400" b="1" dirty="0"/>
              <a:t>【样例输出】</a:t>
            </a:r>
            <a:endParaRPr lang="zh-CN" altLang="zh-CN" sz="1400" dirty="0"/>
          </a:p>
          <a:p>
            <a:r>
              <a:rPr lang="en-US" altLang="zh-CN" sz="1400" dirty="0" smtClean="0"/>
              <a:t>86</a:t>
            </a:r>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5789668" y="1053897"/>
            <a:ext cx="5368017" cy="1815882"/>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zh-CN" altLang="en-US" sz="1400" dirty="0"/>
              <a:t>    </a:t>
            </a:r>
            <a:r>
              <a:rPr lang="zh-CN" altLang="en-US" sz="1400" dirty="0" smtClean="0"/>
              <a:t>数据明显有分层，可以考虑用递归处理。</a:t>
            </a:r>
            <a:endParaRPr lang="en-US" altLang="zh-CN" sz="1400" dirty="0" smtClean="0"/>
          </a:p>
          <a:p>
            <a:r>
              <a:rPr lang="en-US" altLang="zh-CN" sz="1400" dirty="0" smtClean="0"/>
              <a:t>    </a:t>
            </a:r>
            <a:r>
              <a:rPr lang="zh-CN" altLang="en-US" sz="1400" dirty="0" smtClean="0"/>
              <a:t>递归函数</a:t>
            </a:r>
            <a:r>
              <a:rPr lang="en-US" altLang="zh-CN" sz="1400" dirty="0" smtClean="0"/>
              <a:t>Sum(</a:t>
            </a:r>
            <a:r>
              <a:rPr lang="en-US" altLang="zh-CN" sz="1400" dirty="0" err="1" smtClean="0"/>
              <a:t>i,j</a:t>
            </a:r>
            <a:r>
              <a:rPr lang="en-US" altLang="zh-CN" sz="1400" dirty="0" smtClean="0"/>
              <a:t>)</a:t>
            </a:r>
            <a:r>
              <a:rPr lang="zh-CN" altLang="en-US" sz="1400" dirty="0" smtClean="0"/>
              <a:t>用来计算从点</a:t>
            </a:r>
            <a:r>
              <a:rPr lang="en-US" altLang="zh-CN" sz="1400" dirty="0" smtClean="0"/>
              <a:t>(</a:t>
            </a:r>
            <a:r>
              <a:rPr lang="en-US" altLang="zh-CN" sz="1400" dirty="0" err="1" smtClean="0"/>
              <a:t>i,j</a:t>
            </a:r>
            <a:r>
              <a:rPr lang="en-US" altLang="zh-CN" sz="1400" dirty="0" smtClean="0"/>
              <a:t>)</a:t>
            </a:r>
            <a:r>
              <a:rPr lang="zh-CN" altLang="en-US" sz="1400" dirty="0" smtClean="0"/>
              <a:t>出发向下走到底层所能产生的最大和；</a:t>
            </a:r>
            <a:endParaRPr lang="en-US" altLang="zh-CN" sz="1400" dirty="0" smtClean="0"/>
          </a:p>
          <a:p>
            <a:r>
              <a:rPr lang="en-US" altLang="zh-CN" sz="1400" dirty="0"/>
              <a:t> </a:t>
            </a:r>
            <a:r>
              <a:rPr lang="en-US" altLang="zh-CN" sz="1400" dirty="0" smtClean="0"/>
              <a:t>   </a:t>
            </a:r>
            <a:r>
              <a:rPr lang="zh-CN" altLang="en-US" sz="1400" dirty="0" smtClean="0"/>
              <a:t>明确递归出口</a:t>
            </a:r>
            <a:r>
              <a:rPr lang="en-US" altLang="zh-CN" sz="1400" dirty="0" smtClean="0"/>
              <a:t>Sum(</a:t>
            </a:r>
            <a:r>
              <a:rPr lang="en-US" altLang="zh-CN" sz="1400" dirty="0" err="1" smtClean="0"/>
              <a:t>n,j</a:t>
            </a:r>
            <a:r>
              <a:rPr lang="en-US" altLang="zh-CN" sz="1400" dirty="0" smtClean="0"/>
              <a:t>)=a[n][j]</a:t>
            </a:r>
            <a:r>
              <a:rPr lang="zh-CN" altLang="en-US" sz="1400" dirty="0" smtClean="0"/>
              <a:t>。</a:t>
            </a:r>
            <a:r>
              <a:rPr lang="en-US" altLang="zh-CN" sz="1400" dirty="0" smtClean="0"/>
              <a:t>a[n][j]</a:t>
            </a:r>
            <a:r>
              <a:rPr lang="zh-CN" altLang="en-US" sz="1400" dirty="0" smtClean="0"/>
              <a:t>表示第</a:t>
            </a:r>
            <a:r>
              <a:rPr lang="en-US" altLang="zh-CN" sz="1400" dirty="0" smtClean="0"/>
              <a:t>n</a:t>
            </a:r>
            <a:r>
              <a:rPr lang="zh-CN" altLang="en-US" sz="1400" dirty="0" smtClean="0"/>
              <a:t>行第</a:t>
            </a:r>
            <a:r>
              <a:rPr lang="en-US" altLang="zh-CN" sz="1400" dirty="0" smtClean="0"/>
              <a:t>j</a:t>
            </a:r>
            <a:r>
              <a:rPr lang="zh-CN" altLang="en-US" sz="1400" dirty="0" smtClean="0"/>
              <a:t>个数的值；</a:t>
            </a:r>
            <a:endParaRPr lang="en-US" altLang="zh-CN" sz="1400" dirty="0" smtClean="0"/>
          </a:p>
          <a:p>
            <a:r>
              <a:rPr lang="en-US" altLang="zh-CN" sz="1400" dirty="0"/>
              <a:t> </a:t>
            </a:r>
            <a:r>
              <a:rPr lang="en-US" altLang="zh-CN" sz="1400" dirty="0" smtClean="0"/>
              <a:t>   </a:t>
            </a:r>
            <a:r>
              <a:rPr lang="zh-CN" altLang="en-US" sz="1400" dirty="0" smtClean="0"/>
              <a:t>对于点</a:t>
            </a:r>
            <a:r>
              <a:rPr lang="en-US" altLang="zh-CN" sz="1400" dirty="0" smtClean="0"/>
              <a:t>(</a:t>
            </a:r>
            <a:r>
              <a:rPr lang="en-US" altLang="zh-CN" sz="1400" dirty="0" err="1" smtClean="0"/>
              <a:t>i,j</a:t>
            </a:r>
            <a:r>
              <a:rPr lang="en-US" altLang="zh-CN" sz="1400" dirty="0" smtClean="0"/>
              <a:t>)</a:t>
            </a:r>
            <a:r>
              <a:rPr lang="zh-CN" altLang="en-US" sz="1400" dirty="0" smtClean="0"/>
              <a:t>，它向下只能走到点</a:t>
            </a:r>
            <a:r>
              <a:rPr lang="en-US" altLang="zh-CN" sz="1400" dirty="0" smtClean="0"/>
              <a:t>(i+1,j)</a:t>
            </a:r>
            <a:r>
              <a:rPr lang="zh-CN" altLang="en-US" sz="1400" dirty="0" smtClean="0"/>
              <a:t>或点</a:t>
            </a:r>
            <a:r>
              <a:rPr lang="en-US" altLang="zh-CN" sz="1400" dirty="0" smtClean="0"/>
              <a:t>(i+1,j+1)</a:t>
            </a:r>
            <a:r>
              <a:rPr lang="zh-CN" altLang="en-US" sz="1400" dirty="0" smtClean="0"/>
              <a:t>，策略是在两条路线里挑选能使和最大的那个，确定递归关系：</a:t>
            </a:r>
            <a:endParaRPr lang="en-US" altLang="zh-CN" sz="1400" dirty="0" smtClean="0"/>
          </a:p>
          <a:p>
            <a:r>
              <a:rPr lang="en-US" altLang="zh-CN" sz="1400" dirty="0" smtClean="0"/>
              <a:t>    Sum(</a:t>
            </a:r>
            <a:r>
              <a:rPr lang="en-US" altLang="zh-CN" sz="1400" dirty="0" err="1" smtClean="0"/>
              <a:t>i,j</a:t>
            </a:r>
            <a:r>
              <a:rPr lang="en-US" altLang="zh-CN" sz="1400" dirty="0" smtClean="0"/>
              <a:t>)=max{Sum(i+1,j),Sum(i+1,j+1)}+a[n][j]</a:t>
            </a:r>
            <a:endParaRPr lang="zh-CN" altLang="en-US" sz="1400" dirty="0"/>
          </a:p>
        </p:txBody>
      </p:sp>
      <p:sp>
        <p:nvSpPr>
          <p:cNvPr id="12" name="矩形 11">
            <a:extLst>
              <a:ext uri="{FF2B5EF4-FFF2-40B4-BE49-F238E27FC236}">
                <a16:creationId xmlns:a16="http://schemas.microsoft.com/office/drawing/2014/main" xmlns="" id="{499D06B3-3687-44BF-84DD-1E5915B49CAA}"/>
              </a:ext>
            </a:extLst>
          </p:cNvPr>
          <p:cNvSpPr/>
          <p:nvPr/>
        </p:nvSpPr>
        <p:spPr>
          <a:xfrm>
            <a:off x="5789669" y="2922713"/>
            <a:ext cx="5368017" cy="738664"/>
          </a:xfrm>
          <a:prstGeom prst="rect">
            <a:avLst/>
          </a:prstGeom>
        </p:spPr>
        <p:txBody>
          <a:bodyPr wrap="square">
            <a:spAutoFit/>
            <a:scene3d>
              <a:camera prst="orthographicFront"/>
              <a:lightRig rig="threePt" dir="t"/>
            </a:scene3d>
            <a:sp3d contourW="12700"/>
          </a:bodyPr>
          <a:lstStyle/>
          <a:p>
            <a:r>
              <a:rPr lang="en-US" altLang="zh-CN" sz="1400" dirty="0" smtClean="0"/>
              <a:t>    inline </a:t>
            </a:r>
            <a:r>
              <a:rPr lang="en-US" altLang="zh-CN" sz="1400" dirty="0" err="1" smtClean="0"/>
              <a:t>int</a:t>
            </a:r>
            <a:r>
              <a:rPr lang="en-US" altLang="zh-CN" sz="1400" dirty="0" smtClean="0"/>
              <a:t> Sum(</a:t>
            </a:r>
            <a:r>
              <a:rPr lang="en-US" altLang="zh-CN" sz="1400" dirty="0" err="1" smtClean="0"/>
              <a:t>int</a:t>
            </a:r>
            <a:r>
              <a:rPr lang="en-US" altLang="zh-CN" sz="1400" dirty="0" smtClean="0"/>
              <a:t> </a:t>
            </a:r>
            <a:r>
              <a:rPr lang="en-US" altLang="zh-CN" sz="1400" dirty="0" err="1" smtClean="0"/>
              <a:t>i,int</a:t>
            </a:r>
            <a:r>
              <a:rPr lang="en-US" altLang="zh-CN" sz="1400" dirty="0" smtClean="0"/>
              <a:t> j)</a:t>
            </a:r>
          </a:p>
          <a:p>
            <a:r>
              <a:rPr lang="en-US" altLang="zh-CN" sz="1400" dirty="0" smtClean="0"/>
              <a:t>    {    return a[i][j]+(i==n)?0:max(Sum(i+1,j),Sum(i+1,j+1))</a:t>
            </a:r>
            <a:r>
              <a:rPr lang="en-US" altLang="zh-CN" sz="1400" dirty="0"/>
              <a:t>;</a:t>
            </a:r>
            <a:endParaRPr lang="en-US" altLang="zh-CN" sz="1400" dirty="0" smtClean="0"/>
          </a:p>
          <a:p>
            <a:r>
              <a:rPr lang="en-US" altLang="zh-CN" sz="1400" dirty="0"/>
              <a:t> </a:t>
            </a:r>
            <a:r>
              <a:rPr lang="en-US" altLang="zh-CN" sz="1400" dirty="0" smtClean="0"/>
              <a:t>        }</a:t>
            </a:r>
            <a:endParaRPr lang="zh-CN" altLang="en-US" sz="1400" dirty="0"/>
          </a:p>
        </p:txBody>
      </p:sp>
      <p:graphicFrame>
        <p:nvGraphicFramePr>
          <p:cNvPr id="2" name="对象 1"/>
          <p:cNvGraphicFramePr>
            <a:graphicFrameLocks/>
          </p:cNvGraphicFramePr>
          <p:nvPr>
            <p:extLst>
              <p:ext uri="{D42A27DB-BD31-4B8C-83A1-F6EECF244321}">
                <p14:modId xmlns:p14="http://schemas.microsoft.com/office/powerpoint/2010/main" val="988571267"/>
              </p:ext>
            </p:extLst>
          </p:nvPr>
        </p:nvGraphicFramePr>
        <p:xfrm>
          <a:off x="1861442" y="4810369"/>
          <a:ext cx="3453988" cy="1874509"/>
        </p:xfrm>
        <a:graphic>
          <a:graphicData uri="http://schemas.openxmlformats.org/presentationml/2006/ole">
            <mc:AlternateContent xmlns:mc="http://schemas.openxmlformats.org/markup-compatibility/2006">
              <mc:Choice xmlns:v="urn:schemas-microsoft-com:vml" Requires="v">
                <p:oleObj spid="_x0000_s1218" r:id="rId6" imgW="3362794" imgH="1819529" progId="PBrush">
                  <p:embed/>
                </p:oleObj>
              </mc:Choice>
              <mc:Fallback>
                <p:oleObj r:id="rId6" imgW="3362794" imgH="1819529" progId="PBrush">
                  <p:embed/>
                  <p:pic>
                    <p:nvPicPr>
                      <p:cNvPr id="0" name="对象 1126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1442" y="4810369"/>
                        <a:ext cx="3453988" cy="1874509"/>
                      </a:xfrm>
                      <a:prstGeom prst="rect">
                        <a:avLst/>
                      </a:prstGeom>
                      <a:noFill/>
                      <a:ln>
                        <a:noFill/>
                      </a:ln>
                    </p:spPr>
                  </p:pic>
                </p:oleObj>
              </mc:Fallback>
            </mc:AlternateContent>
          </a:graphicData>
        </a:graphic>
      </p:graphicFrame>
      <p:sp>
        <p:nvSpPr>
          <p:cNvPr id="14" name="矩形 13">
            <a:extLst>
              <a:ext uri="{FF2B5EF4-FFF2-40B4-BE49-F238E27FC236}">
                <a16:creationId xmlns:a16="http://schemas.microsoft.com/office/drawing/2014/main" xmlns="" id="{7169A55A-483D-4542-B072-E8C204367D45}"/>
              </a:ext>
            </a:extLst>
          </p:cNvPr>
          <p:cNvSpPr/>
          <p:nvPr/>
        </p:nvSpPr>
        <p:spPr>
          <a:xfrm>
            <a:off x="5789669" y="3731283"/>
            <a:ext cx="5368016" cy="1815882"/>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zh-CN" altLang="en-US" sz="1400" dirty="0"/>
              <a:t>    </a:t>
            </a:r>
            <a:r>
              <a:rPr lang="zh-CN" altLang="en-US" sz="1400" dirty="0" smtClean="0"/>
              <a:t>由例题图可知，部分点会被作为路线经过多次，且越接近底层，被访问次数越多。由递归函数可知，每层的某一点</a:t>
            </a:r>
            <a:r>
              <a:rPr lang="en-US" altLang="zh-CN" sz="1400" dirty="0" smtClean="0"/>
              <a:t>(</a:t>
            </a:r>
            <a:r>
              <a:rPr lang="en-US" altLang="zh-CN" sz="1400" dirty="0" err="1" smtClean="0"/>
              <a:t>i,j</a:t>
            </a:r>
            <a:r>
              <a:rPr lang="en-US" altLang="zh-CN" sz="1400" dirty="0" smtClean="0"/>
              <a:t>)</a:t>
            </a:r>
            <a:r>
              <a:rPr lang="zh-CN" altLang="en-US" sz="1400" dirty="0" smtClean="0"/>
              <a:t>都能产生两个新的递归节点，可知递归访问次数是</a:t>
            </a:r>
            <a:r>
              <a:rPr lang="en-US" altLang="zh-CN" sz="1400" dirty="0" smtClean="0"/>
              <a:t>2</a:t>
            </a:r>
            <a:r>
              <a:rPr lang="en-US" altLang="zh-CN" sz="1400" baseline="30000" dirty="0" smtClean="0"/>
              <a:t>n^2</a:t>
            </a:r>
            <a:r>
              <a:rPr lang="zh-CN" altLang="en-US" sz="1400" dirty="0" smtClean="0"/>
              <a:t>。</a:t>
            </a:r>
            <a:endParaRPr lang="en-US" altLang="zh-CN" sz="1400" dirty="0" smtClean="0"/>
          </a:p>
          <a:p>
            <a:r>
              <a:rPr lang="en-US" altLang="zh-CN" sz="1400" dirty="0"/>
              <a:t> </a:t>
            </a:r>
            <a:r>
              <a:rPr lang="en-US" altLang="zh-CN" sz="1400" dirty="0" smtClean="0"/>
              <a:t>   </a:t>
            </a:r>
            <a:r>
              <a:rPr lang="zh-CN" altLang="en-US" sz="1400" dirty="0" smtClean="0"/>
              <a:t>且</a:t>
            </a:r>
            <a:r>
              <a:rPr lang="en-US" altLang="zh-CN" sz="1400" dirty="0" smtClean="0"/>
              <a:t>Sum(</a:t>
            </a:r>
            <a:r>
              <a:rPr lang="en-US" altLang="zh-CN" sz="1400" dirty="0" err="1" smtClean="0"/>
              <a:t>i,j</a:t>
            </a:r>
            <a:r>
              <a:rPr lang="en-US" altLang="zh-CN" sz="1400" dirty="0" smtClean="0"/>
              <a:t>)</a:t>
            </a:r>
            <a:r>
              <a:rPr lang="zh-CN" altLang="en-US" sz="1400" dirty="0" smtClean="0"/>
              <a:t>的函数返回值是最大值，也就是不会变化的固定值。每一次访问的返回值都一样，所以只要把第一次访问求得的返回值记录下来，之后无需再计算</a:t>
            </a:r>
            <a:r>
              <a:rPr lang="en-US" altLang="zh-CN" sz="1400" dirty="0" smtClean="0"/>
              <a:t>Sum(</a:t>
            </a:r>
            <a:r>
              <a:rPr lang="en-US" altLang="zh-CN" sz="1400" dirty="0" err="1" smtClean="0"/>
              <a:t>i,j</a:t>
            </a:r>
            <a:r>
              <a:rPr lang="en-US" altLang="zh-CN" sz="1400" dirty="0" smtClean="0"/>
              <a:t>)</a:t>
            </a:r>
            <a:r>
              <a:rPr lang="zh-CN" altLang="en-US" sz="1400" dirty="0" smtClean="0"/>
              <a:t>，每个点的访问就是常数上的</a:t>
            </a:r>
            <a:r>
              <a:rPr lang="en-US" altLang="zh-CN" sz="1400" dirty="0" smtClean="0"/>
              <a:t>O(1)</a:t>
            </a:r>
            <a:r>
              <a:rPr lang="zh-CN" altLang="en-US" sz="1400" dirty="0" smtClean="0"/>
              <a:t>，总时间复杂度</a:t>
            </a:r>
            <a:r>
              <a:rPr lang="en-US" altLang="zh-CN" sz="1400" dirty="0" smtClean="0"/>
              <a:t>O(n</a:t>
            </a:r>
            <a:r>
              <a:rPr lang="en-US" altLang="zh-CN" sz="1400" baseline="30000" dirty="0" smtClean="0"/>
              <a:t>2</a:t>
            </a:r>
            <a:r>
              <a:rPr lang="en-US" altLang="zh-CN" sz="1400" dirty="0" smtClean="0"/>
              <a:t>)</a:t>
            </a:r>
            <a:r>
              <a:rPr lang="zh-CN" altLang="en-US" sz="1400" dirty="0" smtClean="0"/>
              <a:t>。</a:t>
            </a:r>
            <a:endParaRPr lang="en-US" altLang="zh-CN" sz="1400" dirty="0" smtClean="0"/>
          </a:p>
        </p:txBody>
      </p:sp>
      <p:sp>
        <p:nvSpPr>
          <p:cNvPr id="15" name="矩形 14">
            <a:extLst>
              <a:ext uri="{FF2B5EF4-FFF2-40B4-BE49-F238E27FC236}">
                <a16:creationId xmlns:a16="http://schemas.microsoft.com/office/drawing/2014/main" xmlns="" id="{499D06B3-3687-44BF-84DD-1E5915B49CAA}"/>
              </a:ext>
            </a:extLst>
          </p:cNvPr>
          <p:cNvSpPr/>
          <p:nvPr/>
        </p:nvSpPr>
        <p:spPr>
          <a:xfrm>
            <a:off x="5789667" y="5547165"/>
            <a:ext cx="5368017" cy="954107"/>
          </a:xfrm>
          <a:prstGeom prst="rect">
            <a:avLst/>
          </a:prstGeom>
        </p:spPr>
        <p:txBody>
          <a:bodyPr wrap="square">
            <a:spAutoFit/>
            <a:scene3d>
              <a:camera prst="orthographicFront"/>
              <a:lightRig rig="threePt" dir="t"/>
            </a:scene3d>
            <a:sp3d contourW="12700"/>
          </a:bodyPr>
          <a:lstStyle/>
          <a:p>
            <a:r>
              <a:rPr lang="en-US" altLang="zh-CN" sz="1400" dirty="0" smtClean="0"/>
              <a:t>    inline </a:t>
            </a:r>
            <a:r>
              <a:rPr lang="en-US" altLang="zh-CN" sz="1400" dirty="0" err="1" smtClean="0"/>
              <a:t>int</a:t>
            </a:r>
            <a:r>
              <a:rPr lang="en-US" altLang="zh-CN" sz="1400" dirty="0" smtClean="0"/>
              <a:t> Sum(</a:t>
            </a:r>
            <a:r>
              <a:rPr lang="en-US" altLang="zh-CN" sz="1400" dirty="0" err="1" smtClean="0"/>
              <a:t>int</a:t>
            </a:r>
            <a:r>
              <a:rPr lang="en-US" altLang="zh-CN" sz="1400" dirty="0" smtClean="0"/>
              <a:t> </a:t>
            </a:r>
            <a:r>
              <a:rPr lang="en-US" altLang="zh-CN" sz="1400" dirty="0" err="1" smtClean="0"/>
              <a:t>i,int</a:t>
            </a:r>
            <a:r>
              <a:rPr lang="en-US" altLang="zh-CN" sz="1400" dirty="0" smtClean="0"/>
              <a:t> j)</a:t>
            </a:r>
          </a:p>
          <a:p>
            <a:r>
              <a:rPr lang="en-US" altLang="zh-CN" sz="1400" dirty="0" smtClean="0"/>
              <a:t>    {    if (i==n) return f[n][j]=a[n][j];</a:t>
            </a:r>
          </a:p>
          <a:p>
            <a:r>
              <a:rPr lang="en-US" altLang="zh-CN" sz="1400" dirty="0" smtClean="0"/>
              <a:t>         return f[i][j]?f[i][j]:f[i][j]=a[i][j]+max(Sum(i+1,j),Sum(i+1,j+1));</a:t>
            </a:r>
          </a:p>
          <a:p>
            <a:r>
              <a:rPr lang="en-US" altLang="zh-CN" sz="1400" dirty="0"/>
              <a:t> </a:t>
            </a:r>
            <a:r>
              <a:rPr lang="en-US" altLang="zh-CN" sz="1400" dirty="0" smtClean="0"/>
              <a:t>        }</a:t>
            </a:r>
            <a:endParaRPr lang="zh-CN" altLang="en-US" sz="1400" dirty="0"/>
          </a:p>
        </p:txBody>
      </p:sp>
      <p:sp>
        <p:nvSpPr>
          <p:cNvPr id="16" name="矩形 15">
            <a:extLst>
              <a:ext uri="{FF2B5EF4-FFF2-40B4-BE49-F238E27FC236}">
                <a16:creationId xmlns:a16="http://schemas.microsoft.com/office/drawing/2014/main" xmlns="" id="{7169A55A-483D-4542-B072-E8C204367D45}"/>
              </a:ext>
            </a:extLst>
          </p:cNvPr>
          <p:cNvSpPr/>
          <p:nvPr/>
        </p:nvSpPr>
        <p:spPr>
          <a:xfrm>
            <a:off x="8692304" y="5696892"/>
            <a:ext cx="1325325" cy="307777"/>
          </a:xfrm>
          <a:prstGeom prst="rect">
            <a:avLst/>
          </a:prstGeom>
        </p:spPr>
        <p:txBody>
          <a:bodyPr wrap="square">
            <a:spAutoFit/>
            <a:scene3d>
              <a:camera prst="orthographicFront"/>
              <a:lightRig rig="threePt" dir="t"/>
            </a:scene3d>
            <a:sp3d contourW="12700"/>
          </a:bodyPr>
          <a:lstStyle/>
          <a:p>
            <a:r>
              <a:rPr lang="zh-CN" altLang="zh-CN" sz="1400" b="1" dirty="0" smtClean="0">
                <a:solidFill>
                  <a:srgbClr val="FF0000"/>
                </a:solidFill>
              </a:rPr>
              <a:t>【</a:t>
            </a:r>
            <a:r>
              <a:rPr lang="zh-CN" altLang="en-US" sz="1400" b="1" dirty="0">
                <a:solidFill>
                  <a:srgbClr val="FF0000"/>
                </a:solidFill>
              </a:rPr>
              <a:t>记忆化</a:t>
            </a:r>
            <a:r>
              <a:rPr lang="zh-CN" altLang="zh-CN" sz="1400" b="1" dirty="0" smtClean="0">
                <a:solidFill>
                  <a:srgbClr val="FF0000"/>
                </a:solidFill>
              </a:rPr>
              <a:t>】</a:t>
            </a:r>
            <a:endParaRPr lang="zh-CN" altLang="zh-CN" sz="1400" dirty="0">
              <a:solidFill>
                <a:srgbClr val="FF0000"/>
              </a:solidFill>
            </a:endParaRPr>
          </a:p>
        </p:txBody>
      </p:sp>
    </p:spTree>
    <p:extLst>
      <p:ext uri="{BB962C8B-B14F-4D97-AF65-F5344CB8AC3E}">
        <p14:creationId xmlns:p14="http://schemas.microsoft.com/office/powerpoint/2010/main" val="60904101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anim calcmode="lin" valueType="num">
                                      <p:cBhvr>
                                        <p:cTn id="27" dur="1000" fill="hold"/>
                                        <p:tgtEl>
                                          <p:spTgt spid="14"/>
                                        </p:tgtEl>
                                        <p:attrNameLst>
                                          <p:attrName>ppt_x</p:attrName>
                                        </p:attrNameLst>
                                      </p:cBhvr>
                                      <p:tavLst>
                                        <p:tav tm="0">
                                          <p:val>
                                            <p:strVal val="#ppt_x"/>
                                          </p:val>
                                        </p:tav>
                                        <p:tav tm="100000">
                                          <p:val>
                                            <p:strVal val="#ppt_x"/>
                                          </p:val>
                                        </p:tav>
                                      </p:tavLst>
                                    </p:anim>
                                    <p:anim calcmode="lin" valueType="num">
                                      <p:cBhvr>
                                        <p:cTn id="2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1" grpId="0"/>
      <p:bldP spid="12" grpId="0"/>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017629" y="177223"/>
            <a:ext cx="1633782"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① 数字三角形</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970318"/>
          </a:xfrm>
          <a:prstGeom prst="rect">
            <a:avLst/>
          </a:prstGeom>
        </p:spPr>
        <p:txBody>
          <a:bodyPr wrap="square">
            <a:spAutoFit/>
            <a:scene3d>
              <a:camera prst="orthographicFront"/>
              <a:lightRig rig="threePt" dir="t"/>
            </a:scene3d>
            <a:sp3d contourW="12700"/>
          </a:bodyPr>
          <a:lstStyle/>
          <a:p>
            <a:pPr algn="ctr"/>
            <a:r>
              <a:rPr lang="zh-CN" altLang="en-US" sz="1400" b="1" dirty="0" smtClean="0"/>
              <a:t>数字三角形</a:t>
            </a:r>
            <a:endParaRPr lang="zh-CN" altLang="zh-CN" sz="1400" dirty="0"/>
          </a:p>
          <a:p>
            <a:r>
              <a:rPr lang="zh-CN" altLang="zh-CN" sz="1400" b="1" dirty="0"/>
              <a:t>【题目描述】</a:t>
            </a:r>
            <a:endParaRPr lang="zh-CN" altLang="zh-CN" sz="1400" dirty="0"/>
          </a:p>
          <a:p>
            <a:r>
              <a:rPr lang="en-US" altLang="zh-CN" sz="1400" dirty="0" smtClean="0"/>
              <a:t>    </a:t>
            </a:r>
            <a:r>
              <a:rPr lang="zh-CN" altLang="en-US" sz="1400" dirty="0" smtClean="0"/>
              <a:t>观察</a:t>
            </a:r>
            <a:r>
              <a:rPr lang="zh-CN" altLang="en-US" sz="1400" dirty="0"/>
              <a:t>下面的数字金字塔。写一个程序查找从最高点到底部任意处结束的路径，使路径经过数字的和最大。每一步可以从当前点走到左下方的点也可以到达右下方的点。</a:t>
            </a:r>
          </a:p>
          <a:p>
            <a:r>
              <a:rPr lang="zh-CN" altLang="en-US" sz="1400" dirty="0" smtClean="0"/>
              <a:t>    在</a:t>
            </a:r>
            <a:r>
              <a:rPr lang="zh-CN" altLang="en-US" sz="1400" dirty="0"/>
              <a:t>上面的样例中</a:t>
            </a:r>
            <a:r>
              <a:rPr lang="en-US" altLang="zh-CN" sz="1400" dirty="0"/>
              <a:t>,</a:t>
            </a:r>
            <a:r>
              <a:rPr lang="zh-CN" altLang="en-US" sz="1400" dirty="0"/>
              <a:t>从</a:t>
            </a:r>
            <a:r>
              <a:rPr lang="en-US" altLang="zh-CN" sz="1400" dirty="0"/>
              <a:t>13</a:t>
            </a:r>
            <a:r>
              <a:rPr lang="zh-CN" altLang="en-US" sz="1400" dirty="0"/>
              <a:t>到</a:t>
            </a:r>
            <a:r>
              <a:rPr lang="en-US" altLang="zh-CN" sz="1400" dirty="0"/>
              <a:t>8</a:t>
            </a:r>
            <a:r>
              <a:rPr lang="zh-CN" altLang="en-US" sz="1400" dirty="0"/>
              <a:t>到</a:t>
            </a:r>
            <a:r>
              <a:rPr lang="en-US" altLang="zh-CN" sz="1400" dirty="0"/>
              <a:t>26</a:t>
            </a:r>
            <a:r>
              <a:rPr lang="zh-CN" altLang="en-US" sz="1400" dirty="0"/>
              <a:t>到</a:t>
            </a:r>
            <a:r>
              <a:rPr lang="en-US" altLang="zh-CN" sz="1400" dirty="0"/>
              <a:t>15</a:t>
            </a:r>
            <a:r>
              <a:rPr lang="zh-CN" altLang="en-US" sz="1400" dirty="0"/>
              <a:t>到</a:t>
            </a:r>
            <a:r>
              <a:rPr lang="en-US" altLang="zh-CN" sz="1400" dirty="0"/>
              <a:t>24</a:t>
            </a:r>
            <a:r>
              <a:rPr lang="zh-CN" altLang="en-US" sz="1400" dirty="0"/>
              <a:t>的路径</a:t>
            </a:r>
            <a:r>
              <a:rPr lang="zh-CN" altLang="en-US" sz="1400" dirty="0" smtClean="0"/>
              <a:t>产生最大</a:t>
            </a:r>
            <a:r>
              <a:rPr lang="zh-CN" altLang="en-US" sz="1400" dirty="0"/>
              <a:t>的和</a:t>
            </a:r>
            <a:r>
              <a:rPr lang="en-US" altLang="zh-CN" sz="1400" dirty="0"/>
              <a:t>86</a:t>
            </a:r>
            <a:r>
              <a:rPr lang="zh-CN" altLang="en-US" sz="1400" dirty="0" smtClean="0"/>
              <a:t>。</a:t>
            </a:r>
            <a:endParaRPr lang="zh-CN" altLang="zh-CN" sz="1400" dirty="0"/>
          </a:p>
          <a:p>
            <a:endParaRPr lang="zh-CN" altLang="zh-CN" sz="1400" dirty="0"/>
          </a:p>
          <a:p>
            <a:r>
              <a:rPr lang="zh-CN" altLang="zh-CN" sz="1400" b="1" dirty="0"/>
              <a:t>【样例输入】</a:t>
            </a:r>
            <a:endParaRPr lang="zh-CN" altLang="zh-CN" sz="1400" dirty="0"/>
          </a:p>
          <a:p>
            <a:r>
              <a:rPr lang="en-US" altLang="zh-CN" sz="1400" dirty="0"/>
              <a:t>5                    //</a:t>
            </a:r>
            <a:r>
              <a:rPr lang="zh-CN" altLang="en-US" sz="1400" dirty="0"/>
              <a:t>数塔层数</a:t>
            </a:r>
          </a:p>
          <a:p>
            <a:r>
              <a:rPr lang="en-US" altLang="zh-CN" sz="1400" dirty="0"/>
              <a:t>13</a:t>
            </a:r>
          </a:p>
          <a:p>
            <a:r>
              <a:rPr lang="en-US" altLang="zh-CN" sz="1400" dirty="0"/>
              <a:t>11   8</a:t>
            </a:r>
          </a:p>
          <a:p>
            <a:r>
              <a:rPr lang="en-US" altLang="zh-CN" sz="1400" dirty="0"/>
              <a:t>12   7    26</a:t>
            </a:r>
          </a:p>
          <a:p>
            <a:r>
              <a:rPr lang="en-US" altLang="zh-CN" sz="1400" dirty="0"/>
              <a:t>6   14    15    8</a:t>
            </a:r>
          </a:p>
          <a:p>
            <a:r>
              <a:rPr lang="en-US" altLang="zh-CN" sz="1400" dirty="0"/>
              <a:t>12   7    13   24    11</a:t>
            </a:r>
            <a:endParaRPr lang="en-US" altLang="zh-CN" sz="1400" b="1" dirty="0"/>
          </a:p>
          <a:p>
            <a:endParaRPr lang="zh-CN" altLang="zh-CN" sz="1400" dirty="0"/>
          </a:p>
          <a:p>
            <a:r>
              <a:rPr lang="zh-CN" altLang="zh-CN" sz="1400" b="1" dirty="0"/>
              <a:t>【样例输出】</a:t>
            </a:r>
            <a:endParaRPr lang="zh-CN" altLang="zh-CN" sz="1400" dirty="0"/>
          </a:p>
          <a:p>
            <a:r>
              <a:rPr lang="en-US" altLang="zh-CN" sz="1400" dirty="0" smtClean="0"/>
              <a:t>86</a:t>
            </a:r>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5789669" y="1053897"/>
            <a:ext cx="5368016" cy="1169551"/>
          </a:xfrm>
          <a:prstGeom prst="rect">
            <a:avLst/>
          </a:prstGeom>
        </p:spPr>
        <p:txBody>
          <a:bodyPr wrap="square">
            <a:spAutoFit/>
            <a:scene3d>
              <a:camera prst="orthographicFront"/>
              <a:lightRig rig="threePt" dir="t"/>
            </a:scene3d>
            <a:sp3d contourW="12700"/>
          </a:bodyPr>
          <a:lstStyle/>
          <a:p>
            <a:r>
              <a:rPr lang="zh-CN" altLang="zh-CN" sz="1400" b="1" dirty="0" smtClean="0"/>
              <a:t>【</a:t>
            </a:r>
            <a:r>
              <a:rPr lang="zh-CN" altLang="en-US" sz="1400" b="1" dirty="0" smtClean="0"/>
              <a:t>算法分析</a:t>
            </a:r>
            <a:r>
              <a:rPr lang="zh-CN" altLang="zh-CN" sz="1400" b="1" dirty="0" smtClean="0"/>
              <a:t>】</a:t>
            </a:r>
          </a:p>
          <a:p>
            <a:r>
              <a:rPr lang="en-US" altLang="zh-CN" sz="1400" dirty="0"/>
              <a:t> </a:t>
            </a:r>
            <a:r>
              <a:rPr lang="en-US" altLang="zh-CN" sz="1400" dirty="0" smtClean="0"/>
              <a:t>   </a:t>
            </a:r>
            <a:r>
              <a:rPr lang="zh-CN" altLang="en-US" sz="1400" dirty="0" smtClean="0"/>
              <a:t>继续观察可知，本题中，若要得知</a:t>
            </a:r>
            <a:r>
              <a:rPr lang="en-US" altLang="zh-CN" sz="1400" dirty="0" smtClean="0"/>
              <a:t>Sum(</a:t>
            </a:r>
            <a:r>
              <a:rPr lang="en-US" altLang="zh-CN" sz="1400" dirty="0" err="1" smtClean="0"/>
              <a:t>i,j</a:t>
            </a:r>
            <a:r>
              <a:rPr lang="en-US" altLang="zh-CN" sz="1400" dirty="0" smtClean="0"/>
              <a:t>)</a:t>
            </a:r>
            <a:r>
              <a:rPr lang="zh-CN" altLang="en-US" sz="1400" dirty="0" smtClean="0"/>
              <a:t>的值，</a:t>
            </a:r>
            <a:r>
              <a:rPr lang="en-US" altLang="zh-CN" sz="1400" dirty="0" smtClean="0"/>
              <a:t>Sum(i+1,j)</a:t>
            </a:r>
            <a:r>
              <a:rPr lang="zh-CN" altLang="en-US" sz="1400" dirty="0" smtClean="0"/>
              <a:t>、</a:t>
            </a:r>
            <a:r>
              <a:rPr lang="en-US" altLang="zh-CN" sz="1400" dirty="0" smtClean="0"/>
              <a:t>Sum(i+1,j+1)</a:t>
            </a:r>
            <a:r>
              <a:rPr lang="zh-CN" altLang="en-US" sz="1400" dirty="0" smtClean="0"/>
              <a:t>的值要优先计算。即要先算第</a:t>
            </a:r>
            <a:r>
              <a:rPr lang="en-US" altLang="zh-CN" sz="1400" dirty="0" smtClean="0"/>
              <a:t>i+1</a:t>
            </a:r>
            <a:r>
              <a:rPr lang="zh-CN" altLang="en-US" sz="1400" dirty="0" smtClean="0"/>
              <a:t>行，再用第</a:t>
            </a:r>
            <a:r>
              <a:rPr lang="en-US" altLang="zh-CN" sz="1400" dirty="0" smtClean="0"/>
              <a:t>i+1</a:t>
            </a:r>
            <a:r>
              <a:rPr lang="zh-CN" altLang="en-US" sz="1400" dirty="0" smtClean="0"/>
              <a:t>行的值去计算第</a:t>
            </a:r>
            <a:r>
              <a:rPr lang="en-US" altLang="zh-CN" sz="1400" dirty="0" smtClean="0"/>
              <a:t>i</a:t>
            </a:r>
            <a:r>
              <a:rPr lang="zh-CN" altLang="en-US" sz="1400" dirty="0" smtClean="0"/>
              <a:t>行的值，其中第</a:t>
            </a:r>
            <a:r>
              <a:rPr lang="en-US" altLang="zh-CN" sz="1400" dirty="0" smtClean="0"/>
              <a:t>n</a:t>
            </a:r>
            <a:r>
              <a:rPr lang="zh-CN" altLang="en-US" sz="1400" dirty="0" smtClean="0"/>
              <a:t>行的值通过初始化得到。递归就可以转成递推。</a:t>
            </a:r>
            <a:endParaRPr lang="zh-CN" altLang="en-US" sz="1400" dirty="0"/>
          </a:p>
        </p:txBody>
      </p:sp>
      <p:sp>
        <p:nvSpPr>
          <p:cNvPr id="12" name="矩形 11">
            <a:extLst>
              <a:ext uri="{FF2B5EF4-FFF2-40B4-BE49-F238E27FC236}">
                <a16:creationId xmlns:a16="http://schemas.microsoft.com/office/drawing/2014/main" xmlns="" id="{499D06B3-3687-44BF-84DD-1E5915B49CAA}"/>
              </a:ext>
            </a:extLst>
          </p:cNvPr>
          <p:cNvSpPr/>
          <p:nvPr/>
        </p:nvSpPr>
        <p:spPr>
          <a:xfrm>
            <a:off x="5789668" y="2237629"/>
            <a:ext cx="5368017" cy="954107"/>
          </a:xfrm>
          <a:prstGeom prst="rect">
            <a:avLst/>
          </a:prstGeom>
        </p:spPr>
        <p:txBody>
          <a:bodyPr wrap="square">
            <a:spAutoFit/>
            <a:scene3d>
              <a:camera prst="orthographicFront"/>
              <a:lightRig rig="threePt" dir="t"/>
            </a:scene3d>
            <a:sp3d contourW="12700"/>
          </a:bodyPr>
          <a:lstStyle/>
          <a:p>
            <a:r>
              <a:rPr lang="en-US" altLang="zh-CN" sz="1400" dirty="0" smtClean="0"/>
              <a:t>    for (i=1;i&lt;=</a:t>
            </a:r>
            <a:r>
              <a:rPr lang="en-US" altLang="zh-CN" sz="1400" dirty="0" err="1" smtClean="0"/>
              <a:t>n;i</a:t>
            </a:r>
            <a:r>
              <a:rPr lang="en-US" altLang="zh-CN" sz="1400" dirty="0" smtClean="0"/>
              <a:t>++) f[n][i]=a[n][i]</a:t>
            </a:r>
          </a:p>
          <a:p>
            <a:r>
              <a:rPr lang="en-US" altLang="zh-CN" sz="1400" dirty="0" smtClean="0"/>
              <a:t>    for (i=n-1;i;i--)</a:t>
            </a:r>
          </a:p>
          <a:p>
            <a:r>
              <a:rPr lang="en-US" altLang="zh-CN" sz="1400" dirty="0"/>
              <a:t> </a:t>
            </a:r>
            <a:r>
              <a:rPr lang="en-US" altLang="zh-CN" sz="1400" dirty="0" smtClean="0"/>
              <a:t>       for (j=1;j&lt;=</a:t>
            </a:r>
            <a:r>
              <a:rPr lang="en-US" altLang="zh-CN" sz="1400" dirty="0" err="1" smtClean="0"/>
              <a:t>i;j</a:t>
            </a:r>
            <a:r>
              <a:rPr lang="en-US" altLang="zh-CN" sz="1400" dirty="0" smtClean="0"/>
              <a:t>++)</a:t>
            </a:r>
          </a:p>
          <a:p>
            <a:r>
              <a:rPr lang="en-US" altLang="zh-CN" sz="1400" dirty="0"/>
              <a:t> </a:t>
            </a:r>
            <a:r>
              <a:rPr lang="en-US" altLang="zh-CN" sz="1400" dirty="0" smtClean="0"/>
              <a:t>           f[i][j]=max(f[i+1][j],f[i+1][j+1])+a[i][j]</a:t>
            </a:r>
            <a:endParaRPr lang="zh-CN" altLang="en-US" sz="1400" dirty="0"/>
          </a:p>
        </p:txBody>
      </p:sp>
      <p:graphicFrame>
        <p:nvGraphicFramePr>
          <p:cNvPr id="2" name="对象 1"/>
          <p:cNvGraphicFramePr>
            <a:graphicFrameLocks/>
          </p:cNvGraphicFramePr>
          <p:nvPr>
            <p:extLst>
              <p:ext uri="{D42A27DB-BD31-4B8C-83A1-F6EECF244321}">
                <p14:modId xmlns:p14="http://schemas.microsoft.com/office/powerpoint/2010/main" val="2323126635"/>
              </p:ext>
            </p:extLst>
          </p:nvPr>
        </p:nvGraphicFramePr>
        <p:xfrm>
          <a:off x="1861442" y="4810369"/>
          <a:ext cx="3453988" cy="1874509"/>
        </p:xfrm>
        <a:graphic>
          <a:graphicData uri="http://schemas.openxmlformats.org/presentationml/2006/ole">
            <mc:AlternateContent xmlns:mc="http://schemas.openxmlformats.org/markup-compatibility/2006">
              <mc:Choice xmlns:v="urn:schemas-microsoft-com:vml" Requires="v">
                <p:oleObj spid="_x0000_s2230" r:id="rId6" imgW="3362794" imgH="1819529" progId="PBrush">
                  <p:embed/>
                </p:oleObj>
              </mc:Choice>
              <mc:Fallback>
                <p:oleObj r:id="rId6" imgW="3362794" imgH="1819529" progId="PBrush">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1442" y="4810369"/>
                        <a:ext cx="3453988" cy="1874509"/>
                      </a:xfrm>
                      <a:prstGeom prst="rect">
                        <a:avLst/>
                      </a:prstGeom>
                      <a:noFill/>
                      <a:ln>
                        <a:noFill/>
                      </a:ln>
                    </p:spPr>
                  </p:pic>
                </p:oleObj>
              </mc:Fallback>
            </mc:AlternateContent>
          </a:graphicData>
        </a:graphic>
      </p:graphicFrame>
      <p:sp>
        <p:nvSpPr>
          <p:cNvPr id="17" name="矩形 16">
            <a:extLst>
              <a:ext uri="{FF2B5EF4-FFF2-40B4-BE49-F238E27FC236}">
                <a16:creationId xmlns:a16="http://schemas.microsoft.com/office/drawing/2014/main" xmlns="" id="{7169A55A-483D-4542-B072-E8C204367D45}"/>
              </a:ext>
            </a:extLst>
          </p:cNvPr>
          <p:cNvSpPr/>
          <p:nvPr/>
        </p:nvSpPr>
        <p:spPr>
          <a:xfrm>
            <a:off x="5789669" y="3332289"/>
            <a:ext cx="5368016" cy="2462213"/>
          </a:xfrm>
          <a:prstGeom prst="rect">
            <a:avLst/>
          </a:prstGeom>
        </p:spPr>
        <p:txBody>
          <a:bodyPr wrap="square">
            <a:spAutoFit/>
            <a:scene3d>
              <a:camera prst="orthographicFront"/>
              <a:lightRig rig="threePt" dir="t"/>
            </a:scene3d>
            <a:sp3d contourW="12700"/>
          </a:bodyPr>
          <a:lstStyle/>
          <a:p>
            <a:r>
              <a:rPr lang="zh-CN" altLang="zh-CN" sz="1400" b="1" dirty="0" smtClean="0"/>
              <a:t>【</a:t>
            </a:r>
            <a:r>
              <a:rPr lang="zh-CN" altLang="en-US" sz="1400" b="1" dirty="0" smtClean="0"/>
              <a:t>算法分析</a:t>
            </a:r>
            <a:r>
              <a:rPr lang="zh-CN" altLang="zh-CN" sz="1400" b="1" dirty="0" smtClean="0"/>
              <a:t>】</a:t>
            </a:r>
          </a:p>
          <a:p>
            <a:r>
              <a:rPr lang="en-US" altLang="zh-CN" sz="1400" dirty="0"/>
              <a:t> </a:t>
            </a:r>
            <a:r>
              <a:rPr lang="en-US" altLang="zh-CN" sz="1400" dirty="0" smtClean="0"/>
              <a:t>   </a:t>
            </a:r>
            <a:r>
              <a:rPr lang="zh-CN" altLang="en-US" sz="1400" dirty="0" smtClean="0"/>
              <a:t>该递推求解就是一个简单的动态规划。</a:t>
            </a:r>
            <a:endParaRPr lang="en-US" altLang="zh-CN" sz="1400" dirty="0" smtClean="0"/>
          </a:p>
          <a:p>
            <a:r>
              <a:rPr lang="en-US" altLang="zh-CN" sz="1400" dirty="0"/>
              <a:t> </a:t>
            </a:r>
            <a:r>
              <a:rPr lang="en-US" altLang="zh-CN" sz="1400" dirty="0" smtClean="0"/>
              <a:t>   </a:t>
            </a:r>
            <a:r>
              <a:rPr lang="zh-CN" altLang="en-US" sz="1400" dirty="0" smtClean="0"/>
              <a:t>其中目标状态</a:t>
            </a:r>
            <a:r>
              <a:rPr lang="en-US" altLang="zh-CN" sz="1400" dirty="0" smtClean="0"/>
              <a:t>f[1][1]</a:t>
            </a:r>
            <a:r>
              <a:rPr lang="zh-CN" altLang="en-US" sz="1400" dirty="0" smtClean="0"/>
              <a:t>表示从点</a:t>
            </a:r>
            <a:r>
              <a:rPr lang="en-US" altLang="zh-CN" sz="1400" dirty="0" smtClean="0"/>
              <a:t>(1,1)</a:t>
            </a:r>
            <a:r>
              <a:rPr lang="zh-CN" altLang="en-US" sz="1400" dirty="0" smtClean="0"/>
              <a:t>出发到达底部任意处结束的路径最大和，由此确定状态</a:t>
            </a:r>
            <a:r>
              <a:rPr lang="en-US" altLang="zh-CN" sz="1400" dirty="0" smtClean="0"/>
              <a:t>f[i][j]</a:t>
            </a:r>
            <a:r>
              <a:rPr lang="zh-CN" altLang="en-US" sz="1400" dirty="0" smtClean="0"/>
              <a:t>表示从点</a:t>
            </a:r>
            <a:r>
              <a:rPr lang="en-US" altLang="zh-CN" sz="1400" dirty="0" smtClean="0"/>
              <a:t>(</a:t>
            </a:r>
            <a:r>
              <a:rPr lang="en-US" altLang="zh-CN" sz="1400" dirty="0" err="1" smtClean="0"/>
              <a:t>i,j</a:t>
            </a:r>
            <a:r>
              <a:rPr lang="en-US" altLang="zh-CN" sz="1400" dirty="0" smtClean="0"/>
              <a:t>)</a:t>
            </a:r>
            <a:r>
              <a:rPr lang="zh-CN" altLang="en-US" sz="1400" dirty="0" smtClean="0"/>
              <a:t>出发走到底层所能获得的最大和；</a:t>
            </a:r>
            <a:endParaRPr lang="en-US" altLang="zh-CN" sz="1400" dirty="0" smtClean="0"/>
          </a:p>
          <a:p>
            <a:r>
              <a:rPr lang="en-US" altLang="zh-CN" sz="1400" dirty="0"/>
              <a:t> </a:t>
            </a:r>
            <a:r>
              <a:rPr lang="en-US" altLang="zh-CN" sz="1400" dirty="0" smtClean="0"/>
              <a:t>   </a:t>
            </a:r>
            <a:r>
              <a:rPr lang="zh-CN" altLang="en-US" sz="1400" dirty="0" smtClean="0"/>
              <a:t>初始状态</a:t>
            </a:r>
            <a:r>
              <a:rPr lang="en-US" altLang="zh-CN" sz="1400" dirty="0" smtClean="0"/>
              <a:t>f[n][i]=a[n][i]</a:t>
            </a:r>
            <a:r>
              <a:rPr lang="zh-CN" altLang="en-US" sz="1400" dirty="0" smtClean="0"/>
              <a:t>；</a:t>
            </a:r>
            <a:endParaRPr lang="en-US" altLang="zh-CN" sz="1400" dirty="0" smtClean="0"/>
          </a:p>
          <a:p>
            <a:r>
              <a:rPr lang="en-US" altLang="zh-CN" sz="1400" dirty="0"/>
              <a:t> </a:t>
            </a:r>
            <a:r>
              <a:rPr lang="en-US" altLang="zh-CN" sz="1400" dirty="0" smtClean="0"/>
              <a:t>   </a:t>
            </a:r>
            <a:r>
              <a:rPr lang="zh-CN" altLang="en-US" sz="1400" dirty="0" smtClean="0"/>
              <a:t>状态转移</a:t>
            </a:r>
            <a:r>
              <a:rPr lang="en-US" altLang="zh-CN" sz="1400" dirty="0"/>
              <a:t>f[i][j]=max(f[i+1][j],f[i+1][j+1])+a[i][j</a:t>
            </a:r>
            <a:r>
              <a:rPr lang="en-US" altLang="zh-CN" sz="1400" dirty="0" smtClean="0"/>
              <a:t>]</a:t>
            </a:r>
            <a:r>
              <a:rPr lang="zh-CN" altLang="en-US" sz="1400" dirty="0" smtClean="0"/>
              <a:t>，即</a:t>
            </a:r>
            <a:r>
              <a:rPr lang="en-US" altLang="zh-CN" sz="1400" dirty="0" smtClean="0"/>
              <a:t>f[i][j]</a:t>
            </a:r>
            <a:r>
              <a:rPr lang="zh-CN" altLang="en-US" sz="1400" dirty="0" smtClean="0"/>
              <a:t>的值由两个状态转移过来，取两者的最大</a:t>
            </a:r>
            <a:r>
              <a:rPr lang="en-US" altLang="zh-CN" sz="1400" dirty="0" smtClean="0"/>
              <a:t>(</a:t>
            </a:r>
            <a:r>
              <a:rPr lang="zh-CN" altLang="en-US" sz="1400" dirty="0" smtClean="0"/>
              <a:t>优</a:t>
            </a:r>
            <a:r>
              <a:rPr lang="en-US" altLang="zh-CN" sz="1400" dirty="0" smtClean="0"/>
              <a:t>)</a:t>
            </a:r>
            <a:r>
              <a:rPr lang="zh-CN" altLang="en-US" sz="1400" dirty="0" smtClean="0"/>
              <a:t>值，连同本身点</a:t>
            </a:r>
            <a:r>
              <a:rPr lang="en-US" altLang="zh-CN" sz="1400" dirty="0" smtClean="0"/>
              <a:t>(</a:t>
            </a:r>
            <a:r>
              <a:rPr lang="en-US" altLang="zh-CN" sz="1400" dirty="0" err="1" smtClean="0"/>
              <a:t>i,j</a:t>
            </a:r>
            <a:r>
              <a:rPr lang="en-US" altLang="zh-CN" sz="1400" dirty="0" smtClean="0"/>
              <a:t>)</a:t>
            </a:r>
            <a:r>
              <a:rPr lang="zh-CN" altLang="en-US" sz="1400" dirty="0" smtClean="0"/>
              <a:t>的</a:t>
            </a:r>
            <a:r>
              <a:rPr lang="en-US" altLang="zh-CN" sz="1400" dirty="0" smtClean="0"/>
              <a:t>a[i][j]</a:t>
            </a:r>
            <a:r>
              <a:rPr lang="zh-CN" altLang="en-US" sz="1400" dirty="0" smtClean="0"/>
              <a:t>，作为</a:t>
            </a:r>
            <a:r>
              <a:rPr lang="en-US" altLang="zh-CN" sz="1400" dirty="0" smtClean="0"/>
              <a:t>f[i][j]</a:t>
            </a:r>
            <a:r>
              <a:rPr lang="zh-CN" altLang="en-US" sz="1400" dirty="0" smtClean="0"/>
              <a:t>的最大</a:t>
            </a:r>
            <a:r>
              <a:rPr lang="en-US" altLang="zh-CN" sz="1400" dirty="0" smtClean="0"/>
              <a:t>(</a:t>
            </a:r>
            <a:r>
              <a:rPr lang="zh-CN" altLang="en-US" sz="1400" dirty="0" smtClean="0"/>
              <a:t>优</a:t>
            </a:r>
            <a:r>
              <a:rPr lang="en-US" altLang="zh-CN" sz="1400" dirty="0" smtClean="0"/>
              <a:t>)</a:t>
            </a:r>
            <a:r>
              <a:rPr lang="zh-CN" altLang="en-US" sz="1400" dirty="0" smtClean="0"/>
              <a:t>值。</a:t>
            </a:r>
            <a:endParaRPr lang="en-US" altLang="zh-CN" sz="1400" dirty="0" smtClean="0"/>
          </a:p>
          <a:p>
            <a:r>
              <a:rPr lang="en-US" altLang="zh-CN" sz="1400" dirty="0"/>
              <a:t> </a:t>
            </a:r>
            <a:r>
              <a:rPr lang="en-US" altLang="zh-CN" sz="1400" dirty="0" smtClean="0"/>
              <a:t>   </a:t>
            </a:r>
            <a:r>
              <a:rPr lang="zh-CN" altLang="en-US" sz="1400" dirty="0" smtClean="0"/>
              <a:t>阶段就是层数</a:t>
            </a:r>
            <a:r>
              <a:rPr lang="en-US" altLang="zh-CN" sz="1400" dirty="0" smtClean="0"/>
              <a:t>i</a:t>
            </a:r>
            <a:r>
              <a:rPr lang="zh-CN" altLang="en-US" sz="1400" dirty="0" smtClean="0"/>
              <a:t>，要求</a:t>
            </a:r>
            <a:r>
              <a:rPr lang="en-US" altLang="zh-CN" sz="1400" dirty="0" smtClean="0"/>
              <a:t>i</a:t>
            </a:r>
            <a:r>
              <a:rPr lang="zh-CN" altLang="en-US" sz="1400" dirty="0" smtClean="0"/>
              <a:t>层的</a:t>
            </a:r>
            <a:r>
              <a:rPr lang="en-US" altLang="zh-CN" sz="1400" dirty="0" smtClean="0"/>
              <a:t>f[i][]</a:t>
            </a:r>
            <a:r>
              <a:rPr lang="zh-CN" altLang="en-US" sz="1400" dirty="0" smtClean="0"/>
              <a:t>，需要先求</a:t>
            </a:r>
            <a:r>
              <a:rPr lang="en-US" altLang="zh-CN" sz="1400" dirty="0" smtClean="0"/>
              <a:t>i+1</a:t>
            </a:r>
            <a:r>
              <a:rPr lang="zh-CN" altLang="en-US" sz="1400" dirty="0" smtClean="0"/>
              <a:t>层的</a:t>
            </a:r>
            <a:r>
              <a:rPr lang="en-US" altLang="zh-CN" sz="1400" dirty="0" smtClean="0"/>
              <a:t>f[i+1][]</a:t>
            </a:r>
            <a:r>
              <a:rPr lang="zh-CN" altLang="en-US" sz="1400" dirty="0" smtClean="0"/>
              <a:t>。</a:t>
            </a:r>
            <a:endParaRPr lang="en-US" altLang="zh-CN" sz="1400" dirty="0" smtClean="0"/>
          </a:p>
          <a:p>
            <a:r>
              <a:rPr lang="en-US" altLang="zh-CN" sz="1400" dirty="0"/>
              <a:t> </a:t>
            </a:r>
            <a:r>
              <a:rPr lang="en-US" altLang="zh-CN" sz="1400" dirty="0" smtClean="0"/>
              <a:t>   </a:t>
            </a:r>
            <a:endParaRPr lang="zh-CN" altLang="en-US" sz="1400" dirty="0"/>
          </a:p>
        </p:txBody>
      </p:sp>
    </p:spTree>
    <p:extLst>
      <p:ext uri="{BB962C8B-B14F-4D97-AF65-F5344CB8AC3E}">
        <p14:creationId xmlns:p14="http://schemas.microsoft.com/office/powerpoint/2010/main" val="2874116480"/>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33045" y="177223"/>
            <a:ext cx="1402948"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② 最短航线</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4462760"/>
          </a:xfrm>
          <a:prstGeom prst="rect">
            <a:avLst/>
          </a:prstGeom>
        </p:spPr>
        <p:txBody>
          <a:bodyPr wrap="square">
            <a:spAutoFit/>
            <a:scene3d>
              <a:camera prst="orthographicFront"/>
              <a:lightRig rig="threePt" dir="t"/>
            </a:scene3d>
            <a:sp3d contourW="12700"/>
          </a:bodyPr>
          <a:lstStyle/>
          <a:p>
            <a:pPr algn="ctr"/>
            <a:r>
              <a:rPr lang="zh-CN" altLang="en-US" sz="1400" b="1" dirty="0" smtClean="0"/>
              <a:t>最短航线</a:t>
            </a:r>
            <a:endParaRPr lang="zh-CN" altLang="zh-CN" sz="1400" dirty="0"/>
          </a:p>
          <a:p>
            <a:r>
              <a:rPr lang="zh-CN" altLang="zh-CN" sz="1400" b="1" dirty="0"/>
              <a:t>【题目描述】</a:t>
            </a:r>
            <a:endParaRPr lang="zh-CN" altLang="zh-CN" sz="1400" dirty="0"/>
          </a:p>
          <a:p>
            <a:r>
              <a:rPr lang="en-US" altLang="zh-CN" sz="1400" dirty="0" smtClean="0"/>
              <a:t>    </a:t>
            </a:r>
            <a:r>
              <a:rPr lang="zh-CN" altLang="zh-CN" sz="1400" dirty="0" smtClean="0"/>
              <a:t>有</a:t>
            </a:r>
            <a:r>
              <a:rPr lang="en-US" altLang="zh-CN" sz="1400" dirty="0"/>
              <a:t>n</a:t>
            </a:r>
            <a:r>
              <a:rPr lang="zh-CN" altLang="zh-CN" sz="1400" dirty="0"/>
              <a:t>个城市，现给出这</a:t>
            </a:r>
            <a:r>
              <a:rPr lang="en-US" altLang="zh-CN" sz="1400" dirty="0"/>
              <a:t>n</a:t>
            </a:r>
            <a:r>
              <a:rPr lang="zh-CN" altLang="zh-CN" sz="1400" dirty="0"/>
              <a:t>个城市间的航线，城市的编号是从西向东排的，编号小的在西，标号越大越在东部。现在希望找到从城市１开始往东到达最东的城市</a:t>
            </a:r>
            <a:r>
              <a:rPr lang="en-US" altLang="zh-CN" sz="1400" dirty="0"/>
              <a:t>n</a:t>
            </a:r>
            <a:r>
              <a:rPr lang="zh-CN" altLang="zh-CN" sz="1400" dirty="0"/>
              <a:t>的一条飞行路线，此路线是每个城市最多经过一次，且访问城市最多的路线</a:t>
            </a:r>
            <a:r>
              <a:rPr lang="zh-CN" altLang="zh-CN" sz="1400" dirty="0" smtClean="0"/>
              <a:t>。</a:t>
            </a:r>
            <a:endParaRPr lang="zh-CN" altLang="zh-CN" sz="1400" dirty="0"/>
          </a:p>
          <a:p>
            <a:endParaRPr lang="zh-CN" altLang="zh-CN" sz="1400" dirty="0"/>
          </a:p>
          <a:p>
            <a:r>
              <a:rPr lang="zh-CN" altLang="zh-CN" sz="1400" b="1" dirty="0"/>
              <a:t>【样例输入】</a:t>
            </a:r>
            <a:endParaRPr lang="zh-CN" altLang="zh-CN" sz="1400" dirty="0"/>
          </a:p>
          <a:p>
            <a:r>
              <a:rPr lang="en-US" altLang="zh-CN" sz="1400" dirty="0" smtClean="0"/>
              <a:t>8</a:t>
            </a:r>
            <a:endParaRPr lang="zh-CN" altLang="zh-CN" sz="1400" dirty="0"/>
          </a:p>
          <a:p>
            <a:r>
              <a:rPr lang="en-US" altLang="zh-CN" sz="1400" dirty="0"/>
              <a:t>1 1 1 0 0 0 0</a:t>
            </a:r>
            <a:endParaRPr lang="zh-CN" altLang="zh-CN" sz="1400" dirty="0"/>
          </a:p>
          <a:p>
            <a:r>
              <a:rPr lang="en-US" altLang="zh-CN" sz="1400" dirty="0" smtClean="0"/>
              <a:t>   1 </a:t>
            </a:r>
            <a:r>
              <a:rPr lang="en-US" altLang="zh-CN" sz="1400" dirty="0"/>
              <a:t>1 0 0 0 0</a:t>
            </a:r>
            <a:endParaRPr lang="zh-CN" altLang="zh-CN" sz="1400" dirty="0"/>
          </a:p>
          <a:p>
            <a:r>
              <a:rPr lang="en-US" altLang="zh-CN" sz="1400" dirty="0" smtClean="0"/>
              <a:t>      0 </a:t>
            </a:r>
            <a:r>
              <a:rPr lang="en-US" altLang="zh-CN" sz="1400" dirty="0"/>
              <a:t>0 0 1 0</a:t>
            </a:r>
            <a:endParaRPr lang="zh-CN" altLang="zh-CN" sz="1400" dirty="0"/>
          </a:p>
          <a:p>
            <a:r>
              <a:rPr lang="en-US" altLang="zh-CN" sz="1400" dirty="0" smtClean="0"/>
              <a:t>         1 </a:t>
            </a:r>
            <a:r>
              <a:rPr lang="en-US" altLang="zh-CN" sz="1400" dirty="0"/>
              <a:t>0 0 0</a:t>
            </a:r>
            <a:endParaRPr lang="zh-CN" altLang="zh-CN" sz="1400" dirty="0"/>
          </a:p>
          <a:p>
            <a:r>
              <a:rPr lang="en-US" altLang="zh-CN" sz="1400" dirty="0" smtClean="0"/>
              <a:t>            1 </a:t>
            </a:r>
            <a:r>
              <a:rPr lang="en-US" altLang="zh-CN" sz="1400" dirty="0"/>
              <a:t>0 0</a:t>
            </a:r>
            <a:endParaRPr lang="zh-CN" altLang="zh-CN" sz="1400" dirty="0"/>
          </a:p>
          <a:p>
            <a:r>
              <a:rPr lang="en-US" altLang="zh-CN" sz="1400" dirty="0" smtClean="0"/>
              <a:t>               0 </a:t>
            </a:r>
            <a:r>
              <a:rPr lang="en-US" altLang="zh-CN" sz="1400" dirty="0"/>
              <a:t>1</a:t>
            </a:r>
            <a:endParaRPr lang="zh-CN" altLang="zh-CN" sz="1400" dirty="0"/>
          </a:p>
          <a:p>
            <a:r>
              <a:rPr lang="en-US" altLang="zh-CN" sz="1400" dirty="0" smtClean="0"/>
              <a:t>                  1</a:t>
            </a:r>
            <a:endParaRPr lang="en-US" altLang="zh-CN" sz="1400" b="1" dirty="0"/>
          </a:p>
          <a:p>
            <a:endParaRPr lang="zh-CN" altLang="zh-CN" sz="1400" dirty="0"/>
          </a:p>
          <a:p>
            <a:r>
              <a:rPr lang="zh-CN" altLang="zh-CN" sz="1400" b="1" dirty="0"/>
              <a:t>【样例输出】</a:t>
            </a:r>
            <a:endParaRPr lang="zh-CN" altLang="zh-CN" sz="1400" dirty="0"/>
          </a:p>
          <a:p>
            <a:r>
              <a:rPr lang="en-US" altLang="zh-CN" sz="1400" dirty="0"/>
              <a:t>6	</a:t>
            </a:r>
            <a:r>
              <a:rPr lang="en-US" altLang="zh-CN" sz="1400" dirty="0" smtClean="0"/>
              <a:t> (</a:t>
            </a:r>
            <a:r>
              <a:rPr lang="en-US" altLang="zh-CN" sz="1400" dirty="0"/>
              <a:t>1 2 4 5 6 8)</a:t>
            </a:r>
            <a:endParaRPr lang="zh-CN" altLang="zh-CN" sz="1400" dirty="0"/>
          </a:p>
          <a:p>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5789669" y="1053897"/>
            <a:ext cx="5368016" cy="2031325"/>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zh-CN" sz="1400" dirty="0" smtClean="0"/>
              <a:t>由于</a:t>
            </a:r>
            <a:r>
              <a:rPr lang="zh-CN" altLang="zh-CN" sz="1400" dirty="0"/>
              <a:t>城市由西向东编号</a:t>
            </a:r>
            <a:r>
              <a:rPr lang="en-US" altLang="zh-CN" sz="1400" dirty="0"/>
              <a:t>1-n</a:t>
            </a:r>
            <a:r>
              <a:rPr lang="zh-CN" altLang="zh-CN" sz="1400" dirty="0"/>
              <a:t>，且路线也是由西向东，所以可将城市看做是一条坐标线上的点，点坐标从左到右就是</a:t>
            </a:r>
            <a:r>
              <a:rPr lang="en-US" altLang="zh-CN" sz="1400" dirty="0"/>
              <a:t>1-n</a:t>
            </a:r>
            <a:r>
              <a:rPr lang="zh-CN" altLang="zh-CN" sz="1400" dirty="0"/>
              <a:t>。左边的点可</a:t>
            </a:r>
            <a:r>
              <a:rPr lang="zh-CN" altLang="zh-CN" sz="1400" dirty="0" smtClean="0"/>
              <a:t>通过</a:t>
            </a:r>
            <a:r>
              <a:rPr lang="zh-CN" altLang="en-US" sz="1400" dirty="0" smtClean="0"/>
              <a:t>路线</a:t>
            </a:r>
            <a:r>
              <a:rPr lang="zh-CN" altLang="zh-CN" sz="1400" dirty="0" smtClean="0"/>
              <a:t>到</a:t>
            </a:r>
            <a:r>
              <a:rPr lang="zh-CN" altLang="zh-CN" sz="1400" dirty="0"/>
              <a:t>右边的点，右边的点不能回到左边，方向是一直向右</a:t>
            </a:r>
            <a:r>
              <a:rPr lang="zh-CN" altLang="zh-CN" sz="1400" dirty="0" smtClean="0"/>
              <a:t>的</a:t>
            </a:r>
            <a:r>
              <a:rPr lang="zh-CN" altLang="en-US" sz="1400" dirty="0" smtClean="0"/>
              <a:t>。</a:t>
            </a:r>
            <a:r>
              <a:rPr lang="zh-CN" altLang="zh-CN" sz="1400" dirty="0" smtClean="0"/>
              <a:t>则</a:t>
            </a:r>
            <a:r>
              <a:rPr lang="zh-CN" altLang="zh-CN" sz="1400" dirty="0"/>
              <a:t>考虑动规状态</a:t>
            </a:r>
            <a:r>
              <a:rPr lang="en-US" altLang="zh-CN" sz="1400" dirty="0"/>
              <a:t>f[i]</a:t>
            </a:r>
            <a:r>
              <a:rPr lang="zh-CN" altLang="zh-CN" sz="1400" dirty="0"/>
              <a:t>为从点</a:t>
            </a:r>
            <a:r>
              <a:rPr lang="en-US" altLang="zh-CN" sz="1400" dirty="0"/>
              <a:t>1</a:t>
            </a:r>
            <a:r>
              <a:rPr lang="zh-CN" altLang="zh-CN" sz="1400" dirty="0"/>
              <a:t>出发到点</a:t>
            </a:r>
            <a:r>
              <a:rPr lang="en-US" altLang="zh-CN" sz="1400" dirty="0"/>
              <a:t>i</a:t>
            </a:r>
            <a:r>
              <a:rPr lang="zh-CN" altLang="zh-CN" sz="1400" dirty="0"/>
              <a:t>经过的最多城市数，</a:t>
            </a:r>
            <a:r>
              <a:rPr lang="en-US" altLang="zh-CN" sz="1400" dirty="0"/>
              <a:t>a[i][j]</a:t>
            </a:r>
            <a:r>
              <a:rPr lang="zh-CN" altLang="zh-CN" sz="1400" dirty="0"/>
              <a:t>表示点</a:t>
            </a:r>
            <a:r>
              <a:rPr lang="en-US" altLang="zh-CN" sz="1400" dirty="0"/>
              <a:t>i</a:t>
            </a:r>
            <a:r>
              <a:rPr lang="zh-CN" altLang="zh-CN" sz="1400" dirty="0"/>
              <a:t>、</a:t>
            </a:r>
            <a:r>
              <a:rPr lang="en-US" altLang="zh-CN" sz="1400" dirty="0"/>
              <a:t>j</a:t>
            </a:r>
            <a:r>
              <a:rPr lang="zh-CN" altLang="zh-CN" sz="1400" dirty="0"/>
              <a:t>之间是否有</a:t>
            </a:r>
            <a:r>
              <a:rPr lang="zh-CN" altLang="zh-CN" sz="1400" dirty="0" smtClean="0"/>
              <a:t>边</a:t>
            </a:r>
            <a:r>
              <a:rPr lang="zh-CN" altLang="en-US" sz="1400" dirty="0" smtClean="0"/>
              <a:t>，边界条件是</a:t>
            </a:r>
            <a:r>
              <a:rPr lang="en-US" altLang="zh-CN" sz="1400" dirty="0" smtClean="0"/>
              <a:t>f[1]=1</a:t>
            </a:r>
            <a:r>
              <a:rPr lang="zh-CN" altLang="en-US" sz="1400" dirty="0" smtClean="0"/>
              <a:t>。由</a:t>
            </a:r>
            <a:r>
              <a:rPr lang="en-US" altLang="zh-CN" sz="1400" dirty="0" smtClean="0"/>
              <a:t>i</a:t>
            </a:r>
            <a:r>
              <a:rPr lang="zh-CN" altLang="en-US" sz="1400" dirty="0" smtClean="0"/>
              <a:t>西边的某个城市</a:t>
            </a:r>
            <a:r>
              <a:rPr lang="en-US" altLang="zh-CN" sz="1400" dirty="0" smtClean="0"/>
              <a:t>j</a:t>
            </a:r>
            <a:r>
              <a:rPr lang="zh-CN" altLang="en-US" sz="1400" dirty="0" smtClean="0"/>
              <a:t>出发来到</a:t>
            </a:r>
            <a:r>
              <a:rPr lang="en-US" altLang="zh-CN" sz="1400" dirty="0" smtClean="0"/>
              <a:t>i</a:t>
            </a:r>
            <a:r>
              <a:rPr lang="zh-CN" altLang="en-US" sz="1400" dirty="0" smtClean="0"/>
              <a:t>，</a:t>
            </a:r>
            <a:r>
              <a:rPr lang="zh-CN" altLang="zh-CN" sz="1400" dirty="0" smtClean="0"/>
              <a:t>可</a:t>
            </a:r>
            <a:r>
              <a:rPr lang="zh-CN" altLang="zh-CN" sz="1400" dirty="0"/>
              <a:t>得状态转移方程：</a:t>
            </a:r>
          </a:p>
          <a:p>
            <a:r>
              <a:rPr lang="en-US" altLang="zh-CN" sz="1400" dirty="0" smtClean="0"/>
              <a:t>        f[i</a:t>
            </a:r>
            <a:r>
              <a:rPr lang="en-US" altLang="zh-CN" sz="1400" dirty="0"/>
              <a:t>]=max(f[j])+1</a:t>
            </a:r>
            <a:r>
              <a:rPr lang="zh-CN" altLang="zh-CN" sz="1400" dirty="0"/>
              <a:t>，</a:t>
            </a:r>
            <a:r>
              <a:rPr lang="en-US" altLang="zh-CN" sz="1400" dirty="0"/>
              <a:t>1&lt;=j&lt;i</a:t>
            </a:r>
            <a:r>
              <a:rPr lang="zh-CN" altLang="zh-CN" sz="1400" dirty="0"/>
              <a:t>，</a:t>
            </a:r>
            <a:r>
              <a:rPr lang="en-US" altLang="zh-CN" sz="1400" dirty="0" smtClean="0"/>
              <a:t>a[j][</a:t>
            </a:r>
            <a:r>
              <a:rPr lang="en-US" altLang="zh-CN" sz="1400" dirty="0"/>
              <a:t>i</a:t>
            </a:r>
            <a:r>
              <a:rPr lang="en-US" altLang="zh-CN" sz="1400" dirty="0" smtClean="0"/>
              <a:t>]=</a:t>
            </a:r>
            <a:r>
              <a:rPr lang="en-US" altLang="zh-CN" sz="1400" dirty="0"/>
              <a:t>1</a:t>
            </a:r>
            <a:endParaRPr lang="zh-CN" altLang="zh-CN" sz="1400" dirty="0"/>
          </a:p>
          <a:p>
            <a:endParaRPr lang="zh-CN" altLang="en-US" sz="1400" dirty="0"/>
          </a:p>
        </p:txBody>
      </p:sp>
      <p:sp>
        <p:nvSpPr>
          <p:cNvPr id="12" name="矩形 11">
            <a:extLst>
              <a:ext uri="{FF2B5EF4-FFF2-40B4-BE49-F238E27FC236}">
                <a16:creationId xmlns:a16="http://schemas.microsoft.com/office/drawing/2014/main" xmlns="" id="{499D06B3-3687-44BF-84DD-1E5915B49CAA}"/>
              </a:ext>
            </a:extLst>
          </p:cNvPr>
          <p:cNvSpPr/>
          <p:nvPr/>
        </p:nvSpPr>
        <p:spPr>
          <a:xfrm>
            <a:off x="5789668" y="2931600"/>
            <a:ext cx="5368017" cy="954107"/>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zh-CN" sz="1400" dirty="0" smtClean="0"/>
              <a:t>线性模型是</a:t>
            </a:r>
            <a:r>
              <a:rPr lang="zh-CN" altLang="zh-CN" sz="1400" dirty="0"/>
              <a:t>动态规划中最常用的模型，指在线性结构上进行的状态更新。最长</a:t>
            </a:r>
            <a:r>
              <a:rPr lang="zh-CN" altLang="zh-CN" sz="1400" dirty="0" smtClean="0"/>
              <a:t>单调</a:t>
            </a:r>
            <a:r>
              <a:rPr lang="en-US" altLang="zh-CN" sz="1400" dirty="0" smtClean="0"/>
              <a:t>(</a:t>
            </a:r>
            <a:r>
              <a:rPr lang="zh-CN" altLang="en-US" sz="1400" dirty="0" smtClean="0"/>
              <a:t>上升</a:t>
            </a:r>
            <a:r>
              <a:rPr lang="en-US" altLang="zh-CN" sz="1400" dirty="0" smtClean="0"/>
              <a:t>/</a:t>
            </a:r>
            <a:r>
              <a:rPr lang="zh-CN" altLang="en-US" sz="1400" dirty="0" smtClean="0"/>
              <a:t>不上升</a:t>
            </a:r>
            <a:r>
              <a:rPr lang="en-US" altLang="zh-CN" sz="1400" dirty="0" smtClean="0"/>
              <a:t>/</a:t>
            </a:r>
            <a:r>
              <a:rPr lang="zh-CN" altLang="en-US" sz="1400" dirty="0" smtClean="0"/>
              <a:t>下降</a:t>
            </a:r>
            <a:r>
              <a:rPr lang="en-US" altLang="zh-CN" sz="1400" dirty="0" smtClean="0"/>
              <a:t>/</a:t>
            </a:r>
            <a:r>
              <a:rPr lang="zh-CN" altLang="en-US" sz="1400" dirty="0" smtClean="0"/>
              <a:t>不下降</a:t>
            </a:r>
            <a:r>
              <a:rPr lang="en-US" altLang="zh-CN" sz="1400" dirty="0" smtClean="0"/>
              <a:t>/</a:t>
            </a:r>
            <a:r>
              <a:rPr lang="zh-CN" altLang="en-US" sz="1400" dirty="0" smtClean="0"/>
              <a:t>公共</a:t>
            </a:r>
            <a:r>
              <a:rPr lang="en-US" altLang="zh-CN" sz="1400" dirty="0" smtClean="0"/>
              <a:t>)</a:t>
            </a:r>
            <a:r>
              <a:rPr lang="zh-CN" altLang="zh-CN" sz="1400" dirty="0" smtClean="0"/>
              <a:t>子序列</a:t>
            </a:r>
            <a:r>
              <a:rPr lang="en-US" altLang="zh-CN" sz="1400" dirty="0" smtClean="0"/>
              <a:t>/</a:t>
            </a:r>
            <a:r>
              <a:rPr lang="zh-CN" altLang="en-US" sz="1400" dirty="0" smtClean="0"/>
              <a:t>串</a:t>
            </a:r>
            <a:r>
              <a:rPr lang="zh-CN" altLang="zh-CN" sz="1400" dirty="0" smtClean="0"/>
              <a:t>就是</a:t>
            </a:r>
            <a:r>
              <a:rPr lang="zh-CN" altLang="zh-CN" sz="1400" dirty="0"/>
              <a:t>经典的线性模型，这里的线性指的是状态的排布是呈</a:t>
            </a:r>
            <a:r>
              <a:rPr lang="zh-CN" altLang="zh-CN" sz="1400" dirty="0" smtClean="0"/>
              <a:t>线性的</a:t>
            </a:r>
            <a:r>
              <a:rPr lang="zh-CN" altLang="en-US" sz="1400" dirty="0" smtClean="0"/>
              <a:t>，最常见的就是一维数组存储的结构。</a:t>
            </a:r>
            <a:endParaRPr lang="zh-CN" altLang="zh-CN" sz="1400" dirty="0"/>
          </a:p>
        </p:txBody>
      </p:sp>
      <p:pic>
        <p:nvPicPr>
          <p:cNvPr id="17" name="图片 16"/>
          <p:cNvPicPr/>
          <p:nvPr/>
        </p:nvPicPr>
        <p:blipFill>
          <a:blip r:embed="rId5"/>
          <a:stretch>
            <a:fillRect/>
          </a:stretch>
        </p:blipFill>
        <p:spPr>
          <a:xfrm>
            <a:off x="2013626" y="3184511"/>
            <a:ext cx="3657600" cy="1601470"/>
          </a:xfrm>
          <a:prstGeom prst="rect">
            <a:avLst/>
          </a:prstGeom>
          <a:noFill/>
          <a:ln>
            <a:noFill/>
          </a:ln>
        </p:spPr>
      </p:pic>
      <p:sp>
        <p:nvSpPr>
          <p:cNvPr id="18" name="矩形 17"/>
          <p:cNvSpPr/>
          <p:nvPr/>
        </p:nvSpPr>
        <p:spPr>
          <a:xfrm>
            <a:off x="5991241" y="4031020"/>
            <a:ext cx="4964872" cy="2893100"/>
          </a:xfrm>
          <a:prstGeom prst="rect">
            <a:avLst/>
          </a:prstGeom>
        </p:spPr>
        <p:txBody>
          <a:bodyPr wrap="square">
            <a:spAutoFit/>
            <a:scene3d>
              <a:camera prst="orthographicFront"/>
              <a:lightRig rig="threePt" dir="t"/>
            </a:scene3d>
            <a:sp3d contourW="12700"/>
          </a:bodyPr>
          <a:lstStyle/>
          <a:p>
            <a:pPr algn="ctr"/>
            <a:r>
              <a:rPr lang="zh-CN" altLang="en-US" sz="1400" b="1" dirty="0" smtClean="0"/>
              <a:t>最长上升子序列</a:t>
            </a:r>
            <a:endParaRPr lang="zh-CN" altLang="zh-CN" sz="1400" dirty="0"/>
          </a:p>
          <a:p>
            <a:r>
              <a:rPr lang="zh-CN" altLang="zh-CN" sz="1400" b="1" dirty="0"/>
              <a:t>【题目描述】</a:t>
            </a:r>
            <a:endParaRPr lang="zh-CN" altLang="zh-CN" sz="1400" dirty="0"/>
          </a:p>
          <a:p>
            <a:r>
              <a:rPr lang="en-US" altLang="zh-CN" sz="1400" dirty="0" smtClean="0"/>
              <a:t>    </a:t>
            </a:r>
            <a:r>
              <a:rPr lang="zh-CN" altLang="zh-CN" sz="1400" dirty="0" smtClean="0"/>
              <a:t>最</a:t>
            </a:r>
            <a:r>
              <a:rPr lang="zh-CN" altLang="zh-CN" sz="1400" dirty="0"/>
              <a:t>长上升子序列问题描述</a:t>
            </a:r>
            <a:r>
              <a:rPr lang="en-US" altLang="zh-CN" sz="1400" dirty="0"/>
              <a:t>: </a:t>
            </a:r>
            <a:r>
              <a:rPr lang="zh-CN" altLang="zh-CN" sz="1400" dirty="0"/>
              <a:t>对于一串数</a:t>
            </a:r>
            <a:r>
              <a:rPr lang="en-US" altLang="zh-CN" sz="1400" dirty="0"/>
              <a:t>A={a</a:t>
            </a:r>
            <a:r>
              <a:rPr lang="en-US" altLang="zh-CN" sz="1400" baseline="-25000" dirty="0"/>
              <a:t>1</a:t>
            </a:r>
            <a:r>
              <a:rPr lang="en-US" altLang="zh-CN" sz="1400" dirty="0"/>
              <a:t>a</a:t>
            </a:r>
            <a:r>
              <a:rPr lang="en-US" altLang="zh-CN" sz="1400" baseline="-25000" dirty="0"/>
              <a:t>2</a:t>
            </a:r>
            <a:r>
              <a:rPr lang="en-US" altLang="zh-CN" sz="1400" dirty="0"/>
              <a:t>a</a:t>
            </a:r>
            <a:r>
              <a:rPr lang="en-US" altLang="zh-CN" sz="1400" baseline="-25000" dirty="0"/>
              <a:t>3</a:t>
            </a:r>
            <a:r>
              <a:rPr lang="zh-CN" altLang="zh-CN" sz="1400" dirty="0"/>
              <a:t>…</a:t>
            </a:r>
            <a:r>
              <a:rPr lang="en-US" altLang="zh-CN" sz="1400" dirty="0"/>
              <a:t>a</a:t>
            </a:r>
            <a:r>
              <a:rPr lang="en-US" altLang="zh-CN" sz="1400" baseline="-25000" dirty="0"/>
              <a:t>n</a:t>
            </a:r>
            <a:r>
              <a:rPr lang="en-US" altLang="zh-CN" sz="1400" dirty="0"/>
              <a:t>}</a:t>
            </a:r>
            <a:r>
              <a:rPr lang="zh-CN" altLang="zh-CN" sz="1400" dirty="0"/>
              <a:t>，它的子序列为</a:t>
            </a:r>
            <a:r>
              <a:rPr lang="en-US" altLang="zh-CN" sz="1400" dirty="0"/>
              <a:t>S={s</a:t>
            </a:r>
            <a:r>
              <a:rPr lang="en-US" altLang="zh-CN" sz="1400" baseline="-25000" dirty="0"/>
              <a:t>1</a:t>
            </a:r>
            <a:r>
              <a:rPr lang="en-US" altLang="zh-CN" sz="1400" dirty="0"/>
              <a:t>s</a:t>
            </a:r>
            <a:r>
              <a:rPr lang="en-US" altLang="zh-CN" sz="1400" baseline="-25000" dirty="0"/>
              <a:t>2</a:t>
            </a:r>
            <a:r>
              <a:rPr lang="en-US" altLang="zh-CN" sz="1400" dirty="0"/>
              <a:t>s</a:t>
            </a:r>
            <a:r>
              <a:rPr lang="en-US" altLang="zh-CN" sz="1400" baseline="-25000" dirty="0"/>
              <a:t>3</a:t>
            </a:r>
            <a:r>
              <a:rPr lang="zh-CN" altLang="zh-CN" sz="1400" dirty="0"/>
              <a:t>…</a:t>
            </a:r>
            <a:r>
              <a:rPr lang="en-US" altLang="zh-CN" sz="1400" dirty="0" err="1" smtClean="0"/>
              <a:t>s</a:t>
            </a:r>
            <a:r>
              <a:rPr lang="en-US" altLang="zh-CN" sz="1400" baseline="-25000" dirty="0" err="1" smtClean="0"/>
              <a:t>m</a:t>
            </a:r>
            <a:r>
              <a:rPr lang="en-US" altLang="zh-CN" sz="1400" dirty="0" smtClean="0"/>
              <a:t>}</a:t>
            </a:r>
            <a:r>
              <a:rPr lang="zh-CN" altLang="zh-CN" sz="1400" dirty="0"/>
              <a:t>，满足</a:t>
            </a:r>
            <a:r>
              <a:rPr lang="en-US" altLang="zh-CN" sz="1400" dirty="0"/>
              <a:t>{s</a:t>
            </a:r>
            <a:r>
              <a:rPr lang="en-US" altLang="zh-CN" sz="1400" baseline="-25000" dirty="0"/>
              <a:t>1</a:t>
            </a:r>
            <a:r>
              <a:rPr lang="en-US" altLang="zh-CN" sz="1400" dirty="0"/>
              <a:t>&lt;s</a:t>
            </a:r>
            <a:r>
              <a:rPr lang="en-US" altLang="zh-CN" sz="1400" baseline="-25000" dirty="0"/>
              <a:t>2</a:t>
            </a:r>
            <a:r>
              <a:rPr lang="en-US" altLang="zh-CN" sz="1400" dirty="0"/>
              <a:t>&lt;s</a:t>
            </a:r>
            <a:r>
              <a:rPr lang="en-US" altLang="zh-CN" sz="1400" baseline="-25000" dirty="0"/>
              <a:t>3</a:t>
            </a:r>
            <a:r>
              <a:rPr lang="en-US" altLang="zh-CN" sz="1400" dirty="0"/>
              <a:t>&lt;</a:t>
            </a:r>
            <a:r>
              <a:rPr lang="zh-CN" altLang="zh-CN" sz="1400" dirty="0"/>
              <a:t>…</a:t>
            </a:r>
            <a:r>
              <a:rPr lang="en-US" altLang="zh-CN" sz="1400" dirty="0"/>
              <a:t>&lt;</a:t>
            </a:r>
            <a:r>
              <a:rPr lang="en-US" altLang="zh-CN" sz="1400" dirty="0" err="1"/>
              <a:t>s</a:t>
            </a:r>
            <a:r>
              <a:rPr lang="en-US" altLang="zh-CN" sz="1400" baseline="-25000" dirty="0" err="1"/>
              <a:t>m</a:t>
            </a:r>
            <a:r>
              <a:rPr lang="en-US" altLang="zh-CN" sz="1400" dirty="0"/>
              <a:t>}</a:t>
            </a:r>
            <a:r>
              <a:rPr lang="zh-CN" altLang="zh-CN" sz="1400" dirty="0"/>
              <a:t>。求</a:t>
            </a:r>
            <a:r>
              <a:rPr lang="en-US" altLang="zh-CN" sz="1400" dirty="0"/>
              <a:t>A</a:t>
            </a:r>
            <a:r>
              <a:rPr lang="zh-CN" altLang="zh-CN" sz="1400" dirty="0"/>
              <a:t>的最长子序列的长度。</a:t>
            </a:r>
          </a:p>
          <a:p>
            <a:endParaRPr lang="zh-CN" altLang="zh-CN" sz="1400" dirty="0"/>
          </a:p>
          <a:p>
            <a:r>
              <a:rPr lang="zh-CN" altLang="zh-CN" sz="1400" b="1" dirty="0"/>
              <a:t>【样例输入】</a:t>
            </a:r>
            <a:endParaRPr lang="zh-CN" altLang="zh-CN" sz="1400" dirty="0"/>
          </a:p>
          <a:p>
            <a:r>
              <a:rPr lang="en-US" altLang="zh-CN" sz="1400" dirty="0"/>
              <a:t>5</a:t>
            </a:r>
            <a:endParaRPr lang="zh-CN" altLang="zh-CN" sz="1400" dirty="0"/>
          </a:p>
          <a:p>
            <a:r>
              <a:rPr lang="en-US" altLang="zh-CN" sz="1400" dirty="0" smtClean="0"/>
              <a:t>1 3 7 5 4</a:t>
            </a:r>
          </a:p>
          <a:p>
            <a:endParaRPr lang="zh-CN" altLang="zh-CN" sz="1400" dirty="0"/>
          </a:p>
          <a:p>
            <a:r>
              <a:rPr lang="zh-CN" altLang="zh-CN" sz="1400" b="1" dirty="0"/>
              <a:t>【样例输出】</a:t>
            </a:r>
            <a:endParaRPr lang="zh-CN" altLang="zh-CN" sz="1400" dirty="0"/>
          </a:p>
          <a:p>
            <a:r>
              <a:rPr lang="en-US" altLang="zh-CN" sz="1400" dirty="0"/>
              <a:t>3</a:t>
            </a:r>
            <a:endParaRPr lang="zh-CN" altLang="zh-CN" sz="1400" dirty="0"/>
          </a:p>
          <a:p>
            <a:endParaRPr lang="zh-CN" altLang="zh-CN" sz="1400" dirty="0"/>
          </a:p>
        </p:txBody>
      </p:sp>
      <p:sp>
        <p:nvSpPr>
          <p:cNvPr id="19" name="矩形 18">
            <a:extLst>
              <a:ext uri="{FF2B5EF4-FFF2-40B4-BE49-F238E27FC236}">
                <a16:creationId xmlns:a16="http://schemas.microsoft.com/office/drawing/2014/main" xmlns="" id="{7169A55A-483D-4542-B072-E8C204367D45}"/>
              </a:ext>
            </a:extLst>
          </p:cNvPr>
          <p:cNvSpPr/>
          <p:nvPr/>
        </p:nvSpPr>
        <p:spPr>
          <a:xfrm>
            <a:off x="7123191" y="5317935"/>
            <a:ext cx="4090939" cy="1169551"/>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zh-CN" sz="1400" dirty="0" smtClean="0"/>
              <a:t>设</a:t>
            </a:r>
            <a:r>
              <a:rPr lang="en-US" altLang="zh-CN" sz="1400" dirty="0"/>
              <a:t>f</a:t>
            </a:r>
            <a:r>
              <a:rPr lang="en-US" altLang="zh-CN" sz="1400" dirty="0" smtClean="0"/>
              <a:t>[i</a:t>
            </a:r>
            <a:r>
              <a:rPr lang="en-US" altLang="zh-CN" sz="1400" dirty="0"/>
              <a:t>]</a:t>
            </a:r>
            <a:r>
              <a:rPr lang="zh-CN" altLang="zh-CN" sz="1400" dirty="0" smtClean="0"/>
              <a:t>是</a:t>
            </a:r>
            <a:r>
              <a:rPr lang="zh-CN" altLang="en-US" sz="1400" dirty="0" smtClean="0"/>
              <a:t>前</a:t>
            </a:r>
            <a:r>
              <a:rPr lang="en-US" altLang="zh-CN" sz="1400" dirty="0" smtClean="0"/>
              <a:t>i</a:t>
            </a:r>
            <a:r>
              <a:rPr lang="zh-CN" altLang="en-US" sz="1400" dirty="0" smtClean="0"/>
              <a:t>个数中</a:t>
            </a:r>
            <a:r>
              <a:rPr lang="zh-CN" altLang="zh-CN" sz="1400" dirty="0" smtClean="0"/>
              <a:t>以</a:t>
            </a:r>
            <a:r>
              <a:rPr lang="en-US" altLang="zh-CN" sz="1400" dirty="0"/>
              <a:t>i</a:t>
            </a:r>
            <a:r>
              <a:rPr lang="zh-CN" altLang="zh-CN" sz="1400" dirty="0"/>
              <a:t>结尾的最长上升子序列的长度，则状态转移方程为</a:t>
            </a:r>
          </a:p>
          <a:p>
            <a:r>
              <a:rPr lang="en-US" altLang="zh-CN" sz="1400" dirty="0"/>
              <a:t> </a:t>
            </a:r>
            <a:r>
              <a:rPr lang="en-US" altLang="zh-CN" sz="1400" dirty="0" smtClean="0"/>
              <a:t>   f[i]=max{f[j]}+1</a:t>
            </a:r>
            <a:r>
              <a:rPr lang="zh-CN" altLang="en-US" sz="1400" dirty="0" smtClean="0"/>
              <a:t>，</a:t>
            </a:r>
            <a:r>
              <a:rPr lang="en-US" altLang="zh-CN" sz="1400" dirty="0" smtClean="0"/>
              <a:t>1&lt;=j&lt;i</a:t>
            </a:r>
            <a:r>
              <a:rPr lang="zh-CN" altLang="en-US" sz="1400" dirty="0" smtClean="0"/>
              <a:t>，</a:t>
            </a:r>
            <a:r>
              <a:rPr lang="en-US" altLang="zh-CN" sz="1400" dirty="0" smtClean="0"/>
              <a:t>a[j]&lt;a[i]</a:t>
            </a:r>
            <a:endParaRPr lang="zh-CN" altLang="zh-CN" sz="1400" dirty="0"/>
          </a:p>
          <a:p>
            <a:r>
              <a:rPr lang="en-US" altLang="zh-CN" sz="1400" dirty="0"/>
              <a:t> </a:t>
            </a:r>
            <a:r>
              <a:rPr lang="en-US" altLang="zh-CN" sz="1400" dirty="0" smtClean="0"/>
              <a:t>   </a:t>
            </a:r>
            <a:r>
              <a:rPr lang="zh-CN" altLang="en-US" sz="1400" dirty="0" smtClean="0"/>
              <a:t>边界</a:t>
            </a:r>
            <a:r>
              <a:rPr lang="en-US" altLang="zh-CN" sz="1400" dirty="0" smtClean="0"/>
              <a:t>f[i]=1</a:t>
            </a:r>
            <a:r>
              <a:rPr lang="zh-CN" altLang="en-US" sz="1400" dirty="0" smtClean="0"/>
              <a:t>。</a:t>
            </a:r>
            <a:endParaRPr lang="zh-CN" altLang="en-US" sz="1400" dirty="0"/>
          </a:p>
        </p:txBody>
      </p:sp>
    </p:spTree>
    <p:extLst>
      <p:ext uri="{BB962C8B-B14F-4D97-AF65-F5344CB8AC3E}">
        <p14:creationId xmlns:p14="http://schemas.microsoft.com/office/powerpoint/2010/main" val="2085033280"/>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1" grpId="0"/>
      <p:bldP spid="12" grpId="0"/>
      <p:bldP spid="18"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35637" y="177223"/>
            <a:ext cx="1197764"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③</a:t>
            </a:r>
            <a:r>
              <a:rPr lang="zh-CN" altLang="en-US" dirty="0" smtClean="0">
                <a:solidFill>
                  <a:schemeClr val="bg1"/>
                </a:solidFill>
                <a:effectLst>
                  <a:outerShdw blurRad="203200" dist="38100" dir="5400000" algn="t" rotWithShape="0">
                    <a:prstClr val="black">
                      <a:alpha val="83000"/>
                    </a:prstClr>
                  </a:outerShdw>
                </a:effectLst>
                <a:cs typeface="+mn-ea"/>
                <a:sym typeface="+mn-lt"/>
              </a:rPr>
              <a:t> </a:t>
            </a:r>
            <a:r>
              <a:rPr lang="en-US" altLang="zh-CN" dirty="0" smtClean="0">
                <a:solidFill>
                  <a:schemeClr val="bg1"/>
                </a:solidFill>
                <a:effectLst>
                  <a:outerShdw blurRad="203200" dist="38100" dir="5400000" algn="t" rotWithShape="0">
                    <a:prstClr val="black">
                      <a:alpha val="83000"/>
                    </a:prstClr>
                  </a:outerShdw>
                </a:effectLst>
                <a:cs typeface="+mn-ea"/>
                <a:sym typeface="+mn-lt"/>
              </a:rPr>
              <a:t>01</a:t>
            </a:r>
            <a:r>
              <a:rPr lang="zh-CN" altLang="en-US" dirty="0" smtClean="0">
                <a:solidFill>
                  <a:schemeClr val="bg1"/>
                </a:solidFill>
                <a:effectLst>
                  <a:outerShdw blurRad="203200" dist="38100" dir="5400000" algn="t" rotWithShape="0">
                    <a:prstClr val="black">
                      <a:alpha val="83000"/>
                    </a:prstClr>
                  </a:outerShdw>
                </a:effectLst>
                <a:cs typeface="+mn-ea"/>
                <a:sym typeface="+mn-lt"/>
              </a:rPr>
              <a:t>背包</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496342"/>
          </a:xfrm>
          <a:prstGeom prst="rect">
            <a:avLst/>
          </a:prstGeom>
        </p:spPr>
        <p:txBody>
          <a:bodyPr wrap="square">
            <a:spAutoFit/>
            <a:scene3d>
              <a:camera prst="orthographicFront"/>
              <a:lightRig rig="threePt" dir="t"/>
            </a:scene3d>
            <a:sp3d contourW="12700"/>
          </a:bodyPr>
          <a:lstStyle/>
          <a:p>
            <a:pPr algn="ctr"/>
            <a:r>
              <a:rPr lang="en-US" altLang="zh-CN" sz="1400" b="1" dirty="0" smtClean="0"/>
              <a:t>01</a:t>
            </a:r>
            <a:r>
              <a:rPr lang="zh-CN" altLang="en-US" sz="1400" b="1" dirty="0" smtClean="0"/>
              <a:t>背包</a:t>
            </a:r>
            <a:endParaRPr lang="zh-CN" altLang="zh-CN" sz="1400" dirty="0"/>
          </a:p>
          <a:p>
            <a:r>
              <a:rPr lang="zh-CN" altLang="zh-CN" sz="1400" b="1" dirty="0"/>
              <a:t>【题目描述】</a:t>
            </a:r>
            <a:endParaRPr lang="zh-CN" altLang="zh-CN" sz="1400" dirty="0"/>
          </a:p>
          <a:p>
            <a:r>
              <a:rPr lang="zh-CN" altLang="en-US" sz="1400" dirty="0" smtClean="0"/>
              <a:t>    一</a:t>
            </a:r>
            <a:r>
              <a:rPr lang="zh-CN" altLang="en-US" sz="1400" dirty="0"/>
              <a:t>个旅行者有一</a:t>
            </a:r>
            <a:r>
              <a:rPr lang="zh-CN" altLang="en-US" sz="1400" dirty="0" smtClean="0"/>
              <a:t>个容量</a:t>
            </a:r>
            <a:r>
              <a:rPr lang="en-US" altLang="zh-CN" sz="1400" dirty="0" smtClean="0"/>
              <a:t>m</a:t>
            </a:r>
            <a:r>
              <a:rPr lang="zh-CN" altLang="en-US" sz="1400" dirty="0"/>
              <a:t>公斤的背包，现在有</a:t>
            </a:r>
            <a:r>
              <a:rPr lang="en-US" altLang="zh-CN" sz="1400" dirty="0"/>
              <a:t>n</a:t>
            </a:r>
            <a:r>
              <a:rPr lang="zh-CN" altLang="en-US" sz="1400" dirty="0"/>
              <a:t>件物品，它们的重量分别是</a:t>
            </a:r>
            <a:r>
              <a:rPr lang="en-US" altLang="zh-CN" sz="1400" dirty="0"/>
              <a:t>W</a:t>
            </a:r>
            <a:r>
              <a:rPr lang="en-US" altLang="zh-CN" sz="1400" baseline="-25000" dirty="0"/>
              <a:t>1</a:t>
            </a:r>
            <a:r>
              <a:rPr lang="zh-CN" altLang="en-US" sz="1400" dirty="0"/>
              <a:t>，</a:t>
            </a:r>
            <a:r>
              <a:rPr lang="en-US" altLang="zh-CN" sz="1400" dirty="0"/>
              <a:t>W</a:t>
            </a:r>
            <a:r>
              <a:rPr lang="en-US" altLang="zh-CN" sz="1400" baseline="-25000" dirty="0"/>
              <a:t>2</a:t>
            </a:r>
            <a:r>
              <a:rPr lang="zh-CN" altLang="en-US" sz="1400" dirty="0"/>
              <a:t>，</a:t>
            </a:r>
            <a:r>
              <a:rPr lang="en-US" altLang="zh-CN" sz="1400" dirty="0" smtClean="0"/>
              <a:t>...</a:t>
            </a:r>
            <a:r>
              <a:rPr lang="zh-CN" altLang="en-US" sz="1400" dirty="0" smtClean="0"/>
              <a:t>，</a:t>
            </a:r>
            <a:r>
              <a:rPr lang="en-US" altLang="zh-CN" sz="1400" dirty="0" err="1" smtClean="0"/>
              <a:t>W</a:t>
            </a:r>
            <a:r>
              <a:rPr lang="en-US" altLang="zh-CN" sz="1400" baseline="-25000" dirty="0" err="1" smtClean="0"/>
              <a:t>n</a:t>
            </a:r>
            <a:r>
              <a:rPr lang="zh-CN" altLang="en-US" sz="1400" dirty="0" smtClean="0"/>
              <a:t>，它们</a:t>
            </a:r>
            <a:r>
              <a:rPr lang="zh-CN" altLang="en-US" sz="1400" dirty="0"/>
              <a:t>的价值分别</a:t>
            </a:r>
            <a:r>
              <a:rPr lang="zh-CN" altLang="en-US" sz="1400" dirty="0" smtClean="0"/>
              <a:t>为</a:t>
            </a:r>
            <a:r>
              <a:rPr lang="en-US" altLang="zh-CN" sz="1400" dirty="0" smtClean="0"/>
              <a:t>V</a:t>
            </a:r>
            <a:r>
              <a:rPr lang="en-US" altLang="zh-CN" sz="1400" baseline="-25000" dirty="0" smtClean="0"/>
              <a:t>1</a:t>
            </a:r>
            <a:r>
              <a:rPr lang="zh-CN" altLang="en-US" sz="1400" dirty="0" smtClean="0"/>
              <a:t>，</a:t>
            </a:r>
            <a:r>
              <a:rPr lang="en-US" altLang="zh-CN" sz="1400" dirty="0" smtClean="0"/>
              <a:t>V</a:t>
            </a:r>
            <a:r>
              <a:rPr lang="en-US" altLang="zh-CN" sz="1400" baseline="-25000" dirty="0" smtClean="0"/>
              <a:t>2</a:t>
            </a:r>
            <a:r>
              <a:rPr lang="zh-CN" altLang="en-US" sz="1400" dirty="0" smtClean="0"/>
              <a:t>，</a:t>
            </a:r>
            <a:r>
              <a:rPr lang="en-US" altLang="zh-CN" sz="1400" dirty="0" smtClean="0"/>
              <a:t>...</a:t>
            </a:r>
            <a:r>
              <a:rPr lang="zh-CN" altLang="en-US" sz="1400" dirty="0" smtClean="0"/>
              <a:t>，</a:t>
            </a:r>
            <a:r>
              <a:rPr lang="en-US" altLang="zh-CN" sz="1400" dirty="0" err="1" smtClean="0"/>
              <a:t>V</a:t>
            </a:r>
            <a:r>
              <a:rPr lang="en-US" altLang="zh-CN" sz="1400" baseline="-25000" dirty="0" err="1" smtClean="0"/>
              <a:t>n</a:t>
            </a:r>
            <a:r>
              <a:rPr lang="zh-CN" altLang="en-US" sz="1400" dirty="0" smtClean="0"/>
              <a:t>。若</a:t>
            </a:r>
            <a:r>
              <a:rPr lang="zh-CN" altLang="en-US" sz="1400" dirty="0"/>
              <a:t>每种物品只有一</a:t>
            </a:r>
            <a:r>
              <a:rPr lang="zh-CN" altLang="en-US" sz="1400" dirty="0" smtClean="0"/>
              <a:t>件，求</a:t>
            </a:r>
            <a:r>
              <a:rPr lang="zh-CN" altLang="en-US" sz="1400" dirty="0"/>
              <a:t>旅行者能获得最大总价值。</a:t>
            </a:r>
            <a:endParaRPr lang="zh-CN" altLang="zh-CN" sz="1400" dirty="0"/>
          </a:p>
          <a:p>
            <a:endParaRPr lang="zh-CN" altLang="zh-CN" sz="1400" dirty="0"/>
          </a:p>
          <a:p>
            <a:r>
              <a:rPr lang="zh-CN" altLang="zh-CN" sz="1400" b="1" dirty="0" smtClean="0"/>
              <a:t>【样例输入】</a:t>
            </a:r>
            <a:endParaRPr lang="zh-CN" altLang="zh-CN" sz="1400" dirty="0" smtClean="0"/>
          </a:p>
          <a:p>
            <a:pPr>
              <a:lnSpc>
                <a:spcPct val="80000"/>
              </a:lnSpc>
            </a:pPr>
            <a:r>
              <a:rPr lang="en-US" altLang="zh-CN" sz="1400" dirty="0" smtClean="0"/>
              <a:t>10 4</a:t>
            </a:r>
          </a:p>
          <a:p>
            <a:pPr>
              <a:lnSpc>
                <a:spcPct val="80000"/>
              </a:lnSpc>
            </a:pPr>
            <a:r>
              <a:rPr lang="en-US" altLang="zh-CN" sz="1400" dirty="0" smtClean="0"/>
              <a:t>2 1</a:t>
            </a:r>
          </a:p>
          <a:p>
            <a:pPr>
              <a:lnSpc>
                <a:spcPct val="80000"/>
              </a:lnSpc>
            </a:pPr>
            <a:r>
              <a:rPr lang="en-US" altLang="zh-CN" sz="1400" dirty="0" smtClean="0"/>
              <a:t>3 3</a:t>
            </a:r>
          </a:p>
          <a:p>
            <a:pPr>
              <a:lnSpc>
                <a:spcPct val="80000"/>
              </a:lnSpc>
            </a:pPr>
            <a:r>
              <a:rPr lang="en-US" altLang="zh-CN" sz="1400" dirty="0" smtClean="0"/>
              <a:t>4 6</a:t>
            </a:r>
          </a:p>
          <a:p>
            <a:pPr>
              <a:lnSpc>
                <a:spcPct val="80000"/>
              </a:lnSpc>
            </a:pPr>
            <a:r>
              <a:rPr lang="en-US" altLang="zh-CN" sz="1400" dirty="0" smtClean="0"/>
              <a:t>7 9</a:t>
            </a:r>
          </a:p>
          <a:p>
            <a:pPr>
              <a:lnSpc>
                <a:spcPct val="80000"/>
              </a:lnSpc>
            </a:pPr>
            <a:endParaRPr lang="zh-CN" altLang="zh-CN" sz="1400" dirty="0"/>
          </a:p>
          <a:p>
            <a:r>
              <a:rPr lang="zh-CN" altLang="zh-CN" sz="1400" b="1" dirty="0"/>
              <a:t>【样例输出】</a:t>
            </a:r>
            <a:endParaRPr lang="zh-CN" altLang="zh-CN" sz="1400" dirty="0"/>
          </a:p>
          <a:p>
            <a:r>
              <a:rPr lang="en-US" altLang="zh-CN" sz="1400" dirty="0" smtClean="0"/>
              <a:t>12</a:t>
            </a:r>
            <a:endParaRPr lang="zh-CN" altLang="zh-CN" sz="1400" dirty="0"/>
          </a:p>
          <a:p>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706354" y="4808128"/>
            <a:ext cx="4964872" cy="1169551"/>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en-US" sz="1400" dirty="0" smtClean="0"/>
              <a:t>设</a:t>
            </a:r>
            <a:r>
              <a:rPr lang="en-US" altLang="zh-CN" sz="1400" dirty="0" smtClean="0"/>
              <a:t>f[i][j]</a:t>
            </a:r>
            <a:r>
              <a:rPr lang="zh-CN" altLang="en-US" sz="1400" dirty="0" smtClean="0"/>
              <a:t>表示前</a:t>
            </a:r>
            <a:r>
              <a:rPr lang="en-US" altLang="zh-CN" sz="1400" dirty="0" smtClean="0"/>
              <a:t>i</a:t>
            </a:r>
            <a:r>
              <a:rPr lang="zh-CN" altLang="en-US" sz="1400" dirty="0" smtClean="0"/>
              <a:t>件物品</a:t>
            </a:r>
            <a:r>
              <a:rPr lang="zh-CN" altLang="en-US" sz="1400" dirty="0"/>
              <a:t>选取若干</a:t>
            </a:r>
            <a:r>
              <a:rPr lang="en-US" altLang="zh-CN" sz="1400" dirty="0" smtClean="0"/>
              <a:t>(</a:t>
            </a:r>
            <a:r>
              <a:rPr lang="zh-CN" altLang="en-US" sz="1400" dirty="0" smtClean="0"/>
              <a:t>部分或全部</a:t>
            </a:r>
            <a:r>
              <a:rPr lang="en-US" altLang="zh-CN" sz="1400" dirty="0" smtClean="0"/>
              <a:t>)</a:t>
            </a:r>
            <a:r>
              <a:rPr lang="zh-CN" altLang="en-US" sz="1400" dirty="0" smtClean="0"/>
              <a:t> 放入背包容量不超过</a:t>
            </a:r>
            <a:r>
              <a:rPr lang="en-US" altLang="zh-CN" sz="1400" dirty="0" smtClean="0"/>
              <a:t>j</a:t>
            </a:r>
            <a:r>
              <a:rPr lang="zh-CN" altLang="en-US" sz="1400" dirty="0" smtClean="0"/>
              <a:t>时所得的最大价值。则其状态转移方程为：</a:t>
            </a:r>
            <a:endParaRPr lang="en-US" altLang="zh-CN" sz="1400" dirty="0" smtClean="0"/>
          </a:p>
          <a:p>
            <a:r>
              <a:rPr lang="en-US" altLang="zh-CN" sz="1400" dirty="0"/>
              <a:t> </a:t>
            </a:r>
            <a:r>
              <a:rPr lang="en-US" altLang="zh-CN" sz="1400" dirty="0" smtClean="0"/>
              <a:t>   f[i][j]=max(f[i-1][j],f[i-1][j-w[i]]+v[i])</a:t>
            </a:r>
          </a:p>
          <a:p>
            <a:r>
              <a:rPr lang="en-US" altLang="zh-CN" sz="1400" dirty="0"/>
              <a:t> </a:t>
            </a:r>
            <a:r>
              <a:rPr lang="en-US" altLang="zh-CN" sz="1400" dirty="0" smtClean="0"/>
              <a:t>   </a:t>
            </a:r>
            <a:r>
              <a:rPr lang="zh-CN" altLang="en-US" sz="1400" dirty="0" smtClean="0"/>
              <a:t>边界条件为</a:t>
            </a:r>
            <a:r>
              <a:rPr lang="en-US" altLang="zh-CN" sz="1400" dirty="0" smtClean="0"/>
              <a:t>f[i][j]=0</a:t>
            </a:r>
            <a:r>
              <a:rPr lang="zh-CN" altLang="en-US" sz="1400" dirty="0" smtClean="0"/>
              <a:t>。</a:t>
            </a:r>
            <a:endParaRPr lang="zh-CN" altLang="zh-CN" sz="1400" dirty="0"/>
          </a:p>
        </p:txBody>
      </p:sp>
      <p:sp>
        <p:nvSpPr>
          <p:cNvPr id="14" name="矩形 13">
            <a:extLst>
              <a:ext uri="{FF2B5EF4-FFF2-40B4-BE49-F238E27FC236}">
                <a16:creationId xmlns:a16="http://schemas.microsoft.com/office/drawing/2014/main" xmlns="" id="{499D06B3-3687-44BF-84DD-1E5915B49CAA}"/>
              </a:ext>
            </a:extLst>
          </p:cNvPr>
          <p:cNvSpPr/>
          <p:nvPr/>
        </p:nvSpPr>
        <p:spPr>
          <a:xfrm>
            <a:off x="706353" y="5965816"/>
            <a:ext cx="4964873" cy="738664"/>
          </a:xfrm>
          <a:prstGeom prst="rect">
            <a:avLst/>
          </a:prstGeom>
        </p:spPr>
        <p:txBody>
          <a:bodyPr wrap="square">
            <a:spAutoFit/>
            <a:scene3d>
              <a:camera prst="orthographicFront"/>
              <a:lightRig rig="threePt" dir="t"/>
            </a:scene3d>
            <a:sp3d contourW="12700"/>
          </a:bodyPr>
          <a:lstStyle/>
          <a:p>
            <a:r>
              <a:rPr lang="en-US" altLang="zh-CN" sz="1400" dirty="0" smtClean="0"/>
              <a:t>    for (i=1;i&lt;=</a:t>
            </a:r>
            <a:r>
              <a:rPr lang="en-US" altLang="zh-CN" sz="1400" dirty="0" err="1" smtClean="0"/>
              <a:t>n;i</a:t>
            </a:r>
            <a:r>
              <a:rPr lang="en-US" altLang="zh-CN" sz="1400" dirty="0" smtClean="0"/>
              <a:t>++)</a:t>
            </a:r>
          </a:p>
          <a:p>
            <a:r>
              <a:rPr lang="en-US" altLang="zh-CN" sz="1400" dirty="0"/>
              <a:t> </a:t>
            </a:r>
            <a:r>
              <a:rPr lang="en-US" altLang="zh-CN" sz="1400" dirty="0" smtClean="0"/>
              <a:t>       for (j=1;j&lt;=</a:t>
            </a:r>
            <a:r>
              <a:rPr lang="en-US" altLang="zh-CN" sz="1400" dirty="0" err="1"/>
              <a:t>m</a:t>
            </a:r>
            <a:r>
              <a:rPr lang="en-US" altLang="zh-CN" sz="1400" dirty="0" err="1" smtClean="0"/>
              <a:t>;j</a:t>
            </a:r>
            <a:r>
              <a:rPr lang="en-US" altLang="zh-CN" sz="1400" dirty="0" smtClean="0"/>
              <a:t>++)</a:t>
            </a:r>
          </a:p>
          <a:p>
            <a:r>
              <a:rPr lang="en-US" altLang="zh-CN" sz="1400" dirty="0"/>
              <a:t> </a:t>
            </a:r>
            <a:r>
              <a:rPr lang="en-US" altLang="zh-CN" sz="1400" dirty="0" smtClean="0"/>
              <a:t>           f[i][j]=(j&lt;a[i])?f[i-1][j]:max(f[i-1][j],f[i-1][j-w[i]]+v[i])</a:t>
            </a:r>
            <a:endParaRPr lang="zh-CN" altLang="en-US" sz="1400" dirty="0"/>
          </a:p>
        </p:txBody>
      </p:sp>
      <p:sp>
        <p:nvSpPr>
          <p:cNvPr id="15" name="矩形 14">
            <a:extLst>
              <a:ext uri="{FF2B5EF4-FFF2-40B4-BE49-F238E27FC236}">
                <a16:creationId xmlns:a16="http://schemas.microsoft.com/office/drawing/2014/main" xmlns="" id="{7169A55A-483D-4542-B072-E8C204367D45}"/>
              </a:ext>
            </a:extLst>
          </p:cNvPr>
          <p:cNvSpPr/>
          <p:nvPr/>
        </p:nvSpPr>
        <p:spPr>
          <a:xfrm>
            <a:off x="5789669" y="927683"/>
            <a:ext cx="5368016" cy="1815882"/>
          </a:xfrm>
          <a:prstGeom prst="rect">
            <a:avLst/>
          </a:prstGeom>
        </p:spPr>
        <p:txBody>
          <a:bodyPr wrap="square">
            <a:spAutoFit/>
            <a:scene3d>
              <a:camera prst="orthographicFront"/>
              <a:lightRig rig="threePt" dir="t"/>
            </a:scene3d>
            <a:sp3d contourW="12700"/>
          </a:bodyPr>
          <a:lstStyle/>
          <a:p>
            <a:r>
              <a:rPr lang="zh-CN" altLang="zh-CN" sz="1400" b="1" dirty="0" smtClean="0"/>
              <a:t>【</a:t>
            </a:r>
            <a:r>
              <a:rPr lang="zh-CN" altLang="en-US" sz="1400" b="1" dirty="0" smtClean="0"/>
              <a:t>算法优化</a:t>
            </a:r>
            <a:r>
              <a:rPr lang="zh-CN" altLang="zh-CN" sz="1400" b="1" dirty="0" smtClean="0"/>
              <a:t>】</a:t>
            </a:r>
            <a:endParaRPr lang="zh-CN" altLang="zh-CN" sz="1400" dirty="0"/>
          </a:p>
          <a:p>
            <a:r>
              <a:rPr lang="en-US" altLang="zh-CN" sz="1400" dirty="0" smtClean="0"/>
              <a:t>    </a:t>
            </a:r>
            <a:r>
              <a:rPr lang="zh-CN" altLang="en-US" sz="1400" dirty="0" smtClean="0"/>
              <a:t>本题中</a:t>
            </a:r>
            <a:r>
              <a:rPr lang="en-US" altLang="zh-CN" sz="1400" dirty="0" smtClean="0"/>
              <a:t>i</a:t>
            </a:r>
            <a:r>
              <a:rPr lang="zh-CN" altLang="en-US" sz="1400" dirty="0" smtClean="0"/>
              <a:t>为动规的阶段，可知在求阶段</a:t>
            </a:r>
            <a:r>
              <a:rPr lang="en-US" altLang="zh-CN" sz="1400" dirty="0" smtClean="0"/>
              <a:t>i</a:t>
            </a:r>
            <a:r>
              <a:rPr lang="zh-CN" altLang="en-US" sz="1400" dirty="0" smtClean="0"/>
              <a:t>时，有效利用的是阶段</a:t>
            </a:r>
            <a:r>
              <a:rPr lang="en-US" altLang="zh-CN" sz="1400" dirty="0" smtClean="0"/>
              <a:t>i-1</a:t>
            </a:r>
            <a:r>
              <a:rPr lang="zh-CN" altLang="en-US" sz="1400" dirty="0" smtClean="0"/>
              <a:t>。阶段</a:t>
            </a:r>
            <a:r>
              <a:rPr lang="en-US" altLang="zh-CN" sz="1400" dirty="0" smtClean="0"/>
              <a:t>1~i-1</a:t>
            </a:r>
            <a:r>
              <a:rPr lang="zh-CN" altLang="en-US" sz="1400" dirty="0" smtClean="0"/>
              <a:t>再也不会被使用了，阶段</a:t>
            </a:r>
            <a:r>
              <a:rPr lang="en-US" altLang="zh-CN" sz="1400" dirty="0" smtClean="0"/>
              <a:t>i+1~n</a:t>
            </a:r>
            <a:r>
              <a:rPr lang="zh-CN" altLang="en-US" sz="1400" dirty="0" smtClean="0"/>
              <a:t>还不需要使用。从数组利用的角度来看，每次状态转移我们需要用到的只有</a:t>
            </a:r>
            <a:r>
              <a:rPr lang="en-US" altLang="zh-CN" sz="1400" dirty="0" smtClean="0"/>
              <a:t>f[i]</a:t>
            </a:r>
            <a:r>
              <a:rPr lang="zh-CN" altLang="en-US" sz="1400" dirty="0" smtClean="0"/>
              <a:t>和</a:t>
            </a:r>
            <a:r>
              <a:rPr lang="en-US" altLang="zh-CN" sz="1400" dirty="0" smtClean="0"/>
              <a:t>f[i-1]</a:t>
            </a:r>
            <a:r>
              <a:rPr lang="zh-CN" altLang="en-US" sz="1400" dirty="0" smtClean="0"/>
              <a:t>，换言之，在任何一个阶段里，</a:t>
            </a:r>
            <a:r>
              <a:rPr lang="en-US" altLang="zh-CN" sz="1400" dirty="0" smtClean="0"/>
              <a:t>n*m</a:t>
            </a:r>
            <a:r>
              <a:rPr lang="zh-CN" altLang="en-US" sz="1400" dirty="0" smtClean="0"/>
              <a:t>的数组空间有</a:t>
            </a:r>
            <a:r>
              <a:rPr lang="en-US" altLang="zh-CN" sz="1400" dirty="0" smtClean="0"/>
              <a:t>(n-2)*m</a:t>
            </a:r>
            <a:r>
              <a:rPr lang="zh-CN" altLang="en-US" sz="1400" dirty="0" smtClean="0"/>
              <a:t>都是不被需要的。</a:t>
            </a:r>
            <a:endParaRPr lang="en-US" altLang="zh-CN" sz="1400" dirty="0" smtClean="0"/>
          </a:p>
          <a:p>
            <a:r>
              <a:rPr lang="en-US" altLang="zh-CN" sz="1400" dirty="0"/>
              <a:t> </a:t>
            </a:r>
            <a:r>
              <a:rPr lang="en-US" altLang="zh-CN" sz="1400" dirty="0" smtClean="0"/>
              <a:t>    </a:t>
            </a:r>
            <a:r>
              <a:rPr lang="zh-CN" altLang="en-US" sz="1400" dirty="0" smtClean="0"/>
              <a:t>数组存储结构确定为</a:t>
            </a:r>
            <a:r>
              <a:rPr lang="en-US" altLang="zh-CN" sz="1400" dirty="0" smtClean="0"/>
              <a:t>f[0..1][]</a:t>
            </a:r>
            <a:r>
              <a:rPr lang="zh-CN" altLang="en-US" sz="1400" dirty="0" smtClean="0"/>
              <a:t>，当前阶段用</a:t>
            </a:r>
            <a:r>
              <a:rPr lang="en-US" altLang="zh-CN" sz="1400" dirty="0" smtClean="0"/>
              <a:t>f[i&amp;1][]</a:t>
            </a:r>
            <a:r>
              <a:rPr lang="zh-CN" altLang="en-US" sz="1400" dirty="0" smtClean="0"/>
              <a:t>表示，上一次计算的阶段就是</a:t>
            </a:r>
            <a:r>
              <a:rPr lang="en-US" altLang="zh-CN" sz="1400" dirty="0" smtClean="0"/>
              <a:t>f[!(i&amp;1)][]</a:t>
            </a:r>
            <a:r>
              <a:rPr lang="zh-CN" altLang="en-US" sz="1400" dirty="0" smtClean="0"/>
              <a:t>，每一次初始化当前阶段</a:t>
            </a:r>
            <a:r>
              <a:rPr lang="en-US" altLang="zh-CN" sz="1400" dirty="0" smtClean="0"/>
              <a:t>f[i&amp;1][]</a:t>
            </a:r>
            <a:r>
              <a:rPr lang="zh-CN" altLang="en-US" sz="1400" dirty="0" smtClean="0"/>
              <a:t>，并用上一阶段的状态来更新当前阶段的最优值即可。</a:t>
            </a:r>
            <a:endParaRPr lang="en-US" altLang="zh-CN" sz="1400" dirty="0" smtClean="0"/>
          </a:p>
        </p:txBody>
      </p:sp>
      <p:sp>
        <p:nvSpPr>
          <p:cNvPr id="16" name="矩形 15">
            <a:extLst>
              <a:ext uri="{FF2B5EF4-FFF2-40B4-BE49-F238E27FC236}">
                <a16:creationId xmlns:a16="http://schemas.microsoft.com/office/drawing/2014/main" xmlns="" id="{7169A55A-483D-4542-B072-E8C204367D45}"/>
              </a:ext>
            </a:extLst>
          </p:cNvPr>
          <p:cNvSpPr/>
          <p:nvPr/>
        </p:nvSpPr>
        <p:spPr>
          <a:xfrm>
            <a:off x="9210705" y="2724329"/>
            <a:ext cx="1325325" cy="307777"/>
          </a:xfrm>
          <a:prstGeom prst="rect">
            <a:avLst/>
          </a:prstGeom>
        </p:spPr>
        <p:txBody>
          <a:bodyPr wrap="square">
            <a:spAutoFit/>
            <a:scene3d>
              <a:camera prst="orthographicFront"/>
              <a:lightRig rig="threePt" dir="t"/>
            </a:scene3d>
            <a:sp3d contourW="12700"/>
          </a:bodyPr>
          <a:lstStyle/>
          <a:p>
            <a:r>
              <a:rPr lang="zh-CN" altLang="zh-CN" sz="1400" b="1" dirty="0" smtClean="0">
                <a:solidFill>
                  <a:srgbClr val="FF0000"/>
                </a:solidFill>
              </a:rPr>
              <a:t>【</a:t>
            </a:r>
            <a:r>
              <a:rPr lang="zh-CN" altLang="en-US" sz="1400" b="1" dirty="0" smtClean="0">
                <a:solidFill>
                  <a:srgbClr val="FF0000"/>
                </a:solidFill>
              </a:rPr>
              <a:t>滚动存储</a:t>
            </a:r>
            <a:r>
              <a:rPr lang="zh-CN" altLang="zh-CN" sz="1400" b="1" dirty="0" smtClean="0">
                <a:solidFill>
                  <a:srgbClr val="FF0000"/>
                </a:solidFill>
              </a:rPr>
              <a:t>】</a:t>
            </a:r>
            <a:endParaRPr lang="zh-CN" altLang="zh-CN" sz="1400" dirty="0">
              <a:solidFill>
                <a:srgbClr val="FF0000"/>
              </a:solidFill>
            </a:endParaRPr>
          </a:p>
        </p:txBody>
      </p:sp>
      <p:sp>
        <p:nvSpPr>
          <p:cNvPr id="20" name="矩形 19">
            <a:extLst>
              <a:ext uri="{FF2B5EF4-FFF2-40B4-BE49-F238E27FC236}">
                <a16:creationId xmlns:a16="http://schemas.microsoft.com/office/drawing/2014/main" xmlns="" id="{499D06B3-3687-44BF-84DD-1E5915B49CAA}"/>
              </a:ext>
            </a:extLst>
          </p:cNvPr>
          <p:cNvSpPr/>
          <p:nvPr/>
        </p:nvSpPr>
        <p:spPr>
          <a:xfrm>
            <a:off x="5789668" y="2724329"/>
            <a:ext cx="5368017" cy="1169551"/>
          </a:xfrm>
          <a:prstGeom prst="rect">
            <a:avLst/>
          </a:prstGeom>
        </p:spPr>
        <p:txBody>
          <a:bodyPr wrap="square">
            <a:spAutoFit/>
            <a:scene3d>
              <a:camera prst="orthographicFront"/>
              <a:lightRig rig="threePt" dir="t"/>
            </a:scene3d>
            <a:sp3d contourW="12700"/>
          </a:bodyPr>
          <a:lstStyle/>
          <a:p>
            <a:r>
              <a:rPr lang="en-US" altLang="zh-CN" sz="1400" dirty="0" smtClean="0"/>
              <a:t>    for (i=1;i&lt;=</a:t>
            </a:r>
            <a:r>
              <a:rPr lang="en-US" altLang="zh-CN" sz="1400" dirty="0" err="1" smtClean="0"/>
              <a:t>n;i</a:t>
            </a:r>
            <a:r>
              <a:rPr lang="en-US" altLang="zh-CN" sz="1400" dirty="0" smtClean="0"/>
              <a:t>++)</a:t>
            </a:r>
          </a:p>
          <a:p>
            <a:r>
              <a:rPr lang="en-US" altLang="zh-CN" sz="1400" dirty="0" smtClean="0"/>
              <a:t>    {   </a:t>
            </a:r>
            <a:r>
              <a:rPr lang="en-US" altLang="zh-CN" sz="1400" dirty="0" err="1" smtClean="0"/>
              <a:t>memset</a:t>
            </a:r>
            <a:r>
              <a:rPr lang="en-US" altLang="zh-CN" sz="1400" dirty="0" smtClean="0"/>
              <a:t>(f[i&amp;1],0,sizeof(f[i&amp;1]));</a:t>
            </a:r>
          </a:p>
          <a:p>
            <a:r>
              <a:rPr lang="en-US" altLang="zh-CN" sz="1400" dirty="0"/>
              <a:t> </a:t>
            </a:r>
            <a:r>
              <a:rPr lang="en-US" altLang="zh-CN" sz="1400" dirty="0" smtClean="0"/>
              <a:t>       for (j=1;j&lt;=</a:t>
            </a:r>
            <a:r>
              <a:rPr lang="en-US" altLang="zh-CN" sz="1400" dirty="0" err="1"/>
              <a:t>m</a:t>
            </a:r>
            <a:r>
              <a:rPr lang="en-US" altLang="zh-CN" sz="1400" dirty="0" err="1" smtClean="0"/>
              <a:t>;j</a:t>
            </a:r>
            <a:r>
              <a:rPr lang="en-US" altLang="zh-CN" sz="1400" dirty="0" smtClean="0"/>
              <a:t>++)</a:t>
            </a:r>
          </a:p>
          <a:p>
            <a:r>
              <a:rPr lang="en-US" altLang="zh-CN" sz="1400" dirty="0"/>
              <a:t> </a:t>
            </a:r>
            <a:r>
              <a:rPr lang="en-US" altLang="zh-CN" sz="1400" dirty="0" smtClean="0"/>
              <a:t>          f[i&amp;1][j]=(j&lt;a[i])?f[!(i&amp;1)][j]:max(f[!(i&amp;1)][j],f[!(i&amp;1)][j-w[i]]+v[i])</a:t>
            </a:r>
          </a:p>
          <a:p>
            <a:r>
              <a:rPr lang="en-US" altLang="zh-CN" sz="1400" dirty="0" smtClean="0"/>
              <a:t>        }</a:t>
            </a:r>
            <a:endParaRPr lang="zh-CN" altLang="en-US" sz="1400" dirty="0"/>
          </a:p>
        </p:txBody>
      </p:sp>
    </p:spTree>
    <p:extLst>
      <p:ext uri="{BB962C8B-B14F-4D97-AF65-F5344CB8AC3E}">
        <p14:creationId xmlns:p14="http://schemas.microsoft.com/office/powerpoint/2010/main" val="3078821265"/>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1" grpId="0"/>
      <p:bldP spid="14" grpId="0"/>
      <p:bldP spid="15" grpId="0"/>
      <p:bldP spid="16"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35637" y="177223"/>
            <a:ext cx="1197764"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③</a:t>
            </a:r>
            <a:r>
              <a:rPr lang="zh-CN" altLang="en-US" dirty="0" smtClean="0">
                <a:solidFill>
                  <a:schemeClr val="bg1"/>
                </a:solidFill>
                <a:effectLst>
                  <a:outerShdw blurRad="203200" dist="38100" dir="5400000" algn="t" rotWithShape="0">
                    <a:prstClr val="black">
                      <a:alpha val="83000"/>
                    </a:prstClr>
                  </a:outerShdw>
                </a:effectLst>
                <a:cs typeface="+mn-ea"/>
                <a:sym typeface="+mn-lt"/>
              </a:rPr>
              <a:t> </a:t>
            </a:r>
            <a:r>
              <a:rPr lang="en-US" altLang="zh-CN" dirty="0" smtClean="0">
                <a:solidFill>
                  <a:schemeClr val="bg1"/>
                </a:solidFill>
                <a:effectLst>
                  <a:outerShdw blurRad="203200" dist="38100" dir="5400000" algn="t" rotWithShape="0">
                    <a:prstClr val="black">
                      <a:alpha val="83000"/>
                    </a:prstClr>
                  </a:outerShdw>
                </a:effectLst>
                <a:cs typeface="+mn-ea"/>
                <a:sym typeface="+mn-lt"/>
              </a:rPr>
              <a:t>01</a:t>
            </a:r>
            <a:r>
              <a:rPr lang="zh-CN" altLang="en-US" dirty="0" smtClean="0">
                <a:solidFill>
                  <a:schemeClr val="bg1"/>
                </a:solidFill>
                <a:effectLst>
                  <a:outerShdw blurRad="203200" dist="38100" dir="5400000" algn="t" rotWithShape="0">
                    <a:prstClr val="black">
                      <a:alpha val="83000"/>
                    </a:prstClr>
                  </a:outerShdw>
                </a:effectLst>
                <a:cs typeface="+mn-ea"/>
                <a:sym typeface="+mn-lt"/>
              </a:rPr>
              <a:t>背包</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496342"/>
          </a:xfrm>
          <a:prstGeom prst="rect">
            <a:avLst/>
          </a:prstGeom>
        </p:spPr>
        <p:txBody>
          <a:bodyPr wrap="square">
            <a:spAutoFit/>
            <a:scene3d>
              <a:camera prst="orthographicFront"/>
              <a:lightRig rig="threePt" dir="t"/>
            </a:scene3d>
            <a:sp3d contourW="12700"/>
          </a:bodyPr>
          <a:lstStyle/>
          <a:p>
            <a:pPr algn="ctr"/>
            <a:r>
              <a:rPr lang="en-US" altLang="zh-CN" sz="1400" b="1" dirty="0" smtClean="0"/>
              <a:t>01</a:t>
            </a:r>
            <a:r>
              <a:rPr lang="zh-CN" altLang="en-US" sz="1400" b="1" dirty="0" smtClean="0"/>
              <a:t>背包</a:t>
            </a:r>
            <a:endParaRPr lang="zh-CN" altLang="zh-CN" sz="1400" dirty="0"/>
          </a:p>
          <a:p>
            <a:r>
              <a:rPr lang="zh-CN" altLang="zh-CN" sz="1400" b="1" dirty="0"/>
              <a:t>【题目描述】</a:t>
            </a:r>
            <a:endParaRPr lang="zh-CN" altLang="zh-CN" sz="1400" dirty="0"/>
          </a:p>
          <a:p>
            <a:r>
              <a:rPr lang="zh-CN" altLang="en-US" sz="1400" dirty="0" smtClean="0"/>
              <a:t>    一</a:t>
            </a:r>
            <a:r>
              <a:rPr lang="zh-CN" altLang="en-US" sz="1400" dirty="0"/>
              <a:t>个旅行者有一</a:t>
            </a:r>
            <a:r>
              <a:rPr lang="zh-CN" altLang="en-US" sz="1400" dirty="0" smtClean="0"/>
              <a:t>个容量</a:t>
            </a:r>
            <a:r>
              <a:rPr lang="en-US" altLang="zh-CN" sz="1400" dirty="0" smtClean="0"/>
              <a:t>m</a:t>
            </a:r>
            <a:r>
              <a:rPr lang="zh-CN" altLang="en-US" sz="1400" dirty="0"/>
              <a:t>公斤的背包，现在有</a:t>
            </a:r>
            <a:r>
              <a:rPr lang="en-US" altLang="zh-CN" sz="1400" dirty="0"/>
              <a:t>n</a:t>
            </a:r>
            <a:r>
              <a:rPr lang="zh-CN" altLang="en-US" sz="1400" dirty="0"/>
              <a:t>件物品，它们的重量分别是</a:t>
            </a:r>
            <a:r>
              <a:rPr lang="en-US" altLang="zh-CN" sz="1400" dirty="0"/>
              <a:t>W</a:t>
            </a:r>
            <a:r>
              <a:rPr lang="en-US" altLang="zh-CN" sz="1400" baseline="-25000" dirty="0"/>
              <a:t>1</a:t>
            </a:r>
            <a:r>
              <a:rPr lang="zh-CN" altLang="en-US" sz="1400" dirty="0"/>
              <a:t>，</a:t>
            </a:r>
            <a:r>
              <a:rPr lang="en-US" altLang="zh-CN" sz="1400" dirty="0"/>
              <a:t>W</a:t>
            </a:r>
            <a:r>
              <a:rPr lang="en-US" altLang="zh-CN" sz="1400" baseline="-25000" dirty="0"/>
              <a:t>2</a:t>
            </a:r>
            <a:r>
              <a:rPr lang="zh-CN" altLang="en-US" sz="1400" dirty="0"/>
              <a:t>，</a:t>
            </a:r>
            <a:r>
              <a:rPr lang="en-US" altLang="zh-CN" sz="1400" dirty="0" smtClean="0"/>
              <a:t>...</a:t>
            </a:r>
            <a:r>
              <a:rPr lang="zh-CN" altLang="en-US" sz="1400" dirty="0" smtClean="0"/>
              <a:t>，</a:t>
            </a:r>
            <a:r>
              <a:rPr lang="en-US" altLang="zh-CN" sz="1400" dirty="0" err="1" smtClean="0"/>
              <a:t>W</a:t>
            </a:r>
            <a:r>
              <a:rPr lang="en-US" altLang="zh-CN" sz="1400" baseline="-25000" dirty="0" err="1" smtClean="0"/>
              <a:t>n</a:t>
            </a:r>
            <a:r>
              <a:rPr lang="zh-CN" altLang="en-US" sz="1400" dirty="0" smtClean="0"/>
              <a:t>，它们</a:t>
            </a:r>
            <a:r>
              <a:rPr lang="zh-CN" altLang="en-US" sz="1400" dirty="0"/>
              <a:t>的价值分别</a:t>
            </a:r>
            <a:r>
              <a:rPr lang="zh-CN" altLang="en-US" sz="1400" dirty="0" smtClean="0"/>
              <a:t>为</a:t>
            </a:r>
            <a:r>
              <a:rPr lang="en-US" altLang="zh-CN" sz="1400" dirty="0" smtClean="0"/>
              <a:t>V</a:t>
            </a:r>
            <a:r>
              <a:rPr lang="en-US" altLang="zh-CN" sz="1400" baseline="-25000" dirty="0" smtClean="0"/>
              <a:t>1</a:t>
            </a:r>
            <a:r>
              <a:rPr lang="zh-CN" altLang="en-US" sz="1400" dirty="0" smtClean="0"/>
              <a:t>，</a:t>
            </a:r>
            <a:r>
              <a:rPr lang="en-US" altLang="zh-CN" sz="1400" dirty="0" smtClean="0"/>
              <a:t>V</a:t>
            </a:r>
            <a:r>
              <a:rPr lang="en-US" altLang="zh-CN" sz="1400" baseline="-25000" dirty="0" smtClean="0"/>
              <a:t>2</a:t>
            </a:r>
            <a:r>
              <a:rPr lang="zh-CN" altLang="en-US" sz="1400" dirty="0" smtClean="0"/>
              <a:t>，</a:t>
            </a:r>
            <a:r>
              <a:rPr lang="en-US" altLang="zh-CN" sz="1400" dirty="0" smtClean="0"/>
              <a:t>...</a:t>
            </a:r>
            <a:r>
              <a:rPr lang="zh-CN" altLang="en-US" sz="1400" dirty="0" smtClean="0"/>
              <a:t>，</a:t>
            </a:r>
            <a:r>
              <a:rPr lang="en-US" altLang="zh-CN" sz="1400" dirty="0" err="1" smtClean="0"/>
              <a:t>V</a:t>
            </a:r>
            <a:r>
              <a:rPr lang="en-US" altLang="zh-CN" sz="1400" baseline="-25000" dirty="0" err="1" smtClean="0"/>
              <a:t>n</a:t>
            </a:r>
            <a:r>
              <a:rPr lang="zh-CN" altLang="en-US" sz="1400" dirty="0" smtClean="0"/>
              <a:t>。若</a:t>
            </a:r>
            <a:r>
              <a:rPr lang="zh-CN" altLang="en-US" sz="1400" dirty="0"/>
              <a:t>每种物品只有一</a:t>
            </a:r>
            <a:r>
              <a:rPr lang="zh-CN" altLang="en-US" sz="1400" dirty="0" smtClean="0"/>
              <a:t>件，求</a:t>
            </a:r>
            <a:r>
              <a:rPr lang="zh-CN" altLang="en-US" sz="1400" dirty="0"/>
              <a:t>旅行者能获得最大总价值。</a:t>
            </a:r>
            <a:endParaRPr lang="zh-CN" altLang="zh-CN" sz="1400" dirty="0"/>
          </a:p>
          <a:p>
            <a:endParaRPr lang="zh-CN" altLang="zh-CN" sz="1400" dirty="0"/>
          </a:p>
          <a:p>
            <a:r>
              <a:rPr lang="zh-CN" altLang="zh-CN" sz="1400" b="1" dirty="0" smtClean="0"/>
              <a:t>【样例输入】</a:t>
            </a:r>
            <a:endParaRPr lang="zh-CN" altLang="zh-CN" sz="1400" dirty="0" smtClean="0"/>
          </a:p>
          <a:p>
            <a:pPr>
              <a:lnSpc>
                <a:spcPct val="80000"/>
              </a:lnSpc>
            </a:pPr>
            <a:r>
              <a:rPr lang="en-US" altLang="zh-CN" sz="1400" dirty="0" smtClean="0"/>
              <a:t>10 4</a:t>
            </a:r>
          </a:p>
          <a:p>
            <a:pPr>
              <a:lnSpc>
                <a:spcPct val="80000"/>
              </a:lnSpc>
            </a:pPr>
            <a:r>
              <a:rPr lang="en-US" altLang="zh-CN" sz="1400" dirty="0" smtClean="0"/>
              <a:t>2 1</a:t>
            </a:r>
          </a:p>
          <a:p>
            <a:pPr>
              <a:lnSpc>
                <a:spcPct val="80000"/>
              </a:lnSpc>
            </a:pPr>
            <a:r>
              <a:rPr lang="en-US" altLang="zh-CN" sz="1400" dirty="0" smtClean="0"/>
              <a:t>3 3</a:t>
            </a:r>
          </a:p>
          <a:p>
            <a:pPr>
              <a:lnSpc>
                <a:spcPct val="80000"/>
              </a:lnSpc>
            </a:pPr>
            <a:r>
              <a:rPr lang="en-US" altLang="zh-CN" sz="1400" dirty="0" smtClean="0"/>
              <a:t>4 6</a:t>
            </a:r>
          </a:p>
          <a:p>
            <a:pPr>
              <a:lnSpc>
                <a:spcPct val="80000"/>
              </a:lnSpc>
            </a:pPr>
            <a:r>
              <a:rPr lang="en-US" altLang="zh-CN" sz="1400" dirty="0" smtClean="0"/>
              <a:t>7 9</a:t>
            </a:r>
          </a:p>
          <a:p>
            <a:pPr>
              <a:lnSpc>
                <a:spcPct val="80000"/>
              </a:lnSpc>
            </a:pPr>
            <a:endParaRPr lang="zh-CN" altLang="zh-CN" sz="1400" dirty="0"/>
          </a:p>
          <a:p>
            <a:r>
              <a:rPr lang="zh-CN" altLang="zh-CN" sz="1400" b="1" dirty="0"/>
              <a:t>【样例输出】</a:t>
            </a:r>
            <a:endParaRPr lang="zh-CN" altLang="zh-CN" sz="1400" dirty="0"/>
          </a:p>
          <a:p>
            <a:r>
              <a:rPr lang="en-US" altLang="zh-CN" sz="1400" dirty="0" smtClean="0"/>
              <a:t>12</a:t>
            </a:r>
            <a:endParaRPr lang="zh-CN" altLang="zh-CN" sz="1400" dirty="0"/>
          </a:p>
          <a:p>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706354" y="4808128"/>
            <a:ext cx="4964872" cy="1169551"/>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en-US" sz="1400" dirty="0" smtClean="0"/>
              <a:t>设</a:t>
            </a:r>
            <a:r>
              <a:rPr lang="en-US" altLang="zh-CN" sz="1400" dirty="0" smtClean="0"/>
              <a:t>f[i][j]</a:t>
            </a:r>
            <a:r>
              <a:rPr lang="zh-CN" altLang="en-US" sz="1400" dirty="0" smtClean="0"/>
              <a:t>表示前</a:t>
            </a:r>
            <a:r>
              <a:rPr lang="en-US" altLang="zh-CN" sz="1400" dirty="0" smtClean="0"/>
              <a:t>i</a:t>
            </a:r>
            <a:r>
              <a:rPr lang="zh-CN" altLang="en-US" sz="1400" dirty="0" smtClean="0"/>
              <a:t>件物品</a:t>
            </a:r>
            <a:r>
              <a:rPr lang="zh-CN" altLang="en-US" sz="1400" dirty="0"/>
              <a:t>选取若干</a:t>
            </a:r>
            <a:r>
              <a:rPr lang="en-US" altLang="zh-CN" sz="1400" dirty="0" smtClean="0"/>
              <a:t>(</a:t>
            </a:r>
            <a:r>
              <a:rPr lang="zh-CN" altLang="en-US" sz="1400" dirty="0" smtClean="0"/>
              <a:t>部分或全部</a:t>
            </a:r>
            <a:r>
              <a:rPr lang="en-US" altLang="zh-CN" sz="1400" dirty="0" smtClean="0"/>
              <a:t>)</a:t>
            </a:r>
            <a:r>
              <a:rPr lang="zh-CN" altLang="en-US" sz="1400" dirty="0" smtClean="0"/>
              <a:t> 放入背包容量不超过</a:t>
            </a:r>
            <a:r>
              <a:rPr lang="en-US" altLang="zh-CN" sz="1400" dirty="0" smtClean="0"/>
              <a:t>j</a:t>
            </a:r>
            <a:r>
              <a:rPr lang="zh-CN" altLang="en-US" sz="1400" dirty="0" smtClean="0"/>
              <a:t>时所得的最大价值。则其状态转移方程为：</a:t>
            </a:r>
            <a:endParaRPr lang="en-US" altLang="zh-CN" sz="1400" dirty="0" smtClean="0"/>
          </a:p>
          <a:p>
            <a:r>
              <a:rPr lang="en-US" altLang="zh-CN" sz="1400" dirty="0"/>
              <a:t> </a:t>
            </a:r>
            <a:r>
              <a:rPr lang="en-US" altLang="zh-CN" sz="1400" dirty="0" smtClean="0"/>
              <a:t>   f[i][j]=max(f[i-1][j],f[i-1][j-w[i]]+v[i])</a:t>
            </a:r>
          </a:p>
          <a:p>
            <a:r>
              <a:rPr lang="en-US" altLang="zh-CN" sz="1400" dirty="0"/>
              <a:t> </a:t>
            </a:r>
            <a:r>
              <a:rPr lang="en-US" altLang="zh-CN" sz="1400" dirty="0" smtClean="0"/>
              <a:t>   </a:t>
            </a:r>
            <a:r>
              <a:rPr lang="zh-CN" altLang="en-US" sz="1400" dirty="0" smtClean="0"/>
              <a:t>边界条件为</a:t>
            </a:r>
            <a:r>
              <a:rPr lang="en-US" altLang="zh-CN" sz="1400" dirty="0" smtClean="0"/>
              <a:t>f[i][j]=0</a:t>
            </a:r>
            <a:r>
              <a:rPr lang="zh-CN" altLang="en-US" sz="1400" dirty="0" smtClean="0"/>
              <a:t>。</a:t>
            </a:r>
            <a:endParaRPr lang="zh-CN" altLang="zh-CN" sz="1400" dirty="0"/>
          </a:p>
        </p:txBody>
      </p:sp>
      <p:sp>
        <p:nvSpPr>
          <p:cNvPr id="14" name="矩形 13">
            <a:extLst>
              <a:ext uri="{FF2B5EF4-FFF2-40B4-BE49-F238E27FC236}">
                <a16:creationId xmlns:a16="http://schemas.microsoft.com/office/drawing/2014/main" xmlns="" id="{499D06B3-3687-44BF-84DD-1E5915B49CAA}"/>
              </a:ext>
            </a:extLst>
          </p:cNvPr>
          <p:cNvSpPr/>
          <p:nvPr/>
        </p:nvSpPr>
        <p:spPr>
          <a:xfrm>
            <a:off x="706353" y="5965816"/>
            <a:ext cx="4964873" cy="738664"/>
          </a:xfrm>
          <a:prstGeom prst="rect">
            <a:avLst/>
          </a:prstGeom>
        </p:spPr>
        <p:txBody>
          <a:bodyPr wrap="square">
            <a:spAutoFit/>
            <a:scene3d>
              <a:camera prst="orthographicFront"/>
              <a:lightRig rig="threePt" dir="t"/>
            </a:scene3d>
            <a:sp3d contourW="12700"/>
          </a:bodyPr>
          <a:lstStyle/>
          <a:p>
            <a:r>
              <a:rPr lang="en-US" altLang="zh-CN" sz="1400" dirty="0" smtClean="0"/>
              <a:t>    for (i=1;i&lt;=</a:t>
            </a:r>
            <a:r>
              <a:rPr lang="en-US" altLang="zh-CN" sz="1400" dirty="0" err="1" smtClean="0"/>
              <a:t>n;i</a:t>
            </a:r>
            <a:r>
              <a:rPr lang="en-US" altLang="zh-CN" sz="1400" dirty="0" smtClean="0"/>
              <a:t>++)</a:t>
            </a:r>
          </a:p>
          <a:p>
            <a:r>
              <a:rPr lang="en-US" altLang="zh-CN" sz="1400" dirty="0"/>
              <a:t> </a:t>
            </a:r>
            <a:r>
              <a:rPr lang="en-US" altLang="zh-CN" sz="1400" dirty="0" smtClean="0"/>
              <a:t>       for (j=1;j&lt;=</a:t>
            </a:r>
            <a:r>
              <a:rPr lang="en-US" altLang="zh-CN" sz="1400" dirty="0" err="1"/>
              <a:t>m</a:t>
            </a:r>
            <a:r>
              <a:rPr lang="en-US" altLang="zh-CN" sz="1400" dirty="0" err="1" smtClean="0"/>
              <a:t>;j</a:t>
            </a:r>
            <a:r>
              <a:rPr lang="en-US" altLang="zh-CN" sz="1400" dirty="0" smtClean="0"/>
              <a:t>++)</a:t>
            </a:r>
          </a:p>
          <a:p>
            <a:r>
              <a:rPr lang="en-US" altLang="zh-CN" sz="1400" dirty="0"/>
              <a:t> </a:t>
            </a:r>
            <a:r>
              <a:rPr lang="en-US" altLang="zh-CN" sz="1400" dirty="0" smtClean="0"/>
              <a:t>           f[i][j]=(j&lt;a[i])?f[i-1][j]:max(f[i-1][j],f[i-1][j-w[i]]+v[i])</a:t>
            </a:r>
            <a:endParaRPr lang="zh-CN" altLang="en-US" sz="1400" dirty="0"/>
          </a:p>
        </p:txBody>
      </p:sp>
      <p:sp>
        <p:nvSpPr>
          <p:cNvPr id="21" name="矩形 20">
            <a:extLst>
              <a:ext uri="{FF2B5EF4-FFF2-40B4-BE49-F238E27FC236}">
                <a16:creationId xmlns:a16="http://schemas.microsoft.com/office/drawing/2014/main" xmlns="" id="{7169A55A-483D-4542-B072-E8C204367D45}"/>
              </a:ext>
            </a:extLst>
          </p:cNvPr>
          <p:cNvSpPr/>
          <p:nvPr/>
        </p:nvSpPr>
        <p:spPr>
          <a:xfrm>
            <a:off x="5826666" y="869160"/>
            <a:ext cx="5368016" cy="3970318"/>
          </a:xfrm>
          <a:prstGeom prst="rect">
            <a:avLst/>
          </a:prstGeom>
        </p:spPr>
        <p:txBody>
          <a:bodyPr wrap="square">
            <a:spAutoFit/>
            <a:scene3d>
              <a:camera prst="orthographicFront"/>
              <a:lightRig rig="threePt" dir="t"/>
            </a:scene3d>
            <a:sp3d contourW="12700"/>
          </a:bodyPr>
          <a:lstStyle/>
          <a:p>
            <a:r>
              <a:rPr lang="zh-CN" altLang="zh-CN" sz="1400" b="1" dirty="0" smtClean="0"/>
              <a:t>【</a:t>
            </a:r>
            <a:r>
              <a:rPr lang="zh-CN" altLang="en-US" sz="1400" b="1" dirty="0" smtClean="0"/>
              <a:t>算法</a:t>
            </a:r>
            <a:r>
              <a:rPr lang="zh-CN" altLang="en-US" sz="1400" b="1" dirty="0"/>
              <a:t>再</a:t>
            </a:r>
            <a:r>
              <a:rPr lang="zh-CN" altLang="en-US" sz="1400" b="1" dirty="0" smtClean="0"/>
              <a:t>优化</a:t>
            </a:r>
            <a:r>
              <a:rPr lang="zh-CN" altLang="zh-CN" sz="1400" b="1" dirty="0" smtClean="0"/>
              <a:t>】</a:t>
            </a:r>
            <a:endParaRPr lang="zh-CN" altLang="zh-CN" sz="1400" dirty="0"/>
          </a:p>
          <a:p>
            <a:r>
              <a:rPr lang="en-US" altLang="zh-CN" sz="1400" dirty="0" smtClean="0"/>
              <a:t>    </a:t>
            </a:r>
            <a:r>
              <a:rPr lang="zh-CN" altLang="en-US" sz="1400" dirty="0" smtClean="0"/>
              <a:t>由</a:t>
            </a:r>
            <a:r>
              <a:rPr lang="en-US" altLang="zh-CN" sz="1400" dirty="0" smtClean="0"/>
              <a:t>f[i][j]=max(,f[i-1][j-w[i]]+v[i])</a:t>
            </a:r>
            <a:r>
              <a:rPr lang="zh-CN" altLang="en-US" sz="1400" dirty="0" smtClean="0"/>
              <a:t>可知，要计算容量</a:t>
            </a:r>
            <a:r>
              <a:rPr lang="en-US" altLang="zh-CN" sz="1400" dirty="0" smtClean="0"/>
              <a:t>j</a:t>
            </a:r>
            <a:r>
              <a:rPr lang="zh-CN" altLang="en-US" sz="1400" dirty="0" smtClean="0"/>
              <a:t>背包的最优解，需要由</a:t>
            </a:r>
            <a:r>
              <a:rPr lang="en-US" altLang="zh-CN" sz="1400" dirty="0" smtClean="0"/>
              <a:t>&lt;j</a:t>
            </a:r>
            <a:r>
              <a:rPr lang="zh-CN" altLang="en-US" sz="1400" dirty="0" smtClean="0"/>
              <a:t>容量的背包转移过来，这里也隐含着一个优先顺序，即：</a:t>
            </a:r>
            <a:endParaRPr lang="en-US" altLang="zh-CN" sz="1400" dirty="0" smtClean="0"/>
          </a:p>
          <a:p>
            <a:r>
              <a:rPr lang="en-US" altLang="zh-CN" sz="1400" dirty="0"/>
              <a:t> </a:t>
            </a:r>
            <a:r>
              <a:rPr lang="en-US" altLang="zh-CN" sz="1400" dirty="0" smtClean="0"/>
              <a:t>   </a:t>
            </a:r>
            <a:r>
              <a:rPr lang="zh-CN" altLang="en-US" sz="1400" dirty="0" smtClean="0"/>
              <a:t>我们需要先求出</a:t>
            </a:r>
            <a:r>
              <a:rPr lang="en-US" altLang="zh-CN" sz="1400" dirty="0" smtClean="0"/>
              <a:t>i-1</a:t>
            </a:r>
            <a:r>
              <a:rPr lang="zh-CN" altLang="en-US" sz="1400" dirty="0" smtClean="0"/>
              <a:t>阶段下</a:t>
            </a:r>
            <a:r>
              <a:rPr lang="en-US" altLang="zh-CN" sz="1400" dirty="0" smtClean="0"/>
              <a:t>j-w[i]</a:t>
            </a:r>
            <a:r>
              <a:rPr lang="zh-CN" altLang="en-US" sz="1400" dirty="0" smtClean="0"/>
              <a:t>容量背包的最优解，才能求得</a:t>
            </a:r>
            <a:r>
              <a:rPr lang="en-US" altLang="zh-CN" sz="1400" dirty="0" smtClean="0"/>
              <a:t>i</a:t>
            </a:r>
            <a:r>
              <a:rPr lang="zh-CN" altLang="en-US" sz="1400" dirty="0" smtClean="0"/>
              <a:t>阶段下</a:t>
            </a:r>
            <a:r>
              <a:rPr lang="en-US" altLang="zh-CN" sz="1400" dirty="0" smtClean="0"/>
              <a:t>j</a:t>
            </a:r>
            <a:r>
              <a:rPr lang="zh-CN" altLang="en-US" sz="1400" dirty="0" smtClean="0"/>
              <a:t>容量背包的最优解。</a:t>
            </a:r>
            <a:endParaRPr lang="en-US" altLang="zh-CN" sz="1400" dirty="0" smtClean="0"/>
          </a:p>
          <a:p>
            <a:r>
              <a:rPr lang="en-US" altLang="zh-CN" sz="1400" dirty="0"/>
              <a:t> </a:t>
            </a:r>
            <a:r>
              <a:rPr lang="en-US" altLang="zh-CN" sz="1400" dirty="0" smtClean="0"/>
              <a:t>   </a:t>
            </a:r>
            <a:r>
              <a:rPr lang="zh-CN" altLang="en-US" sz="1400" dirty="0" smtClean="0"/>
              <a:t>改进程序实现如下：</a:t>
            </a:r>
            <a:endParaRPr lang="en-US" altLang="zh-CN" sz="1400" dirty="0" smtClean="0"/>
          </a:p>
          <a:p>
            <a:r>
              <a:rPr lang="en-US" altLang="zh-CN" sz="1400" dirty="0" smtClean="0"/>
              <a:t>    for </a:t>
            </a:r>
            <a:r>
              <a:rPr lang="en-US" altLang="zh-CN" sz="1400" dirty="0"/>
              <a:t>(i=1;i&lt;=</a:t>
            </a:r>
            <a:r>
              <a:rPr lang="en-US" altLang="zh-CN" sz="1400" dirty="0" err="1"/>
              <a:t>n;i</a:t>
            </a:r>
            <a:r>
              <a:rPr lang="en-US" altLang="zh-CN" sz="1400" dirty="0"/>
              <a:t>++)</a:t>
            </a:r>
          </a:p>
          <a:p>
            <a:r>
              <a:rPr lang="en-US" altLang="zh-CN" sz="1400" dirty="0"/>
              <a:t>        for (</a:t>
            </a:r>
            <a:r>
              <a:rPr lang="en-US" altLang="zh-CN" sz="1400" dirty="0" smtClean="0"/>
              <a:t>j=</a:t>
            </a:r>
            <a:r>
              <a:rPr lang="en-US" altLang="zh-CN" sz="1400" dirty="0" err="1" smtClean="0"/>
              <a:t>m;j</a:t>
            </a:r>
            <a:r>
              <a:rPr lang="en-US" altLang="zh-CN" sz="1400" dirty="0" smtClean="0"/>
              <a:t>&gt;=1;j--)</a:t>
            </a:r>
            <a:endParaRPr lang="en-US" altLang="zh-CN" sz="1400" dirty="0"/>
          </a:p>
          <a:p>
            <a:r>
              <a:rPr lang="en-US" altLang="zh-CN" sz="1400" dirty="0"/>
              <a:t>            </a:t>
            </a:r>
            <a:r>
              <a:rPr lang="en-US" altLang="zh-CN" sz="1400" dirty="0" smtClean="0"/>
              <a:t>if (j&lt;a[i]) f[j]=f[j];</a:t>
            </a:r>
          </a:p>
          <a:p>
            <a:r>
              <a:rPr lang="en-US" altLang="zh-CN" sz="1400" dirty="0"/>
              <a:t> </a:t>
            </a:r>
            <a:r>
              <a:rPr lang="en-US" altLang="zh-CN" sz="1400" dirty="0" smtClean="0"/>
              <a:t>                 else f[j]=max(f[j],f[j-w[i]]+v[i]);</a:t>
            </a:r>
            <a:endParaRPr lang="en-US" altLang="zh-CN" sz="1400" dirty="0"/>
          </a:p>
          <a:p>
            <a:r>
              <a:rPr lang="en-US" altLang="zh-CN" sz="1400" dirty="0" smtClean="0"/>
              <a:t>    </a:t>
            </a:r>
            <a:r>
              <a:rPr lang="zh-CN" altLang="en-US" sz="1400" dirty="0" smtClean="0"/>
              <a:t>对于状态转移式，请注意：当前我们需要将</a:t>
            </a:r>
            <a:r>
              <a:rPr lang="en-US" altLang="zh-CN" sz="1400" dirty="0" smtClean="0"/>
              <a:t>f[j]</a:t>
            </a:r>
            <a:r>
              <a:rPr lang="zh-CN" altLang="en-US" sz="1400" dirty="0" smtClean="0"/>
              <a:t>更新为阶段</a:t>
            </a:r>
            <a:r>
              <a:rPr lang="en-US" altLang="zh-CN" sz="1400" dirty="0" smtClean="0"/>
              <a:t>i</a:t>
            </a:r>
            <a:r>
              <a:rPr lang="zh-CN" altLang="en-US" sz="1400" dirty="0" smtClean="0"/>
              <a:t>下的最优解，但在</a:t>
            </a:r>
            <a:r>
              <a:rPr lang="en-US" altLang="zh-CN" sz="1400" dirty="0" smtClean="0"/>
              <a:t>f[j]</a:t>
            </a:r>
            <a:r>
              <a:rPr lang="zh-CN" altLang="en-US" sz="1400" dirty="0" smtClean="0"/>
              <a:t>被赋值之前，</a:t>
            </a:r>
            <a:r>
              <a:rPr lang="en-US" altLang="zh-CN" sz="1400" dirty="0" smtClean="0"/>
              <a:t>f[j]</a:t>
            </a:r>
            <a:r>
              <a:rPr lang="zh-CN" altLang="en-US" sz="1400" dirty="0" smtClean="0"/>
              <a:t>存储的值还是</a:t>
            </a:r>
            <a:r>
              <a:rPr lang="en-US" altLang="zh-CN" sz="1400" dirty="0" smtClean="0"/>
              <a:t>i-1</a:t>
            </a:r>
            <a:r>
              <a:rPr lang="zh-CN" altLang="en-US" sz="1400" dirty="0" smtClean="0"/>
              <a:t>阶段更新以后的值，即</a:t>
            </a:r>
            <a:r>
              <a:rPr lang="en-US" altLang="zh-CN" sz="1400" dirty="0" smtClean="0"/>
              <a:t>f[i-1][j]</a:t>
            </a:r>
            <a:r>
              <a:rPr lang="zh-CN" altLang="en-US" sz="1400" dirty="0" smtClean="0"/>
              <a:t>；由于我们对</a:t>
            </a:r>
            <a:r>
              <a:rPr lang="en-US" altLang="zh-CN" sz="1400" dirty="0" smtClean="0"/>
              <a:t>j</a:t>
            </a:r>
            <a:r>
              <a:rPr lang="zh-CN" altLang="en-US" sz="1400" dirty="0" smtClean="0"/>
              <a:t>倒序枚举，也就是说，容量大的背包先被更新为阶段</a:t>
            </a:r>
            <a:r>
              <a:rPr lang="en-US" altLang="zh-CN" sz="1400" dirty="0" smtClean="0"/>
              <a:t>i</a:t>
            </a:r>
            <a:r>
              <a:rPr lang="zh-CN" altLang="en-US" sz="1400" dirty="0" smtClean="0"/>
              <a:t>，理性理解，在更新</a:t>
            </a:r>
            <a:r>
              <a:rPr lang="en-US" altLang="zh-CN" sz="1400" dirty="0" smtClean="0"/>
              <a:t>f[j]</a:t>
            </a:r>
            <a:r>
              <a:rPr lang="zh-CN" altLang="en-US" sz="1400" dirty="0" smtClean="0"/>
              <a:t>时，</a:t>
            </a:r>
            <a:r>
              <a:rPr lang="en-US" altLang="zh-CN" sz="1400" dirty="0" smtClean="0"/>
              <a:t>f[j-w[i]]</a:t>
            </a:r>
            <a:r>
              <a:rPr lang="zh-CN" altLang="en-US" sz="1400" dirty="0" smtClean="0"/>
              <a:t>还未被更新到，此时</a:t>
            </a:r>
            <a:r>
              <a:rPr lang="en-US" altLang="zh-CN" sz="1400" dirty="0" smtClean="0"/>
              <a:t>f[j-w[i]]</a:t>
            </a:r>
            <a:r>
              <a:rPr lang="zh-CN" altLang="en-US" sz="1400" dirty="0" smtClean="0"/>
              <a:t>存储的还是</a:t>
            </a:r>
            <a:r>
              <a:rPr lang="en-US" altLang="zh-CN" sz="1400" dirty="0" smtClean="0"/>
              <a:t>i-1</a:t>
            </a:r>
            <a:r>
              <a:rPr lang="zh-CN" altLang="en-US" sz="1400" dirty="0" smtClean="0"/>
              <a:t>阶段更新以后的值，即</a:t>
            </a:r>
            <a:r>
              <a:rPr lang="en-US" altLang="zh-CN" sz="1400" dirty="0" smtClean="0"/>
              <a:t>f[i-1][j-w[i]]</a:t>
            </a:r>
            <a:r>
              <a:rPr lang="zh-CN" altLang="en-US" sz="1400" dirty="0" smtClean="0"/>
              <a:t>。所以状态转移式</a:t>
            </a:r>
            <a:endParaRPr lang="en-US" altLang="zh-CN" sz="1400" dirty="0" smtClean="0"/>
          </a:p>
          <a:p>
            <a:r>
              <a:rPr lang="en-US" altLang="zh-CN" sz="1400" dirty="0"/>
              <a:t> </a:t>
            </a:r>
            <a:r>
              <a:rPr lang="en-US" altLang="zh-CN" sz="1400" dirty="0" smtClean="0"/>
              <a:t>   f[j]=max(f[j],f[j-w[i]]+v[i])</a:t>
            </a:r>
            <a:r>
              <a:rPr lang="zh-CN" altLang="en-US" sz="1400" dirty="0" smtClean="0"/>
              <a:t>等价于</a:t>
            </a:r>
            <a:endParaRPr lang="en-US" altLang="zh-CN" sz="1400" dirty="0" smtClean="0"/>
          </a:p>
          <a:p>
            <a:r>
              <a:rPr lang="en-US" altLang="zh-CN" sz="1400" dirty="0"/>
              <a:t> </a:t>
            </a:r>
            <a:r>
              <a:rPr lang="en-US" altLang="zh-CN" sz="1400" dirty="0" smtClean="0"/>
              <a:t>   f[i][j]=max(f[i-1][j],f[i-1][j-w[i]]+v[i])</a:t>
            </a:r>
          </a:p>
        </p:txBody>
      </p:sp>
      <p:sp>
        <p:nvSpPr>
          <p:cNvPr id="17" name="矩形 16">
            <a:extLst>
              <a:ext uri="{FF2B5EF4-FFF2-40B4-BE49-F238E27FC236}">
                <a16:creationId xmlns:a16="http://schemas.microsoft.com/office/drawing/2014/main" xmlns="" id="{7169A55A-483D-4542-B072-E8C204367D45}"/>
              </a:ext>
            </a:extLst>
          </p:cNvPr>
          <p:cNvSpPr/>
          <p:nvPr/>
        </p:nvSpPr>
        <p:spPr>
          <a:xfrm>
            <a:off x="5826666" y="4864245"/>
            <a:ext cx="5368016" cy="1169551"/>
          </a:xfrm>
          <a:prstGeom prst="rect">
            <a:avLst/>
          </a:prstGeom>
        </p:spPr>
        <p:txBody>
          <a:bodyPr wrap="square">
            <a:spAutoFit/>
            <a:scene3d>
              <a:camera prst="orthographicFront"/>
              <a:lightRig rig="threePt" dir="t"/>
            </a:scene3d>
            <a:sp3d contourW="12700"/>
          </a:bodyPr>
          <a:lstStyle/>
          <a:p>
            <a:r>
              <a:rPr lang="en-US" altLang="zh-CN" sz="1400" dirty="0"/>
              <a:t> </a:t>
            </a:r>
            <a:r>
              <a:rPr lang="en-US" altLang="zh-CN" sz="1400" dirty="0" smtClean="0"/>
              <a:t>   </a:t>
            </a:r>
            <a:r>
              <a:rPr lang="zh-CN" altLang="en-US" sz="1400" dirty="0" smtClean="0"/>
              <a:t>考虑到</a:t>
            </a:r>
            <a:r>
              <a:rPr lang="en-US" altLang="zh-CN" sz="1400" dirty="0" smtClean="0"/>
              <a:t>j&lt;a[i]</a:t>
            </a:r>
            <a:r>
              <a:rPr lang="zh-CN" altLang="en-US" sz="1400" dirty="0" smtClean="0"/>
              <a:t>时，物品</a:t>
            </a:r>
            <a:r>
              <a:rPr lang="en-US" altLang="zh-CN" sz="1400" dirty="0" smtClean="0"/>
              <a:t>i</a:t>
            </a:r>
            <a:r>
              <a:rPr lang="zh-CN" altLang="en-US" sz="1400" dirty="0" smtClean="0"/>
              <a:t>是不可能放入背包的，所以</a:t>
            </a:r>
            <a:r>
              <a:rPr lang="en-US" altLang="zh-CN" sz="1400" dirty="0" smtClean="0"/>
              <a:t>f[i][j]=f[i-1][j]</a:t>
            </a:r>
            <a:r>
              <a:rPr lang="zh-CN" altLang="en-US" sz="1400" dirty="0" smtClean="0"/>
              <a:t>，即</a:t>
            </a:r>
            <a:r>
              <a:rPr lang="en-US" altLang="zh-CN" sz="1400" dirty="0" smtClean="0"/>
              <a:t>f[j]</a:t>
            </a:r>
            <a:r>
              <a:rPr lang="zh-CN" altLang="en-US" sz="1400" dirty="0" smtClean="0"/>
              <a:t>的值不需要改变，所以程序可修改为：</a:t>
            </a:r>
            <a:endParaRPr lang="en-US" altLang="zh-CN" sz="1400" dirty="0" smtClean="0"/>
          </a:p>
          <a:p>
            <a:r>
              <a:rPr lang="en-US" altLang="zh-CN" sz="1400" dirty="0"/>
              <a:t> for (i=1;i&lt;=</a:t>
            </a:r>
            <a:r>
              <a:rPr lang="en-US" altLang="zh-CN" sz="1400" dirty="0" err="1"/>
              <a:t>n;i</a:t>
            </a:r>
            <a:r>
              <a:rPr lang="en-US" altLang="zh-CN" sz="1400" dirty="0"/>
              <a:t>++)</a:t>
            </a:r>
          </a:p>
          <a:p>
            <a:r>
              <a:rPr lang="en-US" altLang="zh-CN" sz="1400" dirty="0"/>
              <a:t>        for (j=</a:t>
            </a:r>
            <a:r>
              <a:rPr lang="en-US" altLang="zh-CN" sz="1400" dirty="0" err="1"/>
              <a:t>m;j</a:t>
            </a:r>
            <a:r>
              <a:rPr lang="en-US" altLang="zh-CN" sz="1400" dirty="0" smtClean="0"/>
              <a:t>&gt;=a[i];j--)</a:t>
            </a:r>
          </a:p>
          <a:p>
            <a:r>
              <a:rPr lang="en-US" altLang="zh-CN" sz="1400" dirty="0" smtClean="0"/>
              <a:t>            f[j</a:t>
            </a:r>
            <a:r>
              <a:rPr lang="en-US" altLang="zh-CN" sz="1400" dirty="0"/>
              <a:t>]=max(f[j],f[j-w[i</a:t>
            </a:r>
            <a:r>
              <a:rPr lang="en-US" altLang="zh-CN" sz="1400" dirty="0" smtClean="0"/>
              <a:t>]]+</a:t>
            </a:r>
            <a:r>
              <a:rPr lang="en-US" altLang="zh-CN" sz="1400" dirty="0"/>
              <a:t>v[i</a:t>
            </a:r>
            <a:r>
              <a:rPr lang="en-US" altLang="zh-CN" sz="1400" dirty="0" smtClean="0"/>
              <a:t>]);</a:t>
            </a:r>
          </a:p>
        </p:txBody>
      </p:sp>
    </p:spTree>
    <p:extLst>
      <p:ext uri="{BB962C8B-B14F-4D97-AF65-F5344CB8AC3E}">
        <p14:creationId xmlns:p14="http://schemas.microsoft.com/office/powerpoint/2010/main" val="3387879886"/>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35637" y="177223"/>
            <a:ext cx="1197764"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③</a:t>
            </a:r>
            <a:r>
              <a:rPr lang="zh-CN" altLang="en-US" dirty="0" smtClean="0">
                <a:solidFill>
                  <a:schemeClr val="bg1"/>
                </a:solidFill>
                <a:effectLst>
                  <a:outerShdw blurRad="203200" dist="38100" dir="5400000" algn="t" rotWithShape="0">
                    <a:prstClr val="black">
                      <a:alpha val="83000"/>
                    </a:prstClr>
                  </a:outerShdw>
                </a:effectLst>
                <a:cs typeface="+mn-ea"/>
                <a:sym typeface="+mn-lt"/>
              </a:rPr>
              <a:t> </a:t>
            </a:r>
            <a:r>
              <a:rPr lang="en-US" altLang="zh-CN" dirty="0" smtClean="0">
                <a:solidFill>
                  <a:schemeClr val="bg1"/>
                </a:solidFill>
                <a:effectLst>
                  <a:outerShdw blurRad="203200" dist="38100" dir="5400000" algn="t" rotWithShape="0">
                    <a:prstClr val="black">
                      <a:alpha val="83000"/>
                    </a:prstClr>
                  </a:outerShdw>
                </a:effectLst>
                <a:cs typeface="+mn-ea"/>
                <a:sym typeface="+mn-lt"/>
              </a:rPr>
              <a:t>01</a:t>
            </a:r>
            <a:r>
              <a:rPr lang="zh-CN" altLang="en-US" dirty="0" smtClean="0">
                <a:solidFill>
                  <a:schemeClr val="bg1"/>
                </a:solidFill>
                <a:effectLst>
                  <a:outerShdw blurRad="203200" dist="38100" dir="5400000" algn="t" rotWithShape="0">
                    <a:prstClr val="black">
                      <a:alpha val="83000"/>
                    </a:prstClr>
                  </a:outerShdw>
                </a:effectLst>
                <a:cs typeface="+mn-ea"/>
                <a:sym typeface="+mn-lt"/>
              </a:rPr>
              <a:t>背包</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496342"/>
          </a:xfrm>
          <a:prstGeom prst="rect">
            <a:avLst/>
          </a:prstGeom>
        </p:spPr>
        <p:txBody>
          <a:bodyPr wrap="square">
            <a:spAutoFit/>
            <a:scene3d>
              <a:camera prst="orthographicFront"/>
              <a:lightRig rig="threePt" dir="t"/>
            </a:scene3d>
            <a:sp3d contourW="12700"/>
          </a:bodyPr>
          <a:lstStyle/>
          <a:p>
            <a:pPr algn="ctr"/>
            <a:r>
              <a:rPr lang="en-US" altLang="zh-CN" sz="1400" b="1" dirty="0" smtClean="0"/>
              <a:t>01</a:t>
            </a:r>
            <a:r>
              <a:rPr lang="zh-CN" altLang="en-US" sz="1400" b="1" dirty="0" smtClean="0"/>
              <a:t>背包</a:t>
            </a:r>
            <a:endParaRPr lang="zh-CN" altLang="zh-CN" sz="1400" dirty="0"/>
          </a:p>
          <a:p>
            <a:r>
              <a:rPr lang="zh-CN" altLang="zh-CN" sz="1400" b="1" dirty="0"/>
              <a:t>【题目描述】</a:t>
            </a:r>
            <a:endParaRPr lang="zh-CN" altLang="zh-CN" sz="1400" dirty="0"/>
          </a:p>
          <a:p>
            <a:r>
              <a:rPr lang="zh-CN" altLang="en-US" sz="1400" dirty="0" smtClean="0"/>
              <a:t>    一</a:t>
            </a:r>
            <a:r>
              <a:rPr lang="zh-CN" altLang="en-US" sz="1400" dirty="0"/>
              <a:t>个旅行者有一</a:t>
            </a:r>
            <a:r>
              <a:rPr lang="zh-CN" altLang="en-US" sz="1400" dirty="0" smtClean="0"/>
              <a:t>个容量</a:t>
            </a:r>
            <a:r>
              <a:rPr lang="en-US" altLang="zh-CN" sz="1400" dirty="0" smtClean="0"/>
              <a:t>m</a:t>
            </a:r>
            <a:r>
              <a:rPr lang="zh-CN" altLang="en-US" sz="1400" dirty="0"/>
              <a:t>公斤的背包，现在有</a:t>
            </a:r>
            <a:r>
              <a:rPr lang="en-US" altLang="zh-CN" sz="1400" dirty="0"/>
              <a:t>n</a:t>
            </a:r>
            <a:r>
              <a:rPr lang="zh-CN" altLang="en-US" sz="1400" dirty="0"/>
              <a:t>件物品，它们的重量分别是</a:t>
            </a:r>
            <a:r>
              <a:rPr lang="en-US" altLang="zh-CN" sz="1400" dirty="0"/>
              <a:t>W</a:t>
            </a:r>
            <a:r>
              <a:rPr lang="en-US" altLang="zh-CN" sz="1400" baseline="-25000" dirty="0"/>
              <a:t>1</a:t>
            </a:r>
            <a:r>
              <a:rPr lang="zh-CN" altLang="en-US" sz="1400" dirty="0"/>
              <a:t>，</a:t>
            </a:r>
            <a:r>
              <a:rPr lang="en-US" altLang="zh-CN" sz="1400" dirty="0"/>
              <a:t>W</a:t>
            </a:r>
            <a:r>
              <a:rPr lang="en-US" altLang="zh-CN" sz="1400" baseline="-25000" dirty="0"/>
              <a:t>2</a:t>
            </a:r>
            <a:r>
              <a:rPr lang="zh-CN" altLang="en-US" sz="1400" dirty="0"/>
              <a:t>，</a:t>
            </a:r>
            <a:r>
              <a:rPr lang="en-US" altLang="zh-CN" sz="1400" dirty="0" smtClean="0"/>
              <a:t>...</a:t>
            </a:r>
            <a:r>
              <a:rPr lang="zh-CN" altLang="en-US" sz="1400" dirty="0" smtClean="0"/>
              <a:t>，</a:t>
            </a:r>
            <a:r>
              <a:rPr lang="en-US" altLang="zh-CN" sz="1400" dirty="0" err="1" smtClean="0"/>
              <a:t>W</a:t>
            </a:r>
            <a:r>
              <a:rPr lang="en-US" altLang="zh-CN" sz="1400" baseline="-25000" dirty="0" err="1" smtClean="0"/>
              <a:t>n</a:t>
            </a:r>
            <a:r>
              <a:rPr lang="zh-CN" altLang="en-US" sz="1400" dirty="0" smtClean="0"/>
              <a:t>，它们</a:t>
            </a:r>
            <a:r>
              <a:rPr lang="zh-CN" altLang="en-US" sz="1400" dirty="0"/>
              <a:t>的价值分别</a:t>
            </a:r>
            <a:r>
              <a:rPr lang="zh-CN" altLang="en-US" sz="1400" dirty="0" smtClean="0"/>
              <a:t>为</a:t>
            </a:r>
            <a:r>
              <a:rPr lang="en-US" altLang="zh-CN" sz="1400" dirty="0" smtClean="0"/>
              <a:t>V</a:t>
            </a:r>
            <a:r>
              <a:rPr lang="en-US" altLang="zh-CN" sz="1400" baseline="-25000" dirty="0" smtClean="0"/>
              <a:t>1</a:t>
            </a:r>
            <a:r>
              <a:rPr lang="zh-CN" altLang="en-US" sz="1400" dirty="0" smtClean="0"/>
              <a:t>，</a:t>
            </a:r>
            <a:r>
              <a:rPr lang="en-US" altLang="zh-CN" sz="1400" dirty="0" smtClean="0"/>
              <a:t>V</a:t>
            </a:r>
            <a:r>
              <a:rPr lang="en-US" altLang="zh-CN" sz="1400" baseline="-25000" dirty="0" smtClean="0"/>
              <a:t>2</a:t>
            </a:r>
            <a:r>
              <a:rPr lang="zh-CN" altLang="en-US" sz="1400" dirty="0" smtClean="0"/>
              <a:t>，</a:t>
            </a:r>
            <a:r>
              <a:rPr lang="en-US" altLang="zh-CN" sz="1400" dirty="0" smtClean="0"/>
              <a:t>...</a:t>
            </a:r>
            <a:r>
              <a:rPr lang="zh-CN" altLang="en-US" sz="1400" dirty="0" smtClean="0"/>
              <a:t>，</a:t>
            </a:r>
            <a:r>
              <a:rPr lang="en-US" altLang="zh-CN" sz="1400" dirty="0" err="1" smtClean="0"/>
              <a:t>V</a:t>
            </a:r>
            <a:r>
              <a:rPr lang="en-US" altLang="zh-CN" sz="1400" baseline="-25000" dirty="0" err="1" smtClean="0"/>
              <a:t>n</a:t>
            </a:r>
            <a:r>
              <a:rPr lang="zh-CN" altLang="en-US" sz="1400" dirty="0" smtClean="0"/>
              <a:t>。若</a:t>
            </a:r>
            <a:r>
              <a:rPr lang="zh-CN" altLang="en-US" sz="1400" dirty="0"/>
              <a:t>每种物品只有一</a:t>
            </a:r>
            <a:r>
              <a:rPr lang="zh-CN" altLang="en-US" sz="1400" dirty="0" smtClean="0"/>
              <a:t>件，求</a:t>
            </a:r>
            <a:r>
              <a:rPr lang="zh-CN" altLang="en-US" sz="1400" dirty="0"/>
              <a:t>旅行者能获得最大总价值。</a:t>
            </a:r>
            <a:endParaRPr lang="zh-CN" altLang="zh-CN" sz="1400" dirty="0"/>
          </a:p>
          <a:p>
            <a:endParaRPr lang="zh-CN" altLang="zh-CN" sz="1400" dirty="0"/>
          </a:p>
          <a:p>
            <a:r>
              <a:rPr lang="zh-CN" altLang="zh-CN" sz="1400" b="1" dirty="0" smtClean="0"/>
              <a:t>【样例输入】</a:t>
            </a:r>
            <a:endParaRPr lang="zh-CN" altLang="zh-CN" sz="1400" dirty="0" smtClean="0"/>
          </a:p>
          <a:p>
            <a:pPr>
              <a:lnSpc>
                <a:spcPct val="80000"/>
              </a:lnSpc>
            </a:pPr>
            <a:r>
              <a:rPr lang="en-US" altLang="zh-CN" sz="1400" dirty="0" smtClean="0"/>
              <a:t>10 4</a:t>
            </a:r>
          </a:p>
          <a:p>
            <a:pPr>
              <a:lnSpc>
                <a:spcPct val="80000"/>
              </a:lnSpc>
            </a:pPr>
            <a:r>
              <a:rPr lang="en-US" altLang="zh-CN" sz="1400" dirty="0" smtClean="0"/>
              <a:t>2 1</a:t>
            </a:r>
          </a:p>
          <a:p>
            <a:pPr>
              <a:lnSpc>
                <a:spcPct val="80000"/>
              </a:lnSpc>
            </a:pPr>
            <a:r>
              <a:rPr lang="en-US" altLang="zh-CN" sz="1400" dirty="0" smtClean="0"/>
              <a:t>3 3</a:t>
            </a:r>
          </a:p>
          <a:p>
            <a:pPr>
              <a:lnSpc>
                <a:spcPct val="80000"/>
              </a:lnSpc>
            </a:pPr>
            <a:r>
              <a:rPr lang="en-US" altLang="zh-CN" sz="1400" dirty="0" smtClean="0"/>
              <a:t>4 6</a:t>
            </a:r>
          </a:p>
          <a:p>
            <a:pPr>
              <a:lnSpc>
                <a:spcPct val="80000"/>
              </a:lnSpc>
            </a:pPr>
            <a:r>
              <a:rPr lang="en-US" altLang="zh-CN" sz="1400" dirty="0" smtClean="0"/>
              <a:t>7 9</a:t>
            </a:r>
          </a:p>
          <a:p>
            <a:pPr>
              <a:lnSpc>
                <a:spcPct val="80000"/>
              </a:lnSpc>
            </a:pPr>
            <a:endParaRPr lang="zh-CN" altLang="zh-CN" sz="1400" dirty="0"/>
          </a:p>
          <a:p>
            <a:r>
              <a:rPr lang="zh-CN" altLang="zh-CN" sz="1400" b="1" dirty="0"/>
              <a:t>【样例输出】</a:t>
            </a:r>
            <a:endParaRPr lang="zh-CN" altLang="zh-CN" sz="1400" dirty="0"/>
          </a:p>
          <a:p>
            <a:r>
              <a:rPr lang="en-US" altLang="zh-CN" sz="1400" dirty="0" smtClean="0"/>
              <a:t>12</a:t>
            </a:r>
            <a:endParaRPr lang="zh-CN" altLang="zh-CN" sz="1400" dirty="0"/>
          </a:p>
          <a:p>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706354" y="4808128"/>
            <a:ext cx="4964872" cy="1169551"/>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en-US" sz="1400" dirty="0" smtClean="0"/>
              <a:t>设</a:t>
            </a:r>
            <a:r>
              <a:rPr lang="en-US" altLang="zh-CN" sz="1400" dirty="0" smtClean="0"/>
              <a:t>f[i][j]</a:t>
            </a:r>
            <a:r>
              <a:rPr lang="zh-CN" altLang="en-US" sz="1400" dirty="0" smtClean="0"/>
              <a:t>表示前</a:t>
            </a:r>
            <a:r>
              <a:rPr lang="en-US" altLang="zh-CN" sz="1400" dirty="0" smtClean="0"/>
              <a:t>i</a:t>
            </a:r>
            <a:r>
              <a:rPr lang="zh-CN" altLang="en-US" sz="1400" dirty="0" smtClean="0"/>
              <a:t>件物品</a:t>
            </a:r>
            <a:r>
              <a:rPr lang="zh-CN" altLang="en-US" sz="1400" dirty="0"/>
              <a:t>选取若干</a:t>
            </a:r>
            <a:r>
              <a:rPr lang="en-US" altLang="zh-CN" sz="1400" dirty="0" smtClean="0"/>
              <a:t>(</a:t>
            </a:r>
            <a:r>
              <a:rPr lang="zh-CN" altLang="en-US" sz="1400" dirty="0" smtClean="0"/>
              <a:t>部分或全部</a:t>
            </a:r>
            <a:r>
              <a:rPr lang="en-US" altLang="zh-CN" sz="1400" dirty="0" smtClean="0"/>
              <a:t>)</a:t>
            </a:r>
            <a:r>
              <a:rPr lang="zh-CN" altLang="en-US" sz="1400" dirty="0" smtClean="0"/>
              <a:t> 放入背包容量不超过</a:t>
            </a:r>
            <a:r>
              <a:rPr lang="en-US" altLang="zh-CN" sz="1400" dirty="0" smtClean="0"/>
              <a:t>j</a:t>
            </a:r>
            <a:r>
              <a:rPr lang="zh-CN" altLang="en-US" sz="1400" dirty="0" smtClean="0"/>
              <a:t>时所得的最大价值。则其状态转移方程为：</a:t>
            </a:r>
            <a:endParaRPr lang="en-US" altLang="zh-CN" sz="1400" dirty="0" smtClean="0"/>
          </a:p>
          <a:p>
            <a:r>
              <a:rPr lang="en-US" altLang="zh-CN" sz="1400" dirty="0"/>
              <a:t> </a:t>
            </a:r>
            <a:r>
              <a:rPr lang="en-US" altLang="zh-CN" sz="1400" dirty="0" smtClean="0"/>
              <a:t>   f[i][j]=max(f[i-1][j],f[i-1][j-w[i]]+v[i])</a:t>
            </a:r>
          </a:p>
          <a:p>
            <a:r>
              <a:rPr lang="en-US" altLang="zh-CN" sz="1400" dirty="0"/>
              <a:t> </a:t>
            </a:r>
            <a:r>
              <a:rPr lang="en-US" altLang="zh-CN" sz="1400" dirty="0" smtClean="0"/>
              <a:t>   </a:t>
            </a:r>
            <a:r>
              <a:rPr lang="zh-CN" altLang="en-US" sz="1400" dirty="0" smtClean="0"/>
              <a:t>边界条件为</a:t>
            </a:r>
            <a:r>
              <a:rPr lang="en-US" altLang="zh-CN" sz="1400" dirty="0" smtClean="0"/>
              <a:t>f[i][j]=0</a:t>
            </a:r>
            <a:r>
              <a:rPr lang="zh-CN" altLang="en-US" sz="1400" dirty="0" smtClean="0"/>
              <a:t>。</a:t>
            </a:r>
            <a:endParaRPr lang="zh-CN" altLang="zh-CN" sz="1400" dirty="0"/>
          </a:p>
        </p:txBody>
      </p:sp>
      <p:sp>
        <p:nvSpPr>
          <p:cNvPr id="14" name="矩形 13">
            <a:extLst>
              <a:ext uri="{FF2B5EF4-FFF2-40B4-BE49-F238E27FC236}">
                <a16:creationId xmlns:a16="http://schemas.microsoft.com/office/drawing/2014/main" xmlns="" id="{499D06B3-3687-44BF-84DD-1E5915B49CAA}"/>
              </a:ext>
            </a:extLst>
          </p:cNvPr>
          <p:cNvSpPr/>
          <p:nvPr/>
        </p:nvSpPr>
        <p:spPr>
          <a:xfrm>
            <a:off x="706353" y="5965816"/>
            <a:ext cx="4964873" cy="738664"/>
          </a:xfrm>
          <a:prstGeom prst="rect">
            <a:avLst/>
          </a:prstGeom>
        </p:spPr>
        <p:txBody>
          <a:bodyPr wrap="square">
            <a:spAutoFit/>
            <a:scene3d>
              <a:camera prst="orthographicFront"/>
              <a:lightRig rig="threePt" dir="t"/>
            </a:scene3d>
            <a:sp3d contourW="12700"/>
          </a:bodyPr>
          <a:lstStyle/>
          <a:p>
            <a:r>
              <a:rPr lang="en-US" altLang="zh-CN" sz="1400" dirty="0" smtClean="0"/>
              <a:t>    for (i=1;i&lt;=</a:t>
            </a:r>
            <a:r>
              <a:rPr lang="en-US" altLang="zh-CN" sz="1400" dirty="0" err="1" smtClean="0"/>
              <a:t>n;i</a:t>
            </a:r>
            <a:r>
              <a:rPr lang="en-US" altLang="zh-CN" sz="1400" dirty="0" smtClean="0"/>
              <a:t>++)</a:t>
            </a:r>
          </a:p>
          <a:p>
            <a:r>
              <a:rPr lang="en-US" altLang="zh-CN" sz="1400" dirty="0"/>
              <a:t> </a:t>
            </a:r>
            <a:r>
              <a:rPr lang="en-US" altLang="zh-CN" sz="1400" dirty="0" smtClean="0"/>
              <a:t>       for (j=1;j&lt;=</a:t>
            </a:r>
            <a:r>
              <a:rPr lang="en-US" altLang="zh-CN" sz="1400" dirty="0" err="1"/>
              <a:t>m</a:t>
            </a:r>
            <a:r>
              <a:rPr lang="en-US" altLang="zh-CN" sz="1400" dirty="0" err="1" smtClean="0"/>
              <a:t>;j</a:t>
            </a:r>
            <a:r>
              <a:rPr lang="en-US" altLang="zh-CN" sz="1400" dirty="0" smtClean="0"/>
              <a:t>++)</a:t>
            </a:r>
          </a:p>
          <a:p>
            <a:r>
              <a:rPr lang="en-US" altLang="zh-CN" sz="1400" dirty="0"/>
              <a:t> </a:t>
            </a:r>
            <a:r>
              <a:rPr lang="en-US" altLang="zh-CN" sz="1400" dirty="0" smtClean="0"/>
              <a:t>           f[i][j]=(j&lt;a[i])?f[i-1][j]:max(f[i-1][j],f[i-1][j-w[i]]+v[i])</a:t>
            </a:r>
            <a:endParaRPr lang="zh-CN" altLang="en-US" sz="1400" dirty="0"/>
          </a:p>
        </p:txBody>
      </p:sp>
      <p:sp>
        <p:nvSpPr>
          <p:cNvPr id="21" name="矩形 20">
            <a:extLst>
              <a:ext uri="{FF2B5EF4-FFF2-40B4-BE49-F238E27FC236}">
                <a16:creationId xmlns:a16="http://schemas.microsoft.com/office/drawing/2014/main" xmlns="" id="{7169A55A-483D-4542-B072-E8C204367D45}"/>
              </a:ext>
            </a:extLst>
          </p:cNvPr>
          <p:cNvSpPr/>
          <p:nvPr/>
        </p:nvSpPr>
        <p:spPr>
          <a:xfrm>
            <a:off x="5826666" y="869160"/>
            <a:ext cx="5368016" cy="954107"/>
          </a:xfrm>
          <a:prstGeom prst="rect">
            <a:avLst/>
          </a:prstGeom>
        </p:spPr>
        <p:txBody>
          <a:bodyPr wrap="square">
            <a:spAutoFit/>
            <a:scene3d>
              <a:camera prst="orthographicFront"/>
              <a:lightRig rig="threePt" dir="t"/>
            </a:scene3d>
            <a:sp3d contourW="12700"/>
          </a:bodyPr>
          <a:lstStyle/>
          <a:p>
            <a:r>
              <a:rPr lang="zh-CN" altLang="en-US" sz="1400" b="1" dirty="0" smtClean="0"/>
              <a:t>如果逆序改成正序呢？</a:t>
            </a:r>
            <a:endParaRPr lang="zh-CN" altLang="zh-CN" sz="1400" dirty="0"/>
          </a:p>
          <a:p>
            <a:r>
              <a:rPr lang="en-US" altLang="zh-CN" sz="1400" dirty="0" smtClean="0"/>
              <a:t>    </a:t>
            </a:r>
            <a:r>
              <a:rPr lang="en-US" altLang="zh-CN" sz="1400" dirty="0"/>
              <a:t>for (i=1;i&lt;=</a:t>
            </a:r>
            <a:r>
              <a:rPr lang="en-US" altLang="zh-CN" sz="1400" dirty="0" err="1"/>
              <a:t>n;i</a:t>
            </a:r>
            <a:r>
              <a:rPr lang="en-US" altLang="zh-CN" sz="1400" dirty="0"/>
              <a:t>++)</a:t>
            </a:r>
          </a:p>
          <a:p>
            <a:r>
              <a:rPr lang="en-US" altLang="zh-CN" sz="1400" dirty="0"/>
              <a:t>        for (</a:t>
            </a:r>
            <a:r>
              <a:rPr lang="en-US" altLang="zh-CN" sz="1400" dirty="0" smtClean="0"/>
              <a:t>j=a[i];j&lt;=</a:t>
            </a:r>
            <a:r>
              <a:rPr lang="en-US" altLang="zh-CN" sz="1400" dirty="0" err="1" smtClean="0"/>
              <a:t>m;j</a:t>
            </a:r>
            <a:r>
              <a:rPr lang="en-US" altLang="zh-CN" sz="1400" dirty="0" smtClean="0"/>
              <a:t>++)</a:t>
            </a:r>
            <a:endParaRPr lang="en-US" altLang="zh-CN" sz="1400" dirty="0"/>
          </a:p>
          <a:p>
            <a:r>
              <a:rPr lang="en-US" altLang="zh-CN" sz="1400" dirty="0"/>
              <a:t>            f[j]=max(f[j],f[j-w[i</a:t>
            </a:r>
            <a:r>
              <a:rPr lang="en-US" altLang="zh-CN" sz="1400" dirty="0" smtClean="0"/>
              <a:t>]]+</a:t>
            </a:r>
            <a:r>
              <a:rPr lang="en-US" altLang="zh-CN" sz="1400" dirty="0"/>
              <a:t>v[i</a:t>
            </a:r>
            <a:r>
              <a:rPr lang="en-US" altLang="zh-CN" sz="1400" dirty="0" smtClean="0"/>
              <a:t>]);</a:t>
            </a:r>
            <a:endParaRPr lang="en-US" altLang="zh-CN" sz="1400" dirty="0"/>
          </a:p>
        </p:txBody>
      </p:sp>
      <p:sp>
        <p:nvSpPr>
          <p:cNvPr id="16" name="矩形 15">
            <a:extLst>
              <a:ext uri="{FF2B5EF4-FFF2-40B4-BE49-F238E27FC236}">
                <a16:creationId xmlns:a16="http://schemas.microsoft.com/office/drawing/2014/main" xmlns="" id="{7169A55A-483D-4542-B072-E8C204367D45}"/>
              </a:ext>
            </a:extLst>
          </p:cNvPr>
          <p:cNvSpPr/>
          <p:nvPr/>
        </p:nvSpPr>
        <p:spPr>
          <a:xfrm>
            <a:off x="5789669" y="1828827"/>
            <a:ext cx="5368016" cy="1384995"/>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en-US" sz="1400" dirty="0" smtClean="0"/>
              <a:t>正序转移时，由于</a:t>
            </a:r>
            <a:r>
              <a:rPr lang="en-US" altLang="zh-CN" sz="1400" dirty="0" smtClean="0"/>
              <a:t>j-w[i]</a:t>
            </a:r>
            <a:r>
              <a:rPr lang="zh-CN" altLang="en-US" sz="1400" dirty="0" smtClean="0"/>
              <a:t>容量的背包比</a:t>
            </a:r>
            <a:r>
              <a:rPr lang="en-US" altLang="zh-CN" sz="1400" dirty="0" smtClean="0"/>
              <a:t>j</a:t>
            </a:r>
            <a:r>
              <a:rPr lang="zh-CN" altLang="en-US" sz="1400" dirty="0" smtClean="0"/>
              <a:t>容量的背包先更新，所以在更新</a:t>
            </a:r>
            <a:r>
              <a:rPr lang="en-US" altLang="zh-CN" sz="1400" dirty="0" smtClean="0"/>
              <a:t>i</a:t>
            </a:r>
            <a:r>
              <a:rPr lang="zh-CN" altLang="en-US" sz="1400" dirty="0" smtClean="0"/>
              <a:t>阶段</a:t>
            </a:r>
            <a:r>
              <a:rPr lang="en-US" altLang="zh-CN" sz="1400" dirty="0" smtClean="0"/>
              <a:t>j</a:t>
            </a:r>
            <a:r>
              <a:rPr lang="zh-CN" altLang="en-US" sz="1400" dirty="0" smtClean="0"/>
              <a:t>容量的背包时，</a:t>
            </a:r>
            <a:r>
              <a:rPr lang="en-US" altLang="zh-CN" sz="1400" dirty="0" smtClean="0"/>
              <a:t>f[j-w[i]]</a:t>
            </a:r>
            <a:r>
              <a:rPr lang="zh-CN" altLang="en-US" sz="1400" dirty="0" smtClean="0"/>
              <a:t>存储的已经是</a:t>
            </a:r>
            <a:r>
              <a:rPr lang="en-US" altLang="zh-CN" sz="1400" dirty="0" smtClean="0"/>
              <a:t>i</a:t>
            </a:r>
            <a:r>
              <a:rPr lang="zh-CN" altLang="en-US" sz="1400" dirty="0" smtClean="0"/>
              <a:t>阶段</a:t>
            </a:r>
            <a:r>
              <a:rPr lang="en-US" altLang="zh-CN" sz="1400" dirty="0" smtClean="0"/>
              <a:t>j-w[i]</a:t>
            </a:r>
            <a:r>
              <a:rPr lang="zh-CN" altLang="en-US" sz="1400" dirty="0" smtClean="0"/>
              <a:t>容量的背包了。此时的状态转移方程等价于</a:t>
            </a:r>
            <a:endParaRPr lang="en-US" altLang="zh-CN" sz="1400" dirty="0" smtClean="0"/>
          </a:p>
          <a:p>
            <a:r>
              <a:rPr lang="en-US" altLang="zh-CN" sz="1400" dirty="0" smtClean="0"/>
              <a:t>    f[i][j]=max(f[i][j],f[i][j-w[i]]+</a:t>
            </a:r>
            <a:r>
              <a:rPr lang="en-US" altLang="zh-CN" sz="1400" dirty="0"/>
              <a:t>v[i])</a:t>
            </a:r>
            <a:endParaRPr lang="en-US" altLang="zh-CN" sz="1400" dirty="0" smtClean="0"/>
          </a:p>
          <a:p>
            <a:r>
              <a:rPr lang="en-US" altLang="zh-CN" sz="1400" dirty="0"/>
              <a:t> </a:t>
            </a:r>
            <a:r>
              <a:rPr lang="en-US" altLang="zh-CN" sz="1400" dirty="0" smtClean="0"/>
              <a:t>   f[j-w[i]]</a:t>
            </a:r>
            <a:r>
              <a:rPr lang="zh-CN" altLang="en-US" sz="1400" dirty="0" smtClean="0"/>
              <a:t>存储的可能是已经放置一个物品</a:t>
            </a:r>
            <a:r>
              <a:rPr lang="en-US" altLang="zh-CN" sz="1400" dirty="0" smtClean="0"/>
              <a:t>i</a:t>
            </a:r>
            <a:r>
              <a:rPr lang="zh-CN" altLang="en-US" sz="1400" dirty="0" smtClean="0"/>
              <a:t>的方案，更新至</a:t>
            </a:r>
            <a:r>
              <a:rPr lang="en-US" altLang="zh-CN" sz="1400" dirty="0" smtClean="0"/>
              <a:t>f[j]</a:t>
            </a:r>
            <a:r>
              <a:rPr lang="zh-CN" altLang="en-US" sz="1400" dirty="0" smtClean="0"/>
              <a:t>以后，</a:t>
            </a:r>
            <a:r>
              <a:rPr lang="en-US" altLang="zh-CN" sz="1400" dirty="0" smtClean="0"/>
              <a:t>f[j]</a:t>
            </a:r>
            <a:r>
              <a:rPr lang="zh-CN" altLang="en-US" sz="1400" dirty="0" smtClean="0"/>
              <a:t>存储的方案中可能存在放置两个物品</a:t>
            </a:r>
            <a:r>
              <a:rPr lang="en-US" altLang="zh-CN" sz="1400" dirty="0" smtClean="0"/>
              <a:t>i</a:t>
            </a:r>
            <a:r>
              <a:rPr lang="zh-CN" altLang="en-US" sz="1400" dirty="0" smtClean="0"/>
              <a:t>，与题意不符。</a:t>
            </a:r>
            <a:endParaRPr lang="en-US" altLang="zh-CN" sz="1400" dirty="0" smtClean="0"/>
          </a:p>
        </p:txBody>
      </p:sp>
      <p:sp>
        <p:nvSpPr>
          <p:cNvPr id="18" name="矩形 17">
            <a:extLst>
              <a:ext uri="{FF2B5EF4-FFF2-40B4-BE49-F238E27FC236}">
                <a16:creationId xmlns:a16="http://schemas.microsoft.com/office/drawing/2014/main" xmlns="" id="{7169A55A-483D-4542-B072-E8C204367D45}"/>
              </a:ext>
            </a:extLst>
          </p:cNvPr>
          <p:cNvSpPr/>
          <p:nvPr/>
        </p:nvSpPr>
        <p:spPr>
          <a:xfrm>
            <a:off x="5826666" y="3244567"/>
            <a:ext cx="5368016" cy="738664"/>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en-US" sz="1400" dirty="0" smtClean="0"/>
              <a:t>进一步考虑，继续向后更新，对于任意</a:t>
            </a:r>
            <a:r>
              <a:rPr lang="en-US" altLang="zh-CN" sz="1400" dirty="0" smtClean="0"/>
              <a:t>j</a:t>
            </a:r>
            <a:r>
              <a:rPr lang="zh-CN" altLang="en-US" sz="1400" dirty="0" smtClean="0"/>
              <a:t>，</a:t>
            </a:r>
            <a:r>
              <a:rPr lang="en-US" altLang="zh-CN" sz="1400" dirty="0" smtClean="0"/>
              <a:t>f[j]</a:t>
            </a:r>
            <a:r>
              <a:rPr lang="zh-CN" altLang="en-US" sz="1400" dirty="0" smtClean="0"/>
              <a:t>存储的就是物品</a:t>
            </a:r>
            <a:r>
              <a:rPr lang="en-US" altLang="zh-CN" sz="1400" dirty="0" smtClean="0"/>
              <a:t>i</a:t>
            </a:r>
            <a:r>
              <a:rPr lang="zh-CN" altLang="en-US" sz="1400" dirty="0" smtClean="0"/>
              <a:t>能放置任意次的方案了。该程序便适用于对物品</a:t>
            </a:r>
            <a:r>
              <a:rPr lang="en-US" altLang="zh-CN" sz="1400" dirty="0" smtClean="0"/>
              <a:t>i</a:t>
            </a:r>
            <a:r>
              <a:rPr lang="zh-CN" altLang="en-US" sz="1400" dirty="0" smtClean="0"/>
              <a:t>的数量不加限制的题目，也就是完全背包问题。</a:t>
            </a:r>
            <a:endParaRPr lang="en-US" altLang="zh-CN" sz="1400" dirty="0" smtClean="0"/>
          </a:p>
        </p:txBody>
      </p:sp>
      <p:sp>
        <p:nvSpPr>
          <p:cNvPr id="19" name="矩形 18">
            <a:extLst>
              <a:ext uri="{FF2B5EF4-FFF2-40B4-BE49-F238E27FC236}">
                <a16:creationId xmlns:a16="http://schemas.microsoft.com/office/drawing/2014/main" xmlns="" id="{7169A55A-483D-4542-B072-E8C204367D45}"/>
              </a:ext>
            </a:extLst>
          </p:cNvPr>
          <p:cNvSpPr/>
          <p:nvPr/>
        </p:nvSpPr>
        <p:spPr>
          <a:xfrm>
            <a:off x="5789669" y="4045319"/>
            <a:ext cx="5368016" cy="738664"/>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en-US" sz="1400" dirty="0" smtClean="0"/>
              <a:t>动态规划对于解决资源调配问题有着不错的表现，资源的价值和调配的代价往往作为存储的结果和状态表示，最典型的就是背包问题</a:t>
            </a:r>
            <a:r>
              <a:rPr lang="en-US" altLang="zh-CN" sz="1400" dirty="0" smtClean="0"/>
              <a:t>【</a:t>
            </a:r>
            <a:r>
              <a:rPr lang="zh-CN" altLang="en-US" sz="1400" dirty="0" smtClean="0"/>
              <a:t>参考资料：背包九讲</a:t>
            </a:r>
            <a:r>
              <a:rPr lang="en-US" altLang="zh-CN" sz="1400" dirty="0" smtClean="0"/>
              <a:t>v2</a:t>
            </a:r>
            <a:r>
              <a:rPr lang="zh-CN" altLang="en-US" sz="1400" dirty="0" smtClean="0"/>
              <a:t>，建议必看</a:t>
            </a:r>
            <a:r>
              <a:rPr lang="en-US" altLang="zh-CN" sz="1400" dirty="0" smtClean="0"/>
              <a:t>】</a:t>
            </a:r>
            <a:r>
              <a:rPr lang="zh-CN" altLang="en-US" sz="1400" dirty="0" smtClean="0"/>
              <a:t>。</a:t>
            </a:r>
            <a:endParaRPr lang="en-US" altLang="zh-CN" sz="1400" dirty="0" smtClean="0"/>
          </a:p>
        </p:txBody>
      </p:sp>
    </p:spTree>
    <p:extLst>
      <p:ext uri="{BB962C8B-B14F-4D97-AF65-F5344CB8AC3E}">
        <p14:creationId xmlns:p14="http://schemas.microsoft.com/office/powerpoint/2010/main" val="2378640395"/>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1000"/>
                                        <p:tgtEl>
                                          <p:spTgt spid="18"/>
                                        </p:tgtEl>
                                      </p:cBhvr>
                                    </p:animEffect>
                                    <p:anim calcmode="lin" valueType="num">
                                      <p:cBhvr>
                                        <p:cTn id="22" dur="1000" fill="hold"/>
                                        <p:tgtEl>
                                          <p:spTgt spid="18"/>
                                        </p:tgtEl>
                                        <p:attrNameLst>
                                          <p:attrName>ppt_x</p:attrName>
                                        </p:attrNameLst>
                                      </p:cBhvr>
                                      <p:tavLst>
                                        <p:tav tm="0">
                                          <p:val>
                                            <p:strVal val="#ppt_x"/>
                                          </p:val>
                                        </p:tav>
                                        <p:tav tm="100000">
                                          <p:val>
                                            <p:strVal val="#ppt_x"/>
                                          </p:val>
                                        </p:tav>
                                      </p:tavLst>
                                    </p:anim>
                                    <p:anim calcmode="lin" valueType="num">
                                      <p:cBhvr>
                                        <p:cTn id="2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anim calcmode="lin" valueType="num">
                                      <p:cBhvr>
                                        <p:cTn id="29" dur="1000" fill="hold"/>
                                        <p:tgtEl>
                                          <p:spTgt spid="19"/>
                                        </p:tgtEl>
                                        <p:attrNameLst>
                                          <p:attrName>ppt_x</p:attrName>
                                        </p:attrNameLst>
                                      </p:cBhvr>
                                      <p:tavLst>
                                        <p:tav tm="0">
                                          <p:val>
                                            <p:strVal val="#ppt_x"/>
                                          </p:val>
                                        </p:tav>
                                        <p:tav tm="100000">
                                          <p:val>
                                            <p:strVal val="#ppt_x"/>
                                          </p:val>
                                        </p:tav>
                                      </p:tavLst>
                                    </p:anim>
                                    <p:anim calcmode="lin" valueType="num">
                                      <p:cBhvr>
                                        <p:cTn id="3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6" grpId="0"/>
      <p:bldP spid="18"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248460" y="177223"/>
            <a:ext cx="1172116"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④ 挤牛奶</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3927229"/>
          </a:xfrm>
          <a:prstGeom prst="rect">
            <a:avLst/>
          </a:prstGeom>
        </p:spPr>
        <p:txBody>
          <a:bodyPr wrap="square">
            <a:spAutoFit/>
            <a:scene3d>
              <a:camera prst="orthographicFront"/>
              <a:lightRig rig="threePt" dir="t"/>
            </a:scene3d>
            <a:sp3d contourW="12700"/>
          </a:bodyPr>
          <a:lstStyle/>
          <a:p>
            <a:pPr algn="ctr"/>
            <a:r>
              <a:rPr lang="zh-CN" altLang="en-US" sz="1400" b="1" dirty="0" smtClean="0"/>
              <a:t>挤牛奶</a:t>
            </a:r>
            <a:endParaRPr lang="zh-CN" altLang="zh-CN" sz="1400" dirty="0"/>
          </a:p>
          <a:p>
            <a:r>
              <a:rPr lang="zh-CN" altLang="zh-CN" sz="1400" b="1" dirty="0"/>
              <a:t>【题目描述】</a:t>
            </a:r>
            <a:endParaRPr lang="zh-CN" altLang="zh-CN" sz="1400" dirty="0"/>
          </a:p>
          <a:p>
            <a:r>
              <a:rPr lang="en-US" altLang="zh-CN" sz="1400" dirty="0" smtClean="0"/>
              <a:t>    </a:t>
            </a:r>
            <a:r>
              <a:rPr lang="zh-CN" altLang="zh-CN" sz="1400" dirty="0" smtClean="0"/>
              <a:t>小</a:t>
            </a:r>
            <a:r>
              <a:rPr lang="zh-CN" altLang="zh-CN" sz="1400" dirty="0"/>
              <a:t>卡卡说要帮农夫</a:t>
            </a:r>
            <a:r>
              <a:rPr lang="en-US" altLang="zh-CN" sz="1400" dirty="0"/>
              <a:t>John</a:t>
            </a:r>
            <a:r>
              <a:rPr lang="zh-CN" altLang="zh-CN" sz="1400" dirty="0"/>
              <a:t>一起挤牛奶。</a:t>
            </a:r>
            <a:r>
              <a:rPr lang="en-US" altLang="zh-CN" sz="1400" dirty="0"/>
              <a:t>John</a:t>
            </a:r>
            <a:r>
              <a:rPr lang="zh-CN" altLang="zh-CN" sz="1400" dirty="0"/>
              <a:t>答应了，他把他的</a:t>
            </a:r>
            <a:r>
              <a:rPr lang="en-US" altLang="zh-CN" sz="1400" dirty="0"/>
              <a:t>n</a:t>
            </a:r>
            <a:r>
              <a:rPr lang="zh-CN" altLang="zh-CN" sz="1400" dirty="0" smtClean="0"/>
              <a:t>头</a:t>
            </a:r>
            <a:r>
              <a:rPr lang="zh-CN" altLang="en-US" sz="1400" dirty="0" smtClean="0"/>
              <a:t>奶牛</a:t>
            </a:r>
            <a:r>
              <a:rPr lang="zh-CN" altLang="zh-CN" sz="1400" dirty="0" smtClean="0"/>
              <a:t>中</a:t>
            </a:r>
            <a:r>
              <a:rPr lang="zh-CN" altLang="zh-CN" sz="1400" dirty="0"/>
              <a:t>的</a:t>
            </a:r>
            <a:r>
              <a:rPr lang="en-US" altLang="zh-CN" sz="1400" dirty="0"/>
              <a:t>n/2</a:t>
            </a:r>
            <a:r>
              <a:rPr lang="zh-CN" altLang="zh-CN" sz="1400" dirty="0"/>
              <a:t>头（</a:t>
            </a:r>
            <a:r>
              <a:rPr lang="en-US" altLang="zh-CN" sz="1400" dirty="0"/>
              <a:t>n</a:t>
            </a:r>
            <a:r>
              <a:rPr lang="zh-CN" altLang="zh-CN" sz="1400" dirty="0"/>
              <a:t>是个偶数）分给小卡卡挤，他自己挤剩下的</a:t>
            </a:r>
            <a:r>
              <a:rPr lang="en-US" altLang="zh-CN" sz="1400" dirty="0"/>
              <a:t>n/2</a:t>
            </a:r>
            <a:r>
              <a:rPr lang="zh-CN" altLang="zh-CN" sz="1400" dirty="0"/>
              <a:t>头奶牛。但是每一头奶牛都有不同的产奶量，农夫</a:t>
            </a:r>
            <a:r>
              <a:rPr lang="en-US" altLang="zh-CN" sz="1400" dirty="0"/>
              <a:t>John</a:t>
            </a:r>
            <a:r>
              <a:rPr lang="zh-CN" altLang="zh-CN" sz="1400" dirty="0"/>
              <a:t>希望他们两个所挤的牛奶的总量之差最小</a:t>
            </a:r>
            <a:r>
              <a:rPr lang="zh-CN" altLang="zh-CN" sz="1400" dirty="0" smtClean="0"/>
              <a:t>。</a:t>
            </a:r>
            <a:endParaRPr lang="zh-CN" altLang="zh-CN" sz="1400" dirty="0"/>
          </a:p>
          <a:p>
            <a:endParaRPr lang="zh-CN" altLang="zh-CN" sz="1400" dirty="0"/>
          </a:p>
          <a:p>
            <a:r>
              <a:rPr lang="zh-CN" altLang="zh-CN" sz="1400" b="1" dirty="0" smtClean="0"/>
              <a:t>【样例输入】</a:t>
            </a:r>
            <a:endParaRPr lang="zh-CN" altLang="zh-CN" sz="1400" dirty="0" smtClean="0"/>
          </a:p>
          <a:p>
            <a:r>
              <a:rPr lang="en-US" altLang="zh-CN" sz="1400" dirty="0" smtClean="0"/>
              <a:t>6</a:t>
            </a:r>
            <a:endParaRPr lang="zh-CN" altLang="zh-CN" sz="1400" dirty="0"/>
          </a:p>
          <a:p>
            <a:r>
              <a:rPr lang="en-US" altLang="zh-CN" sz="1400" dirty="0"/>
              <a:t>7 9 2 6 4 </a:t>
            </a:r>
            <a:r>
              <a:rPr lang="en-US" altLang="zh-CN" sz="1400" dirty="0" smtClean="0"/>
              <a:t>2</a:t>
            </a:r>
          </a:p>
          <a:p>
            <a:pPr>
              <a:lnSpc>
                <a:spcPct val="80000"/>
              </a:lnSpc>
            </a:pPr>
            <a:endParaRPr lang="zh-CN" altLang="zh-CN" sz="1400" dirty="0"/>
          </a:p>
          <a:p>
            <a:r>
              <a:rPr lang="zh-CN" altLang="zh-CN" sz="1400" b="1" dirty="0"/>
              <a:t>【样例输出】</a:t>
            </a:r>
            <a:endParaRPr lang="zh-CN" altLang="zh-CN" sz="1400" dirty="0"/>
          </a:p>
          <a:p>
            <a:r>
              <a:rPr lang="en-US" altLang="zh-CN" sz="1400" dirty="0" smtClean="0"/>
              <a:t>0</a:t>
            </a:r>
          </a:p>
          <a:p>
            <a:endParaRPr lang="en-US" altLang="zh-CN" sz="1400" dirty="0"/>
          </a:p>
          <a:p>
            <a:r>
              <a:rPr lang="zh-CN" altLang="zh-CN" sz="1400" b="1" dirty="0" smtClean="0"/>
              <a:t>【</a:t>
            </a:r>
            <a:r>
              <a:rPr lang="zh-CN" altLang="en-US" sz="1400" b="1" dirty="0" smtClean="0"/>
              <a:t>数据范围</a:t>
            </a:r>
            <a:r>
              <a:rPr lang="zh-CN" altLang="zh-CN" sz="1400" b="1" dirty="0" smtClean="0"/>
              <a:t>】</a:t>
            </a:r>
            <a:endParaRPr lang="zh-CN" altLang="zh-CN" sz="1400" dirty="0"/>
          </a:p>
          <a:p>
            <a:r>
              <a:rPr lang="en-US" altLang="zh-CN" sz="1400" dirty="0" smtClean="0"/>
              <a:t>    n&lt;=100</a:t>
            </a:r>
            <a:r>
              <a:rPr lang="zh-CN" altLang="en-US" sz="1400" dirty="0" smtClean="0"/>
              <a:t>，</a:t>
            </a:r>
            <a:r>
              <a:rPr lang="en-US" altLang="zh-CN" sz="1400" dirty="0" smtClean="0"/>
              <a:t>n</a:t>
            </a:r>
            <a:r>
              <a:rPr lang="zh-CN" altLang="en-US" sz="1400" dirty="0" smtClean="0"/>
              <a:t>为偶数，产奶量总和不超过</a:t>
            </a:r>
            <a:r>
              <a:rPr lang="en-US" altLang="zh-CN" sz="1400" dirty="0" smtClean="0"/>
              <a:t>2000</a:t>
            </a:r>
            <a:r>
              <a:rPr lang="zh-CN" altLang="en-US" sz="1400" dirty="0" smtClean="0"/>
              <a:t>。</a:t>
            </a:r>
            <a:endParaRPr lang="zh-CN" altLang="zh-CN" sz="1400" dirty="0"/>
          </a:p>
          <a:p>
            <a:endParaRPr lang="zh-CN" altLang="zh-CN" sz="1400" dirty="0"/>
          </a:p>
          <a:p>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5789669" y="1053897"/>
            <a:ext cx="4964872" cy="954107"/>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en-US" sz="1400" dirty="0" smtClean="0"/>
              <a:t>设</a:t>
            </a:r>
            <a:r>
              <a:rPr lang="en-US" altLang="zh-CN" sz="1400" dirty="0" smtClean="0"/>
              <a:t>f[i][j]</a:t>
            </a:r>
            <a:r>
              <a:rPr lang="zh-CN" altLang="en-US" sz="1400" dirty="0" smtClean="0"/>
              <a:t>表示用</a:t>
            </a:r>
            <a:r>
              <a:rPr lang="en-US" altLang="zh-CN" sz="1400" dirty="0" smtClean="0"/>
              <a:t>i</a:t>
            </a:r>
            <a:r>
              <a:rPr lang="zh-CN" altLang="en-US" sz="1400" dirty="0" smtClean="0"/>
              <a:t>头奶牛产奶量为</a:t>
            </a:r>
            <a:r>
              <a:rPr lang="en-US" altLang="zh-CN" sz="1400" dirty="0" smtClean="0"/>
              <a:t>j</a:t>
            </a:r>
            <a:r>
              <a:rPr lang="zh-CN" altLang="en-US" sz="1400" dirty="0" smtClean="0"/>
              <a:t>的状态，状态转移为：</a:t>
            </a:r>
            <a:endParaRPr lang="en-US" altLang="zh-CN" sz="1400" dirty="0" smtClean="0"/>
          </a:p>
          <a:p>
            <a:r>
              <a:rPr lang="en-US" altLang="zh-CN" sz="1400" dirty="0"/>
              <a:t> </a:t>
            </a:r>
            <a:r>
              <a:rPr lang="en-US" altLang="zh-CN" sz="1400" dirty="0" smtClean="0"/>
              <a:t>   f[i][j]=f[i][j]|f[i-1][j-a[k]]</a:t>
            </a:r>
          </a:p>
          <a:p>
            <a:r>
              <a:rPr lang="en-US" altLang="zh-CN" sz="1400" dirty="0"/>
              <a:t> </a:t>
            </a:r>
            <a:r>
              <a:rPr lang="en-US" altLang="zh-CN" sz="1400" dirty="0" smtClean="0"/>
              <a:t>   </a:t>
            </a:r>
            <a:r>
              <a:rPr lang="zh-CN" altLang="en-US" sz="1400" dirty="0" smtClean="0"/>
              <a:t>边界条件</a:t>
            </a:r>
            <a:r>
              <a:rPr lang="en-US" altLang="zh-CN" sz="1400" dirty="0" smtClean="0"/>
              <a:t>f[0][0]=True</a:t>
            </a:r>
            <a:r>
              <a:rPr lang="zh-CN" altLang="en-US" sz="1400" dirty="0" smtClean="0"/>
              <a:t>，</a:t>
            </a:r>
            <a:r>
              <a:rPr lang="en-US" altLang="zh-CN" sz="1400" dirty="0"/>
              <a:t>m=Sum(</a:t>
            </a:r>
            <a:r>
              <a:rPr lang="en-US" altLang="zh-CN" sz="1400" dirty="0" err="1"/>
              <a:t>a</a:t>
            </a:r>
            <a:r>
              <a:rPr lang="en-US" altLang="zh-CN" sz="1400" baseline="-25000" dirty="0" err="1"/>
              <a:t>k</a:t>
            </a:r>
            <a:r>
              <a:rPr lang="en-US" altLang="zh-CN" sz="1400" dirty="0"/>
              <a:t>)</a:t>
            </a:r>
            <a:r>
              <a:rPr lang="zh-CN" altLang="en-US" sz="1400" dirty="0" smtClean="0"/>
              <a:t>。</a:t>
            </a:r>
            <a:endParaRPr lang="zh-CN" altLang="zh-CN" sz="1400" dirty="0"/>
          </a:p>
        </p:txBody>
      </p:sp>
      <p:sp>
        <p:nvSpPr>
          <p:cNvPr id="14" name="矩形 13">
            <a:extLst>
              <a:ext uri="{FF2B5EF4-FFF2-40B4-BE49-F238E27FC236}">
                <a16:creationId xmlns:a16="http://schemas.microsoft.com/office/drawing/2014/main" xmlns="" id="{499D06B3-3687-44BF-84DD-1E5915B49CAA}"/>
              </a:ext>
            </a:extLst>
          </p:cNvPr>
          <p:cNvSpPr/>
          <p:nvPr/>
        </p:nvSpPr>
        <p:spPr>
          <a:xfrm>
            <a:off x="5789669" y="2008004"/>
            <a:ext cx="4964873" cy="954107"/>
          </a:xfrm>
          <a:prstGeom prst="rect">
            <a:avLst/>
          </a:prstGeom>
        </p:spPr>
        <p:txBody>
          <a:bodyPr wrap="square">
            <a:spAutoFit/>
            <a:scene3d>
              <a:camera prst="orthographicFront"/>
              <a:lightRig rig="threePt" dir="t"/>
            </a:scene3d>
            <a:sp3d contourW="12700"/>
          </a:bodyPr>
          <a:lstStyle/>
          <a:p>
            <a:r>
              <a:rPr lang="en-US" altLang="zh-CN" sz="1400" dirty="0" smtClean="0"/>
              <a:t>    for (k=1;k&lt;=</a:t>
            </a:r>
            <a:r>
              <a:rPr lang="en-US" altLang="zh-CN" sz="1400" dirty="0" err="1" smtClean="0"/>
              <a:t>n;k</a:t>
            </a:r>
            <a:r>
              <a:rPr lang="en-US" altLang="zh-CN" sz="1400" dirty="0" smtClean="0"/>
              <a:t>++)</a:t>
            </a:r>
          </a:p>
          <a:p>
            <a:r>
              <a:rPr lang="en-US" altLang="zh-CN" sz="1400" dirty="0"/>
              <a:t> </a:t>
            </a:r>
            <a:r>
              <a:rPr lang="en-US" altLang="zh-CN" sz="1400" dirty="0" smtClean="0"/>
              <a:t>       for (i=min(</a:t>
            </a:r>
            <a:r>
              <a:rPr lang="en-US" altLang="zh-CN" sz="1400" dirty="0" err="1" smtClean="0"/>
              <a:t>k,n</a:t>
            </a:r>
            <a:r>
              <a:rPr lang="en-US" altLang="zh-CN" sz="1400" dirty="0" smtClean="0"/>
              <a:t>/2);i&gt;=1;i--)</a:t>
            </a:r>
          </a:p>
          <a:p>
            <a:r>
              <a:rPr lang="en-US" altLang="zh-CN" sz="1400" dirty="0" smtClean="0"/>
              <a:t>            for (j=a[k];j&lt;=m/2;j++)</a:t>
            </a:r>
          </a:p>
          <a:p>
            <a:r>
              <a:rPr lang="en-US" altLang="zh-CN" sz="1400" dirty="0"/>
              <a:t> </a:t>
            </a:r>
            <a:r>
              <a:rPr lang="en-US" altLang="zh-CN" sz="1400" dirty="0" smtClean="0"/>
              <a:t>               f[i][j]|=f[i-1][j-a[k]]</a:t>
            </a:r>
            <a:endParaRPr lang="zh-CN" altLang="en-US" sz="1400" dirty="0"/>
          </a:p>
        </p:txBody>
      </p:sp>
      <p:sp>
        <p:nvSpPr>
          <p:cNvPr id="15" name="矩形 14">
            <a:extLst>
              <a:ext uri="{FF2B5EF4-FFF2-40B4-BE49-F238E27FC236}">
                <a16:creationId xmlns:a16="http://schemas.microsoft.com/office/drawing/2014/main" xmlns="" id="{7169A55A-483D-4542-B072-E8C204367D45}"/>
              </a:ext>
            </a:extLst>
          </p:cNvPr>
          <p:cNvSpPr/>
          <p:nvPr/>
        </p:nvSpPr>
        <p:spPr>
          <a:xfrm>
            <a:off x="5789669" y="2962111"/>
            <a:ext cx="5368016" cy="1384995"/>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en-US" sz="1400" dirty="0" smtClean="0"/>
              <a:t>最后找</a:t>
            </a:r>
            <a:r>
              <a:rPr lang="en-US" altLang="zh-CN" sz="1400" dirty="0" smtClean="0"/>
              <a:t>f[n/2][j]</a:t>
            </a:r>
            <a:r>
              <a:rPr lang="zh-CN" altLang="en-US" sz="1400" dirty="0" smtClean="0"/>
              <a:t>中最大的不超过</a:t>
            </a:r>
            <a:r>
              <a:rPr lang="en-US" altLang="zh-CN" sz="1400" dirty="0" smtClean="0"/>
              <a:t>m/2</a:t>
            </a:r>
            <a:r>
              <a:rPr lang="zh-CN" altLang="en-US" sz="1400" dirty="0" smtClean="0"/>
              <a:t>的存在的状态</a:t>
            </a:r>
            <a:r>
              <a:rPr lang="en-US" altLang="zh-CN" sz="1400" dirty="0" smtClean="0"/>
              <a:t>j</a:t>
            </a:r>
            <a:r>
              <a:rPr lang="zh-CN" altLang="en-US" sz="1400" dirty="0" smtClean="0"/>
              <a:t>即可。</a:t>
            </a:r>
            <a:endParaRPr lang="en-US" altLang="zh-CN" sz="1400" dirty="0" smtClean="0"/>
          </a:p>
          <a:p>
            <a:r>
              <a:rPr lang="en-US" altLang="zh-CN" sz="1400" dirty="0" smtClean="0"/>
              <a:t>    </a:t>
            </a:r>
          </a:p>
          <a:p>
            <a:r>
              <a:rPr lang="en-US" altLang="zh-CN" sz="1400" dirty="0"/>
              <a:t> </a:t>
            </a:r>
            <a:r>
              <a:rPr lang="en-US" altLang="zh-CN" sz="1400" dirty="0" smtClean="0"/>
              <a:t>   </a:t>
            </a:r>
            <a:r>
              <a:rPr lang="zh-CN" altLang="zh-CN" sz="1400" dirty="0" smtClean="0"/>
              <a:t>动态规划</a:t>
            </a:r>
            <a:r>
              <a:rPr lang="zh-CN" altLang="zh-CN" sz="1400" dirty="0"/>
              <a:t>的</a:t>
            </a:r>
            <a:r>
              <a:rPr lang="en-US" altLang="zh-CN" sz="1400" dirty="0"/>
              <a:t>f</a:t>
            </a:r>
            <a:r>
              <a:rPr lang="zh-CN" altLang="zh-CN" sz="1400" dirty="0"/>
              <a:t>值不仅仅表示结果，而成为了获得结果中的一环，</a:t>
            </a:r>
            <a:r>
              <a:rPr lang="zh-CN" altLang="zh-CN" sz="1400" dirty="0" smtClean="0"/>
              <a:t>比如说</a:t>
            </a:r>
            <a:r>
              <a:rPr lang="en-US" altLang="zh-CN" sz="1400" dirty="0" smtClean="0"/>
              <a:t>f</a:t>
            </a:r>
            <a:r>
              <a:rPr lang="zh-CN" altLang="zh-CN" sz="1400" dirty="0"/>
              <a:t>值也作为一个状态量存在，我们最终需要求得的结果是一个是否存在的状态量，这时</a:t>
            </a:r>
            <a:r>
              <a:rPr lang="en-US" altLang="zh-CN" sz="1400" dirty="0"/>
              <a:t>f</a:t>
            </a:r>
            <a:r>
              <a:rPr lang="zh-CN" altLang="zh-CN" sz="1400" dirty="0"/>
              <a:t>的值就由直接导向结果变为了间接导向结果</a:t>
            </a:r>
            <a:r>
              <a:rPr lang="zh-CN" altLang="zh-CN" sz="1400" dirty="0" smtClean="0"/>
              <a:t>。</a:t>
            </a:r>
            <a:endParaRPr lang="zh-CN" altLang="zh-CN" sz="1400" dirty="0"/>
          </a:p>
        </p:txBody>
      </p:sp>
    </p:spTree>
    <p:extLst>
      <p:ext uri="{BB962C8B-B14F-4D97-AF65-F5344CB8AC3E}">
        <p14:creationId xmlns:p14="http://schemas.microsoft.com/office/powerpoint/2010/main" val="3263915700"/>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33044" y="177223"/>
            <a:ext cx="1402948"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⑤ 石子合并</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1384995"/>
          </a:xfrm>
          <a:prstGeom prst="rect">
            <a:avLst/>
          </a:prstGeom>
        </p:spPr>
        <p:txBody>
          <a:bodyPr wrap="square">
            <a:spAutoFit/>
            <a:scene3d>
              <a:camera prst="orthographicFront"/>
              <a:lightRig rig="threePt" dir="t"/>
            </a:scene3d>
            <a:sp3d contourW="12700"/>
          </a:bodyPr>
          <a:lstStyle/>
          <a:p>
            <a:pPr algn="ctr"/>
            <a:r>
              <a:rPr lang="zh-CN" altLang="en-US" sz="1400" b="1" dirty="0" smtClean="0"/>
              <a:t>石子合并</a:t>
            </a:r>
            <a:endParaRPr lang="zh-CN" altLang="zh-CN" sz="1400" dirty="0"/>
          </a:p>
          <a:p>
            <a:r>
              <a:rPr lang="zh-CN" altLang="zh-CN" sz="1400" b="1" dirty="0"/>
              <a:t>【题目描述】</a:t>
            </a:r>
            <a:endParaRPr lang="zh-CN" altLang="zh-CN" sz="1400" dirty="0"/>
          </a:p>
          <a:p>
            <a:r>
              <a:rPr lang="en-US" altLang="zh-CN" sz="1400" dirty="0" smtClean="0"/>
              <a:t>    </a:t>
            </a:r>
            <a:r>
              <a:rPr lang="zh-CN" altLang="en-US" sz="1400" dirty="0" smtClean="0"/>
              <a:t>有</a:t>
            </a:r>
            <a:r>
              <a:rPr lang="en-US" altLang="zh-CN" sz="1400" dirty="0" smtClean="0"/>
              <a:t>n</a:t>
            </a:r>
            <a:r>
              <a:rPr lang="zh-CN" altLang="en-US" sz="1400" dirty="0" smtClean="0"/>
              <a:t>堆石子摆成一列，每堆石子有一个重量</a:t>
            </a:r>
            <a:r>
              <a:rPr lang="en-US" altLang="zh-CN" sz="1400" dirty="0" smtClean="0"/>
              <a:t>w[i]</a:t>
            </a:r>
            <a:r>
              <a:rPr lang="zh-CN" altLang="zh-CN" sz="1400" dirty="0" smtClean="0"/>
              <a:t>。</a:t>
            </a:r>
            <a:r>
              <a:rPr lang="zh-CN" altLang="zh-CN" sz="1400" dirty="0"/>
              <a:t>现要将石子有次序地合并成一堆。规定每次只能选相邻的</a:t>
            </a:r>
            <a:r>
              <a:rPr lang="en-US" altLang="zh-CN" sz="1400" dirty="0"/>
              <a:t>2</a:t>
            </a:r>
            <a:r>
              <a:rPr lang="zh-CN" altLang="zh-CN" sz="1400" dirty="0"/>
              <a:t>堆石子合并成新的一堆，并将新的一堆石子数记为该次合并的得分。</a:t>
            </a:r>
            <a:r>
              <a:rPr lang="en-US" altLang="zh-CN" sz="1400" dirty="0"/>
              <a:t/>
            </a:r>
            <a:br>
              <a:rPr lang="en-US" altLang="zh-CN" sz="1400" dirty="0"/>
            </a:br>
            <a:r>
              <a:rPr lang="en-US" altLang="zh-CN" sz="1400" dirty="0"/>
              <a:t>    </a:t>
            </a:r>
            <a:r>
              <a:rPr lang="zh-CN" altLang="zh-CN" sz="1400" dirty="0"/>
              <a:t>试设计一</a:t>
            </a:r>
            <a:r>
              <a:rPr lang="zh-CN" altLang="zh-CN" sz="1400" dirty="0" smtClean="0"/>
              <a:t>个算法，计算</a:t>
            </a:r>
            <a:r>
              <a:rPr lang="zh-CN" altLang="zh-CN" sz="1400" dirty="0"/>
              <a:t>出将</a:t>
            </a:r>
            <a:r>
              <a:rPr lang="en-US" altLang="zh-CN" sz="1400" dirty="0"/>
              <a:t>n</a:t>
            </a:r>
            <a:r>
              <a:rPr lang="zh-CN" altLang="zh-CN" sz="1400" dirty="0"/>
              <a:t>堆石子合并成一堆的最小</a:t>
            </a:r>
            <a:r>
              <a:rPr lang="zh-CN" altLang="zh-CN" sz="1400" dirty="0" smtClean="0"/>
              <a:t>得分。</a:t>
            </a:r>
            <a:endParaRPr lang="zh-CN"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706354" y="2892477"/>
            <a:ext cx="4964872" cy="1169551"/>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en-US" sz="1400" dirty="0" smtClean="0"/>
              <a:t>设</a:t>
            </a:r>
            <a:r>
              <a:rPr lang="en-US" altLang="zh-CN" sz="1400" dirty="0" smtClean="0"/>
              <a:t>f[i][j]</a:t>
            </a:r>
            <a:r>
              <a:rPr lang="zh-CN" altLang="en-US" sz="1400" dirty="0" smtClean="0"/>
              <a:t>表示合并第</a:t>
            </a:r>
            <a:r>
              <a:rPr lang="en-US" altLang="zh-CN" sz="1400" dirty="0" smtClean="0"/>
              <a:t>i</a:t>
            </a:r>
            <a:r>
              <a:rPr lang="zh-CN" altLang="en-US" sz="1400" dirty="0" smtClean="0"/>
              <a:t>堆到第</a:t>
            </a:r>
            <a:r>
              <a:rPr lang="en-US" altLang="zh-CN" sz="1400" dirty="0" smtClean="0"/>
              <a:t>j</a:t>
            </a:r>
            <a:r>
              <a:rPr lang="zh-CN" altLang="en-US" sz="1400" dirty="0" smtClean="0"/>
              <a:t>堆石子的最小代价。已知若</a:t>
            </a:r>
            <a:r>
              <a:rPr lang="en-US" altLang="zh-CN" sz="1400" dirty="0" smtClean="0"/>
              <a:t>[</a:t>
            </a:r>
            <a:r>
              <a:rPr lang="en-US" altLang="zh-CN" sz="1400" dirty="0" err="1" smtClean="0"/>
              <a:t>i,j</a:t>
            </a:r>
            <a:r>
              <a:rPr lang="en-US" altLang="zh-CN" sz="1400" dirty="0" smtClean="0"/>
              <a:t>]</a:t>
            </a:r>
            <a:r>
              <a:rPr lang="zh-CN" altLang="en-US" sz="1400" dirty="0" smtClean="0"/>
              <a:t>并成一堆，上一步必然有两堆</a:t>
            </a:r>
            <a:r>
              <a:rPr lang="en-US" altLang="zh-CN" sz="1400" dirty="0" smtClean="0"/>
              <a:t>[</a:t>
            </a:r>
            <a:r>
              <a:rPr lang="en-US" altLang="zh-CN" sz="1400" dirty="0" err="1" smtClean="0"/>
              <a:t>i,k</a:t>
            </a:r>
            <a:r>
              <a:rPr lang="en-US" altLang="zh-CN" sz="1400" dirty="0" smtClean="0"/>
              <a:t>][k+1,j]</a:t>
            </a:r>
            <a:r>
              <a:rPr lang="zh-CN" altLang="en-US" sz="1400" dirty="0" smtClean="0"/>
              <a:t>，则状态转移方程如下：</a:t>
            </a:r>
            <a:endParaRPr lang="en-US" altLang="zh-CN" sz="1400" dirty="0" smtClean="0"/>
          </a:p>
          <a:p>
            <a:r>
              <a:rPr lang="en-US" altLang="zh-CN" sz="1400" dirty="0"/>
              <a:t> </a:t>
            </a:r>
            <a:r>
              <a:rPr lang="en-US" altLang="zh-CN" sz="1400" dirty="0" smtClean="0"/>
              <a:t>   f[i][j]=max(f[i][j],f[i][k]+f[k+1][j]+sum(</a:t>
            </a:r>
            <a:r>
              <a:rPr lang="en-US" altLang="zh-CN" sz="1400" dirty="0" err="1" smtClean="0"/>
              <a:t>i,j</a:t>
            </a:r>
            <a:r>
              <a:rPr lang="en-US" altLang="zh-CN" sz="1400" dirty="0" smtClean="0"/>
              <a:t>))	i&lt;=k&lt;j</a:t>
            </a:r>
          </a:p>
          <a:p>
            <a:r>
              <a:rPr lang="en-US" altLang="zh-CN" sz="1400" dirty="0"/>
              <a:t> </a:t>
            </a:r>
            <a:r>
              <a:rPr lang="en-US" altLang="zh-CN" sz="1400" dirty="0" smtClean="0"/>
              <a:t>   sum(</a:t>
            </a:r>
            <a:r>
              <a:rPr lang="en-US" altLang="zh-CN" sz="1400" dirty="0" err="1" smtClean="0"/>
              <a:t>i,j</a:t>
            </a:r>
            <a:r>
              <a:rPr lang="en-US" altLang="zh-CN" sz="1400" dirty="0" smtClean="0"/>
              <a:t>)=a[i]+…+a[j]</a:t>
            </a:r>
            <a:r>
              <a:rPr lang="zh-CN" altLang="en-US" sz="1400" dirty="0" smtClean="0"/>
              <a:t>，可预处理为</a:t>
            </a:r>
            <a:r>
              <a:rPr lang="en-US" altLang="zh-CN" sz="1400" dirty="0" smtClean="0"/>
              <a:t>g[i][j]</a:t>
            </a:r>
            <a:r>
              <a:rPr lang="zh-CN" altLang="en-US" sz="1400" dirty="0" smtClean="0"/>
              <a:t>。边界条件</a:t>
            </a:r>
            <a:r>
              <a:rPr lang="en-US" altLang="zh-CN" sz="1400" dirty="0" smtClean="0"/>
              <a:t>f[i][i]=0</a:t>
            </a:r>
            <a:r>
              <a:rPr lang="zh-CN" altLang="en-US" sz="1400" dirty="0" smtClean="0"/>
              <a:t>。</a:t>
            </a:r>
            <a:endParaRPr lang="en-US" altLang="zh-CN" sz="1400" dirty="0" smtClean="0"/>
          </a:p>
        </p:txBody>
      </p:sp>
      <p:sp>
        <p:nvSpPr>
          <p:cNvPr id="15" name="矩形 14">
            <a:extLst>
              <a:ext uri="{FF2B5EF4-FFF2-40B4-BE49-F238E27FC236}">
                <a16:creationId xmlns:a16="http://schemas.microsoft.com/office/drawing/2014/main" xmlns="" id="{7169A55A-483D-4542-B072-E8C204367D45}"/>
              </a:ext>
            </a:extLst>
          </p:cNvPr>
          <p:cNvSpPr/>
          <p:nvPr/>
        </p:nvSpPr>
        <p:spPr>
          <a:xfrm>
            <a:off x="5789669" y="776898"/>
            <a:ext cx="5368016" cy="523220"/>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en-US" sz="1400" dirty="0" smtClean="0"/>
              <a:t>当要表示的状态较为复杂后，</a:t>
            </a:r>
            <a:r>
              <a:rPr lang="en-US" altLang="zh-CN" sz="1400" dirty="0" err="1" smtClean="0"/>
              <a:t>dp</a:t>
            </a:r>
            <a:r>
              <a:rPr lang="zh-CN" altLang="en-US" sz="1400" dirty="0" smtClean="0"/>
              <a:t>数组就不止一维了，每一维表示一部分状态，配合</a:t>
            </a:r>
            <a:r>
              <a:rPr lang="en-US" altLang="zh-CN" sz="1400" dirty="0" err="1" smtClean="0"/>
              <a:t>dp</a:t>
            </a:r>
            <a:r>
              <a:rPr lang="zh-CN" altLang="en-US" sz="1400" dirty="0" smtClean="0"/>
              <a:t>数组的值组合到一起表示一个完整的状态。</a:t>
            </a:r>
            <a:endParaRPr lang="zh-CN" altLang="zh-CN" sz="1400" dirty="0"/>
          </a:p>
        </p:txBody>
      </p:sp>
      <p:sp>
        <p:nvSpPr>
          <p:cNvPr id="12" name="矩形 11">
            <a:extLst>
              <a:ext uri="{FF2B5EF4-FFF2-40B4-BE49-F238E27FC236}">
                <a16:creationId xmlns:a16="http://schemas.microsoft.com/office/drawing/2014/main" xmlns="" id="{499D06B3-3687-44BF-84DD-1E5915B49CAA}"/>
              </a:ext>
            </a:extLst>
          </p:cNvPr>
          <p:cNvSpPr/>
          <p:nvPr/>
        </p:nvSpPr>
        <p:spPr>
          <a:xfrm>
            <a:off x="706353" y="4230504"/>
            <a:ext cx="4964873" cy="1169551"/>
          </a:xfrm>
          <a:prstGeom prst="rect">
            <a:avLst/>
          </a:prstGeom>
        </p:spPr>
        <p:txBody>
          <a:bodyPr wrap="square">
            <a:spAutoFit/>
            <a:scene3d>
              <a:camera prst="orthographicFront"/>
              <a:lightRig rig="threePt" dir="t"/>
            </a:scene3d>
            <a:sp3d contourW="12700"/>
          </a:bodyPr>
          <a:lstStyle/>
          <a:p>
            <a:r>
              <a:rPr lang="en-US" altLang="zh-CN" sz="1400" dirty="0" smtClean="0"/>
              <a:t>    for (i=1;i&lt;=</a:t>
            </a:r>
            <a:r>
              <a:rPr lang="en-US" altLang="zh-CN" sz="1400" dirty="0" err="1" smtClean="0"/>
              <a:t>n;i</a:t>
            </a:r>
            <a:r>
              <a:rPr lang="en-US" altLang="zh-CN" sz="1400" dirty="0" smtClean="0"/>
              <a:t>++) f[i][i]=0;</a:t>
            </a:r>
          </a:p>
          <a:p>
            <a:r>
              <a:rPr lang="en-US" altLang="zh-CN" sz="1400" dirty="0"/>
              <a:t> </a:t>
            </a:r>
            <a:r>
              <a:rPr lang="en-US" altLang="zh-CN" sz="1400" dirty="0" smtClean="0"/>
              <a:t>   for (i=2;i&lt;=</a:t>
            </a:r>
            <a:r>
              <a:rPr lang="en-US" altLang="zh-CN" sz="1400" dirty="0" err="1" smtClean="0"/>
              <a:t>n;i</a:t>
            </a:r>
            <a:r>
              <a:rPr lang="en-US" altLang="zh-CN" sz="1400" dirty="0" smtClean="0"/>
              <a:t>++)</a:t>
            </a:r>
          </a:p>
          <a:p>
            <a:r>
              <a:rPr lang="en-US" altLang="zh-CN" sz="1400" dirty="0"/>
              <a:t> </a:t>
            </a:r>
            <a:r>
              <a:rPr lang="en-US" altLang="zh-CN" sz="1400" dirty="0" smtClean="0"/>
              <a:t>       for (j=1;j+i-1&lt;=</a:t>
            </a:r>
            <a:r>
              <a:rPr lang="en-US" altLang="zh-CN" sz="1400" dirty="0" err="1" smtClean="0"/>
              <a:t>n;j</a:t>
            </a:r>
            <a:r>
              <a:rPr lang="en-US" altLang="zh-CN" sz="1400" dirty="0" smtClean="0"/>
              <a:t>++)</a:t>
            </a:r>
          </a:p>
          <a:p>
            <a:r>
              <a:rPr lang="en-US" altLang="zh-CN" sz="1400" dirty="0"/>
              <a:t> </a:t>
            </a:r>
            <a:r>
              <a:rPr lang="en-US" altLang="zh-CN" sz="1400" dirty="0" smtClean="0"/>
              <a:t>           for (f[i][j]=</a:t>
            </a:r>
            <a:r>
              <a:rPr lang="en-US" altLang="zh-CN" sz="1400" dirty="0" err="1" smtClean="0"/>
              <a:t>inf,k</a:t>
            </a:r>
            <a:r>
              <a:rPr lang="en-US" altLang="zh-CN" sz="1400" dirty="0" smtClean="0"/>
              <a:t>=</a:t>
            </a:r>
            <a:r>
              <a:rPr lang="en-US" altLang="zh-CN" sz="1400" dirty="0"/>
              <a:t>1</a:t>
            </a:r>
            <a:r>
              <a:rPr lang="en-US" altLang="zh-CN" sz="1400" dirty="0" smtClean="0"/>
              <a:t>;k&lt;</a:t>
            </a:r>
            <a:r>
              <a:rPr lang="en-US" altLang="zh-CN" sz="1400" dirty="0" err="1" smtClean="0"/>
              <a:t>j;k</a:t>
            </a:r>
            <a:r>
              <a:rPr lang="en-US" altLang="zh-CN" sz="1400" dirty="0" smtClean="0"/>
              <a:t>++)</a:t>
            </a:r>
          </a:p>
          <a:p>
            <a:r>
              <a:rPr lang="en-US" altLang="zh-CN" sz="1400" dirty="0"/>
              <a:t> </a:t>
            </a:r>
            <a:r>
              <a:rPr lang="en-US" altLang="zh-CN" sz="1400" dirty="0" smtClean="0"/>
              <a:t>               f[i][i+j-1]=max(f[i][i+j-1],f[i][i+k-1]+f[</a:t>
            </a:r>
            <a:r>
              <a:rPr lang="en-US" altLang="zh-CN" sz="1400" dirty="0" err="1" smtClean="0"/>
              <a:t>i+k</a:t>
            </a:r>
            <a:r>
              <a:rPr lang="en-US" altLang="zh-CN" sz="1400" dirty="0" smtClean="0"/>
              <a:t>][</a:t>
            </a:r>
            <a:r>
              <a:rPr lang="en-US" altLang="zh-CN" sz="1400" dirty="0"/>
              <a:t>j</a:t>
            </a:r>
            <a:r>
              <a:rPr lang="en-US" altLang="zh-CN" sz="1400" dirty="0" smtClean="0"/>
              <a:t>]+g[i][i+j-1]);</a:t>
            </a:r>
          </a:p>
        </p:txBody>
      </p:sp>
      <p:sp>
        <p:nvSpPr>
          <p:cNvPr id="16" name="矩形 15">
            <a:extLst>
              <a:ext uri="{FF2B5EF4-FFF2-40B4-BE49-F238E27FC236}">
                <a16:creationId xmlns:a16="http://schemas.microsoft.com/office/drawing/2014/main" xmlns="" id="{7169A55A-483D-4542-B072-E8C204367D45}"/>
              </a:ext>
            </a:extLst>
          </p:cNvPr>
          <p:cNvSpPr/>
          <p:nvPr/>
        </p:nvSpPr>
        <p:spPr>
          <a:xfrm>
            <a:off x="5826666" y="1300118"/>
            <a:ext cx="5368016" cy="1169551"/>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en-US" sz="1400" dirty="0" smtClean="0"/>
              <a:t>本题要表示一个区间的最优解的状态。一个区间有左边界和右边界，所以表示该区间的状态至少需要两个维度。这种求解一个区间相关的最优解的题目可以称为区间</a:t>
            </a:r>
            <a:r>
              <a:rPr lang="en-US" altLang="zh-CN" sz="1400" dirty="0" err="1" smtClean="0"/>
              <a:t>dp</a:t>
            </a:r>
            <a:r>
              <a:rPr lang="zh-CN" altLang="en-US" sz="1400" dirty="0" smtClean="0"/>
              <a:t>。</a:t>
            </a:r>
            <a:endParaRPr lang="en-US" altLang="zh-CN" sz="1400" dirty="0" smtClean="0"/>
          </a:p>
          <a:p>
            <a:r>
              <a:rPr lang="en-US" altLang="zh-CN" sz="1400" dirty="0"/>
              <a:t> </a:t>
            </a:r>
            <a:r>
              <a:rPr lang="en-US" altLang="zh-CN" sz="1400" dirty="0" smtClean="0"/>
              <a:t>   </a:t>
            </a:r>
            <a:r>
              <a:rPr lang="zh-CN" altLang="en-US" sz="1400" dirty="0" smtClean="0"/>
              <a:t>区间</a:t>
            </a:r>
            <a:r>
              <a:rPr lang="en-US" altLang="zh-CN" sz="1400" dirty="0" err="1" smtClean="0"/>
              <a:t>dp</a:t>
            </a:r>
            <a:r>
              <a:rPr lang="zh-CN" altLang="en-US" sz="1400" dirty="0" smtClean="0"/>
              <a:t>的区间的方案往往可以分解为更小的多个小区间，并由小区间组合转移到大区间。</a:t>
            </a:r>
            <a:endParaRPr lang="zh-CN" altLang="zh-CN" sz="1400" dirty="0"/>
          </a:p>
        </p:txBody>
      </p:sp>
      <p:sp>
        <p:nvSpPr>
          <p:cNvPr id="18" name="矩形 17"/>
          <p:cNvSpPr/>
          <p:nvPr/>
        </p:nvSpPr>
        <p:spPr>
          <a:xfrm>
            <a:off x="5991241" y="2469669"/>
            <a:ext cx="4964872" cy="1384995"/>
          </a:xfrm>
          <a:prstGeom prst="rect">
            <a:avLst/>
          </a:prstGeom>
        </p:spPr>
        <p:txBody>
          <a:bodyPr wrap="square">
            <a:spAutoFit/>
            <a:scene3d>
              <a:camera prst="orthographicFront"/>
              <a:lightRig rig="threePt" dir="t"/>
            </a:scene3d>
            <a:sp3d contourW="12700"/>
          </a:bodyPr>
          <a:lstStyle/>
          <a:p>
            <a:pPr algn="ctr"/>
            <a:r>
              <a:rPr lang="zh-CN" altLang="en-US" sz="1400" b="1" dirty="0" smtClean="0"/>
              <a:t>石子合并</a:t>
            </a:r>
            <a:endParaRPr lang="zh-CN" altLang="zh-CN" sz="1400" dirty="0"/>
          </a:p>
          <a:p>
            <a:r>
              <a:rPr lang="zh-CN" altLang="zh-CN" sz="1400" b="1" dirty="0"/>
              <a:t>【题目描述】</a:t>
            </a:r>
            <a:endParaRPr lang="zh-CN" altLang="zh-CN" sz="1400" dirty="0"/>
          </a:p>
          <a:p>
            <a:r>
              <a:rPr lang="en-US" altLang="zh-CN" sz="1400" dirty="0" smtClean="0"/>
              <a:t>    </a:t>
            </a:r>
            <a:r>
              <a:rPr lang="zh-CN" altLang="en-US" sz="1400" dirty="0" smtClean="0"/>
              <a:t>有</a:t>
            </a:r>
            <a:r>
              <a:rPr lang="en-US" altLang="zh-CN" sz="1400" dirty="0" smtClean="0"/>
              <a:t>n</a:t>
            </a:r>
            <a:r>
              <a:rPr lang="zh-CN" altLang="en-US" sz="1400" dirty="0" smtClean="0"/>
              <a:t>堆石子摆成一个环，每堆石子有一个重量</a:t>
            </a:r>
            <a:r>
              <a:rPr lang="en-US" altLang="zh-CN" sz="1400" dirty="0" smtClean="0"/>
              <a:t>w[i]</a:t>
            </a:r>
            <a:r>
              <a:rPr lang="zh-CN" altLang="zh-CN" sz="1400" dirty="0" smtClean="0"/>
              <a:t>。</a:t>
            </a:r>
            <a:r>
              <a:rPr lang="zh-CN" altLang="zh-CN" sz="1400" dirty="0"/>
              <a:t>现要将石子有次序地合并成一堆。规定每次只能选相邻的</a:t>
            </a:r>
            <a:r>
              <a:rPr lang="en-US" altLang="zh-CN" sz="1400" dirty="0"/>
              <a:t>2</a:t>
            </a:r>
            <a:r>
              <a:rPr lang="zh-CN" altLang="zh-CN" sz="1400" dirty="0"/>
              <a:t>堆石子合并成新的一堆，并将新的一堆石子数记为该次合并的得分。</a:t>
            </a:r>
            <a:r>
              <a:rPr lang="en-US" altLang="zh-CN" sz="1400" dirty="0"/>
              <a:t/>
            </a:r>
            <a:br>
              <a:rPr lang="en-US" altLang="zh-CN" sz="1400" dirty="0"/>
            </a:br>
            <a:r>
              <a:rPr lang="en-US" altLang="zh-CN" sz="1400" dirty="0"/>
              <a:t>    </a:t>
            </a:r>
            <a:r>
              <a:rPr lang="zh-CN" altLang="zh-CN" sz="1400" dirty="0"/>
              <a:t>试设计一</a:t>
            </a:r>
            <a:r>
              <a:rPr lang="zh-CN" altLang="zh-CN" sz="1400" dirty="0" smtClean="0"/>
              <a:t>个算法，计算</a:t>
            </a:r>
            <a:r>
              <a:rPr lang="zh-CN" altLang="zh-CN" sz="1400" dirty="0"/>
              <a:t>出将</a:t>
            </a:r>
            <a:r>
              <a:rPr lang="en-US" altLang="zh-CN" sz="1400" dirty="0"/>
              <a:t>n</a:t>
            </a:r>
            <a:r>
              <a:rPr lang="zh-CN" altLang="zh-CN" sz="1400" dirty="0"/>
              <a:t>堆石子合并成一堆的最小</a:t>
            </a:r>
            <a:r>
              <a:rPr lang="zh-CN" altLang="zh-CN" sz="1400" dirty="0" smtClean="0"/>
              <a:t>得分。</a:t>
            </a:r>
            <a:endParaRPr lang="zh-CN" altLang="zh-CN" sz="1400" dirty="0"/>
          </a:p>
        </p:txBody>
      </p:sp>
      <p:sp>
        <p:nvSpPr>
          <p:cNvPr id="19" name="矩形 18">
            <a:extLst>
              <a:ext uri="{FF2B5EF4-FFF2-40B4-BE49-F238E27FC236}">
                <a16:creationId xmlns:a16="http://schemas.microsoft.com/office/drawing/2014/main" xmlns="" id="{7169A55A-483D-4542-B072-E8C204367D45}"/>
              </a:ext>
            </a:extLst>
          </p:cNvPr>
          <p:cNvSpPr/>
          <p:nvPr/>
        </p:nvSpPr>
        <p:spPr>
          <a:xfrm>
            <a:off x="5789669" y="3854664"/>
            <a:ext cx="5368016" cy="954107"/>
          </a:xfrm>
          <a:prstGeom prst="rect">
            <a:avLst/>
          </a:prstGeom>
        </p:spPr>
        <p:txBody>
          <a:bodyPr wrap="square">
            <a:spAutoFit/>
            <a:scene3d>
              <a:camera prst="orthographicFront"/>
              <a:lightRig rig="threePt" dir="t"/>
            </a:scene3d>
            <a:sp3d contourW="12700"/>
          </a:bodyPr>
          <a:lstStyle/>
          <a:p>
            <a:r>
              <a:rPr lang="en-US" altLang="zh-CN" sz="1400" dirty="0" smtClean="0"/>
              <a:t>    </a:t>
            </a:r>
            <a:r>
              <a:rPr lang="zh-CN" altLang="en-US" sz="1400" dirty="0" smtClean="0"/>
              <a:t>与一般区间</a:t>
            </a:r>
            <a:r>
              <a:rPr lang="en-US" altLang="zh-CN" sz="1400" dirty="0" err="1" smtClean="0"/>
              <a:t>dp</a:t>
            </a:r>
            <a:r>
              <a:rPr lang="zh-CN" altLang="en-US" sz="1400" dirty="0" smtClean="0"/>
              <a:t>不同，环形动态规划有了首尾相连的特性。处理方法也相当简单，要么对首、尾特判处理。但更通用的是将环拆成链，比如说对一个</a:t>
            </a:r>
            <a:r>
              <a:rPr lang="en-US" altLang="zh-CN" sz="1400" dirty="0" smtClean="0"/>
              <a:t>n</a:t>
            </a:r>
            <a:r>
              <a:rPr lang="zh-CN" altLang="en-US" sz="1400" dirty="0" smtClean="0"/>
              <a:t>个点的环断</a:t>
            </a:r>
            <a:r>
              <a:rPr lang="en-US" altLang="zh-CN" sz="1400" dirty="0" smtClean="0"/>
              <a:t>n</a:t>
            </a:r>
            <a:r>
              <a:rPr lang="zh-CN" altLang="en-US" sz="1400" dirty="0" smtClean="0"/>
              <a:t>次，拆成</a:t>
            </a:r>
            <a:r>
              <a:rPr lang="en-US" altLang="zh-CN" sz="1400" dirty="0" smtClean="0"/>
              <a:t>n</a:t>
            </a:r>
            <a:r>
              <a:rPr lang="zh-CN" altLang="en-US" sz="1400" dirty="0" smtClean="0"/>
              <a:t>条链做；或断成链后，将链延长复制一遍。</a:t>
            </a:r>
            <a:endParaRPr lang="zh-CN" altLang="zh-CN" sz="1400" dirty="0"/>
          </a:p>
        </p:txBody>
      </p:sp>
      <p:sp>
        <p:nvSpPr>
          <p:cNvPr id="20" name="矩形 19">
            <a:extLst>
              <a:ext uri="{FF2B5EF4-FFF2-40B4-BE49-F238E27FC236}">
                <a16:creationId xmlns:a16="http://schemas.microsoft.com/office/drawing/2014/main" xmlns="" id="{499D06B3-3687-44BF-84DD-1E5915B49CAA}"/>
              </a:ext>
            </a:extLst>
          </p:cNvPr>
          <p:cNvSpPr/>
          <p:nvPr/>
        </p:nvSpPr>
        <p:spPr>
          <a:xfrm>
            <a:off x="6028237" y="4828996"/>
            <a:ext cx="4964873" cy="954107"/>
          </a:xfrm>
          <a:prstGeom prst="rect">
            <a:avLst/>
          </a:prstGeom>
        </p:spPr>
        <p:txBody>
          <a:bodyPr wrap="square">
            <a:spAutoFit/>
            <a:scene3d>
              <a:camera prst="orthographicFront"/>
              <a:lightRig rig="threePt" dir="t"/>
            </a:scene3d>
            <a:sp3d contourW="12700"/>
          </a:bodyPr>
          <a:lstStyle/>
          <a:p>
            <a:r>
              <a:rPr lang="en-US" altLang="zh-CN" sz="1400" dirty="0" smtClean="0"/>
              <a:t>    for (u=1;u&lt;=</a:t>
            </a:r>
            <a:r>
              <a:rPr lang="en-US" altLang="zh-CN" sz="1400" dirty="0" err="1" smtClean="0"/>
              <a:t>n;u</a:t>
            </a:r>
            <a:r>
              <a:rPr lang="en-US" altLang="zh-CN" sz="1400" dirty="0" smtClean="0"/>
              <a:t>++)</a:t>
            </a:r>
          </a:p>
          <a:p>
            <a:r>
              <a:rPr lang="en-US" altLang="zh-CN" sz="1400" dirty="0"/>
              <a:t> </a:t>
            </a:r>
            <a:r>
              <a:rPr lang="en-US" altLang="zh-CN" sz="1400" dirty="0" smtClean="0"/>
              <a:t>       for (i=1;i+u&lt;=2*</a:t>
            </a:r>
            <a:r>
              <a:rPr lang="en-US" altLang="zh-CN" sz="1400" dirty="0" err="1" smtClean="0"/>
              <a:t>n;i</a:t>
            </a:r>
            <a:r>
              <a:rPr lang="en-US" altLang="zh-CN" sz="1400" dirty="0" smtClean="0"/>
              <a:t>++)</a:t>
            </a:r>
          </a:p>
          <a:p>
            <a:r>
              <a:rPr lang="en-US" altLang="zh-CN" sz="1400" dirty="0"/>
              <a:t> </a:t>
            </a:r>
            <a:r>
              <a:rPr lang="en-US" altLang="zh-CN" sz="1400" dirty="0" smtClean="0"/>
              <a:t>           for (j=u+i-1,k=</a:t>
            </a:r>
            <a:r>
              <a:rPr lang="en-US" altLang="zh-CN" sz="1400" dirty="0" err="1" smtClean="0"/>
              <a:t>i;k</a:t>
            </a:r>
            <a:r>
              <a:rPr lang="en-US" altLang="zh-CN" sz="1400" dirty="0" smtClean="0"/>
              <a:t>&lt;</a:t>
            </a:r>
            <a:r>
              <a:rPr lang="en-US" altLang="zh-CN" sz="1400" dirty="0" err="1" smtClean="0"/>
              <a:t>j;k</a:t>
            </a:r>
            <a:r>
              <a:rPr lang="en-US" altLang="zh-CN" sz="1400" dirty="0" smtClean="0"/>
              <a:t>++)</a:t>
            </a:r>
          </a:p>
          <a:p>
            <a:r>
              <a:rPr lang="en-US" altLang="zh-CN" sz="1400" dirty="0"/>
              <a:t> </a:t>
            </a:r>
            <a:r>
              <a:rPr lang="en-US" altLang="zh-CN" sz="1400" dirty="0" smtClean="0"/>
              <a:t>               f[i][j]=min(f[i][j],f[i][k]+f[k+1][j]+g[i][j])</a:t>
            </a:r>
          </a:p>
        </p:txBody>
      </p:sp>
    </p:spTree>
    <p:extLst>
      <p:ext uri="{BB962C8B-B14F-4D97-AF65-F5344CB8AC3E}">
        <p14:creationId xmlns:p14="http://schemas.microsoft.com/office/powerpoint/2010/main" val="3378873497"/>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2" grpId="0"/>
      <p:bldP spid="16" grpId="0"/>
      <p:bldP spid="18" grpId="0"/>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017627" y="177223"/>
            <a:ext cx="163378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⑥ 尼克的任务</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5435334"/>
          </a:xfrm>
          <a:prstGeom prst="rect">
            <a:avLst/>
          </a:prstGeom>
        </p:spPr>
        <p:txBody>
          <a:bodyPr wrap="square">
            <a:spAutoFit/>
            <a:scene3d>
              <a:camera prst="orthographicFront"/>
              <a:lightRig rig="threePt" dir="t"/>
            </a:scene3d>
            <a:sp3d contourW="12700"/>
          </a:bodyPr>
          <a:lstStyle/>
          <a:p>
            <a:pPr algn="ctr"/>
            <a:r>
              <a:rPr lang="zh-CN" altLang="en-US" sz="1400" b="1" dirty="0" smtClean="0"/>
              <a:t>尼克的任务</a:t>
            </a:r>
            <a:endParaRPr lang="zh-CN" altLang="zh-CN" sz="1400" dirty="0"/>
          </a:p>
          <a:p>
            <a:r>
              <a:rPr lang="zh-CN" altLang="zh-CN" sz="1400" b="1" dirty="0"/>
              <a:t>【题目描述】</a:t>
            </a:r>
            <a:endParaRPr lang="zh-CN" altLang="zh-CN" sz="1400" dirty="0"/>
          </a:p>
          <a:p>
            <a:r>
              <a:rPr lang="zh-CN" altLang="en-US" sz="1400" dirty="0" smtClean="0"/>
              <a:t>    尼</a:t>
            </a:r>
            <a:r>
              <a:rPr lang="zh-CN" altLang="en-US" sz="1400" dirty="0"/>
              <a:t>克每天上班之前都连接上英特网，接收他的上司发来的邮件，这些邮件包含了尼克主管的部门当天要完成的全部任务，每个任务由一个开始时刻与一个持续时间构成。</a:t>
            </a:r>
          </a:p>
          <a:p>
            <a:r>
              <a:rPr lang="zh-CN" altLang="en-US" sz="1400" dirty="0" smtClean="0"/>
              <a:t>    尼</a:t>
            </a:r>
            <a:r>
              <a:rPr lang="zh-CN" altLang="en-US" sz="1400" dirty="0"/>
              <a:t>克的一个工作日</a:t>
            </a:r>
            <a:r>
              <a:rPr lang="zh-CN" altLang="en-US" sz="1400" dirty="0" smtClean="0"/>
              <a:t>为</a:t>
            </a:r>
            <a:r>
              <a:rPr lang="en-US" altLang="zh-CN" sz="1400" dirty="0" smtClean="0"/>
              <a:t>n</a:t>
            </a:r>
            <a:r>
              <a:rPr lang="zh-CN" altLang="en-US" sz="1400" dirty="0" smtClean="0"/>
              <a:t>分钟</a:t>
            </a:r>
            <a:r>
              <a:rPr lang="zh-CN" altLang="en-US" sz="1400" dirty="0"/>
              <a:t>，从</a:t>
            </a:r>
            <a:r>
              <a:rPr lang="zh-CN" altLang="en-US" sz="1400" dirty="0" smtClean="0"/>
              <a:t>第</a:t>
            </a:r>
            <a:r>
              <a:rPr lang="en-US" altLang="zh-CN" sz="1400" dirty="0" smtClean="0"/>
              <a:t>1</a:t>
            </a:r>
            <a:r>
              <a:rPr lang="zh-CN" altLang="en-US" sz="1400" dirty="0" smtClean="0"/>
              <a:t>分钟</a:t>
            </a:r>
            <a:r>
              <a:rPr lang="zh-CN" altLang="en-US" sz="1400" dirty="0"/>
              <a:t>开始到</a:t>
            </a:r>
            <a:r>
              <a:rPr lang="zh-CN" altLang="en-US" sz="1400" dirty="0" smtClean="0"/>
              <a:t>第</a:t>
            </a:r>
            <a:r>
              <a:rPr lang="en-US" altLang="zh-CN" sz="1400" dirty="0" smtClean="0"/>
              <a:t>n</a:t>
            </a:r>
            <a:r>
              <a:rPr lang="zh-CN" altLang="en-US" sz="1400" dirty="0" smtClean="0"/>
              <a:t>分钟</a:t>
            </a:r>
            <a:r>
              <a:rPr lang="zh-CN" altLang="en-US" sz="1400" dirty="0"/>
              <a:t>结束。当尼克到达单位后他就开始干活，公司一共</a:t>
            </a:r>
            <a:r>
              <a:rPr lang="zh-CN" altLang="en-US" sz="1400" dirty="0" smtClean="0"/>
              <a:t>有</a:t>
            </a:r>
            <a:r>
              <a:rPr lang="en-US" altLang="zh-CN" sz="1400" dirty="0" smtClean="0"/>
              <a:t>k</a:t>
            </a:r>
            <a:r>
              <a:rPr lang="zh-CN" altLang="en-US" sz="1400" dirty="0" smtClean="0"/>
              <a:t>个</a:t>
            </a:r>
            <a:r>
              <a:rPr lang="zh-CN" altLang="en-US" sz="1400" dirty="0"/>
              <a:t>任务需要完成。如果在同一时刻有多个任务需要完成，尼克可以任选其中的一个来做，而其余的则由他的同事完成，反之如果只有一个任务，则该任务必需由尼克去完成，假如某些任务开始时刻尼克正在工作，则这些任务也由尼克的同事完成。如果某任务于</a:t>
            </a:r>
            <a:r>
              <a:rPr lang="zh-CN" altLang="en-US" sz="1400" dirty="0" smtClean="0"/>
              <a:t>第</a:t>
            </a:r>
            <a:r>
              <a:rPr lang="en-US" altLang="zh-CN" sz="1400" dirty="0" smtClean="0"/>
              <a:t>p</a:t>
            </a:r>
            <a:r>
              <a:rPr lang="zh-CN" altLang="en-US" sz="1400" dirty="0" smtClean="0"/>
              <a:t>分钟</a:t>
            </a:r>
            <a:r>
              <a:rPr lang="zh-CN" altLang="en-US" sz="1400" dirty="0"/>
              <a:t>开始，持续时间</a:t>
            </a:r>
            <a:r>
              <a:rPr lang="zh-CN" altLang="en-US" sz="1400" dirty="0" smtClean="0"/>
              <a:t>为</a:t>
            </a:r>
            <a:r>
              <a:rPr lang="en-US" altLang="zh-CN" sz="1400" dirty="0" smtClean="0"/>
              <a:t>t</a:t>
            </a:r>
            <a:r>
              <a:rPr lang="zh-CN" altLang="en-US" sz="1400" dirty="0" smtClean="0"/>
              <a:t>分钟</a:t>
            </a:r>
            <a:r>
              <a:rPr lang="zh-CN" altLang="en-US" sz="1400" dirty="0"/>
              <a:t>，则该任务将在</a:t>
            </a:r>
            <a:r>
              <a:rPr lang="zh-CN" altLang="en-US" sz="1400" dirty="0" smtClean="0"/>
              <a:t>第</a:t>
            </a:r>
            <a:r>
              <a:rPr lang="en-US" altLang="zh-CN" sz="1400" dirty="0" smtClean="0"/>
              <a:t>(</a:t>
            </a:r>
            <a:r>
              <a:rPr lang="en-US" altLang="zh-CN" sz="1400" dirty="0" err="1"/>
              <a:t>p+t</a:t>
            </a:r>
            <a:r>
              <a:rPr lang="zh-CN" altLang="en-US" sz="1400" dirty="0"/>
              <a:t>−</a:t>
            </a:r>
            <a:r>
              <a:rPr lang="en-US" altLang="zh-CN" sz="1400" dirty="0"/>
              <a:t>1</a:t>
            </a:r>
            <a:r>
              <a:rPr lang="en-US" altLang="zh-CN" sz="1400" dirty="0" smtClean="0"/>
              <a:t>)</a:t>
            </a:r>
            <a:r>
              <a:rPr lang="zh-CN" altLang="en-US" sz="1400" dirty="0" smtClean="0"/>
              <a:t>分钟</a:t>
            </a:r>
            <a:r>
              <a:rPr lang="zh-CN" altLang="en-US" sz="1400" dirty="0"/>
              <a:t>结束。</a:t>
            </a:r>
          </a:p>
          <a:p>
            <a:r>
              <a:rPr lang="zh-CN" altLang="en-US" sz="1400" dirty="0" smtClean="0"/>
              <a:t>    写</a:t>
            </a:r>
            <a:r>
              <a:rPr lang="zh-CN" altLang="en-US" sz="1400" dirty="0"/>
              <a:t>一个程序计算尼克应该如何选取任务，才能获得最大的空暇时间</a:t>
            </a:r>
            <a:r>
              <a:rPr lang="zh-CN" altLang="en-US" sz="1400" dirty="0" smtClean="0"/>
              <a:t>。</a:t>
            </a:r>
            <a:endParaRPr lang="zh-CN" altLang="zh-CN" sz="1400" dirty="0"/>
          </a:p>
          <a:p>
            <a:endParaRPr lang="zh-CN" altLang="zh-CN" sz="1400" dirty="0"/>
          </a:p>
          <a:p>
            <a:r>
              <a:rPr lang="zh-CN" altLang="zh-CN" sz="1400" b="1" dirty="0" smtClean="0"/>
              <a:t>【样例输入】</a:t>
            </a:r>
            <a:endParaRPr lang="zh-CN" altLang="zh-CN" sz="1400" dirty="0" smtClean="0"/>
          </a:p>
          <a:p>
            <a:r>
              <a:rPr lang="en-US" altLang="zh-CN" sz="1400" dirty="0" smtClean="0"/>
              <a:t>15 6</a:t>
            </a:r>
          </a:p>
          <a:p>
            <a:r>
              <a:rPr lang="en-US" altLang="zh-CN" sz="1400" dirty="0" smtClean="0"/>
              <a:t>1 2</a:t>
            </a:r>
          </a:p>
          <a:p>
            <a:r>
              <a:rPr lang="en-US" altLang="zh-CN" sz="1400" dirty="0" smtClean="0"/>
              <a:t>1 6</a:t>
            </a:r>
          </a:p>
          <a:p>
            <a:r>
              <a:rPr lang="en-US" altLang="zh-CN" sz="1400" dirty="0" smtClean="0"/>
              <a:t>4 11</a:t>
            </a:r>
          </a:p>
          <a:p>
            <a:r>
              <a:rPr lang="en-US" altLang="zh-CN" sz="1400" dirty="0" smtClean="0"/>
              <a:t>8 5</a:t>
            </a:r>
          </a:p>
          <a:p>
            <a:r>
              <a:rPr lang="en-US" altLang="zh-CN" sz="1400" dirty="0" smtClean="0"/>
              <a:t>8 1</a:t>
            </a:r>
          </a:p>
          <a:p>
            <a:r>
              <a:rPr lang="en-US" altLang="zh-CN" sz="1400" dirty="0" smtClean="0"/>
              <a:t>11 5</a:t>
            </a:r>
          </a:p>
        </p:txBody>
      </p:sp>
      <p:sp>
        <p:nvSpPr>
          <p:cNvPr id="11" name="矩形 10">
            <a:extLst>
              <a:ext uri="{FF2B5EF4-FFF2-40B4-BE49-F238E27FC236}">
                <a16:creationId xmlns:a16="http://schemas.microsoft.com/office/drawing/2014/main" xmlns="" id="{7169A55A-483D-4542-B072-E8C204367D45}"/>
              </a:ext>
            </a:extLst>
          </p:cNvPr>
          <p:cNvSpPr/>
          <p:nvPr/>
        </p:nvSpPr>
        <p:spPr>
          <a:xfrm>
            <a:off x="5789669" y="1053897"/>
            <a:ext cx="4964872" cy="1384995"/>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en-US" sz="1400" dirty="0" smtClean="0"/>
              <a:t>目标状态应该是</a:t>
            </a:r>
            <a:r>
              <a:rPr lang="en-US" altLang="zh-CN" sz="1400" dirty="0" smtClean="0"/>
              <a:t>n</a:t>
            </a:r>
            <a:r>
              <a:rPr lang="zh-CN" altLang="en-US" sz="1400" dirty="0" smtClean="0"/>
              <a:t>分钟之后尼克的最大空暇时间。</a:t>
            </a:r>
            <a:endParaRPr lang="en-US" altLang="zh-CN" sz="1400" dirty="0" smtClean="0"/>
          </a:p>
          <a:p>
            <a:r>
              <a:rPr lang="en-US" altLang="zh-CN" sz="1400" dirty="0" smtClean="0"/>
              <a:t>    </a:t>
            </a:r>
            <a:r>
              <a:rPr lang="zh-CN" altLang="en-US" sz="1400" dirty="0" smtClean="0"/>
              <a:t>不过考虑状态转移时，对于某一时刻</a:t>
            </a:r>
            <a:r>
              <a:rPr lang="en-US" altLang="zh-CN" sz="1400" dirty="0" smtClean="0"/>
              <a:t>i</a:t>
            </a:r>
            <a:r>
              <a:rPr lang="zh-CN" altLang="en-US" sz="1400" dirty="0" smtClean="0"/>
              <a:t>，若</a:t>
            </a:r>
            <a:r>
              <a:rPr lang="en-US" altLang="zh-CN" sz="1400" dirty="0" smtClean="0"/>
              <a:t>p[j]=i</a:t>
            </a:r>
            <a:r>
              <a:rPr lang="zh-CN" altLang="en-US" sz="1400" dirty="0" smtClean="0"/>
              <a:t>，</a:t>
            </a:r>
            <a:r>
              <a:rPr lang="en-US" altLang="zh-CN" sz="1400" dirty="0" smtClean="0"/>
              <a:t>j</a:t>
            </a:r>
            <a:r>
              <a:rPr lang="zh-CN" altLang="en-US" sz="1400" dirty="0" smtClean="0"/>
              <a:t>是</a:t>
            </a:r>
            <a:r>
              <a:rPr lang="en-US" altLang="zh-CN" sz="1400" dirty="0" smtClean="0"/>
              <a:t>i</a:t>
            </a:r>
            <a:r>
              <a:rPr lang="zh-CN" altLang="en-US" sz="1400" dirty="0" smtClean="0"/>
              <a:t>时刻必须要做的决策之一；若</a:t>
            </a:r>
            <a:r>
              <a:rPr lang="en-US" altLang="zh-CN" sz="1400" dirty="0" smtClean="0"/>
              <a:t>p[j]+t[j]-1=i</a:t>
            </a:r>
            <a:r>
              <a:rPr lang="zh-CN" altLang="en-US" sz="1400" dirty="0" smtClean="0"/>
              <a:t>，</a:t>
            </a:r>
            <a:r>
              <a:rPr lang="en-US" altLang="zh-CN" sz="1400" dirty="0" smtClean="0"/>
              <a:t>i</a:t>
            </a:r>
            <a:r>
              <a:rPr lang="zh-CN" altLang="en-US" sz="1400" dirty="0" smtClean="0"/>
              <a:t>时刻不一定需要从前面的时刻工作过来。两相比较，条件更清晰更有约束性的转移更适合我们考虑。</a:t>
            </a:r>
            <a:endParaRPr lang="zh-CN" altLang="zh-CN" sz="1400" dirty="0"/>
          </a:p>
        </p:txBody>
      </p:sp>
      <p:sp>
        <p:nvSpPr>
          <p:cNvPr id="2" name="TextBox 1"/>
          <p:cNvSpPr txBox="1"/>
          <p:nvPr/>
        </p:nvSpPr>
        <p:spPr>
          <a:xfrm>
            <a:off x="1996803" y="4944533"/>
            <a:ext cx="3318933" cy="1384995"/>
          </a:xfrm>
          <a:prstGeom prst="rect">
            <a:avLst/>
          </a:prstGeom>
          <a:noFill/>
        </p:spPr>
        <p:txBody>
          <a:bodyPr wrap="square" rtlCol="0">
            <a:spAutoFit/>
          </a:bodyPr>
          <a:lstStyle/>
          <a:p>
            <a:r>
              <a:rPr lang="zh-CN" altLang="zh-CN" sz="1400" b="1" dirty="0"/>
              <a:t>【样例输出】</a:t>
            </a:r>
            <a:endParaRPr lang="zh-CN" altLang="zh-CN" sz="1400" dirty="0"/>
          </a:p>
          <a:p>
            <a:r>
              <a:rPr lang="en-US" altLang="zh-CN" sz="1400" dirty="0" smtClean="0"/>
              <a:t>4</a:t>
            </a:r>
            <a:endParaRPr lang="en-US" altLang="zh-CN" sz="1400" dirty="0"/>
          </a:p>
          <a:p>
            <a:endParaRPr lang="en-US" altLang="zh-CN" sz="1400" dirty="0"/>
          </a:p>
          <a:p>
            <a:r>
              <a:rPr lang="zh-CN" altLang="zh-CN" sz="1400" b="1" dirty="0"/>
              <a:t>【</a:t>
            </a:r>
            <a:r>
              <a:rPr lang="zh-CN" altLang="en-US" sz="1400" b="1" dirty="0"/>
              <a:t>数据范围</a:t>
            </a:r>
            <a:r>
              <a:rPr lang="zh-CN" altLang="zh-CN" sz="1400" b="1" dirty="0"/>
              <a:t>】</a:t>
            </a:r>
            <a:endParaRPr lang="zh-CN" altLang="zh-CN" sz="1400" dirty="0"/>
          </a:p>
          <a:p>
            <a:r>
              <a:rPr lang="en-US" altLang="zh-CN" sz="1400" dirty="0"/>
              <a:t>    </a:t>
            </a:r>
            <a:r>
              <a:rPr lang="en-US" altLang="zh-CN" sz="1400" dirty="0" smtClean="0"/>
              <a:t>n</a:t>
            </a:r>
            <a:r>
              <a:rPr lang="zh-CN" altLang="en-US" sz="1400" dirty="0" smtClean="0"/>
              <a:t>，</a:t>
            </a:r>
            <a:r>
              <a:rPr lang="en-US" altLang="zh-CN" sz="1400" dirty="0" smtClean="0"/>
              <a:t>k&lt;=10</a:t>
            </a:r>
            <a:r>
              <a:rPr lang="en-US" altLang="zh-CN" sz="1400" baseline="30000" dirty="0" smtClean="0"/>
              <a:t>4</a:t>
            </a:r>
            <a:r>
              <a:rPr lang="zh-CN" altLang="en-US" sz="1400" dirty="0" smtClean="0"/>
              <a:t>，</a:t>
            </a:r>
            <a:r>
              <a:rPr lang="en-US" altLang="zh-CN" sz="1400" dirty="0" smtClean="0"/>
              <a:t>1</a:t>
            </a:r>
            <a:r>
              <a:rPr lang="en-US" altLang="zh-CN" sz="1400" dirty="0"/>
              <a:t>&lt;=p&lt;=p+t-1&lt;=n</a:t>
            </a:r>
            <a:r>
              <a:rPr lang="zh-CN" altLang="en-US" sz="1400" dirty="0" smtClean="0"/>
              <a:t>。</a:t>
            </a:r>
            <a:endParaRPr lang="zh-CN" altLang="zh-CN" sz="1400" dirty="0"/>
          </a:p>
          <a:p>
            <a:endParaRPr lang="zh-CN" altLang="en-US" sz="1400" dirty="0"/>
          </a:p>
        </p:txBody>
      </p:sp>
      <p:sp>
        <p:nvSpPr>
          <p:cNvPr id="16" name="矩形 15">
            <a:extLst>
              <a:ext uri="{FF2B5EF4-FFF2-40B4-BE49-F238E27FC236}">
                <a16:creationId xmlns:a16="http://schemas.microsoft.com/office/drawing/2014/main" xmlns="" id="{7169A55A-483D-4542-B072-E8C204367D45}"/>
              </a:ext>
            </a:extLst>
          </p:cNvPr>
          <p:cNvSpPr/>
          <p:nvPr/>
        </p:nvSpPr>
        <p:spPr>
          <a:xfrm>
            <a:off x="5789669" y="2454703"/>
            <a:ext cx="4964872" cy="2462213"/>
          </a:xfrm>
          <a:prstGeom prst="rect">
            <a:avLst/>
          </a:prstGeom>
        </p:spPr>
        <p:txBody>
          <a:bodyPr wrap="square">
            <a:spAutoFit/>
            <a:scene3d>
              <a:camera prst="orthographicFront"/>
              <a:lightRig rig="threePt" dir="t"/>
            </a:scene3d>
            <a:sp3d contourW="12700"/>
          </a:bodyPr>
          <a:lstStyle/>
          <a:p>
            <a:r>
              <a:rPr lang="en-US" altLang="zh-CN" sz="1400" b="1" dirty="0" smtClean="0"/>
              <a:t>    </a:t>
            </a:r>
            <a:r>
              <a:rPr lang="zh-CN" altLang="en-US" sz="1400" dirty="0"/>
              <a:t>此时</a:t>
            </a:r>
            <a:r>
              <a:rPr lang="zh-CN" altLang="en-US" sz="1400" dirty="0" smtClean="0"/>
              <a:t>我们考虑的转移为当</a:t>
            </a:r>
            <a:r>
              <a:rPr lang="en-US" altLang="zh-CN" sz="1400" dirty="0" smtClean="0"/>
              <a:t>p[j]=i</a:t>
            </a:r>
            <a:r>
              <a:rPr lang="zh-CN" altLang="en-US" sz="1400" dirty="0" smtClean="0"/>
              <a:t>时，必选哪项工作能获得最大的空闲时间。很明显，若</a:t>
            </a:r>
            <a:r>
              <a:rPr lang="en-US" altLang="zh-CN" sz="1400" dirty="0" smtClean="0"/>
              <a:t>f[i]</a:t>
            </a:r>
            <a:r>
              <a:rPr lang="zh-CN" altLang="en-US" sz="1400" dirty="0" smtClean="0"/>
              <a:t>表示</a:t>
            </a:r>
            <a:r>
              <a:rPr lang="en-US" altLang="zh-CN" sz="1400" dirty="0" smtClean="0"/>
              <a:t>1-i</a:t>
            </a:r>
            <a:r>
              <a:rPr lang="zh-CN" altLang="en-US" sz="1400" dirty="0" smtClean="0"/>
              <a:t>时间段内的最大空闲时间，此时不同的决策对于</a:t>
            </a:r>
            <a:r>
              <a:rPr lang="en-US" altLang="zh-CN" sz="1400" dirty="0" smtClean="0"/>
              <a:t>f[i]</a:t>
            </a:r>
            <a:r>
              <a:rPr lang="zh-CN" altLang="en-US" sz="1400" dirty="0" smtClean="0"/>
              <a:t>值的确定没有意义，因此我们就让它变的有意义：</a:t>
            </a:r>
            <a:endParaRPr lang="en-US" altLang="zh-CN" sz="1400" dirty="0" smtClean="0"/>
          </a:p>
          <a:p>
            <a:r>
              <a:rPr lang="en-US" altLang="zh-CN" sz="1400" dirty="0"/>
              <a:t> </a:t>
            </a:r>
            <a:r>
              <a:rPr lang="en-US" altLang="zh-CN" sz="1400" dirty="0" smtClean="0"/>
              <a:t>   </a:t>
            </a:r>
            <a:r>
              <a:rPr lang="zh-CN" altLang="en-US" sz="1400" dirty="0" smtClean="0"/>
              <a:t>由于选取工作方案的决策覆盖的时间段是</a:t>
            </a:r>
            <a:r>
              <a:rPr lang="en-US" altLang="zh-CN" sz="1400" dirty="0" smtClean="0"/>
              <a:t>i</a:t>
            </a:r>
            <a:r>
              <a:rPr lang="zh-CN" altLang="en-US" sz="1400" dirty="0" smtClean="0"/>
              <a:t>时刻后面的时间段，该决策影响的自然也是</a:t>
            </a:r>
            <a:r>
              <a:rPr lang="en-US" altLang="zh-CN" sz="1400" dirty="0" smtClean="0"/>
              <a:t>i</a:t>
            </a:r>
            <a:r>
              <a:rPr lang="zh-CN" altLang="en-US" sz="1400" dirty="0" smtClean="0"/>
              <a:t>之后的时刻，且该决策要使得</a:t>
            </a:r>
            <a:r>
              <a:rPr lang="en-US" altLang="zh-CN" sz="1400" dirty="0" smtClean="0"/>
              <a:t>f[i]</a:t>
            </a:r>
            <a:r>
              <a:rPr lang="zh-CN" altLang="en-US" sz="1400" dirty="0" smtClean="0"/>
              <a:t>获得最优值，我们需要和该决策相关联的</a:t>
            </a:r>
            <a:r>
              <a:rPr lang="en-US" altLang="zh-CN" sz="1400" dirty="0" smtClean="0"/>
              <a:t>【</a:t>
            </a:r>
            <a:r>
              <a:rPr lang="zh-CN" altLang="en-US" sz="1400" dirty="0" smtClean="0"/>
              <a:t>无后效性</a:t>
            </a:r>
            <a:r>
              <a:rPr lang="en-US" altLang="zh-CN" sz="1400" dirty="0" smtClean="0"/>
              <a:t>】</a:t>
            </a:r>
            <a:r>
              <a:rPr lang="zh-CN" altLang="en-US" sz="1400" dirty="0" smtClean="0"/>
              <a:t>的阶段性最优解来更新</a:t>
            </a:r>
            <a:r>
              <a:rPr lang="en-US" altLang="zh-CN" sz="1400" dirty="0" smtClean="0"/>
              <a:t>f[i]</a:t>
            </a:r>
            <a:r>
              <a:rPr lang="zh-CN" altLang="en-US" sz="1400" dirty="0" smtClean="0"/>
              <a:t>，该最优解在</a:t>
            </a:r>
            <a:r>
              <a:rPr lang="en-US" altLang="zh-CN" sz="1400" dirty="0" smtClean="0"/>
              <a:t>i</a:t>
            </a:r>
            <a:r>
              <a:rPr lang="zh-CN" altLang="en-US" sz="1400" dirty="0" smtClean="0"/>
              <a:t>之后的时刻，那我们计算</a:t>
            </a:r>
            <a:r>
              <a:rPr lang="en-US" altLang="zh-CN" sz="1400" dirty="0" smtClean="0"/>
              <a:t>f[i]</a:t>
            </a:r>
            <a:r>
              <a:rPr lang="zh-CN" altLang="en-US" sz="1400" dirty="0" smtClean="0"/>
              <a:t>时应当先计算</a:t>
            </a:r>
            <a:r>
              <a:rPr lang="en-US" altLang="zh-CN" sz="1400" dirty="0" smtClean="0"/>
              <a:t>f[i+1…n]</a:t>
            </a:r>
            <a:r>
              <a:rPr lang="zh-CN" altLang="en-US" sz="1400" dirty="0" smtClean="0"/>
              <a:t>，所以</a:t>
            </a:r>
            <a:r>
              <a:rPr lang="en-US" altLang="zh-CN" sz="1400" dirty="0" smtClean="0"/>
              <a:t>f[i]</a:t>
            </a:r>
            <a:r>
              <a:rPr lang="zh-CN" altLang="en-US" sz="1400" dirty="0" smtClean="0"/>
              <a:t>的状态表示应该更改为</a:t>
            </a:r>
            <a:r>
              <a:rPr lang="en-US" altLang="zh-CN" sz="1400" dirty="0" smtClean="0"/>
              <a:t>i</a:t>
            </a:r>
            <a:r>
              <a:rPr lang="zh-CN" altLang="en-US" sz="1400" dirty="0" smtClean="0"/>
              <a:t>时刻时尼克还处于一刹那的空闲、</a:t>
            </a:r>
            <a:r>
              <a:rPr lang="en-US" altLang="zh-CN" sz="1400" dirty="0" smtClean="0"/>
              <a:t>i-n</a:t>
            </a:r>
            <a:r>
              <a:rPr lang="zh-CN" altLang="en-US" sz="1400" dirty="0" smtClean="0"/>
              <a:t>时间段尼克已有的最大空闲时间。</a:t>
            </a:r>
            <a:endParaRPr lang="zh-CN" altLang="zh-CN" sz="1400" dirty="0"/>
          </a:p>
        </p:txBody>
      </p:sp>
      <p:sp>
        <p:nvSpPr>
          <p:cNvPr id="17" name="矩形 16">
            <a:extLst>
              <a:ext uri="{FF2B5EF4-FFF2-40B4-BE49-F238E27FC236}">
                <a16:creationId xmlns:a16="http://schemas.microsoft.com/office/drawing/2014/main" xmlns="" id="{7169A55A-483D-4542-B072-E8C204367D45}"/>
              </a:ext>
            </a:extLst>
          </p:cNvPr>
          <p:cNvSpPr/>
          <p:nvPr/>
        </p:nvSpPr>
        <p:spPr>
          <a:xfrm>
            <a:off x="5789669" y="4905665"/>
            <a:ext cx="4964872" cy="1384995"/>
          </a:xfrm>
          <a:prstGeom prst="rect">
            <a:avLst/>
          </a:prstGeom>
        </p:spPr>
        <p:txBody>
          <a:bodyPr wrap="square">
            <a:spAutoFit/>
            <a:scene3d>
              <a:camera prst="orthographicFront"/>
              <a:lightRig rig="threePt" dir="t"/>
            </a:scene3d>
            <a:sp3d contourW="12700"/>
          </a:bodyPr>
          <a:lstStyle/>
          <a:p>
            <a:r>
              <a:rPr lang="en-US" altLang="zh-CN" sz="1400" dirty="0" smtClean="0"/>
              <a:t>    sort</a:t>
            </a:r>
            <a:r>
              <a:rPr lang="en-US" altLang="zh-CN" sz="1400" dirty="0"/>
              <a:t>(&amp;a[1],&amp;a[k+1],</a:t>
            </a:r>
            <a:r>
              <a:rPr lang="en-US" altLang="zh-CN" sz="1400" dirty="0" err="1"/>
              <a:t>cmp</a:t>
            </a:r>
            <a:r>
              <a:rPr lang="en-US" altLang="zh-CN" sz="1400" dirty="0"/>
              <a:t>);</a:t>
            </a:r>
          </a:p>
          <a:p>
            <a:r>
              <a:rPr lang="en-US" altLang="zh-CN" sz="1400" dirty="0" smtClean="0"/>
              <a:t>    for </a:t>
            </a:r>
            <a:r>
              <a:rPr lang="en-US" altLang="zh-CN" sz="1400" dirty="0"/>
              <a:t>(i=</a:t>
            </a:r>
            <a:r>
              <a:rPr lang="en-US" altLang="zh-CN" sz="1400" dirty="0" err="1"/>
              <a:t>n;i;i</a:t>
            </a:r>
            <a:r>
              <a:rPr lang="en-US" altLang="zh-CN" sz="1400" dirty="0"/>
              <a:t>--)</a:t>
            </a:r>
          </a:p>
          <a:p>
            <a:r>
              <a:rPr lang="en-US" altLang="zh-CN" sz="1400" dirty="0"/>
              <a:t> </a:t>
            </a:r>
            <a:r>
              <a:rPr lang="en-US" altLang="zh-CN" sz="1400" dirty="0" smtClean="0"/>
              <a:t>   {</a:t>
            </a:r>
            <a:r>
              <a:rPr lang="en-US" altLang="zh-CN" sz="1400" dirty="0"/>
              <a:t> </a:t>
            </a:r>
            <a:r>
              <a:rPr lang="en-US" altLang="zh-CN" sz="1400" dirty="0" smtClean="0"/>
              <a:t>  if </a:t>
            </a:r>
            <a:r>
              <a:rPr lang="en-US" altLang="zh-CN" sz="1400" dirty="0"/>
              <a:t>(a[k].x&lt;i) { f[i]=f[i+1]+1; continue; }</a:t>
            </a:r>
          </a:p>
          <a:p>
            <a:r>
              <a:rPr lang="en-US" altLang="zh-CN" sz="1400" dirty="0" smtClean="0"/>
              <a:t>        for </a:t>
            </a:r>
            <a:r>
              <a:rPr lang="en-US" altLang="zh-CN" sz="1400" dirty="0"/>
              <a:t>(;k&amp;&amp;a[k].x==</a:t>
            </a:r>
            <a:r>
              <a:rPr lang="en-US" altLang="zh-CN" sz="1400" dirty="0" err="1"/>
              <a:t>i;k</a:t>
            </a:r>
            <a:r>
              <a:rPr lang="en-US" altLang="zh-CN" sz="1400" dirty="0"/>
              <a:t>-</a:t>
            </a:r>
            <a:r>
              <a:rPr lang="en-US" altLang="zh-CN" sz="1400" dirty="0" smtClean="0"/>
              <a:t>-)</a:t>
            </a:r>
          </a:p>
          <a:p>
            <a:r>
              <a:rPr lang="en-US" altLang="zh-CN" sz="1400" dirty="0" smtClean="0"/>
              <a:t>            f[i]=max(f[i</a:t>
            </a:r>
            <a:r>
              <a:rPr lang="en-US" altLang="zh-CN" sz="1400" dirty="0"/>
              <a:t>],f[</a:t>
            </a:r>
            <a:r>
              <a:rPr lang="en-US" altLang="zh-CN" sz="1400" dirty="0" err="1"/>
              <a:t>i+a</a:t>
            </a:r>
            <a:r>
              <a:rPr lang="en-US" altLang="zh-CN" sz="1400" dirty="0"/>
              <a:t>[k].y]);</a:t>
            </a:r>
          </a:p>
          <a:p>
            <a:r>
              <a:rPr lang="en-US" altLang="zh-CN" sz="1400" dirty="0"/>
              <a:t> </a:t>
            </a:r>
            <a:r>
              <a:rPr lang="en-US" altLang="zh-CN" sz="1400" dirty="0" smtClean="0"/>
              <a:t>    }</a:t>
            </a:r>
            <a:endParaRPr lang="zh-CN" altLang="zh-CN" sz="1400" dirty="0"/>
          </a:p>
        </p:txBody>
      </p:sp>
    </p:spTree>
    <p:extLst>
      <p:ext uri="{BB962C8B-B14F-4D97-AF65-F5344CB8AC3E}">
        <p14:creationId xmlns:p14="http://schemas.microsoft.com/office/powerpoint/2010/main" val="414747237"/>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33043" y="177223"/>
            <a:ext cx="1402948"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⑦</a:t>
            </a:r>
            <a:r>
              <a:rPr lang="zh-CN" altLang="en-US" dirty="0" smtClean="0">
                <a:solidFill>
                  <a:schemeClr val="bg1"/>
                </a:solidFill>
                <a:effectLst>
                  <a:outerShdw blurRad="203200" dist="38100" dir="5400000" algn="t" rotWithShape="0">
                    <a:prstClr val="black">
                      <a:alpha val="83000"/>
                    </a:prstClr>
                  </a:outerShdw>
                </a:effectLst>
                <a:cs typeface="+mn-ea"/>
                <a:sym typeface="+mn-lt"/>
              </a:rPr>
              <a:t> 机器分配</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4" y="1507685"/>
            <a:ext cx="4964872" cy="4401205"/>
          </a:xfrm>
          <a:prstGeom prst="rect">
            <a:avLst/>
          </a:prstGeom>
        </p:spPr>
        <p:txBody>
          <a:bodyPr wrap="square">
            <a:spAutoFit/>
            <a:scene3d>
              <a:camera prst="orthographicFront"/>
              <a:lightRig rig="threePt" dir="t"/>
            </a:scene3d>
            <a:sp3d contourW="12700"/>
          </a:bodyPr>
          <a:lstStyle/>
          <a:p>
            <a:pPr algn="ctr"/>
            <a:r>
              <a:rPr lang="zh-CN" altLang="en-US" sz="1400" b="1" dirty="0" smtClean="0"/>
              <a:t>机器分配</a:t>
            </a:r>
            <a:endParaRPr lang="zh-CN" altLang="zh-CN" sz="1400" dirty="0"/>
          </a:p>
          <a:p>
            <a:r>
              <a:rPr lang="zh-CN" altLang="zh-CN" sz="1400" b="1" dirty="0"/>
              <a:t>【题目描述】</a:t>
            </a:r>
            <a:endParaRPr lang="zh-CN" altLang="zh-CN" sz="1400" dirty="0"/>
          </a:p>
          <a:p>
            <a:r>
              <a:rPr lang="zh-CN" altLang="en-US" sz="1400" dirty="0" smtClean="0"/>
              <a:t>    总公司</a:t>
            </a:r>
            <a:r>
              <a:rPr lang="zh-CN" altLang="en-US" sz="1400" dirty="0"/>
              <a:t>拥有高效设备</a:t>
            </a:r>
            <a:r>
              <a:rPr lang="en-US" altLang="zh-CN" sz="1400" dirty="0"/>
              <a:t>M</a:t>
            </a:r>
            <a:r>
              <a:rPr lang="zh-CN" altLang="en-US" sz="1400" dirty="0"/>
              <a:t>台，准备分给下属的</a:t>
            </a:r>
            <a:r>
              <a:rPr lang="en-US" altLang="zh-CN" sz="1400" dirty="0"/>
              <a:t>N</a:t>
            </a:r>
            <a:r>
              <a:rPr lang="zh-CN" altLang="en-US" sz="1400" dirty="0"/>
              <a:t>个分公司。各分公司若获得这些设备，可以为国家提供一定的盈利。问：如何分配这</a:t>
            </a:r>
            <a:r>
              <a:rPr lang="en-US" altLang="zh-CN" sz="1400" dirty="0"/>
              <a:t>M</a:t>
            </a:r>
            <a:r>
              <a:rPr lang="zh-CN" altLang="en-US" sz="1400" dirty="0"/>
              <a:t>台设备才能使国家得到的盈利最大？求出最大盈利值。其中</a:t>
            </a:r>
            <a:r>
              <a:rPr lang="en-US" altLang="zh-CN" sz="1400" dirty="0"/>
              <a:t>M≤15</a:t>
            </a:r>
            <a:r>
              <a:rPr lang="zh-CN" altLang="en-US" sz="1400" dirty="0"/>
              <a:t>，</a:t>
            </a:r>
            <a:r>
              <a:rPr lang="en-US" altLang="zh-CN" sz="1400" dirty="0"/>
              <a:t>N≤10</a:t>
            </a:r>
            <a:r>
              <a:rPr lang="zh-CN" altLang="en-US" sz="1400" dirty="0"/>
              <a:t>。分配原则：每个公司有权获得任意数目的设备，但总台数不超过设备数</a:t>
            </a:r>
            <a:r>
              <a:rPr lang="en-US" altLang="zh-CN" sz="1400" dirty="0"/>
              <a:t>M</a:t>
            </a:r>
            <a:r>
              <a:rPr lang="zh-CN" altLang="en-US" sz="1400" dirty="0" smtClean="0"/>
              <a:t>。</a:t>
            </a:r>
            <a:endParaRPr lang="en-US" altLang="zh-CN" sz="1400" dirty="0" smtClean="0"/>
          </a:p>
          <a:p>
            <a:r>
              <a:rPr lang="zh-CN" altLang="en-US" sz="1400" dirty="0" smtClean="0"/>
              <a:t>    输出第</a:t>
            </a:r>
            <a:r>
              <a:rPr lang="en-US" altLang="zh-CN" sz="1400" dirty="0"/>
              <a:t>2</a:t>
            </a:r>
            <a:r>
              <a:rPr lang="zh-CN" altLang="en-US" sz="1400" dirty="0"/>
              <a:t>到第</a:t>
            </a:r>
            <a:r>
              <a:rPr lang="en-US" altLang="zh-CN" sz="1400" dirty="0"/>
              <a:t>n</a:t>
            </a:r>
            <a:r>
              <a:rPr lang="zh-CN" altLang="en-US" sz="1400" dirty="0"/>
              <a:t>为第</a:t>
            </a:r>
            <a:r>
              <a:rPr lang="en-US" altLang="zh-CN" sz="1400" dirty="0"/>
              <a:t>i</a:t>
            </a:r>
            <a:r>
              <a:rPr lang="zh-CN" altLang="en-US" sz="1400" dirty="0"/>
              <a:t>分公司分</a:t>
            </a:r>
            <a:r>
              <a:rPr lang="en-US" altLang="zh-CN" sz="1400" dirty="0"/>
              <a:t>x</a:t>
            </a:r>
            <a:r>
              <a:rPr lang="zh-CN" altLang="en-US" sz="1400" dirty="0" smtClean="0"/>
              <a:t>台，要求</a:t>
            </a:r>
            <a:r>
              <a:rPr lang="zh-CN" altLang="en-US" sz="1400" dirty="0"/>
              <a:t>答案的字典序</a:t>
            </a:r>
            <a:r>
              <a:rPr lang="zh-CN" altLang="en-US" sz="1400" dirty="0" smtClean="0"/>
              <a:t>最小。</a:t>
            </a:r>
            <a:endParaRPr lang="zh-CN" altLang="zh-CN" sz="1400" dirty="0"/>
          </a:p>
          <a:p>
            <a:endParaRPr lang="en-US" altLang="zh-CN" sz="1400" b="1" dirty="0" smtClean="0"/>
          </a:p>
          <a:p>
            <a:r>
              <a:rPr lang="zh-CN" altLang="zh-CN" sz="1400" b="1" dirty="0" smtClean="0"/>
              <a:t>【样例输入】</a:t>
            </a:r>
            <a:endParaRPr lang="zh-CN" altLang="zh-CN" sz="1400" dirty="0" smtClean="0"/>
          </a:p>
          <a:p>
            <a:r>
              <a:rPr lang="en-US" altLang="zh-CN" sz="1400" dirty="0" smtClean="0"/>
              <a:t>3 3</a:t>
            </a:r>
          </a:p>
          <a:p>
            <a:r>
              <a:rPr lang="en-US" altLang="zh-CN" sz="1400" dirty="0" smtClean="0"/>
              <a:t>30 </a:t>
            </a:r>
            <a:r>
              <a:rPr lang="en-US" altLang="zh-CN" sz="1400" dirty="0"/>
              <a:t>40 </a:t>
            </a:r>
            <a:r>
              <a:rPr lang="en-US" altLang="zh-CN" sz="1400" dirty="0" smtClean="0"/>
              <a:t>50</a:t>
            </a:r>
          </a:p>
          <a:p>
            <a:r>
              <a:rPr lang="en-US" altLang="zh-CN" sz="1400" dirty="0" smtClean="0"/>
              <a:t>20 </a:t>
            </a:r>
            <a:r>
              <a:rPr lang="en-US" altLang="zh-CN" sz="1400" dirty="0"/>
              <a:t>30 </a:t>
            </a:r>
            <a:r>
              <a:rPr lang="en-US" altLang="zh-CN" sz="1400" dirty="0" smtClean="0"/>
              <a:t>50</a:t>
            </a:r>
          </a:p>
          <a:p>
            <a:r>
              <a:rPr lang="en-US" altLang="zh-CN" sz="1400" dirty="0" smtClean="0"/>
              <a:t>20 </a:t>
            </a:r>
            <a:r>
              <a:rPr lang="en-US" altLang="zh-CN" sz="1400" dirty="0"/>
              <a:t>25 </a:t>
            </a:r>
            <a:r>
              <a:rPr lang="en-US" altLang="zh-CN" sz="1400" dirty="0" smtClean="0"/>
              <a:t>30</a:t>
            </a:r>
          </a:p>
          <a:p>
            <a:endParaRPr lang="en-US" altLang="zh-CN" sz="1400" dirty="0"/>
          </a:p>
          <a:p>
            <a:r>
              <a:rPr lang="zh-CN" altLang="zh-CN" sz="1400" b="1" dirty="0"/>
              <a:t>【样例输出】</a:t>
            </a:r>
            <a:endParaRPr lang="zh-CN" altLang="zh-CN" sz="1400" dirty="0"/>
          </a:p>
          <a:p>
            <a:r>
              <a:rPr lang="en-US" altLang="zh-CN" sz="1400" dirty="0" smtClean="0"/>
              <a:t>70</a:t>
            </a:r>
          </a:p>
          <a:p>
            <a:r>
              <a:rPr lang="en-US" altLang="zh-CN" sz="1400" dirty="0" smtClean="0"/>
              <a:t>1 1</a:t>
            </a:r>
          </a:p>
          <a:p>
            <a:r>
              <a:rPr lang="en-US" altLang="zh-CN" sz="1400" dirty="0" smtClean="0"/>
              <a:t>2 1</a:t>
            </a:r>
          </a:p>
          <a:p>
            <a:r>
              <a:rPr lang="en-US" altLang="zh-CN" sz="1400" dirty="0" smtClean="0"/>
              <a:t>3 1</a:t>
            </a:r>
            <a:endParaRPr lang="en-US" altLang="zh-CN" sz="1400" dirty="0"/>
          </a:p>
        </p:txBody>
      </p:sp>
      <p:sp>
        <p:nvSpPr>
          <p:cNvPr id="11" name="矩形 10">
            <a:extLst>
              <a:ext uri="{FF2B5EF4-FFF2-40B4-BE49-F238E27FC236}">
                <a16:creationId xmlns:a16="http://schemas.microsoft.com/office/drawing/2014/main" xmlns="" id="{7169A55A-483D-4542-B072-E8C204367D45}"/>
              </a:ext>
            </a:extLst>
          </p:cNvPr>
          <p:cNvSpPr/>
          <p:nvPr/>
        </p:nvSpPr>
        <p:spPr>
          <a:xfrm>
            <a:off x="5789669" y="1053897"/>
            <a:ext cx="4964872" cy="1815882"/>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zh-CN" altLang="en-US" sz="1400" dirty="0" smtClean="0"/>
              <a:t>    先不考虑输出方案。目标状态是求前</a:t>
            </a:r>
            <a:r>
              <a:rPr lang="en-US" altLang="zh-CN" sz="1400" dirty="0" smtClean="0"/>
              <a:t>N</a:t>
            </a:r>
            <a:r>
              <a:rPr lang="zh-CN" altLang="en-US" sz="1400" dirty="0" smtClean="0"/>
              <a:t>个分公司总共分配</a:t>
            </a:r>
            <a:r>
              <a:rPr lang="en-US" altLang="zh-CN" sz="1400" dirty="0" smtClean="0"/>
              <a:t>M</a:t>
            </a:r>
            <a:r>
              <a:rPr lang="zh-CN" altLang="en-US" sz="1400" dirty="0"/>
              <a:t>台</a:t>
            </a:r>
            <a:r>
              <a:rPr lang="zh-CN" altLang="en-US" sz="1400" dirty="0" smtClean="0"/>
              <a:t>设备所能产生的最大盈利。即可推出状态表示</a:t>
            </a:r>
            <a:r>
              <a:rPr lang="en-US" altLang="zh-CN" sz="1400" dirty="0" smtClean="0"/>
              <a:t>f[i][j]</a:t>
            </a:r>
            <a:r>
              <a:rPr lang="zh-CN" altLang="en-US" sz="1400" dirty="0" smtClean="0"/>
              <a:t>表示前</a:t>
            </a:r>
            <a:r>
              <a:rPr lang="en-US" altLang="zh-CN" sz="1400" dirty="0" smtClean="0"/>
              <a:t>i</a:t>
            </a:r>
            <a:r>
              <a:rPr lang="zh-CN" altLang="en-US" sz="1400" dirty="0" smtClean="0"/>
              <a:t>个分公司总共分配</a:t>
            </a:r>
            <a:r>
              <a:rPr lang="en-US" altLang="zh-CN" sz="1400" dirty="0" smtClean="0"/>
              <a:t>j</a:t>
            </a:r>
            <a:r>
              <a:rPr lang="zh-CN" altLang="en-US" sz="1400" dirty="0" smtClean="0"/>
              <a:t>台设备所能产生的最大盈利。</a:t>
            </a:r>
            <a:endParaRPr lang="en-US" altLang="zh-CN" sz="1400" dirty="0" smtClean="0"/>
          </a:p>
          <a:p>
            <a:r>
              <a:rPr lang="en-US" altLang="zh-CN" sz="1400" dirty="0"/>
              <a:t> </a:t>
            </a:r>
            <a:r>
              <a:rPr lang="en-US" altLang="zh-CN" sz="1400" dirty="0" smtClean="0"/>
              <a:t>   </a:t>
            </a:r>
            <a:r>
              <a:rPr lang="zh-CN" altLang="en-US" sz="1400" dirty="0" smtClean="0"/>
              <a:t>状态转移就产生在阶段为前</a:t>
            </a:r>
            <a:r>
              <a:rPr lang="en-US" altLang="zh-CN" sz="1400" dirty="0" smtClean="0"/>
              <a:t>i-1</a:t>
            </a:r>
            <a:r>
              <a:rPr lang="zh-CN" altLang="en-US" sz="1400" dirty="0" smtClean="0"/>
              <a:t>个分公司到前</a:t>
            </a:r>
            <a:r>
              <a:rPr lang="en-US" altLang="zh-CN" sz="1400" dirty="0" smtClean="0"/>
              <a:t>i</a:t>
            </a:r>
            <a:r>
              <a:rPr lang="zh-CN" altLang="en-US" sz="1400" dirty="0" smtClean="0"/>
              <a:t>个分公司分配</a:t>
            </a:r>
            <a:r>
              <a:rPr lang="en-US" altLang="zh-CN" sz="1400" dirty="0" smtClean="0"/>
              <a:t>j</a:t>
            </a:r>
            <a:r>
              <a:rPr lang="zh-CN" altLang="en-US" sz="1400" dirty="0" smtClean="0"/>
              <a:t>台设备的过程中，第</a:t>
            </a:r>
            <a:r>
              <a:rPr lang="en-US" altLang="zh-CN" sz="1400" dirty="0" smtClean="0"/>
              <a:t>i</a:t>
            </a:r>
            <a:r>
              <a:rPr lang="zh-CN" altLang="en-US" sz="1400" dirty="0" smtClean="0"/>
              <a:t>家公司分配了</a:t>
            </a:r>
            <a:r>
              <a:rPr lang="en-US" altLang="zh-CN" sz="1400" dirty="0" smtClean="0"/>
              <a:t>k</a:t>
            </a:r>
            <a:r>
              <a:rPr lang="zh-CN" altLang="en-US" sz="1400" dirty="0" smtClean="0"/>
              <a:t>台，所能产生的最大盈利的方案 ：</a:t>
            </a:r>
            <a:endParaRPr lang="en-US" altLang="zh-CN" sz="1400" dirty="0" smtClean="0"/>
          </a:p>
          <a:p>
            <a:r>
              <a:rPr lang="en-US" altLang="zh-CN" sz="1400" dirty="0"/>
              <a:t> </a:t>
            </a:r>
            <a:r>
              <a:rPr lang="en-US" altLang="zh-CN" sz="1400" dirty="0" smtClean="0"/>
              <a:t>   f[i][j]=max(f[i][j],f[i-1][j-k]+a[i][k])</a:t>
            </a:r>
            <a:endParaRPr lang="zh-CN" altLang="zh-CN" sz="1400" dirty="0"/>
          </a:p>
        </p:txBody>
      </p:sp>
      <p:sp>
        <p:nvSpPr>
          <p:cNvPr id="17" name="矩形 16">
            <a:extLst>
              <a:ext uri="{FF2B5EF4-FFF2-40B4-BE49-F238E27FC236}">
                <a16:creationId xmlns:a16="http://schemas.microsoft.com/office/drawing/2014/main" xmlns="" id="{7169A55A-483D-4542-B072-E8C204367D45}"/>
              </a:ext>
            </a:extLst>
          </p:cNvPr>
          <p:cNvSpPr/>
          <p:nvPr/>
        </p:nvSpPr>
        <p:spPr>
          <a:xfrm>
            <a:off x="5789669" y="2869779"/>
            <a:ext cx="4964872" cy="954107"/>
          </a:xfrm>
          <a:prstGeom prst="rect">
            <a:avLst/>
          </a:prstGeom>
        </p:spPr>
        <p:txBody>
          <a:bodyPr wrap="square">
            <a:spAutoFit/>
            <a:scene3d>
              <a:camera prst="orthographicFront"/>
              <a:lightRig rig="threePt" dir="t"/>
            </a:scene3d>
            <a:sp3d contourW="12700"/>
          </a:bodyPr>
          <a:lstStyle/>
          <a:p>
            <a:r>
              <a:rPr lang="en-US" altLang="zh-CN" sz="1400" dirty="0" smtClean="0"/>
              <a:t>    for </a:t>
            </a:r>
            <a:r>
              <a:rPr lang="en-US" altLang="zh-CN" sz="1400" dirty="0"/>
              <a:t>(i=1;i&lt;=</a:t>
            </a:r>
            <a:r>
              <a:rPr lang="en-US" altLang="zh-CN" sz="1400" dirty="0" err="1"/>
              <a:t>n;i</a:t>
            </a:r>
            <a:r>
              <a:rPr lang="en-US" altLang="zh-CN" sz="1400" dirty="0" smtClean="0"/>
              <a:t>++) for </a:t>
            </a:r>
            <a:r>
              <a:rPr lang="en-US" altLang="zh-CN" sz="1400" dirty="0"/>
              <a:t>(j=1;j&lt;=</a:t>
            </a:r>
            <a:r>
              <a:rPr lang="en-US" altLang="zh-CN" sz="1400" dirty="0" err="1"/>
              <a:t>m;j</a:t>
            </a:r>
            <a:r>
              <a:rPr lang="en-US" altLang="zh-CN" sz="1400" dirty="0"/>
              <a:t>++)</a:t>
            </a:r>
          </a:p>
          <a:p>
            <a:r>
              <a:rPr lang="en-US" altLang="zh-CN" sz="1400" dirty="0" smtClean="0"/>
              <a:t>        for </a:t>
            </a:r>
            <a:r>
              <a:rPr lang="en-US" altLang="zh-CN" sz="1400" dirty="0"/>
              <a:t>(k=0;k&lt;=</a:t>
            </a:r>
            <a:r>
              <a:rPr lang="en-US" altLang="zh-CN" sz="1400" dirty="0" err="1"/>
              <a:t>j;k</a:t>
            </a:r>
            <a:r>
              <a:rPr lang="en-US" altLang="zh-CN" sz="1400" dirty="0"/>
              <a:t>++)</a:t>
            </a:r>
          </a:p>
          <a:p>
            <a:r>
              <a:rPr lang="en-US" altLang="zh-CN" sz="1400" dirty="0" smtClean="0"/>
              <a:t>            if </a:t>
            </a:r>
            <a:r>
              <a:rPr lang="en-US" altLang="zh-CN" sz="1400" dirty="0"/>
              <a:t>(f[i][j]&lt;f[i-1][j-k]+a[i][k])</a:t>
            </a:r>
          </a:p>
          <a:p>
            <a:r>
              <a:rPr lang="en-US" altLang="zh-CN" sz="1400" dirty="0" smtClean="0"/>
              <a:t>                f[i</a:t>
            </a:r>
            <a:r>
              <a:rPr lang="en-US" altLang="zh-CN" sz="1400" dirty="0"/>
              <a:t>][j]=f[i-1][j-k]+a[i][k]</a:t>
            </a:r>
            <a:r>
              <a:rPr lang="en-US" altLang="zh-CN" sz="1400" dirty="0">
                <a:solidFill>
                  <a:srgbClr val="FF0000"/>
                </a:solidFill>
              </a:rPr>
              <a:t>,g[i][j]=k</a:t>
            </a:r>
            <a:r>
              <a:rPr lang="en-US" altLang="zh-CN" sz="1400" dirty="0"/>
              <a:t>;</a:t>
            </a:r>
            <a:endParaRPr lang="zh-CN" altLang="zh-CN" sz="1400" dirty="0"/>
          </a:p>
        </p:txBody>
      </p:sp>
      <p:sp>
        <p:nvSpPr>
          <p:cNvPr id="15" name="矩形 14">
            <a:extLst>
              <a:ext uri="{FF2B5EF4-FFF2-40B4-BE49-F238E27FC236}">
                <a16:creationId xmlns:a16="http://schemas.microsoft.com/office/drawing/2014/main" xmlns="" id="{7169A55A-483D-4542-B072-E8C204367D45}"/>
              </a:ext>
            </a:extLst>
          </p:cNvPr>
          <p:cNvSpPr/>
          <p:nvPr/>
        </p:nvSpPr>
        <p:spPr>
          <a:xfrm>
            <a:off x="5789669" y="3823886"/>
            <a:ext cx="4964872" cy="1169551"/>
          </a:xfrm>
          <a:prstGeom prst="rect">
            <a:avLst/>
          </a:prstGeom>
        </p:spPr>
        <p:txBody>
          <a:bodyPr wrap="square">
            <a:spAutoFit/>
            <a:scene3d>
              <a:camera prst="orthographicFront"/>
              <a:lightRig rig="threePt" dir="t"/>
            </a:scene3d>
            <a:sp3d contourW="12700"/>
          </a:bodyPr>
          <a:lstStyle/>
          <a:p>
            <a:r>
              <a:rPr lang="zh-CN" altLang="en-US" sz="1400" dirty="0" smtClean="0"/>
              <a:t>    很明显，既然要记录最优解的方案，那自然应该在可能产生最优解的时候去更新记录。第</a:t>
            </a:r>
            <a:r>
              <a:rPr lang="en-US" altLang="zh-CN" sz="1400" dirty="0" smtClean="0"/>
              <a:t>i</a:t>
            </a:r>
            <a:r>
              <a:rPr lang="zh-CN" altLang="en-US" sz="1400" dirty="0"/>
              <a:t>家</a:t>
            </a:r>
            <a:r>
              <a:rPr lang="zh-CN" altLang="en-US" sz="1400" dirty="0" smtClean="0"/>
              <a:t>公司的方案自然应该在刚好更新前</a:t>
            </a:r>
            <a:r>
              <a:rPr lang="en-US" altLang="zh-CN" sz="1400" dirty="0" smtClean="0"/>
              <a:t>i</a:t>
            </a:r>
            <a:r>
              <a:rPr lang="zh-CN" altLang="en-US" sz="1400" dirty="0" smtClean="0"/>
              <a:t>家公司、第</a:t>
            </a:r>
            <a:r>
              <a:rPr lang="en-US" altLang="zh-CN" sz="1400" dirty="0" smtClean="0"/>
              <a:t>i</a:t>
            </a:r>
            <a:r>
              <a:rPr lang="zh-CN" altLang="en-US" sz="1400" dirty="0" smtClean="0"/>
              <a:t>家公司分配</a:t>
            </a:r>
            <a:r>
              <a:rPr lang="en-US" altLang="zh-CN" sz="1400" dirty="0" smtClean="0"/>
              <a:t>k</a:t>
            </a:r>
            <a:r>
              <a:rPr lang="zh-CN" altLang="en-US" sz="1400" dirty="0" smtClean="0"/>
              <a:t>台，使得总共分配</a:t>
            </a:r>
            <a:r>
              <a:rPr lang="en-US" altLang="zh-CN" sz="1400" dirty="0" smtClean="0"/>
              <a:t>j</a:t>
            </a:r>
            <a:r>
              <a:rPr lang="zh-CN" altLang="en-US" sz="1400" dirty="0" smtClean="0"/>
              <a:t>台设备盈利更大之时，不断更新记录</a:t>
            </a:r>
            <a:r>
              <a:rPr lang="en-US" altLang="zh-CN" sz="1400" dirty="0" smtClean="0"/>
              <a:t>k</a:t>
            </a:r>
            <a:r>
              <a:rPr lang="zh-CN" altLang="en-US" sz="1400" dirty="0" smtClean="0"/>
              <a:t>的值。</a:t>
            </a:r>
            <a:endParaRPr lang="en-US" altLang="zh-CN" sz="1400" dirty="0" smtClean="0"/>
          </a:p>
          <a:p>
            <a:r>
              <a:rPr lang="en-US" altLang="zh-CN" sz="1400" dirty="0"/>
              <a:t> </a:t>
            </a:r>
            <a:r>
              <a:rPr lang="en-US" altLang="zh-CN" sz="1400" dirty="0" smtClean="0"/>
              <a:t>   </a:t>
            </a:r>
            <a:r>
              <a:rPr lang="zh-CN" altLang="en-US" sz="1400" dirty="0" smtClean="0"/>
              <a:t>最后可以根据最终状态和记录去追溯至最初。</a:t>
            </a:r>
            <a:endParaRPr lang="en-US" altLang="zh-CN" sz="1400" dirty="0" smtClean="0"/>
          </a:p>
        </p:txBody>
      </p:sp>
      <p:sp>
        <p:nvSpPr>
          <p:cNvPr id="18" name="矩形 17">
            <a:extLst>
              <a:ext uri="{FF2B5EF4-FFF2-40B4-BE49-F238E27FC236}">
                <a16:creationId xmlns:a16="http://schemas.microsoft.com/office/drawing/2014/main" xmlns="" id="{7169A55A-483D-4542-B072-E8C204367D45}"/>
              </a:ext>
            </a:extLst>
          </p:cNvPr>
          <p:cNvSpPr/>
          <p:nvPr/>
        </p:nvSpPr>
        <p:spPr>
          <a:xfrm>
            <a:off x="5789669" y="4959570"/>
            <a:ext cx="4964872" cy="307777"/>
          </a:xfrm>
          <a:prstGeom prst="rect">
            <a:avLst/>
          </a:prstGeom>
        </p:spPr>
        <p:txBody>
          <a:bodyPr wrap="square">
            <a:spAutoFit/>
            <a:scene3d>
              <a:camera prst="orthographicFront"/>
              <a:lightRig rig="threePt" dir="t"/>
            </a:scene3d>
            <a:sp3d contourW="12700"/>
          </a:bodyPr>
          <a:lstStyle/>
          <a:p>
            <a:r>
              <a:rPr lang="nn-NO" altLang="zh-CN" sz="1400" dirty="0" smtClean="0"/>
              <a:t>    for </a:t>
            </a:r>
            <a:r>
              <a:rPr lang="nn-NO" altLang="zh-CN" sz="1400" dirty="0"/>
              <a:t>(i=n,j=m;i;j-=g[i--][j</a:t>
            </a:r>
            <a:r>
              <a:rPr lang="nn-NO" altLang="zh-CN" sz="1400" dirty="0" smtClean="0"/>
              <a:t>]) b[i</a:t>
            </a:r>
            <a:r>
              <a:rPr lang="nn-NO" altLang="zh-CN" sz="1400" dirty="0"/>
              <a:t>]=g[i][j];</a:t>
            </a:r>
            <a:endParaRPr lang="zh-CN" altLang="zh-CN" sz="1400" dirty="0"/>
          </a:p>
        </p:txBody>
      </p:sp>
      <p:sp>
        <p:nvSpPr>
          <p:cNvPr id="19" name="矩形 18">
            <a:extLst>
              <a:ext uri="{FF2B5EF4-FFF2-40B4-BE49-F238E27FC236}">
                <a16:creationId xmlns:a16="http://schemas.microsoft.com/office/drawing/2014/main" xmlns="" id="{7169A55A-483D-4542-B072-E8C204367D45}"/>
              </a:ext>
            </a:extLst>
          </p:cNvPr>
          <p:cNvSpPr/>
          <p:nvPr/>
        </p:nvSpPr>
        <p:spPr>
          <a:xfrm>
            <a:off x="5789669" y="5267347"/>
            <a:ext cx="4964872" cy="1600438"/>
          </a:xfrm>
          <a:prstGeom prst="rect">
            <a:avLst/>
          </a:prstGeom>
        </p:spPr>
        <p:txBody>
          <a:bodyPr wrap="square">
            <a:spAutoFit/>
            <a:scene3d>
              <a:camera prst="orthographicFront"/>
              <a:lightRig rig="threePt" dir="t"/>
            </a:scene3d>
            <a:sp3d contourW="12700"/>
          </a:bodyPr>
          <a:lstStyle/>
          <a:p>
            <a:r>
              <a:rPr lang="zh-CN" altLang="en-US" sz="1400" dirty="0" smtClean="0"/>
              <a:t>    题目要求方案字典序最小，翻译一下就是第</a:t>
            </a:r>
            <a:r>
              <a:rPr lang="en-US" altLang="zh-CN" sz="1400" dirty="0" smtClean="0"/>
              <a:t>i</a:t>
            </a:r>
            <a:r>
              <a:rPr lang="zh-CN" altLang="en-US" sz="1400" dirty="0" smtClean="0"/>
              <a:t>家公司分到的机器尽可能少，</a:t>
            </a:r>
            <a:r>
              <a:rPr lang="en-US" altLang="zh-CN" sz="1400" dirty="0" smtClean="0"/>
              <a:t>i+1</a:t>
            </a:r>
            <a:r>
              <a:rPr lang="zh-CN" altLang="en-US" sz="1400" dirty="0" smtClean="0"/>
              <a:t>家公司再论。观察我们的状态转移式已经实现了这个问题，若最优值相同，</a:t>
            </a:r>
            <a:r>
              <a:rPr lang="en-US" altLang="zh-CN" sz="1400" dirty="0" smtClean="0"/>
              <a:t>g[i][j]</a:t>
            </a:r>
            <a:r>
              <a:rPr lang="zh-CN" altLang="en-US" sz="1400" dirty="0" smtClean="0"/>
              <a:t>不更新，保留的还是原来更小的</a:t>
            </a:r>
            <a:r>
              <a:rPr lang="en-US" altLang="zh-CN" sz="1400" dirty="0" smtClean="0"/>
              <a:t>k</a:t>
            </a:r>
            <a:r>
              <a:rPr lang="zh-CN" altLang="en-US" sz="1400" dirty="0" smtClean="0"/>
              <a:t>。</a:t>
            </a:r>
            <a:endParaRPr lang="en-US" altLang="zh-CN" sz="1400" dirty="0" smtClean="0"/>
          </a:p>
          <a:p>
            <a:r>
              <a:rPr lang="en-US" altLang="zh-CN" sz="1400" dirty="0"/>
              <a:t> </a:t>
            </a:r>
            <a:r>
              <a:rPr lang="en-US" altLang="zh-CN" sz="1400" dirty="0" smtClean="0"/>
              <a:t>   </a:t>
            </a:r>
            <a:r>
              <a:rPr lang="zh-CN" altLang="en-US" sz="1400" dirty="0" smtClean="0"/>
              <a:t>但第</a:t>
            </a:r>
            <a:r>
              <a:rPr lang="en-US" altLang="zh-CN" sz="1400" dirty="0" smtClean="0"/>
              <a:t>i</a:t>
            </a:r>
            <a:r>
              <a:rPr lang="zh-CN" altLang="en-US" sz="1400" dirty="0" smtClean="0"/>
              <a:t>家公司是分配机器少了，但相应的，前</a:t>
            </a:r>
            <a:r>
              <a:rPr lang="en-US" altLang="zh-CN" sz="1400" dirty="0" smtClean="0"/>
              <a:t>i-1</a:t>
            </a:r>
            <a:r>
              <a:rPr lang="zh-CN" altLang="en-US" sz="1400" dirty="0" smtClean="0"/>
              <a:t>家公司肯定分配多了呀。所以可以一开始让编号逆序，</a:t>
            </a:r>
            <a:r>
              <a:rPr lang="en-US" altLang="zh-CN" sz="1400" dirty="0" smtClean="0"/>
              <a:t>i</a:t>
            </a:r>
            <a:r>
              <a:rPr lang="zh-CN" altLang="en-US" sz="1400" dirty="0" smtClean="0"/>
              <a:t>号公司改成</a:t>
            </a:r>
            <a:r>
              <a:rPr lang="en-US" altLang="zh-CN" sz="1400" dirty="0" smtClean="0"/>
              <a:t>n-i+1</a:t>
            </a:r>
            <a:r>
              <a:rPr lang="zh-CN" altLang="en-US" sz="1400" dirty="0" smtClean="0"/>
              <a:t>号公司，做完以后再改回来即可保证字典顺序。</a:t>
            </a:r>
            <a:endParaRPr lang="en-US" altLang="zh-CN" sz="1400" dirty="0" smtClean="0"/>
          </a:p>
        </p:txBody>
      </p:sp>
      <p:sp>
        <p:nvSpPr>
          <p:cNvPr id="20" name="矩形 19">
            <a:extLst>
              <a:ext uri="{FF2B5EF4-FFF2-40B4-BE49-F238E27FC236}">
                <a16:creationId xmlns:a16="http://schemas.microsoft.com/office/drawing/2014/main" xmlns="" id="{7169A55A-483D-4542-B072-E8C204367D45}"/>
              </a:ext>
            </a:extLst>
          </p:cNvPr>
          <p:cNvSpPr/>
          <p:nvPr/>
        </p:nvSpPr>
        <p:spPr>
          <a:xfrm>
            <a:off x="8935109" y="4993437"/>
            <a:ext cx="1325325" cy="307777"/>
          </a:xfrm>
          <a:prstGeom prst="rect">
            <a:avLst/>
          </a:prstGeom>
        </p:spPr>
        <p:txBody>
          <a:bodyPr wrap="square">
            <a:spAutoFit/>
            <a:scene3d>
              <a:camera prst="orthographicFront"/>
              <a:lightRig rig="threePt" dir="t"/>
            </a:scene3d>
            <a:sp3d contourW="12700"/>
          </a:bodyPr>
          <a:lstStyle/>
          <a:p>
            <a:r>
              <a:rPr lang="zh-CN" altLang="zh-CN" sz="1400" b="1" dirty="0" smtClean="0">
                <a:solidFill>
                  <a:srgbClr val="FF0000"/>
                </a:solidFill>
              </a:rPr>
              <a:t>【</a:t>
            </a:r>
            <a:r>
              <a:rPr lang="zh-CN" altLang="en-US" sz="1400" b="1" dirty="0" smtClean="0">
                <a:solidFill>
                  <a:srgbClr val="FF0000"/>
                </a:solidFill>
              </a:rPr>
              <a:t>动规路径</a:t>
            </a:r>
            <a:r>
              <a:rPr lang="zh-CN" altLang="zh-CN" sz="1400" b="1" dirty="0" smtClean="0">
                <a:solidFill>
                  <a:srgbClr val="FF0000"/>
                </a:solidFill>
              </a:rPr>
              <a:t>】</a:t>
            </a:r>
            <a:endParaRPr lang="zh-CN" altLang="zh-CN" sz="1400" dirty="0">
              <a:solidFill>
                <a:srgbClr val="FF0000"/>
              </a:solidFill>
            </a:endParaRPr>
          </a:p>
        </p:txBody>
      </p:sp>
    </p:spTree>
    <p:extLst>
      <p:ext uri="{BB962C8B-B14F-4D97-AF65-F5344CB8AC3E}">
        <p14:creationId xmlns:p14="http://schemas.microsoft.com/office/powerpoint/2010/main" val="1042841740"/>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15" grpId="0"/>
      <p:bldP spid="18"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33044" y="177223"/>
            <a:ext cx="1402948" cy="369332"/>
          </a:xfrm>
          <a:prstGeom prst="rect">
            <a:avLst/>
          </a:prstGeom>
          <a:noFill/>
        </p:spPr>
        <p:txBody>
          <a:bodyPr wrap="none" rtlCol="0">
            <a:spAutoFit/>
            <a:scene3d>
              <a:camera prst="orthographicFront"/>
              <a:lightRig rig="threePt" dir="t"/>
            </a:scene3d>
            <a:sp3d extrusionH="12700"/>
          </a:bodyPr>
          <a:lstStyle/>
          <a:p>
            <a:pPr algn="ctr"/>
            <a:r>
              <a:rPr lang="zh-CN" altLang="en-US" dirty="0">
                <a:solidFill>
                  <a:schemeClr val="bg1"/>
                </a:solidFill>
                <a:effectLst>
                  <a:outerShdw blurRad="203200" dist="38100" dir="5400000" algn="t" rotWithShape="0">
                    <a:prstClr val="black">
                      <a:alpha val="83000"/>
                    </a:prstClr>
                  </a:outerShdw>
                </a:effectLst>
                <a:cs typeface="+mn-ea"/>
                <a:sym typeface="+mn-lt"/>
              </a:rPr>
              <a:t>⑧</a:t>
            </a:r>
            <a:r>
              <a:rPr lang="zh-CN" altLang="en-US" dirty="0" smtClean="0">
                <a:solidFill>
                  <a:schemeClr val="bg1"/>
                </a:solidFill>
                <a:effectLst>
                  <a:outerShdw blurRad="203200" dist="38100" dir="5400000" algn="t" rotWithShape="0">
                    <a:prstClr val="black">
                      <a:alpha val="83000"/>
                    </a:prstClr>
                  </a:outerShdw>
                </a:effectLst>
                <a:cs typeface="+mn-ea"/>
                <a:sym typeface="+mn-lt"/>
              </a:rPr>
              <a:t> 能量项链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3" y="1507685"/>
            <a:ext cx="10829637" cy="5262979"/>
          </a:xfrm>
          <a:prstGeom prst="rect">
            <a:avLst/>
          </a:prstGeom>
        </p:spPr>
        <p:txBody>
          <a:bodyPr wrap="square">
            <a:spAutoFit/>
            <a:scene3d>
              <a:camera prst="orthographicFront"/>
              <a:lightRig rig="threePt" dir="t"/>
            </a:scene3d>
            <a:sp3d contourW="12700"/>
          </a:bodyPr>
          <a:lstStyle/>
          <a:p>
            <a:pPr algn="ctr"/>
            <a:r>
              <a:rPr lang="zh-CN" altLang="en-US" sz="1400" b="1" dirty="0" smtClean="0"/>
              <a:t>能量项链</a:t>
            </a:r>
            <a:endParaRPr lang="zh-CN" altLang="zh-CN" sz="1400" dirty="0"/>
          </a:p>
          <a:p>
            <a:r>
              <a:rPr lang="zh-CN" altLang="zh-CN" sz="1400" b="1" dirty="0"/>
              <a:t>【题目描述】</a:t>
            </a:r>
            <a:endParaRPr lang="zh-CN" altLang="zh-CN" sz="1400" dirty="0"/>
          </a:p>
          <a:p>
            <a:r>
              <a:rPr lang="zh-CN" altLang="en-US" sz="1400" dirty="0"/>
              <a:t> </a:t>
            </a:r>
            <a:r>
              <a:rPr lang="zh-CN" altLang="en-US" sz="1400" dirty="0" smtClean="0"/>
              <a:t>   在</a:t>
            </a:r>
            <a:r>
              <a:rPr lang="en-US" altLang="zh-CN" sz="1400" dirty="0" smtClean="0"/>
              <a:t>Mars</a:t>
            </a:r>
            <a:r>
              <a:rPr lang="zh-CN" altLang="en-US" sz="1400" dirty="0" smtClean="0"/>
              <a:t>星球</a:t>
            </a:r>
            <a:r>
              <a:rPr lang="zh-CN" altLang="en-US" sz="1400" dirty="0"/>
              <a:t>上，</a:t>
            </a:r>
            <a:r>
              <a:rPr lang="zh-CN" altLang="en-US" sz="1400" dirty="0" smtClean="0"/>
              <a:t>每个</a:t>
            </a:r>
            <a:r>
              <a:rPr lang="en-US" altLang="zh-CN" sz="1400" dirty="0" smtClean="0"/>
              <a:t>Mars</a:t>
            </a:r>
            <a:r>
              <a:rPr lang="zh-CN" altLang="en-US" sz="1400" dirty="0" smtClean="0"/>
              <a:t>人</a:t>
            </a:r>
            <a:r>
              <a:rPr lang="zh-CN" altLang="en-US" sz="1400" dirty="0"/>
              <a:t>都随身佩带着一串能量项链。在项链上</a:t>
            </a:r>
            <a:r>
              <a:rPr lang="zh-CN" altLang="en-US" sz="1400" dirty="0" smtClean="0"/>
              <a:t>有</a:t>
            </a:r>
            <a:r>
              <a:rPr lang="en-US" altLang="zh-CN" sz="1400" dirty="0" smtClean="0"/>
              <a:t>N</a:t>
            </a:r>
            <a:r>
              <a:rPr lang="zh-CN" altLang="en-US" sz="1400" dirty="0" smtClean="0"/>
              <a:t>颗</a:t>
            </a:r>
            <a:r>
              <a:rPr lang="zh-CN" altLang="en-US" sz="1400" dirty="0"/>
              <a:t>能量珠。能量珠是一颗有头标记与尾标记的珠子，这些标记对应着某个正整数。并且，对于相邻的两颗珠子，前一颗珠子的尾标记一定等于后一颗珠子的头标记。因为只有这样，通过吸盘（吸盘</a:t>
            </a:r>
            <a:r>
              <a:rPr lang="zh-CN" altLang="en-US" sz="1400" dirty="0" smtClean="0"/>
              <a:t>是</a:t>
            </a:r>
            <a:r>
              <a:rPr lang="en-US" altLang="zh-CN" sz="1400" dirty="0" smtClean="0"/>
              <a:t>Mars</a:t>
            </a:r>
            <a:r>
              <a:rPr lang="zh-CN" altLang="en-US" sz="1400" dirty="0" smtClean="0"/>
              <a:t>人</a:t>
            </a:r>
            <a:r>
              <a:rPr lang="zh-CN" altLang="en-US" sz="1400" dirty="0"/>
              <a:t>吸收能量的一种器官）的作用，这两颗珠子才能聚合成一颗珠子，同时释放出可以被吸盘吸收的能量。如果前一颗能量珠的头标记</a:t>
            </a:r>
            <a:r>
              <a:rPr lang="zh-CN" altLang="en-US" sz="1400" dirty="0" smtClean="0"/>
              <a:t>为</a:t>
            </a:r>
            <a:r>
              <a:rPr lang="en-US" altLang="zh-CN" sz="1400" dirty="0" smtClean="0"/>
              <a:t>m</a:t>
            </a:r>
            <a:r>
              <a:rPr lang="zh-CN" altLang="en-US" sz="1400" dirty="0"/>
              <a:t>，尾标记</a:t>
            </a:r>
            <a:r>
              <a:rPr lang="zh-CN" altLang="en-US" sz="1400" dirty="0" smtClean="0"/>
              <a:t>为</a:t>
            </a:r>
            <a:r>
              <a:rPr lang="en-US" altLang="zh-CN" sz="1400" dirty="0" smtClean="0"/>
              <a:t>r</a:t>
            </a:r>
            <a:r>
              <a:rPr lang="zh-CN" altLang="en-US" sz="1400" dirty="0"/>
              <a:t>，后一颗能量珠的头标记</a:t>
            </a:r>
            <a:r>
              <a:rPr lang="zh-CN" altLang="en-US" sz="1400" dirty="0" smtClean="0"/>
              <a:t>为</a:t>
            </a:r>
            <a:r>
              <a:rPr lang="en-US" altLang="zh-CN" sz="1400" dirty="0" smtClean="0"/>
              <a:t>r</a:t>
            </a:r>
            <a:r>
              <a:rPr lang="zh-CN" altLang="en-US" sz="1400" dirty="0"/>
              <a:t>，尾标记</a:t>
            </a:r>
            <a:r>
              <a:rPr lang="zh-CN" altLang="en-US" sz="1400" dirty="0" smtClean="0"/>
              <a:t>为</a:t>
            </a:r>
            <a:r>
              <a:rPr lang="en-US" altLang="zh-CN" sz="1400" dirty="0" smtClean="0"/>
              <a:t>n</a:t>
            </a:r>
            <a:r>
              <a:rPr lang="zh-CN" altLang="en-US" sz="1400" dirty="0"/>
              <a:t>，则聚合后释放的能量</a:t>
            </a:r>
            <a:r>
              <a:rPr lang="zh-CN" altLang="en-US" sz="1400" dirty="0" smtClean="0"/>
              <a:t>为</a:t>
            </a:r>
            <a:r>
              <a:rPr lang="en-US" altLang="zh-CN" sz="1400" dirty="0" err="1" smtClean="0"/>
              <a:t>m×r×n</a:t>
            </a:r>
            <a:r>
              <a:rPr lang="zh-CN" altLang="en-US" sz="1400" dirty="0"/>
              <a:t>（</a:t>
            </a:r>
            <a:r>
              <a:rPr lang="en-US" altLang="zh-CN" sz="1400" dirty="0" smtClean="0"/>
              <a:t>Mars</a:t>
            </a:r>
            <a:r>
              <a:rPr lang="zh-CN" altLang="en-US" sz="1400" dirty="0" smtClean="0"/>
              <a:t>单位</a:t>
            </a:r>
            <a:r>
              <a:rPr lang="zh-CN" altLang="en-US" sz="1400" dirty="0"/>
              <a:t>），新产生的珠子的头标记</a:t>
            </a:r>
            <a:r>
              <a:rPr lang="zh-CN" altLang="en-US" sz="1400" dirty="0" smtClean="0"/>
              <a:t>为</a:t>
            </a:r>
            <a:r>
              <a:rPr lang="en-US" altLang="zh-CN" sz="1400" dirty="0" smtClean="0"/>
              <a:t>m</a:t>
            </a:r>
            <a:r>
              <a:rPr lang="zh-CN" altLang="en-US" sz="1400" dirty="0"/>
              <a:t>，尾标记</a:t>
            </a:r>
            <a:r>
              <a:rPr lang="zh-CN" altLang="en-US" sz="1400" dirty="0" smtClean="0"/>
              <a:t>为</a:t>
            </a:r>
            <a:r>
              <a:rPr lang="en-US" altLang="zh-CN" sz="1400" dirty="0" smtClean="0"/>
              <a:t>n</a:t>
            </a:r>
            <a:r>
              <a:rPr lang="zh-CN" altLang="en-US" sz="1400" dirty="0"/>
              <a:t>。</a:t>
            </a:r>
          </a:p>
          <a:p>
            <a:r>
              <a:rPr lang="zh-CN" altLang="en-US" sz="1400" dirty="0" smtClean="0"/>
              <a:t>    需要</a:t>
            </a:r>
            <a:r>
              <a:rPr lang="zh-CN" altLang="en-US" sz="1400" dirty="0"/>
              <a:t>时，</a:t>
            </a:r>
            <a:r>
              <a:rPr lang="en-US" altLang="zh-CN" sz="1400" dirty="0" smtClean="0"/>
              <a:t>Mars</a:t>
            </a:r>
            <a:r>
              <a:rPr lang="zh-CN" altLang="en-US" sz="1400" dirty="0" smtClean="0"/>
              <a:t>人</a:t>
            </a:r>
            <a:r>
              <a:rPr lang="zh-CN" altLang="en-US" sz="1400" dirty="0"/>
              <a:t>就用吸盘夹住相邻的两颗珠子，通过聚合得到能量，直到项链上只剩下一颗珠子为止。显然，不同的聚合顺序得到的总能量是不同的，请你设计一个聚合顺序，使一串项链释放出的总能量最大。</a:t>
            </a:r>
          </a:p>
          <a:p>
            <a:r>
              <a:rPr lang="zh-CN" altLang="en-US" sz="1400" dirty="0" smtClean="0"/>
              <a:t>    例如</a:t>
            </a:r>
            <a:r>
              <a:rPr lang="zh-CN" altLang="en-US" sz="1400" dirty="0"/>
              <a:t>：</a:t>
            </a:r>
            <a:r>
              <a:rPr lang="zh-CN" altLang="en-US" sz="1400" dirty="0" smtClean="0"/>
              <a:t>设</a:t>
            </a:r>
            <a:r>
              <a:rPr lang="en-US" altLang="zh-CN" sz="1400" dirty="0" smtClean="0"/>
              <a:t>N=4</a:t>
            </a:r>
            <a:r>
              <a:rPr lang="zh-CN" altLang="en-US" sz="1400" dirty="0" smtClean="0"/>
              <a:t>，</a:t>
            </a:r>
            <a:r>
              <a:rPr lang="en-US" altLang="zh-CN" sz="1400" dirty="0" smtClean="0"/>
              <a:t>4</a:t>
            </a:r>
            <a:r>
              <a:rPr lang="zh-CN" altLang="en-US" sz="1400" dirty="0" smtClean="0"/>
              <a:t>颗</a:t>
            </a:r>
            <a:r>
              <a:rPr lang="zh-CN" altLang="en-US" sz="1400" dirty="0"/>
              <a:t>珠子的头标记与尾标记依次</a:t>
            </a:r>
            <a:r>
              <a:rPr lang="zh-CN" altLang="en-US" sz="1400" dirty="0" smtClean="0"/>
              <a:t>为</a:t>
            </a:r>
            <a:r>
              <a:rPr lang="en-US" altLang="zh-CN" sz="1400" dirty="0" smtClean="0"/>
              <a:t>(</a:t>
            </a:r>
            <a:r>
              <a:rPr lang="en-US" altLang="zh-CN" sz="1400" dirty="0"/>
              <a:t>2,3)(3,5)(5,10)(10,2)</a:t>
            </a:r>
            <a:r>
              <a:rPr lang="zh-CN" altLang="en-US" sz="1400" dirty="0"/>
              <a:t>。我们用</a:t>
            </a:r>
            <a:r>
              <a:rPr lang="zh-CN" altLang="en-US" sz="1400" dirty="0" smtClean="0"/>
              <a:t>记号</a:t>
            </a:r>
            <a:r>
              <a:rPr lang="en-US" altLang="zh-CN" sz="1400" dirty="0" smtClean="0"/>
              <a:t>⊕</a:t>
            </a:r>
            <a:r>
              <a:rPr lang="zh-CN" altLang="en-US" sz="1400" dirty="0" smtClean="0"/>
              <a:t>表示</a:t>
            </a:r>
            <a:r>
              <a:rPr lang="zh-CN" altLang="en-US" sz="1400" dirty="0"/>
              <a:t>两颗珠子的聚合操作</a:t>
            </a:r>
            <a:r>
              <a:rPr lang="zh-CN" altLang="en-US" sz="1400" dirty="0" smtClean="0"/>
              <a:t>，</a:t>
            </a:r>
            <a:r>
              <a:rPr lang="en-US" altLang="zh-CN" sz="1400" dirty="0" smtClean="0"/>
              <a:t>(</a:t>
            </a:r>
            <a:r>
              <a:rPr lang="en-US" altLang="zh-CN" sz="1400" dirty="0"/>
              <a:t>j</a:t>
            </a:r>
            <a:r>
              <a:rPr lang="zh-CN" altLang="en-US" sz="1400" dirty="0"/>
              <a:t>⊕</a:t>
            </a:r>
            <a:r>
              <a:rPr lang="en-US" altLang="zh-CN" sz="1400" dirty="0"/>
              <a:t>k</a:t>
            </a:r>
            <a:r>
              <a:rPr lang="en-US" altLang="zh-CN" sz="1400" dirty="0" smtClean="0"/>
              <a:t>)</a:t>
            </a:r>
            <a:r>
              <a:rPr lang="zh-CN" altLang="en-US" sz="1400" dirty="0" smtClean="0"/>
              <a:t>表示第</a:t>
            </a:r>
            <a:r>
              <a:rPr lang="en-US" altLang="zh-CN" sz="1400" dirty="0" err="1" smtClean="0"/>
              <a:t>j,k</a:t>
            </a:r>
            <a:r>
              <a:rPr lang="zh-CN" altLang="en-US" sz="1400" dirty="0" smtClean="0"/>
              <a:t>两</a:t>
            </a:r>
            <a:r>
              <a:rPr lang="zh-CN" altLang="en-US" sz="1400" dirty="0"/>
              <a:t>颗珠子聚合后所释放的能量。则</a:t>
            </a:r>
            <a:r>
              <a:rPr lang="zh-CN" altLang="en-US" sz="1400" dirty="0" smtClean="0"/>
              <a:t>第</a:t>
            </a:r>
            <a:r>
              <a:rPr lang="en-US" altLang="zh-CN" sz="1400" dirty="0" smtClean="0"/>
              <a:t>4</a:t>
            </a:r>
            <a:r>
              <a:rPr lang="zh-CN" altLang="en-US" sz="1400" dirty="0" smtClean="0"/>
              <a:t>、</a:t>
            </a:r>
            <a:r>
              <a:rPr lang="en-US" altLang="zh-CN" sz="1400" dirty="0" smtClean="0"/>
              <a:t>1</a:t>
            </a:r>
            <a:r>
              <a:rPr lang="zh-CN" altLang="en-US" sz="1400" dirty="0" smtClean="0"/>
              <a:t>两</a:t>
            </a:r>
            <a:r>
              <a:rPr lang="zh-CN" altLang="en-US" sz="1400" dirty="0"/>
              <a:t>颗珠子聚合后释放的能量为：</a:t>
            </a:r>
          </a:p>
          <a:p>
            <a:r>
              <a:rPr lang="en-US" altLang="zh-CN" sz="1400" dirty="0" smtClean="0"/>
              <a:t>    (</a:t>
            </a:r>
            <a:r>
              <a:rPr lang="en-US" altLang="zh-CN" sz="1400" dirty="0"/>
              <a:t>4⊕1)=10×2×3=60</a:t>
            </a:r>
            <a:r>
              <a:rPr lang="zh-CN" altLang="en-US" sz="1400" dirty="0"/>
              <a:t>。</a:t>
            </a:r>
          </a:p>
          <a:p>
            <a:r>
              <a:rPr lang="zh-CN" altLang="en-US" sz="1400" dirty="0" smtClean="0"/>
              <a:t>    这</a:t>
            </a:r>
            <a:r>
              <a:rPr lang="zh-CN" altLang="en-US" sz="1400" dirty="0"/>
              <a:t>一串项链可以得到最优值的一个聚合顺序所释放的总能量为：</a:t>
            </a:r>
          </a:p>
          <a:p>
            <a:r>
              <a:rPr lang="en-US" altLang="zh-CN" sz="1400" dirty="0" smtClean="0"/>
              <a:t>    ((</a:t>
            </a:r>
            <a:r>
              <a:rPr lang="en-US" altLang="zh-CN" sz="1400" dirty="0"/>
              <a:t>4⊕1)⊕2)⊕3)=10×2×3+10×3×5+10×5×10=710</a:t>
            </a:r>
            <a:r>
              <a:rPr lang="zh-CN" altLang="en-US" sz="1400" dirty="0" smtClean="0"/>
              <a:t>。</a:t>
            </a:r>
            <a:endParaRPr lang="zh-CN" altLang="zh-CN" sz="1400" dirty="0"/>
          </a:p>
          <a:p>
            <a:endParaRPr lang="en-US" altLang="zh-CN" sz="1400" b="1" dirty="0" smtClean="0"/>
          </a:p>
          <a:p>
            <a:r>
              <a:rPr lang="zh-CN" altLang="zh-CN" sz="1400" b="1" dirty="0" smtClean="0"/>
              <a:t>【样例输入】</a:t>
            </a:r>
            <a:endParaRPr lang="zh-CN" altLang="zh-CN" sz="1400" dirty="0" smtClean="0"/>
          </a:p>
          <a:p>
            <a:r>
              <a:rPr lang="en-US" altLang="zh-CN" sz="1400" dirty="0" smtClean="0"/>
              <a:t>4</a:t>
            </a:r>
          </a:p>
          <a:p>
            <a:r>
              <a:rPr lang="en-US" altLang="zh-CN" sz="1400" dirty="0" smtClean="0"/>
              <a:t>2 3 5 10</a:t>
            </a:r>
          </a:p>
          <a:p>
            <a:endParaRPr lang="en-US" altLang="zh-CN" sz="1400" dirty="0"/>
          </a:p>
          <a:p>
            <a:r>
              <a:rPr lang="zh-CN" altLang="zh-CN" sz="1400" b="1" dirty="0"/>
              <a:t>【样例输出】</a:t>
            </a:r>
            <a:endParaRPr lang="zh-CN" altLang="zh-CN" sz="1400" dirty="0"/>
          </a:p>
          <a:p>
            <a:r>
              <a:rPr lang="en-US" altLang="zh-CN" sz="1400" dirty="0" smtClean="0"/>
              <a:t>710</a:t>
            </a:r>
          </a:p>
          <a:p>
            <a:endParaRPr lang="en-US" altLang="zh-CN" sz="1400" dirty="0" smtClean="0"/>
          </a:p>
          <a:p>
            <a:r>
              <a:rPr lang="zh-CN" altLang="zh-CN" sz="1400" b="1" dirty="0" smtClean="0"/>
              <a:t>【</a:t>
            </a:r>
            <a:r>
              <a:rPr lang="zh-CN" altLang="en-US" sz="1400" b="1" dirty="0" smtClean="0"/>
              <a:t>数据范围</a:t>
            </a:r>
            <a:r>
              <a:rPr lang="zh-CN" altLang="zh-CN" sz="1400" b="1" dirty="0" smtClean="0"/>
              <a:t>】</a:t>
            </a:r>
            <a:endParaRPr lang="en-US" altLang="zh-CN" sz="1400" dirty="0"/>
          </a:p>
          <a:p>
            <a:r>
              <a:rPr lang="en-US" altLang="zh-CN" sz="1400" dirty="0" smtClean="0"/>
              <a:t>N&lt;=100</a:t>
            </a:r>
            <a:r>
              <a:rPr lang="zh-CN" altLang="zh-CN" sz="1400" dirty="0" smtClean="0"/>
              <a:t>，</a:t>
            </a:r>
            <a:r>
              <a:rPr lang="en-US" altLang="zh-CN" sz="1400" dirty="0" smtClean="0"/>
              <a:t>0&lt;</a:t>
            </a:r>
            <a:r>
              <a:rPr lang="en-US" altLang="zh-CN" sz="1400" dirty="0" err="1" smtClean="0"/>
              <a:t>a</a:t>
            </a:r>
            <a:r>
              <a:rPr lang="en-US" altLang="zh-CN" sz="1400" baseline="-25000" dirty="0" err="1" smtClean="0"/>
              <a:t>i</a:t>
            </a:r>
            <a:r>
              <a:rPr lang="en-US" altLang="zh-CN" sz="1400" dirty="0" smtClean="0"/>
              <a:t>&lt;=1000</a:t>
            </a:r>
            <a:r>
              <a:rPr lang="zh-CN" altLang="zh-CN" sz="1400" dirty="0" smtClean="0"/>
              <a:t>，</a:t>
            </a:r>
            <a:r>
              <a:rPr lang="en-US" altLang="zh-CN" sz="1400" dirty="0" err="1" smtClean="0"/>
              <a:t>ans</a:t>
            </a:r>
            <a:r>
              <a:rPr lang="zh-CN" altLang="en-US" sz="1400" dirty="0" smtClean="0"/>
              <a:t>∈</a:t>
            </a:r>
            <a:r>
              <a:rPr lang="en-US" altLang="zh-CN" sz="1400" dirty="0" err="1" smtClean="0"/>
              <a:t>int</a:t>
            </a:r>
            <a:endParaRPr lang="en-US" altLang="zh-CN" sz="1400" dirty="0"/>
          </a:p>
        </p:txBody>
      </p:sp>
      <p:sp>
        <p:nvSpPr>
          <p:cNvPr id="14" name="矩形 13">
            <a:extLst>
              <a:ext uri="{FF2B5EF4-FFF2-40B4-BE49-F238E27FC236}">
                <a16:creationId xmlns:a16="http://schemas.microsoft.com/office/drawing/2014/main" xmlns="" id="{7169A55A-483D-4542-B072-E8C204367D45}"/>
              </a:ext>
            </a:extLst>
          </p:cNvPr>
          <p:cNvSpPr/>
          <p:nvPr/>
        </p:nvSpPr>
        <p:spPr>
          <a:xfrm>
            <a:off x="4435004" y="4675784"/>
            <a:ext cx="7100988" cy="1600438"/>
          </a:xfrm>
          <a:prstGeom prst="rect">
            <a:avLst/>
          </a:prstGeom>
        </p:spPr>
        <p:txBody>
          <a:bodyPr wrap="square">
            <a:spAutoFit/>
            <a:scene3d>
              <a:camera prst="orthographicFront"/>
              <a:lightRig rig="threePt" dir="t"/>
            </a:scene3d>
            <a:sp3d contourW="12700"/>
          </a:bodyPr>
          <a:lstStyle/>
          <a:p>
            <a:r>
              <a:rPr lang="en-US" altLang="zh-CN" sz="1400" dirty="0" smtClean="0"/>
              <a:t>    for </a:t>
            </a:r>
            <a:r>
              <a:rPr lang="en-US" altLang="zh-CN" sz="1400" dirty="0"/>
              <a:t>(i=1;i&lt;=</a:t>
            </a:r>
            <a:r>
              <a:rPr lang="en-US" altLang="zh-CN" sz="1400" dirty="0" err="1"/>
              <a:t>n;i</a:t>
            </a:r>
            <a:r>
              <a:rPr lang="en-US" altLang="zh-CN" sz="1400" dirty="0"/>
              <a:t>++) </a:t>
            </a:r>
            <a:r>
              <a:rPr lang="en-US" altLang="zh-CN" sz="1400" dirty="0" err="1"/>
              <a:t>scanf</a:t>
            </a:r>
            <a:r>
              <a:rPr lang="en-US" altLang="zh-CN" sz="1400" dirty="0"/>
              <a:t>("%</a:t>
            </a:r>
            <a:r>
              <a:rPr lang="en-US" altLang="zh-CN" sz="1400" dirty="0" err="1"/>
              <a:t>d",&amp;a</a:t>
            </a:r>
            <a:r>
              <a:rPr lang="en-US" altLang="zh-CN" sz="1400" dirty="0"/>
              <a:t>[i])</a:t>
            </a:r>
            <a:r>
              <a:rPr lang="en-US" altLang="zh-CN" sz="1400" dirty="0">
                <a:solidFill>
                  <a:srgbClr val="3A69EE"/>
                </a:solidFill>
              </a:rPr>
              <a:t>,a[</a:t>
            </a:r>
            <a:r>
              <a:rPr lang="en-US" altLang="zh-CN" sz="1400" dirty="0" err="1">
                <a:solidFill>
                  <a:srgbClr val="3A69EE"/>
                </a:solidFill>
              </a:rPr>
              <a:t>i+n</a:t>
            </a:r>
            <a:r>
              <a:rPr lang="en-US" altLang="zh-CN" sz="1400" dirty="0">
                <a:solidFill>
                  <a:srgbClr val="3A69EE"/>
                </a:solidFill>
              </a:rPr>
              <a:t>]=a[i</a:t>
            </a:r>
            <a:r>
              <a:rPr lang="en-US" altLang="zh-CN" sz="1400" dirty="0" smtClean="0">
                <a:solidFill>
                  <a:srgbClr val="3A69EE"/>
                </a:solidFill>
              </a:rPr>
              <a:t>]</a:t>
            </a:r>
            <a:r>
              <a:rPr lang="en-US" altLang="zh-CN" sz="1400" dirty="0" smtClean="0"/>
              <a:t>;</a:t>
            </a:r>
          </a:p>
          <a:p>
            <a:r>
              <a:rPr lang="en-US" altLang="zh-CN" sz="1400" dirty="0"/>
              <a:t> </a:t>
            </a:r>
            <a:r>
              <a:rPr lang="en-US" altLang="zh-CN" sz="1400" dirty="0" smtClean="0"/>
              <a:t>   for </a:t>
            </a:r>
            <a:r>
              <a:rPr lang="en-US" altLang="zh-CN" sz="1400" dirty="0"/>
              <a:t>(i=2;i&lt;2*</a:t>
            </a:r>
            <a:r>
              <a:rPr lang="en-US" altLang="zh-CN" sz="1400" dirty="0" err="1"/>
              <a:t>n;i</a:t>
            </a:r>
            <a:r>
              <a:rPr lang="en-US" altLang="zh-CN" sz="1400" dirty="0" smtClean="0"/>
              <a:t>++)</a:t>
            </a:r>
          </a:p>
          <a:p>
            <a:r>
              <a:rPr lang="en-US" altLang="zh-CN" sz="1400" dirty="0"/>
              <a:t> </a:t>
            </a:r>
            <a:r>
              <a:rPr lang="en-US" altLang="zh-CN" sz="1400" dirty="0" smtClean="0"/>
              <a:t>       for </a:t>
            </a:r>
            <a:r>
              <a:rPr lang="en-US" altLang="zh-CN" sz="1400" dirty="0"/>
              <a:t>(j=i-1;(j&gt;0)&amp;&amp;(i-j&lt;n);j--) </a:t>
            </a:r>
            <a:endParaRPr lang="en-US" altLang="zh-CN" sz="1400" dirty="0" smtClean="0"/>
          </a:p>
          <a:p>
            <a:r>
              <a:rPr lang="en-US" altLang="zh-CN" sz="1400" dirty="0"/>
              <a:t> </a:t>
            </a:r>
            <a:r>
              <a:rPr lang="en-US" altLang="zh-CN" sz="1400" dirty="0" smtClean="0"/>
              <a:t>       {   for </a:t>
            </a:r>
            <a:r>
              <a:rPr lang="en-US" altLang="zh-CN" sz="1400" dirty="0"/>
              <a:t>(k=</a:t>
            </a:r>
            <a:r>
              <a:rPr lang="en-US" altLang="zh-CN" sz="1400" dirty="0" err="1"/>
              <a:t>j;k</a:t>
            </a:r>
            <a:r>
              <a:rPr lang="en-US" altLang="zh-CN" sz="1400" dirty="0"/>
              <a:t>&lt;</a:t>
            </a:r>
            <a:r>
              <a:rPr lang="en-US" altLang="zh-CN" sz="1400" dirty="0" err="1"/>
              <a:t>i;k</a:t>
            </a:r>
            <a:r>
              <a:rPr lang="en-US" altLang="zh-CN" sz="1400" dirty="0"/>
              <a:t>++) </a:t>
            </a:r>
            <a:endParaRPr lang="en-US" altLang="zh-CN" sz="1400" dirty="0" smtClean="0"/>
          </a:p>
          <a:p>
            <a:r>
              <a:rPr lang="en-US" altLang="zh-CN" sz="1400" dirty="0"/>
              <a:t> </a:t>
            </a:r>
            <a:r>
              <a:rPr lang="en-US" altLang="zh-CN" sz="1400" dirty="0" smtClean="0"/>
              <a:t>                f[j</a:t>
            </a:r>
            <a:r>
              <a:rPr lang="en-US" altLang="zh-CN" sz="1400" dirty="0"/>
              <a:t>][i</a:t>
            </a:r>
            <a:r>
              <a:rPr lang="en-US" altLang="zh-CN" sz="1400" dirty="0" smtClean="0"/>
              <a:t>]=max(f[j</a:t>
            </a:r>
            <a:r>
              <a:rPr lang="en-US" altLang="zh-CN" sz="1400" dirty="0"/>
              <a:t>][i],f[j][k]+f[k+1][i]+a[j]*a[k+1]*a[i+1</a:t>
            </a:r>
            <a:r>
              <a:rPr lang="en-US" altLang="zh-CN" sz="1400" dirty="0" smtClean="0"/>
              <a:t>]);</a:t>
            </a:r>
          </a:p>
          <a:p>
            <a:r>
              <a:rPr lang="en-US" altLang="zh-CN" sz="1400" dirty="0"/>
              <a:t> </a:t>
            </a:r>
            <a:r>
              <a:rPr lang="en-US" altLang="zh-CN" sz="1400" dirty="0" smtClean="0"/>
              <a:t>           </a:t>
            </a:r>
            <a:r>
              <a:rPr lang="en-US" altLang="zh-CN" sz="1400" dirty="0" err="1" smtClean="0"/>
              <a:t>ans</a:t>
            </a:r>
            <a:r>
              <a:rPr lang="en-US" altLang="zh-CN" sz="1400" dirty="0" smtClean="0"/>
              <a:t>=max(</a:t>
            </a:r>
            <a:r>
              <a:rPr lang="en-US" altLang="zh-CN" sz="1400" dirty="0" err="1" smtClean="0"/>
              <a:t>ans,f</a:t>
            </a:r>
            <a:r>
              <a:rPr lang="en-US" altLang="zh-CN" sz="1400" dirty="0" smtClean="0"/>
              <a:t>[j</a:t>
            </a:r>
            <a:r>
              <a:rPr lang="en-US" altLang="zh-CN" sz="1400" dirty="0"/>
              <a:t>][i</a:t>
            </a:r>
            <a:r>
              <a:rPr lang="en-US" altLang="zh-CN" sz="1400" dirty="0" smtClean="0"/>
              <a:t>]);</a:t>
            </a:r>
          </a:p>
          <a:p>
            <a:r>
              <a:rPr lang="en-US" altLang="zh-CN" sz="1400" dirty="0"/>
              <a:t> </a:t>
            </a:r>
            <a:r>
              <a:rPr lang="en-US" altLang="zh-CN" sz="1400" dirty="0" smtClean="0"/>
              <a:t>            }</a:t>
            </a:r>
            <a:endParaRPr lang="zh-CN" altLang="zh-CN" sz="1400" dirty="0"/>
          </a:p>
        </p:txBody>
      </p:sp>
    </p:spTree>
    <p:extLst>
      <p:ext uri="{BB962C8B-B14F-4D97-AF65-F5344CB8AC3E}">
        <p14:creationId xmlns:p14="http://schemas.microsoft.com/office/powerpoint/2010/main" val="256081915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005403" cy="584775"/>
          </a:xfrm>
          <a:prstGeom prst="rect">
            <a:avLst/>
          </a:prstGeom>
          <a:noFill/>
        </p:spPr>
        <p:txBody>
          <a:bodyPr wrap="none" rtlCol="0">
            <a:spAutoFit/>
            <a:scene3d>
              <a:camera prst="orthographicFront"/>
              <a:lightRig rig="threePt" dir="t"/>
            </a:scene3d>
            <a:sp3d extrusionH="12700"/>
          </a:bodyPr>
          <a:lstStyle/>
          <a:p>
            <a:r>
              <a:rPr lang="zh-CN" altLang="en-US" sz="3200" dirty="0">
                <a:solidFill>
                  <a:schemeClr val="tx1">
                    <a:lumMod val="65000"/>
                    <a:lumOff val="35000"/>
                  </a:schemeClr>
                </a:solidFill>
                <a:cs typeface="+mn-ea"/>
                <a:sym typeface="+mn-lt"/>
              </a:rPr>
              <a:t>例题</a:t>
            </a: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a:ln>
                  <a:noFill/>
                </a:ln>
                <a:solidFill>
                  <a:schemeClr val="accent3"/>
                </a:solidFill>
                <a:effectLst/>
                <a:uLnTx/>
                <a:uFillTx/>
                <a:cs typeface="+mn-ea"/>
                <a:sym typeface="+mn-lt"/>
              </a:rPr>
              <a:t>Examples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133043" y="177223"/>
            <a:ext cx="1402948"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⑨ 魔法塔防</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706353" y="1507685"/>
            <a:ext cx="10829637" cy="5262979"/>
          </a:xfrm>
          <a:prstGeom prst="rect">
            <a:avLst/>
          </a:prstGeom>
        </p:spPr>
        <p:txBody>
          <a:bodyPr wrap="square">
            <a:spAutoFit/>
            <a:scene3d>
              <a:camera prst="orthographicFront"/>
              <a:lightRig rig="threePt" dir="t"/>
            </a:scene3d>
            <a:sp3d contourW="12700"/>
          </a:bodyPr>
          <a:lstStyle/>
          <a:p>
            <a:pPr algn="ctr"/>
            <a:r>
              <a:rPr lang="zh-CN" altLang="en-US" sz="1400" b="1" dirty="0" smtClean="0"/>
              <a:t>魔法塔防</a:t>
            </a:r>
            <a:endParaRPr lang="zh-CN" altLang="zh-CN" sz="1400" dirty="0"/>
          </a:p>
          <a:p>
            <a:r>
              <a:rPr lang="zh-CN" altLang="zh-CN" sz="1400" b="1" dirty="0"/>
              <a:t>【题目描述】</a:t>
            </a:r>
            <a:endParaRPr lang="zh-CN" altLang="zh-CN" sz="1400" dirty="0"/>
          </a:p>
          <a:p>
            <a:r>
              <a:rPr lang="en-US" altLang="zh-CN" sz="1400" dirty="0" smtClean="0"/>
              <a:t>    </a:t>
            </a:r>
            <a:r>
              <a:rPr lang="zh-CN" altLang="zh-CN" sz="1400" dirty="0" smtClean="0"/>
              <a:t>塔</a:t>
            </a:r>
            <a:r>
              <a:rPr lang="zh-CN" altLang="zh-CN" sz="1400" dirty="0"/>
              <a:t>防游戏</a:t>
            </a:r>
            <a:r>
              <a:rPr lang="en-US" altLang="zh-CN" sz="1400" dirty="0"/>
              <a:t>(Tower </a:t>
            </a:r>
            <a:r>
              <a:rPr lang="en-US" altLang="zh-CN" sz="1400" dirty="0" err="1"/>
              <a:t>Defence</a:t>
            </a:r>
            <a:r>
              <a:rPr lang="en-US" altLang="zh-CN" sz="1400" dirty="0"/>
              <a:t>)</a:t>
            </a:r>
            <a:r>
              <a:rPr lang="zh-CN" altLang="zh-CN" sz="1400" dirty="0"/>
              <a:t>是</a:t>
            </a:r>
            <a:r>
              <a:rPr lang="en-US" altLang="zh-CN" sz="1400" dirty="0" err="1"/>
              <a:t>dd_engi</a:t>
            </a:r>
            <a:r>
              <a:rPr lang="zh-CN" altLang="zh-CN" sz="1400" dirty="0"/>
              <a:t>非常喜爱的一类休闲游戏。在这类游戏中，玩家需要在地图上摆放各种防御单位，打击并阻止试图跨越地图的敌对单位。一般而言，敌对单位不会攻击防御单位，但若敌对单位未被防御单位消灭且成功跨越地图，玩家的生命数会减少。</a:t>
            </a:r>
          </a:p>
          <a:p>
            <a:r>
              <a:rPr lang="en-US" altLang="zh-CN" sz="1400" dirty="0" smtClean="0"/>
              <a:t>    </a:t>
            </a:r>
            <a:r>
              <a:rPr lang="en-US" altLang="zh-CN" sz="1400" dirty="0" err="1" smtClean="0"/>
              <a:t>dd_engi</a:t>
            </a:r>
            <a:r>
              <a:rPr lang="zh-CN" altLang="zh-CN" sz="1400" dirty="0"/>
              <a:t>设计出了一种一维的塔防游戏，并将其命名为</a:t>
            </a:r>
            <a:r>
              <a:rPr lang="en-US" altLang="zh-CN" sz="1400" dirty="0"/>
              <a:t>“</a:t>
            </a:r>
            <a:r>
              <a:rPr lang="zh-CN" altLang="zh-CN" sz="1400" dirty="0"/>
              <a:t>魔法塔防</a:t>
            </a:r>
            <a:r>
              <a:rPr lang="en-US" altLang="zh-CN" sz="1400" dirty="0"/>
              <a:t>”</a:t>
            </a:r>
            <a:r>
              <a:rPr lang="zh-CN" altLang="zh-CN" sz="1400" dirty="0"/>
              <a:t>，规则如下：</a:t>
            </a:r>
          </a:p>
          <a:p>
            <a:r>
              <a:rPr lang="en-US" altLang="zh-CN" sz="1400" dirty="0" smtClean="0"/>
              <a:t>    </a:t>
            </a:r>
            <a:r>
              <a:rPr lang="zh-CN" altLang="zh-CN" sz="1400" dirty="0" smtClean="0"/>
              <a:t>游戏</a:t>
            </a:r>
            <a:r>
              <a:rPr lang="zh-CN" altLang="zh-CN" sz="1400" dirty="0"/>
              <a:t>的地图是一行</a:t>
            </a:r>
            <a:r>
              <a:rPr lang="en-US" altLang="zh-CN" sz="1400" dirty="0"/>
              <a:t>N</a:t>
            </a:r>
            <a:r>
              <a:rPr lang="zh-CN" altLang="zh-CN" sz="1400" dirty="0"/>
              <a:t>个连续的魔法塔，其中行的一端是入口，另一端是出口，怪兽会从地图的一端向另一端移动。初始时，怪兽通过每个魔法塔的时间是</a:t>
            </a:r>
            <a:r>
              <a:rPr lang="en-US" altLang="zh-CN" sz="1400" dirty="0"/>
              <a:t>T</a:t>
            </a:r>
            <a:r>
              <a:rPr lang="zh-CN" altLang="zh-CN" sz="1400" dirty="0"/>
              <a:t>秒。玩家可以在这</a:t>
            </a:r>
            <a:r>
              <a:rPr lang="en-US" altLang="zh-CN" sz="1400" dirty="0"/>
              <a:t>N</a:t>
            </a:r>
            <a:r>
              <a:rPr lang="zh-CN" altLang="zh-CN" sz="1400" dirty="0"/>
              <a:t>个魔法塔中放置魔法师以对经过的怪兽造成伤害，每个魔法塔中最多放置一个魔法师，且放置好的魔法师不能改变位置。</a:t>
            </a:r>
          </a:p>
          <a:p>
            <a:r>
              <a:rPr lang="en-US" altLang="zh-CN" sz="1400" dirty="0" smtClean="0"/>
              <a:t>    </a:t>
            </a:r>
            <a:r>
              <a:rPr lang="zh-CN" altLang="zh-CN" sz="1400" dirty="0" smtClean="0"/>
              <a:t>共有</a:t>
            </a:r>
            <a:r>
              <a:rPr lang="zh-CN" altLang="zh-CN" sz="1400" dirty="0"/>
              <a:t>三种不同属性的魔法师，分别是红色魔法师、蓝色魔法师和绿色魔法师，作用分别是攻击、减速以及下毒。当怪兽经过一个红色魔法师所在的魔法塔时，每秒钟生命值会减少</a:t>
            </a:r>
            <a:r>
              <a:rPr lang="en-US" altLang="zh-CN" sz="1400" dirty="0"/>
              <a:t>R</a:t>
            </a:r>
            <a:r>
              <a:rPr lang="zh-CN" altLang="zh-CN" sz="1400" dirty="0"/>
              <a:t>点；当怪兽从一个蓝色魔法师所在的魔法塔走出之后，通过每个魔法塔的时间延长</a:t>
            </a:r>
            <a:r>
              <a:rPr lang="en-US" altLang="zh-CN" sz="1400" dirty="0"/>
              <a:t>B</a:t>
            </a:r>
            <a:r>
              <a:rPr lang="zh-CN" altLang="zh-CN" sz="1400" dirty="0"/>
              <a:t>秒；当怪兽从一个绿色魔法师所在的魔法塔走出之后，每秒钟会因中毒失去</a:t>
            </a:r>
            <a:r>
              <a:rPr lang="en-US" altLang="zh-CN" sz="1400" dirty="0"/>
              <a:t>G</a:t>
            </a:r>
            <a:r>
              <a:rPr lang="zh-CN" altLang="zh-CN" sz="1400" dirty="0"/>
              <a:t>点生命值。蓝色魔法师的减速效果和绿色魔法师的下毒效果是可以累加的。也就是说，怪兽通过</a:t>
            </a:r>
            <a:r>
              <a:rPr lang="en-US" altLang="zh-CN" sz="1400" dirty="0"/>
              <a:t>n</a:t>
            </a:r>
            <a:r>
              <a:rPr lang="zh-CN" altLang="zh-CN" sz="1400" dirty="0"/>
              <a:t>个蓝色魔法师所在的魔法塔之后，它通过每个魔法塔的时间会变成</a:t>
            </a:r>
            <a:r>
              <a:rPr lang="en-US" altLang="zh-CN" sz="1400" dirty="0"/>
              <a:t>T+B*n</a:t>
            </a:r>
            <a:r>
              <a:rPr lang="zh-CN" altLang="zh-CN" sz="1400" dirty="0"/>
              <a:t>秒；怪兽通过</a:t>
            </a:r>
            <a:r>
              <a:rPr lang="en-US" altLang="zh-CN" sz="1400" dirty="0"/>
              <a:t>n</a:t>
            </a:r>
            <a:r>
              <a:rPr lang="zh-CN" altLang="zh-CN" sz="1400" dirty="0"/>
              <a:t>个绿色魔法师所在的魔法塔之后，它每秒钟会因中毒失去</a:t>
            </a:r>
            <a:r>
              <a:rPr lang="en-US" altLang="zh-CN" sz="1400" dirty="0"/>
              <a:t>G*n</a:t>
            </a:r>
            <a:r>
              <a:rPr lang="zh-CN" altLang="zh-CN" sz="1400" dirty="0"/>
              <a:t>点生命值。</a:t>
            </a:r>
          </a:p>
          <a:p>
            <a:r>
              <a:rPr lang="en-US" altLang="zh-CN" sz="1400" dirty="0" smtClean="0"/>
              <a:t>    </a:t>
            </a:r>
            <a:r>
              <a:rPr lang="zh-CN" altLang="zh-CN" sz="1400" dirty="0" smtClean="0"/>
              <a:t>现在</a:t>
            </a:r>
            <a:r>
              <a:rPr lang="zh-CN" altLang="zh-CN" sz="1400" dirty="0"/>
              <a:t>，你的任务是，在这</a:t>
            </a:r>
            <a:r>
              <a:rPr lang="en-US" altLang="zh-CN" sz="1400" dirty="0"/>
              <a:t>N</a:t>
            </a:r>
            <a:r>
              <a:rPr lang="zh-CN" altLang="zh-CN" sz="1400" dirty="0"/>
              <a:t>个魔法塔里放置各种类型的魔法师，使通过的怪兽失去的生命值最大。输出这个最大值</a:t>
            </a:r>
            <a:r>
              <a:rPr lang="zh-CN" altLang="zh-CN" sz="1400" dirty="0" smtClean="0"/>
              <a:t>。</a:t>
            </a:r>
            <a:endParaRPr lang="zh-CN" altLang="zh-CN" sz="1400" dirty="0"/>
          </a:p>
          <a:p>
            <a:endParaRPr lang="en-US" altLang="zh-CN" sz="1400" b="1" dirty="0" smtClean="0"/>
          </a:p>
          <a:p>
            <a:r>
              <a:rPr lang="zh-CN" altLang="zh-CN" sz="1400" b="1" dirty="0" smtClean="0"/>
              <a:t>【样例输入】</a:t>
            </a:r>
            <a:endParaRPr lang="zh-CN" altLang="zh-CN" sz="1400" dirty="0" smtClean="0"/>
          </a:p>
          <a:p>
            <a:r>
              <a:rPr lang="en-US" altLang="zh-CN" sz="1400" dirty="0" smtClean="0"/>
              <a:t>5 4 3 2 1</a:t>
            </a:r>
          </a:p>
          <a:p>
            <a:endParaRPr lang="en-US" altLang="zh-CN" sz="1400" dirty="0"/>
          </a:p>
          <a:p>
            <a:r>
              <a:rPr lang="zh-CN" altLang="zh-CN" sz="1400" b="1" dirty="0"/>
              <a:t>【样例输出】</a:t>
            </a:r>
            <a:endParaRPr lang="zh-CN" altLang="zh-CN" sz="1400" dirty="0"/>
          </a:p>
          <a:p>
            <a:r>
              <a:rPr lang="en-US" altLang="zh-CN" sz="1400" dirty="0" smtClean="0"/>
              <a:t>82</a:t>
            </a:r>
          </a:p>
          <a:p>
            <a:endParaRPr lang="en-US" altLang="zh-CN" sz="1400" dirty="0" smtClean="0"/>
          </a:p>
          <a:p>
            <a:r>
              <a:rPr lang="zh-CN" altLang="zh-CN" sz="1400" b="1" dirty="0" smtClean="0"/>
              <a:t>【</a:t>
            </a:r>
            <a:r>
              <a:rPr lang="zh-CN" altLang="en-US" sz="1400" b="1" dirty="0" smtClean="0"/>
              <a:t>数据范围</a:t>
            </a:r>
            <a:r>
              <a:rPr lang="zh-CN" altLang="zh-CN" sz="1400" b="1" dirty="0" smtClean="0"/>
              <a:t>】</a:t>
            </a:r>
            <a:endParaRPr lang="en-US" altLang="zh-CN" sz="1400" dirty="0"/>
          </a:p>
          <a:p>
            <a:r>
              <a:rPr lang="en-US" altLang="zh-CN" sz="1400" dirty="0"/>
              <a:t>1</a:t>
            </a:r>
            <a:r>
              <a:rPr lang="zh-CN" altLang="zh-CN" sz="1400" dirty="0"/>
              <a:t>≤</a:t>
            </a:r>
            <a:r>
              <a:rPr lang="en-US" altLang="zh-CN" sz="1400" dirty="0"/>
              <a:t>N</a:t>
            </a:r>
            <a:r>
              <a:rPr lang="zh-CN" altLang="zh-CN" sz="1400" dirty="0"/>
              <a:t>≤</a:t>
            </a:r>
            <a:r>
              <a:rPr lang="en-US" altLang="zh-CN" sz="1400" dirty="0"/>
              <a:t>1024</a:t>
            </a:r>
            <a:r>
              <a:rPr lang="zh-CN" altLang="zh-CN" sz="1400" dirty="0"/>
              <a:t>，</a:t>
            </a:r>
            <a:r>
              <a:rPr lang="en-US" altLang="zh-CN" sz="1400" dirty="0"/>
              <a:t>0&lt;=R,G,B&lt;=65536</a:t>
            </a:r>
            <a:r>
              <a:rPr lang="zh-CN" altLang="zh-CN" sz="1400" dirty="0"/>
              <a:t>，</a:t>
            </a:r>
            <a:r>
              <a:rPr lang="en-US" altLang="zh-CN" sz="1400" dirty="0"/>
              <a:t>0&lt;=T&lt;=3</a:t>
            </a:r>
          </a:p>
        </p:txBody>
      </p:sp>
      <p:sp>
        <p:nvSpPr>
          <p:cNvPr id="14" name="矩形 13">
            <a:extLst>
              <a:ext uri="{FF2B5EF4-FFF2-40B4-BE49-F238E27FC236}">
                <a16:creationId xmlns:a16="http://schemas.microsoft.com/office/drawing/2014/main" xmlns="" id="{7169A55A-483D-4542-B072-E8C204367D45}"/>
              </a:ext>
            </a:extLst>
          </p:cNvPr>
          <p:cNvSpPr/>
          <p:nvPr/>
        </p:nvSpPr>
        <p:spPr>
          <a:xfrm>
            <a:off x="4435002" y="4882006"/>
            <a:ext cx="7100988" cy="1600438"/>
          </a:xfrm>
          <a:prstGeom prst="rect">
            <a:avLst/>
          </a:prstGeom>
        </p:spPr>
        <p:txBody>
          <a:bodyPr wrap="square">
            <a:spAutoFit/>
            <a:scene3d>
              <a:camera prst="orthographicFront"/>
              <a:lightRig rig="threePt" dir="t"/>
            </a:scene3d>
            <a:sp3d contourW="12700"/>
          </a:bodyPr>
          <a:lstStyle/>
          <a:p>
            <a:r>
              <a:rPr lang="zh-CN" altLang="zh-CN" sz="1400" b="1" dirty="0"/>
              <a:t>【</a:t>
            </a:r>
            <a:r>
              <a:rPr lang="zh-CN" altLang="en-US" sz="1400" b="1" dirty="0"/>
              <a:t>算法分析</a:t>
            </a:r>
            <a:r>
              <a:rPr lang="zh-CN" altLang="zh-CN" sz="1400" b="1" dirty="0"/>
              <a:t>】</a:t>
            </a:r>
            <a:endParaRPr lang="zh-CN" altLang="zh-CN" sz="1400" dirty="0"/>
          </a:p>
          <a:p>
            <a:r>
              <a:rPr lang="en-US" altLang="zh-CN" sz="1400" dirty="0" smtClean="0"/>
              <a:t>    </a:t>
            </a:r>
            <a:r>
              <a:rPr lang="zh-CN" altLang="zh-CN" sz="1400" dirty="0" smtClean="0"/>
              <a:t>首先</a:t>
            </a:r>
            <a:r>
              <a:rPr lang="zh-CN" altLang="zh-CN" sz="1400" dirty="0"/>
              <a:t>考虑到，红法师是一个固定的不受时间影响的伤害，在前面放置和在后面放置的效果一样，所以为了发挥蓝、绿法师的效果，红法师一定要被放在最后。</a:t>
            </a:r>
          </a:p>
          <a:p>
            <a:r>
              <a:rPr lang="en-US" altLang="zh-CN" sz="1400" dirty="0" smtClean="0"/>
              <a:t>    </a:t>
            </a:r>
            <a:r>
              <a:rPr lang="zh-CN" altLang="zh-CN" sz="1400" dirty="0" smtClean="0"/>
              <a:t>设</a:t>
            </a:r>
            <a:r>
              <a:rPr lang="en-US" altLang="zh-CN" sz="1400" dirty="0"/>
              <a:t>f[i][j]</a:t>
            </a:r>
            <a:r>
              <a:rPr lang="zh-CN" altLang="zh-CN" sz="1400" dirty="0"/>
              <a:t>表示在前</a:t>
            </a:r>
            <a:r>
              <a:rPr lang="en-US" altLang="zh-CN" sz="1400" dirty="0" err="1"/>
              <a:t>i+j</a:t>
            </a:r>
            <a:r>
              <a:rPr lang="zh-CN" altLang="zh-CN" sz="1400" dirty="0"/>
              <a:t>个位置放置</a:t>
            </a:r>
            <a:r>
              <a:rPr lang="en-US" altLang="zh-CN" sz="1400" dirty="0"/>
              <a:t>i</a:t>
            </a:r>
            <a:r>
              <a:rPr lang="zh-CN" altLang="zh-CN" sz="1400" dirty="0"/>
              <a:t>个蓝法师、</a:t>
            </a:r>
            <a:r>
              <a:rPr lang="en-US" altLang="zh-CN" sz="1400" dirty="0"/>
              <a:t>j</a:t>
            </a:r>
            <a:r>
              <a:rPr lang="zh-CN" altLang="zh-CN" sz="1400" dirty="0"/>
              <a:t>个绿法师的最优解，考虑</a:t>
            </a:r>
            <a:r>
              <a:rPr lang="en-US" altLang="zh-CN" sz="1400" dirty="0" err="1"/>
              <a:t>dp</a:t>
            </a:r>
            <a:r>
              <a:rPr lang="zh-CN" altLang="zh-CN" sz="1400" dirty="0"/>
              <a:t>处理放置的思路：</a:t>
            </a:r>
          </a:p>
          <a:p>
            <a:r>
              <a:rPr lang="en-US" altLang="zh-CN" sz="1400" dirty="0" smtClean="0"/>
              <a:t>        f[i</a:t>
            </a:r>
            <a:r>
              <a:rPr lang="en-US" altLang="zh-CN" sz="1400" dirty="0"/>
              <a:t>][j]=max(f[i-1][j]+j*g*(t+(i-1)*b),f[i][j-1]+(j-1)*g*(</a:t>
            </a:r>
            <a:r>
              <a:rPr lang="en-US" altLang="zh-CN" sz="1400" dirty="0" err="1"/>
              <a:t>t+i</a:t>
            </a:r>
            <a:r>
              <a:rPr lang="en-US" altLang="zh-CN" sz="1400" dirty="0"/>
              <a:t>*b))</a:t>
            </a:r>
            <a:endParaRPr lang="zh-CN" altLang="zh-CN" sz="1400" dirty="0"/>
          </a:p>
          <a:p>
            <a:r>
              <a:rPr lang="en-US" altLang="zh-CN" sz="1400" dirty="0" smtClean="0"/>
              <a:t>    </a:t>
            </a:r>
            <a:r>
              <a:rPr lang="zh-CN" altLang="zh-CN" sz="1400" dirty="0" smtClean="0"/>
              <a:t>考虑</a:t>
            </a:r>
            <a:r>
              <a:rPr lang="zh-CN" altLang="zh-CN" sz="1400" dirty="0"/>
              <a:t>最后的位置放置红法师的最优解为：</a:t>
            </a:r>
          </a:p>
          <a:p>
            <a:r>
              <a:rPr lang="en-US" altLang="zh-CN" sz="1400" dirty="0" smtClean="0"/>
              <a:t>        </a:t>
            </a:r>
            <a:r>
              <a:rPr lang="en-US" altLang="zh-CN" sz="1400" dirty="0" err="1" smtClean="0"/>
              <a:t>ans</a:t>
            </a:r>
            <a:r>
              <a:rPr lang="en-US" altLang="zh-CN" sz="1400" dirty="0" smtClean="0"/>
              <a:t>=max(</a:t>
            </a:r>
            <a:r>
              <a:rPr lang="en-US" altLang="zh-CN" sz="1400" dirty="0" err="1" smtClean="0"/>
              <a:t>ans,f</a:t>
            </a:r>
            <a:r>
              <a:rPr lang="en-US" altLang="zh-CN" sz="1400" dirty="0" smtClean="0"/>
              <a:t>[i</a:t>
            </a:r>
            <a:r>
              <a:rPr lang="en-US" altLang="zh-CN" sz="1400" dirty="0"/>
              <a:t>][j]+(</a:t>
            </a:r>
            <a:r>
              <a:rPr lang="en-US" altLang="zh-CN" sz="1400" dirty="0" err="1"/>
              <a:t>t+i</a:t>
            </a:r>
            <a:r>
              <a:rPr lang="en-US" altLang="zh-CN" sz="1400" dirty="0"/>
              <a:t>*b)*(</a:t>
            </a:r>
            <a:r>
              <a:rPr lang="en-US" altLang="zh-CN" sz="1400" dirty="0" err="1"/>
              <a:t>r+g</a:t>
            </a:r>
            <a:r>
              <a:rPr lang="en-US" altLang="zh-CN" sz="1400" dirty="0"/>
              <a:t>*j)*(n-i-j)) </a:t>
            </a:r>
            <a:endParaRPr lang="zh-CN" altLang="zh-CN" sz="1400" dirty="0"/>
          </a:p>
        </p:txBody>
      </p:sp>
    </p:spTree>
    <p:extLst>
      <p:ext uri="{BB962C8B-B14F-4D97-AF65-F5344CB8AC3E}">
        <p14:creationId xmlns:p14="http://schemas.microsoft.com/office/powerpoint/2010/main" val="406978009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2919" name="图片 2918"/>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618676" y="2006600"/>
            <a:ext cx="2954656" cy="923330"/>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rPr>
              <a:t>谢谢观看</a:t>
            </a:r>
          </a:p>
        </p:txBody>
      </p:sp>
      <p:sp>
        <p:nvSpPr>
          <p:cNvPr id="2921" name="文本框 2920"/>
          <p:cNvSpPr txBox="1"/>
          <p:nvPr/>
        </p:nvSpPr>
        <p:spPr>
          <a:xfrm>
            <a:off x="4708440" y="3019922"/>
            <a:ext cx="2775119" cy="707886"/>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4000" dirty="0">
                <a:solidFill>
                  <a:srgbClr val="FFFFFF"/>
                </a:solidFill>
                <a:effectLst>
                  <a:outerShdw blurRad="203200" dist="38100" dir="5400000" algn="t" rotWithShape="0">
                    <a:prstClr val="black">
                      <a:alpha val="83000"/>
                    </a:prstClr>
                  </a:outerShdw>
                </a:effectLst>
                <a:cs typeface="+mn-ea"/>
                <a:sym typeface="+mn-lt"/>
              </a:rPr>
              <a:t>THANKS</a:t>
            </a:r>
            <a:r>
              <a:rPr lang="zh-CN" altLang="en-US" sz="4000" dirty="0">
                <a:solidFill>
                  <a:srgbClr val="FFFFFF"/>
                </a:solidFill>
                <a:effectLst>
                  <a:outerShdw blurRad="203200" dist="38100" dir="5400000" algn="t" rotWithShape="0">
                    <a:prstClr val="black">
                      <a:alpha val="83000"/>
                    </a:prstClr>
                  </a:outerShdw>
                </a:effectLst>
                <a:cs typeface="+mn-ea"/>
                <a:sym typeface="+mn-lt"/>
              </a:rPr>
              <a:t>！</a:t>
            </a:r>
            <a:endParaRPr kumimoji="0" lang="zh-CN" altLang="en-US" sz="40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smtClean="0">
                <a:ln>
                  <a:noFill/>
                </a:ln>
                <a:solidFill>
                  <a:srgbClr val="FFFFFF"/>
                </a:solidFill>
                <a:effectLst/>
                <a:uLnTx/>
                <a:uFillTx/>
                <a:cs typeface="+mn-ea"/>
                <a:sym typeface="+mn-lt"/>
              </a:rPr>
              <a:t>2026.02.13</a:t>
            </a: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Tree>
    <p:extLst>
      <p:ext uri="{BB962C8B-B14F-4D97-AF65-F5344CB8AC3E}">
        <p14:creationId xmlns:p14="http://schemas.microsoft.com/office/powerpoint/2010/main" val="357542799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fontScheme name="wkbwvqj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13951</TotalTime>
  <Words>5503</Words>
  <Application>Microsoft Office PowerPoint</Application>
  <PresentationFormat>自定义</PresentationFormat>
  <Paragraphs>417</Paragraphs>
  <Slides>16</Slides>
  <Notes>16</Notes>
  <HiddenSlides>0</HiddenSlides>
  <MMClips>0</MMClips>
  <ScaleCrop>false</ScaleCrop>
  <HeadingPairs>
    <vt:vector size="6" baseType="variant">
      <vt:variant>
        <vt:lpstr>主题</vt:lpstr>
      </vt:variant>
      <vt:variant>
        <vt:i4>1</vt:i4>
      </vt:variant>
      <vt:variant>
        <vt:lpstr>嵌入 OLE 服务器</vt:lpstr>
      </vt:variant>
      <vt:variant>
        <vt:i4>0</vt:i4>
      </vt:variant>
      <vt:variant>
        <vt:lpstr>幻灯片标题</vt:lpstr>
      </vt:variant>
      <vt:variant>
        <vt:i4>16</vt:i4>
      </vt:variant>
    </vt:vector>
  </HeadingPairs>
  <TitlesOfParts>
    <vt:vector size="17" baseType="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绍兴市第一中学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入门组</dc:title>
  <dc:creator>Kcm</dc:creator>
  <cp:keywords>Sxyz</cp:keywords>
  <dc:description>sxyz</dc:description>
  <cp:lastModifiedBy>huweiya007</cp:lastModifiedBy>
  <cp:revision>591</cp:revision>
  <dcterms:created xsi:type="dcterms:W3CDTF">2017-05-14T07:05:11Z</dcterms:created>
  <dcterms:modified xsi:type="dcterms:W3CDTF">2026-01-15T06:33:15Z</dcterms:modified>
</cp:coreProperties>
</file>