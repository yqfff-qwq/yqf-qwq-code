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26" r:id="rId5"/>
    <p:sldId id="346" r:id="rId6"/>
    <p:sldId id="347" r:id="rId7"/>
    <p:sldId id="328" r:id="rId8"/>
    <p:sldId id="329" r:id="rId9"/>
    <p:sldId id="366" r:id="rId10"/>
    <p:sldId id="331" r:id="rId11"/>
    <p:sldId id="332" r:id="rId12"/>
    <p:sldId id="333" r:id="rId13"/>
    <p:sldId id="334" r:id="rId14"/>
    <p:sldId id="335" r:id="rId15"/>
    <p:sldId id="327" r:id="rId16"/>
    <p:sldId id="336" r:id="rId17"/>
    <p:sldId id="367" r:id="rId18"/>
    <p:sldId id="337" r:id="rId19"/>
    <p:sldId id="339" r:id="rId20"/>
    <p:sldId id="340" r:id="rId21"/>
    <p:sldId id="341" r:id="rId22"/>
    <p:sldId id="369" r:id="rId23"/>
    <p:sldId id="370" r:id="rId24"/>
    <p:sldId id="342" r:id="rId25"/>
    <p:sldId id="343" r:id="rId26"/>
    <p:sldId id="384" r:id="rId27"/>
    <p:sldId id="315" r:id="rId28"/>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69EE"/>
    <a:srgbClr val="33E98A"/>
    <a:srgbClr val="ACF6CF"/>
    <a:srgbClr val="70F0AD"/>
    <a:srgbClr val="55F7F7"/>
    <a:srgbClr val="4AF80C"/>
    <a:srgbClr val="FC28D4"/>
    <a:srgbClr val="60EEA4"/>
    <a:srgbClr val="41EB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67" autoAdjust="0"/>
    <p:restoredTop sz="93778" autoAdjust="0"/>
  </p:normalViewPr>
  <p:slideViewPr>
    <p:cSldViewPr snapToGrid="0" showGuides="1">
      <p:cViewPr varScale="1">
        <p:scale>
          <a:sx n="84" d="100"/>
          <a:sy n="84" d="100"/>
        </p:scale>
        <p:origin x="-372" y="-72"/>
      </p:cViewPr>
      <p:guideLst>
        <p:guide orient="horz" pos="2134"/>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32237E-A286-49FD-9984-05DBA88D669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D9CF8-F7EC-4A95-888B-BB5C40F63F2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1073043" y="1960358"/>
            <a:ext cx="2111018" cy="2111018"/>
          </a:xfrm>
          <a:custGeom>
            <a:avLst/>
            <a:gdLst>
              <a:gd name="connsiteX0" fmla="*/ 1055509 w 2111018"/>
              <a:gd name="connsiteY0" fmla="*/ 0 h 2111018"/>
              <a:gd name="connsiteX1" fmla="*/ 2111018 w 2111018"/>
              <a:gd name="connsiteY1" fmla="*/ 1055509 h 2111018"/>
              <a:gd name="connsiteX2" fmla="*/ 1055509 w 2111018"/>
              <a:gd name="connsiteY2" fmla="*/ 2111018 h 2111018"/>
              <a:gd name="connsiteX3" fmla="*/ 0 w 2111018"/>
              <a:gd name="connsiteY3" fmla="*/ 1055509 h 2111018"/>
              <a:gd name="connsiteX4" fmla="*/ 1055509 w 2111018"/>
              <a:gd name="connsiteY4" fmla="*/ 0 h 2111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018" h="2111018">
                <a:moveTo>
                  <a:pt x="1055509" y="0"/>
                </a:moveTo>
                <a:cubicBezTo>
                  <a:pt x="1638451" y="0"/>
                  <a:pt x="2111018" y="472567"/>
                  <a:pt x="2111018" y="1055509"/>
                </a:cubicBezTo>
                <a:cubicBezTo>
                  <a:pt x="2111018" y="1638451"/>
                  <a:pt x="1638451" y="2111018"/>
                  <a:pt x="1055509" y="2111018"/>
                </a:cubicBezTo>
                <a:cubicBezTo>
                  <a:pt x="472567" y="2111018"/>
                  <a:pt x="0" y="1638451"/>
                  <a:pt x="0" y="1055509"/>
                </a:cubicBezTo>
                <a:cubicBezTo>
                  <a:pt x="0" y="472567"/>
                  <a:pt x="472567" y="0"/>
                  <a:pt x="1055509" y="0"/>
                </a:cubicBez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3758186" y="1960358"/>
            <a:ext cx="2111018" cy="2111018"/>
          </a:xfrm>
          <a:custGeom>
            <a:avLst/>
            <a:gdLst>
              <a:gd name="connsiteX0" fmla="*/ 1055509 w 2111018"/>
              <a:gd name="connsiteY0" fmla="*/ 0 h 2111018"/>
              <a:gd name="connsiteX1" fmla="*/ 2111018 w 2111018"/>
              <a:gd name="connsiteY1" fmla="*/ 1055509 h 2111018"/>
              <a:gd name="connsiteX2" fmla="*/ 1055509 w 2111018"/>
              <a:gd name="connsiteY2" fmla="*/ 2111018 h 2111018"/>
              <a:gd name="connsiteX3" fmla="*/ 0 w 2111018"/>
              <a:gd name="connsiteY3" fmla="*/ 1055509 h 2111018"/>
              <a:gd name="connsiteX4" fmla="*/ 1055509 w 2111018"/>
              <a:gd name="connsiteY4" fmla="*/ 0 h 2111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018" h="2111018">
                <a:moveTo>
                  <a:pt x="1055509" y="0"/>
                </a:moveTo>
                <a:cubicBezTo>
                  <a:pt x="1638451" y="0"/>
                  <a:pt x="2111018" y="472567"/>
                  <a:pt x="2111018" y="1055509"/>
                </a:cubicBezTo>
                <a:cubicBezTo>
                  <a:pt x="2111018" y="1638451"/>
                  <a:pt x="1638451" y="2111018"/>
                  <a:pt x="1055509" y="2111018"/>
                </a:cubicBezTo>
                <a:cubicBezTo>
                  <a:pt x="472567" y="2111018"/>
                  <a:pt x="0" y="1638451"/>
                  <a:pt x="0" y="1055509"/>
                </a:cubicBezTo>
                <a:cubicBezTo>
                  <a:pt x="0" y="472567"/>
                  <a:pt x="472567" y="0"/>
                  <a:pt x="1055509" y="0"/>
                </a:cubicBezTo>
                <a:close/>
              </a:path>
            </a:pathLst>
          </a:custGeom>
        </p:spPr>
        <p:txBody>
          <a:bodyPr wrap="square">
            <a:noAutofit/>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17" name="图片占位符 16"/>
          <p:cNvSpPr>
            <a:spLocks noGrp="1"/>
          </p:cNvSpPr>
          <p:nvPr>
            <p:ph type="pic" sz="quarter" idx="10"/>
          </p:nvPr>
        </p:nvSpPr>
        <p:spPr>
          <a:xfrm>
            <a:off x="1" y="2441574"/>
            <a:ext cx="6013449" cy="3438524"/>
          </a:xfrm>
          <a:custGeom>
            <a:avLst/>
            <a:gdLst>
              <a:gd name="connsiteX0" fmla="*/ 0 w 6013449"/>
              <a:gd name="connsiteY0" fmla="*/ 0 h 3438524"/>
              <a:gd name="connsiteX1" fmla="*/ 6013449 w 6013449"/>
              <a:gd name="connsiteY1" fmla="*/ 0 h 3438524"/>
              <a:gd name="connsiteX2" fmla="*/ 6013449 w 6013449"/>
              <a:gd name="connsiteY2" fmla="*/ 3438524 h 3438524"/>
              <a:gd name="connsiteX3" fmla="*/ 0 w 6013449"/>
              <a:gd name="connsiteY3" fmla="*/ 3438524 h 3438524"/>
            </a:gdLst>
            <a:ahLst/>
            <a:cxnLst>
              <a:cxn ang="0">
                <a:pos x="connsiteX0" y="connsiteY0"/>
              </a:cxn>
              <a:cxn ang="0">
                <a:pos x="connsiteX1" y="connsiteY1"/>
              </a:cxn>
              <a:cxn ang="0">
                <a:pos x="connsiteX2" y="connsiteY2"/>
              </a:cxn>
              <a:cxn ang="0">
                <a:pos x="connsiteX3" y="connsiteY3"/>
              </a:cxn>
            </a:cxnLst>
            <a:rect l="l" t="t" r="r" b="b"/>
            <a:pathLst>
              <a:path w="6013449" h="3438524">
                <a:moveTo>
                  <a:pt x="0" y="0"/>
                </a:moveTo>
                <a:lnTo>
                  <a:pt x="6013449" y="0"/>
                </a:lnTo>
                <a:lnTo>
                  <a:pt x="6013449" y="3438524"/>
                </a:lnTo>
                <a:lnTo>
                  <a:pt x="0" y="3438524"/>
                </a:lnTo>
                <a:close/>
              </a:path>
            </a:pathLst>
          </a:custGeom>
        </p:spPr>
        <p:txBody>
          <a:bodyPr wrap="square">
            <a:noAutofit/>
          </a:bodyPr>
          <a:lstStyle/>
          <a:p>
            <a:endParaRPr lang="zh-CN" altLang="en-US"/>
          </a:p>
        </p:txBody>
      </p:sp>
      <p:sp>
        <p:nvSpPr>
          <p:cNvPr id="18" name="图片占位符 17"/>
          <p:cNvSpPr>
            <a:spLocks noGrp="1"/>
          </p:cNvSpPr>
          <p:nvPr>
            <p:ph type="pic" sz="quarter" idx="11"/>
          </p:nvPr>
        </p:nvSpPr>
        <p:spPr>
          <a:xfrm>
            <a:off x="6207127" y="2441575"/>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19" name="图片占位符 18"/>
          <p:cNvSpPr>
            <a:spLocks noGrp="1"/>
          </p:cNvSpPr>
          <p:nvPr>
            <p:ph type="pic" sz="quarter" idx="12"/>
          </p:nvPr>
        </p:nvSpPr>
        <p:spPr>
          <a:xfrm>
            <a:off x="9296400" y="2441575"/>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1" name="图片占位符 20"/>
          <p:cNvSpPr>
            <a:spLocks noGrp="1"/>
          </p:cNvSpPr>
          <p:nvPr>
            <p:ph type="pic" sz="quarter" idx="13"/>
          </p:nvPr>
        </p:nvSpPr>
        <p:spPr>
          <a:xfrm>
            <a:off x="9296400" y="4248151"/>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0" name="图片占位符 19"/>
          <p:cNvSpPr>
            <a:spLocks noGrp="1"/>
          </p:cNvSpPr>
          <p:nvPr>
            <p:ph type="pic" sz="quarter" idx="14"/>
          </p:nvPr>
        </p:nvSpPr>
        <p:spPr>
          <a:xfrm>
            <a:off x="6207127" y="4248151"/>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17" name="图片占位符 16"/>
          <p:cNvSpPr>
            <a:spLocks noGrp="1"/>
          </p:cNvSpPr>
          <p:nvPr>
            <p:ph type="pic" sz="quarter" idx="10"/>
          </p:nvPr>
        </p:nvSpPr>
        <p:spPr>
          <a:xfrm>
            <a:off x="1" y="2441574"/>
            <a:ext cx="6013449" cy="3438524"/>
          </a:xfrm>
          <a:custGeom>
            <a:avLst/>
            <a:gdLst>
              <a:gd name="connsiteX0" fmla="*/ 0 w 6013449"/>
              <a:gd name="connsiteY0" fmla="*/ 0 h 3438524"/>
              <a:gd name="connsiteX1" fmla="*/ 6013449 w 6013449"/>
              <a:gd name="connsiteY1" fmla="*/ 0 h 3438524"/>
              <a:gd name="connsiteX2" fmla="*/ 6013449 w 6013449"/>
              <a:gd name="connsiteY2" fmla="*/ 3438524 h 3438524"/>
              <a:gd name="connsiteX3" fmla="*/ 0 w 6013449"/>
              <a:gd name="connsiteY3" fmla="*/ 3438524 h 3438524"/>
            </a:gdLst>
            <a:ahLst/>
            <a:cxnLst>
              <a:cxn ang="0">
                <a:pos x="connsiteX0" y="connsiteY0"/>
              </a:cxn>
              <a:cxn ang="0">
                <a:pos x="connsiteX1" y="connsiteY1"/>
              </a:cxn>
              <a:cxn ang="0">
                <a:pos x="connsiteX2" y="connsiteY2"/>
              </a:cxn>
              <a:cxn ang="0">
                <a:pos x="connsiteX3" y="connsiteY3"/>
              </a:cxn>
            </a:cxnLst>
            <a:rect l="l" t="t" r="r" b="b"/>
            <a:pathLst>
              <a:path w="6013449" h="3438524">
                <a:moveTo>
                  <a:pt x="0" y="0"/>
                </a:moveTo>
                <a:lnTo>
                  <a:pt x="6013449" y="0"/>
                </a:lnTo>
                <a:lnTo>
                  <a:pt x="6013449" y="3438524"/>
                </a:lnTo>
                <a:lnTo>
                  <a:pt x="0" y="3438524"/>
                </a:lnTo>
                <a:close/>
              </a:path>
            </a:pathLst>
          </a:custGeom>
        </p:spPr>
        <p:txBody>
          <a:bodyPr wrap="square">
            <a:noAutofit/>
          </a:bodyPr>
          <a:lstStyle/>
          <a:p>
            <a:endParaRPr lang="zh-CN" altLang="en-US"/>
          </a:p>
        </p:txBody>
      </p:sp>
      <p:sp>
        <p:nvSpPr>
          <p:cNvPr id="18" name="图片占位符 17"/>
          <p:cNvSpPr>
            <a:spLocks noGrp="1"/>
          </p:cNvSpPr>
          <p:nvPr>
            <p:ph type="pic" sz="quarter" idx="11"/>
          </p:nvPr>
        </p:nvSpPr>
        <p:spPr>
          <a:xfrm>
            <a:off x="6207127" y="2441575"/>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19" name="图片占位符 18"/>
          <p:cNvSpPr>
            <a:spLocks noGrp="1"/>
          </p:cNvSpPr>
          <p:nvPr>
            <p:ph type="pic" sz="quarter" idx="12"/>
          </p:nvPr>
        </p:nvSpPr>
        <p:spPr>
          <a:xfrm>
            <a:off x="9296400" y="2441575"/>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1" name="图片占位符 20"/>
          <p:cNvSpPr>
            <a:spLocks noGrp="1"/>
          </p:cNvSpPr>
          <p:nvPr>
            <p:ph type="pic" sz="quarter" idx="13"/>
          </p:nvPr>
        </p:nvSpPr>
        <p:spPr>
          <a:xfrm>
            <a:off x="9296400" y="4248151"/>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0" name="图片占位符 19"/>
          <p:cNvSpPr>
            <a:spLocks noGrp="1"/>
          </p:cNvSpPr>
          <p:nvPr>
            <p:ph type="pic" sz="quarter" idx="14"/>
          </p:nvPr>
        </p:nvSpPr>
        <p:spPr>
          <a:xfrm>
            <a:off x="6207127" y="4248151"/>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8" name="矩形 7"/>
          <p:cNvSpPr/>
          <p:nvPr userDrawn="1"/>
        </p:nvSpPr>
        <p:spPr>
          <a:xfrm>
            <a:off x="8325228" y="6545425"/>
            <a:ext cx="775136" cy="230832"/>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精美</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课件：</a:t>
            </a:r>
            <a:r>
              <a:rPr lang="en-US" altLang="zh-CN" sz="100" dirty="0">
                <a:solidFill>
                  <a:prstClr val="white"/>
                </a:solidFill>
                <a:latin typeface="Calibri" panose="020F0502020204030204"/>
                <a:ea typeface="宋体" panose="02010600030101010101" pitchFamily="2" charset="-122"/>
              </a:rPr>
              <a:t>www.1ppt.com/kejian/             </a:t>
            </a: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工作总结</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www.1ppt.com/xiazai/zongjie/ </a:t>
            </a:r>
            <a:r>
              <a:rPr lang="zh-CN" altLang="en-US" sz="100" dirty="0">
                <a:solidFill>
                  <a:prstClr val="white"/>
                </a:solidFill>
                <a:latin typeface="Calibri" panose="020F0502020204030204"/>
                <a:ea typeface="宋体" panose="02010600030101010101" pitchFamily="2" charset="-122"/>
              </a:rPr>
              <a:t>工作计划：</a:t>
            </a:r>
            <a:r>
              <a:rPr lang="en-US" altLang="zh-CN" sz="100" dirty="0">
                <a:solidFill>
                  <a:prstClr val="white"/>
                </a:solidFill>
                <a:latin typeface="Calibri" panose="020F0502020204030204"/>
                <a:ea typeface="宋体" panose="02010600030101010101" pitchFamily="2" charset="-122"/>
              </a:rPr>
              <a:t>www.1ppt.com/xiazai/jihua/</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商务</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www.1ppt.com/moban/shangwu/  </a:t>
            </a:r>
            <a:r>
              <a:rPr lang="zh-CN" altLang="en-US" sz="100" dirty="0">
                <a:solidFill>
                  <a:prstClr val="white"/>
                </a:solidFill>
                <a:latin typeface="Calibri" panose="020F0502020204030204"/>
                <a:ea typeface="宋体" panose="02010600030101010101" pitchFamily="2" charset="-122"/>
              </a:rPr>
              <a:t>个人简历</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www.1ppt.com/xiazai/jianli/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毕业答辩</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www.1ppt.com/xiazai/dabian/  </a:t>
            </a:r>
            <a:r>
              <a:rPr lang="zh-CN" altLang="en-US" sz="100" dirty="0">
                <a:solidFill>
                  <a:prstClr val="white"/>
                </a:solidFill>
                <a:latin typeface="Calibri" panose="020F0502020204030204"/>
                <a:ea typeface="宋体" panose="02010600030101010101" pitchFamily="2" charset="-122"/>
              </a:rPr>
              <a:t>工作汇报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www.1ppt.com/xiazai/huibao/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en-US" altLang="zh-CN"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0" y="1592798"/>
            <a:ext cx="12192000" cy="4523843"/>
          </a:xfrm>
          <a:custGeom>
            <a:avLst/>
            <a:gdLst>
              <a:gd name="connsiteX0" fmla="*/ 0 w 12192000"/>
              <a:gd name="connsiteY0" fmla="*/ 0 h 4523843"/>
              <a:gd name="connsiteX1" fmla="*/ 12192000 w 12192000"/>
              <a:gd name="connsiteY1" fmla="*/ 0 h 4523843"/>
              <a:gd name="connsiteX2" fmla="*/ 12192000 w 12192000"/>
              <a:gd name="connsiteY2" fmla="*/ 4523843 h 4523843"/>
              <a:gd name="connsiteX3" fmla="*/ 0 w 12192000"/>
              <a:gd name="connsiteY3" fmla="*/ 4523843 h 4523843"/>
            </a:gdLst>
            <a:ahLst/>
            <a:cxnLst>
              <a:cxn ang="0">
                <a:pos x="connsiteX0" y="connsiteY0"/>
              </a:cxn>
              <a:cxn ang="0">
                <a:pos x="connsiteX1" y="connsiteY1"/>
              </a:cxn>
              <a:cxn ang="0">
                <a:pos x="connsiteX2" y="connsiteY2"/>
              </a:cxn>
              <a:cxn ang="0">
                <a:pos x="connsiteX3" y="connsiteY3"/>
              </a:cxn>
            </a:cxnLst>
            <a:rect l="l" t="t" r="r" b="b"/>
            <a:pathLst>
              <a:path w="12192000" h="4523843">
                <a:moveTo>
                  <a:pt x="0" y="0"/>
                </a:moveTo>
                <a:lnTo>
                  <a:pt x="12192000" y="0"/>
                </a:lnTo>
                <a:lnTo>
                  <a:pt x="12192000" y="4523843"/>
                </a:lnTo>
                <a:lnTo>
                  <a:pt x="0" y="4523843"/>
                </a:lnTo>
                <a:close/>
              </a:path>
            </a:pathLst>
          </a:custGeom>
        </p:spPr>
        <p:txBody>
          <a:bodyPr wrap="square">
            <a:noAutofit/>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1" y="1370014"/>
            <a:ext cx="12192002" cy="4829175"/>
          </a:xfrm>
          <a:custGeom>
            <a:avLst/>
            <a:gdLst>
              <a:gd name="connsiteX0" fmla="*/ 7747119 w 12192002"/>
              <a:gd name="connsiteY0" fmla="*/ 0 h 4829175"/>
              <a:gd name="connsiteX1" fmla="*/ 12192002 w 12192002"/>
              <a:gd name="connsiteY1" fmla="*/ 0 h 4829175"/>
              <a:gd name="connsiteX2" fmla="*/ 12192002 w 12192002"/>
              <a:gd name="connsiteY2" fmla="*/ 4829175 h 4829175"/>
              <a:gd name="connsiteX3" fmla="*/ 7747119 w 12192002"/>
              <a:gd name="connsiteY3" fmla="*/ 4829175 h 4829175"/>
              <a:gd name="connsiteX4" fmla="*/ 0 w 12192002"/>
              <a:gd name="connsiteY4" fmla="*/ 0 h 4829175"/>
              <a:gd name="connsiteX5" fmla="*/ 6095999 w 12192002"/>
              <a:gd name="connsiteY5" fmla="*/ 0 h 4829175"/>
              <a:gd name="connsiteX6" fmla="*/ 6095999 w 12192002"/>
              <a:gd name="connsiteY6" fmla="*/ 4829175 h 4829175"/>
              <a:gd name="connsiteX7" fmla="*/ 0 w 12192002"/>
              <a:gd name="connsiteY7" fmla="*/ 4829175 h 4829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4829175">
                <a:moveTo>
                  <a:pt x="7747119" y="0"/>
                </a:moveTo>
                <a:lnTo>
                  <a:pt x="12192002" y="0"/>
                </a:lnTo>
                <a:lnTo>
                  <a:pt x="12192002" y="4829175"/>
                </a:lnTo>
                <a:lnTo>
                  <a:pt x="7747119" y="4829175"/>
                </a:lnTo>
                <a:close/>
                <a:moveTo>
                  <a:pt x="0" y="0"/>
                </a:moveTo>
                <a:lnTo>
                  <a:pt x="6095999" y="0"/>
                </a:lnTo>
                <a:lnTo>
                  <a:pt x="6095999" y="4829175"/>
                </a:lnTo>
                <a:lnTo>
                  <a:pt x="0" y="4829175"/>
                </a:lnTo>
                <a:close/>
              </a:path>
            </a:pathLst>
          </a:custGeom>
        </p:spPr>
        <p:txBody>
          <a:bodyPr wrap="square">
            <a:noAutofit/>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719137" y="1357274"/>
            <a:ext cx="5238792" cy="2683795"/>
          </a:xfrm>
          <a:custGeom>
            <a:avLst/>
            <a:gdLst>
              <a:gd name="connsiteX0" fmla="*/ 0 w 5238792"/>
              <a:gd name="connsiteY0" fmla="*/ 0 h 2683795"/>
              <a:gd name="connsiteX1" fmla="*/ 5238792 w 5238792"/>
              <a:gd name="connsiteY1" fmla="*/ 0 h 2683795"/>
              <a:gd name="connsiteX2" fmla="*/ 5238792 w 5238792"/>
              <a:gd name="connsiteY2" fmla="*/ 2683795 h 2683795"/>
              <a:gd name="connsiteX3" fmla="*/ 0 w 5238792"/>
              <a:gd name="connsiteY3" fmla="*/ 2683795 h 2683795"/>
            </a:gdLst>
            <a:ahLst/>
            <a:cxnLst>
              <a:cxn ang="0">
                <a:pos x="connsiteX0" y="connsiteY0"/>
              </a:cxn>
              <a:cxn ang="0">
                <a:pos x="connsiteX1" y="connsiteY1"/>
              </a:cxn>
              <a:cxn ang="0">
                <a:pos x="connsiteX2" y="connsiteY2"/>
              </a:cxn>
              <a:cxn ang="0">
                <a:pos x="connsiteX3" y="connsiteY3"/>
              </a:cxn>
            </a:cxnLst>
            <a:rect l="l" t="t" r="r" b="b"/>
            <a:pathLst>
              <a:path w="5238792" h="2683795">
                <a:moveTo>
                  <a:pt x="0" y="0"/>
                </a:moveTo>
                <a:lnTo>
                  <a:pt x="5238792" y="0"/>
                </a:lnTo>
                <a:lnTo>
                  <a:pt x="5238792" y="2683795"/>
                </a:lnTo>
                <a:lnTo>
                  <a:pt x="0" y="2683795"/>
                </a:ln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6234071" y="1357278"/>
            <a:ext cx="5238792" cy="2683795"/>
          </a:xfrm>
          <a:custGeom>
            <a:avLst/>
            <a:gdLst>
              <a:gd name="connsiteX0" fmla="*/ 0 w 5238792"/>
              <a:gd name="connsiteY0" fmla="*/ 0 h 2683795"/>
              <a:gd name="connsiteX1" fmla="*/ 5238792 w 5238792"/>
              <a:gd name="connsiteY1" fmla="*/ 0 h 2683795"/>
              <a:gd name="connsiteX2" fmla="*/ 5238792 w 5238792"/>
              <a:gd name="connsiteY2" fmla="*/ 2683795 h 2683795"/>
              <a:gd name="connsiteX3" fmla="*/ 0 w 5238792"/>
              <a:gd name="connsiteY3" fmla="*/ 2683795 h 2683795"/>
            </a:gdLst>
            <a:ahLst/>
            <a:cxnLst>
              <a:cxn ang="0">
                <a:pos x="connsiteX0" y="connsiteY0"/>
              </a:cxn>
              <a:cxn ang="0">
                <a:pos x="connsiteX1" y="connsiteY1"/>
              </a:cxn>
              <a:cxn ang="0">
                <a:pos x="connsiteX2" y="connsiteY2"/>
              </a:cxn>
              <a:cxn ang="0">
                <a:pos x="connsiteX3" y="connsiteY3"/>
              </a:cxn>
            </a:cxnLst>
            <a:rect l="l" t="t" r="r" b="b"/>
            <a:pathLst>
              <a:path w="5238792" h="2683795">
                <a:moveTo>
                  <a:pt x="0" y="0"/>
                </a:moveTo>
                <a:lnTo>
                  <a:pt x="5238792" y="0"/>
                </a:lnTo>
                <a:lnTo>
                  <a:pt x="5238792" y="2683795"/>
                </a:lnTo>
                <a:lnTo>
                  <a:pt x="0" y="2683795"/>
                </a:lnTo>
                <a:close/>
              </a:path>
            </a:pathLst>
          </a:custGeom>
        </p:spPr>
        <p:txBody>
          <a:bodyPr wrap="square">
            <a:noAutofit/>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4106" y="0"/>
            <a:ext cx="12187894" cy="3571540"/>
          </a:xfrm>
          <a:custGeom>
            <a:avLst/>
            <a:gdLst>
              <a:gd name="connsiteX0" fmla="*/ 0 w 12187894"/>
              <a:gd name="connsiteY0" fmla="*/ 0 h 3571540"/>
              <a:gd name="connsiteX1" fmla="*/ 12187894 w 12187894"/>
              <a:gd name="connsiteY1" fmla="*/ 0 h 3571540"/>
              <a:gd name="connsiteX2" fmla="*/ 12187894 w 12187894"/>
              <a:gd name="connsiteY2" fmla="*/ 3571540 h 3571540"/>
              <a:gd name="connsiteX3" fmla="*/ 0 w 12187894"/>
              <a:gd name="connsiteY3" fmla="*/ 3571540 h 3571540"/>
            </a:gdLst>
            <a:ahLst/>
            <a:cxnLst>
              <a:cxn ang="0">
                <a:pos x="connsiteX0" y="connsiteY0"/>
              </a:cxn>
              <a:cxn ang="0">
                <a:pos x="connsiteX1" y="connsiteY1"/>
              </a:cxn>
              <a:cxn ang="0">
                <a:pos x="connsiteX2" y="connsiteY2"/>
              </a:cxn>
              <a:cxn ang="0">
                <a:pos x="connsiteX3" y="connsiteY3"/>
              </a:cxn>
            </a:cxnLst>
            <a:rect l="l" t="t" r="r" b="b"/>
            <a:pathLst>
              <a:path w="12187894" h="3571540">
                <a:moveTo>
                  <a:pt x="0" y="0"/>
                </a:moveTo>
                <a:lnTo>
                  <a:pt x="12187894" y="0"/>
                </a:lnTo>
                <a:lnTo>
                  <a:pt x="12187894" y="3571540"/>
                </a:lnTo>
                <a:lnTo>
                  <a:pt x="0" y="3571540"/>
                </a:lnTo>
                <a:close/>
              </a:path>
            </a:pathLst>
          </a:custGeom>
        </p:spPr>
        <p:txBody>
          <a:bodyPr wrap="square">
            <a:noAutofit/>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5" name="图片占位符 14"/>
          <p:cNvSpPr>
            <a:spLocks noGrp="1"/>
          </p:cNvSpPr>
          <p:nvPr>
            <p:ph type="pic" sz="quarter" idx="10"/>
          </p:nvPr>
        </p:nvSpPr>
        <p:spPr>
          <a:xfrm>
            <a:off x="1234798" y="2528900"/>
            <a:ext cx="2263853" cy="3264506"/>
          </a:xfrm>
          <a:custGeom>
            <a:avLst/>
            <a:gdLst>
              <a:gd name="connsiteX0" fmla="*/ 0 w 2263853"/>
              <a:gd name="connsiteY0" fmla="*/ 0 h 3264506"/>
              <a:gd name="connsiteX1" fmla="*/ 2263853 w 2263853"/>
              <a:gd name="connsiteY1" fmla="*/ 0 h 3264506"/>
              <a:gd name="connsiteX2" fmla="*/ 2263853 w 2263853"/>
              <a:gd name="connsiteY2" fmla="*/ 3264506 h 3264506"/>
              <a:gd name="connsiteX3" fmla="*/ 0 w 2263853"/>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63853" h="3264506">
                <a:moveTo>
                  <a:pt x="0" y="0"/>
                </a:moveTo>
                <a:lnTo>
                  <a:pt x="2263853" y="0"/>
                </a:lnTo>
                <a:lnTo>
                  <a:pt x="2263853" y="3264506"/>
                </a:lnTo>
                <a:lnTo>
                  <a:pt x="0" y="3264506"/>
                </a:lnTo>
                <a:close/>
              </a:path>
            </a:pathLst>
          </a:custGeom>
        </p:spPr>
        <p:txBody>
          <a:bodyPr wrap="square">
            <a:noAutofit/>
          </a:bodyPr>
          <a:lstStyle/>
          <a:p>
            <a:endParaRPr lang="zh-CN" altLang="en-US"/>
          </a:p>
        </p:txBody>
      </p:sp>
      <p:sp>
        <p:nvSpPr>
          <p:cNvPr id="16" name="图片占位符 15"/>
          <p:cNvSpPr>
            <a:spLocks noGrp="1"/>
          </p:cNvSpPr>
          <p:nvPr>
            <p:ph type="pic" sz="quarter" idx="11"/>
          </p:nvPr>
        </p:nvSpPr>
        <p:spPr>
          <a:xfrm>
            <a:off x="3720984" y="2528900"/>
            <a:ext cx="2272185" cy="3264506"/>
          </a:xfrm>
          <a:custGeom>
            <a:avLst/>
            <a:gdLst>
              <a:gd name="connsiteX0" fmla="*/ 0 w 2272185"/>
              <a:gd name="connsiteY0" fmla="*/ 0 h 3264506"/>
              <a:gd name="connsiteX1" fmla="*/ 2272185 w 2272185"/>
              <a:gd name="connsiteY1" fmla="*/ 0 h 3264506"/>
              <a:gd name="connsiteX2" fmla="*/ 2272185 w 2272185"/>
              <a:gd name="connsiteY2" fmla="*/ 3264506 h 3264506"/>
              <a:gd name="connsiteX3" fmla="*/ 0 w 2272185"/>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72185" h="3264506">
                <a:moveTo>
                  <a:pt x="0" y="0"/>
                </a:moveTo>
                <a:lnTo>
                  <a:pt x="2272185" y="0"/>
                </a:lnTo>
                <a:lnTo>
                  <a:pt x="2272185" y="3264506"/>
                </a:lnTo>
                <a:lnTo>
                  <a:pt x="0" y="3264506"/>
                </a:lnTo>
                <a:close/>
              </a:path>
            </a:pathLst>
          </a:custGeom>
        </p:spPr>
        <p:txBody>
          <a:bodyPr wrap="square">
            <a:noAutofit/>
          </a:bodyPr>
          <a:lstStyle/>
          <a:p>
            <a:endParaRPr lang="zh-CN" altLang="en-US"/>
          </a:p>
        </p:txBody>
      </p:sp>
      <p:sp>
        <p:nvSpPr>
          <p:cNvPr id="17" name="图片占位符 16"/>
          <p:cNvSpPr>
            <a:spLocks noGrp="1"/>
          </p:cNvSpPr>
          <p:nvPr>
            <p:ph type="pic" sz="quarter" idx="12"/>
          </p:nvPr>
        </p:nvSpPr>
        <p:spPr>
          <a:xfrm>
            <a:off x="6198835" y="2528900"/>
            <a:ext cx="2272185" cy="3264506"/>
          </a:xfrm>
          <a:custGeom>
            <a:avLst/>
            <a:gdLst>
              <a:gd name="connsiteX0" fmla="*/ 0 w 2272185"/>
              <a:gd name="connsiteY0" fmla="*/ 0 h 3264506"/>
              <a:gd name="connsiteX1" fmla="*/ 2272185 w 2272185"/>
              <a:gd name="connsiteY1" fmla="*/ 0 h 3264506"/>
              <a:gd name="connsiteX2" fmla="*/ 2272185 w 2272185"/>
              <a:gd name="connsiteY2" fmla="*/ 3264506 h 3264506"/>
              <a:gd name="connsiteX3" fmla="*/ 0 w 2272185"/>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72185" h="3264506">
                <a:moveTo>
                  <a:pt x="0" y="0"/>
                </a:moveTo>
                <a:lnTo>
                  <a:pt x="2272185" y="0"/>
                </a:lnTo>
                <a:lnTo>
                  <a:pt x="2272185" y="3264506"/>
                </a:lnTo>
                <a:lnTo>
                  <a:pt x="0" y="3264506"/>
                </a:lnTo>
                <a:close/>
              </a:path>
            </a:pathLst>
          </a:custGeom>
        </p:spPr>
        <p:txBody>
          <a:bodyPr wrap="square">
            <a:noAutofit/>
          </a:bodyPr>
          <a:lstStyle/>
          <a:p>
            <a:endParaRPr lang="zh-CN" altLang="en-US"/>
          </a:p>
        </p:txBody>
      </p:sp>
      <p:sp>
        <p:nvSpPr>
          <p:cNvPr id="18" name="图片占位符 17"/>
          <p:cNvSpPr>
            <a:spLocks noGrp="1"/>
          </p:cNvSpPr>
          <p:nvPr>
            <p:ph type="pic" sz="quarter" idx="13"/>
          </p:nvPr>
        </p:nvSpPr>
        <p:spPr>
          <a:xfrm>
            <a:off x="8693352" y="2528900"/>
            <a:ext cx="2263853" cy="3264506"/>
          </a:xfrm>
          <a:custGeom>
            <a:avLst/>
            <a:gdLst>
              <a:gd name="connsiteX0" fmla="*/ 0 w 2263853"/>
              <a:gd name="connsiteY0" fmla="*/ 0 h 3264506"/>
              <a:gd name="connsiteX1" fmla="*/ 2263853 w 2263853"/>
              <a:gd name="connsiteY1" fmla="*/ 0 h 3264506"/>
              <a:gd name="connsiteX2" fmla="*/ 2263853 w 2263853"/>
              <a:gd name="connsiteY2" fmla="*/ 3264506 h 3264506"/>
              <a:gd name="connsiteX3" fmla="*/ 0 w 2263853"/>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63853" h="3264506">
                <a:moveTo>
                  <a:pt x="0" y="0"/>
                </a:moveTo>
                <a:lnTo>
                  <a:pt x="2263853" y="0"/>
                </a:lnTo>
                <a:lnTo>
                  <a:pt x="2263853" y="3264506"/>
                </a:lnTo>
                <a:lnTo>
                  <a:pt x="0" y="3264506"/>
                </a:lnTo>
                <a:close/>
              </a:path>
            </a:pathLst>
          </a:custGeom>
        </p:spPr>
        <p:txBody>
          <a:bodyPr wrap="square">
            <a:noAutofit/>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91CE03-90C0-4E22-B7FA-3A1ECBAF6F4F}"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1176E6-63FA-43A7-8DE8-B4DDEC857A2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hemeOverride" Target="../theme/themeOverride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7.wmf"/><Relationship Id="rId3" Type="http://schemas.openxmlformats.org/officeDocument/2006/relationships/oleObject" Target="../embeddings/oleObject1.bin"/><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2.bin"/><Relationship Id="rId2" Type="http://schemas.openxmlformats.org/officeDocument/2006/relationships/image" Target="../media/image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9.wmf"/><Relationship Id="rId3" Type="http://schemas.openxmlformats.org/officeDocument/2006/relationships/oleObject" Target="../embeddings/oleObject3.bin"/><Relationship Id="rId2" Type="http://schemas.openxmlformats.org/officeDocument/2006/relationships/image" Target="../media/image4.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9.xml"/><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9.xml"/><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9.xml"/><Relationship Id="rId2" Type="http://schemas.openxmlformats.org/officeDocument/2006/relationships/image" Target="../media/image3.png"/><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cstate="email"/>
          <a:srcRect/>
          <a:stretch>
            <a:fillRect/>
          </a:stretch>
        </p:blipFill>
        <p:spPr>
          <a:xfrm>
            <a:off x="0" y="-1"/>
            <a:ext cx="12192000" cy="6858001"/>
          </a:xfrm>
          <a:prstGeom prst="rect">
            <a:avLst/>
          </a:prstGeom>
        </p:spPr>
      </p:pic>
      <p:pic>
        <p:nvPicPr>
          <p:cNvPr id="2919" name="图片 2918"/>
          <p:cNvPicPr>
            <a:picLocks noChangeAspect="1"/>
          </p:cNvPicPr>
          <p:nvPr/>
        </p:nvPicPr>
        <p:blipFill rotWithShape="1">
          <a:blip r:embed="rId2" cstate="email"/>
          <a:srcRect/>
          <a:stretch>
            <a:fillRect/>
          </a:stretch>
        </p:blipFill>
        <p:spPr>
          <a:xfrm>
            <a:off x="3289300" y="622299"/>
            <a:ext cx="5613400" cy="5613400"/>
          </a:xfrm>
          <a:prstGeom prst="ellipse">
            <a:avLst/>
          </a:prstGeom>
          <a:effectLst>
            <a:outerShdw blurRad="482600" sx="102000" sy="102000" algn="ctr" rotWithShape="0">
              <a:prstClr val="black">
                <a:alpha val="61000"/>
              </a:prstClr>
            </a:outerShdw>
          </a:effectLst>
        </p:spPr>
      </p:pic>
      <p:sp>
        <p:nvSpPr>
          <p:cNvPr id="2920" name="文本框 2919"/>
          <p:cNvSpPr txBox="1"/>
          <p:nvPr/>
        </p:nvSpPr>
        <p:spPr>
          <a:xfrm>
            <a:off x="4964922" y="2006600"/>
            <a:ext cx="2262159" cy="923330"/>
          </a:xfrm>
          <a:prstGeom prst="rect">
            <a:avLst/>
          </a:prstGeom>
          <a:noFill/>
        </p:spPr>
        <p:txBody>
          <a:bodyPr wrap="none" rtlCol="0">
            <a:spAutoFit/>
            <a:scene3d>
              <a:camera prst="orthographicFront"/>
              <a:lightRig rig="threePt" dir="t"/>
            </a:scene3d>
            <a:sp3d extrusionH="12700"/>
          </a:bodyPr>
          <a:lstStyle/>
          <a:p>
            <a:pPr algn="ctr"/>
            <a:r>
              <a:rPr lang="zh-CN" altLang="en-US" sz="5400" dirty="0" smtClean="0">
                <a:solidFill>
                  <a:schemeClr val="bg1"/>
                </a:solidFill>
                <a:effectLst>
                  <a:outerShdw blurRad="203200" dist="38100" dir="5400000" algn="t" rotWithShape="0">
                    <a:prstClr val="black">
                      <a:alpha val="83000"/>
                    </a:prstClr>
                  </a:outerShdw>
                </a:effectLst>
                <a:cs typeface="+mn-ea"/>
                <a:sym typeface="+mn-lt"/>
              </a:rPr>
              <a:t>启程篇</a:t>
            </a:r>
            <a:endParaRPr lang="zh-CN" altLang="en-US" sz="5400" dirty="0">
              <a:solidFill>
                <a:schemeClr val="bg1"/>
              </a:solidFill>
              <a:effectLst>
                <a:outerShdw blurRad="203200" dist="38100" dir="5400000" algn="t" rotWithShape="0">
                  <a:prstClr val="black">
                    <a:alpha val="83000"/>
                  </a:prstClr>
                </a:outerShdw>
              </a:effectLst>
              <a:cs typeface="+mn-ea"/>
              <a:sym typeface="+mn-lt"/>
            </a:endParaRPr>
          </a:p>
        </p:txBody>
      </p:sp>
      <p:sp>
        <p:nvSpPr>
          <p:cNvPr id="2921" name="文本框 2920"/>
          <p:cNvSpPr txBox="1"/>
          <p:nvPr/>
        </p:nvSpPr>
        <p:spPr>
          <a:xfrm>
            <a:off x="4249978" y="3019922"/>
            <a:ext cx="3692037" cy="707886"/>
          </a:xfrm>
          <a:prstGeom prst="rect">
            <a:avLst/>
          </a:prstGeom>
          <a:noFill/>
        </p:spPr>
        <p:txBody>
          <a:bodyPr wrap="none" rtlCol="0">
            <a:spAutoFit/>
            <a:scene3d>
              <a:camera prst="orthographicFront"/>
              <a:lightRig rig="threePt" dir="t"/>
            </a:scene3d>
            <a:sp3d extrusionH="12700"/>
          </a:bodyPr>
          <a:lstStyle/>
          <a:p>
            <a:pPr algn="ctr"/>
            <a:r>
              <a:rPr lang="en-US" altLang="zh-CN" sz="4000" dirty="0" err="1" smtClean="0">
                <a:solidFill>
                  <a:schemeClr val="bg1"/>
                </a:solidFill>
                <a:effectLst>
                  <a:outerShdw blurRad="203200" dist="38100" dir="5400000" algn="t" rotWithShape="0">
                    <a:prstClr val="black">
                      <a:alpha val="83000"/>
                    </a:prstClr>
                  </a:outerShdw>
                </a:effectLst>
                <a:cs typeface="+mn-ea"/>
                <a:sym typeface="+mn-lt"/>
              </a:rPr>
              <a:t>Imitate&amp;Search</a:t>
            </a:r>
            <a:endParaRPr lang="zh-CN" altLang="en-US" sz="4000" dirty="0">
              <a:solidFill>
                <a:schemeClr val="bg1"/>
              </a:solidFill>
              <a:effectLst>
                <a:outerShdw blurRad="203200" dist="38100" dir="5400000" algn="t" rotWithShape="0">
                  <a:prstClr val="black">
                    <a:alpha val="83000"/>
                  </a:prstClr>
                </a:outerShdw>
              </a:effectLst>
              <a:cs typeface="+mn-ea"/>
              <a:sym typeface="+mn-lt"/>
            </a:endParaRPr>
          </a:p>
        </p:txBody>
      </p:sp>
      <p:cxnSp>
        <p:nvCxnSpPr>
          <p:cNvPr id="2923" name="直接连接符 2922"/>
          <p:cNvCxnSpPr/>
          <p:nvPr/>
        </p:nvCxnSpPr>
        <p:spPr>
          <a:xfrm>
            <a:off x="4849338" y="3962400"/>
            <a:ext cx="2493324" cy="0"/>
          </a:xfrm>
          <a:prstGeom prst="line">
            <a:avLst/>
          </a:prstGeom>
          <a:ln w="25400" cap="rnd">
            <a:solidFill>
              <a:schemeClr val="bg1"/>
            </a:solidFill>
            <a:round/>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24" name="矩形: 圆角 2923"/>
          <p:cNvSpPr/>
          <p:nvPr/>
        </p:nvSpPr>
        <p:spPr>
          <a:xfrm>
            <a:off x="5379720" y="4497425"/>
            <a:ext cx="1432560" cy="367031"/>
          </a:xfrm>
          <a:prstGeom prst="roundRect">
            <a:avLst>
              <a:gd name="adj" fmla="val 50000"/>
            </a:avLst>
          </a:prstGeom>
          <a:ln>
            <a:solidFill>
              <a:schemeClr val="bg1"/>
            </a:solidFill>
          </a:ln>
          <a:effectLst>
            <a:outerShdw blurRad="2032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cs typeface="+mn-ea"/>
                <a:sym typeface="+mn-lt"/>
              </a:rPr>
              <a:t>2026.02.02</a:t>
            </a:r>
            <a:endParaRPr lang="zh-CN" altLang="en-US" sz="1400" dirty="0">
              <a:cs typeface="+mn-ea"/>
              <a:sym typeface="+mn-lt"/>
            </a:endParaRPr>
          </a:p>
        </p:txBody>
      </p:sp>
      <p:sp>
        <p:nvSpPr>
          <p:cNvPr id="9" name="文本框 2919"/>
          <p:cNvSpPr txBox="1"/>
          <p:nvPr/>
        </p:nvSpPr>
        <p:spPr>
          <a:xfrm>
            <a:off x="10244030" y="0"/>
            <a:ext cx="163378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第二部分 算法</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10"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par>
                          <p:cTn id="13" fill="hold">
                            <p:stCondLst>
                              <p:cond delay="500"/>
                            </p:stCondLst>
                            <p:childTnLst>
                              <p:par>
                                <p:cTn id="14" presetID="23" presetClass="entr" presetSubtype="288" fill="hold" nodeType="afterEffect">
                                  <p:stCondLst>
                                    <p:cond delay="0"/>
                                  </p:stCondLst>
                                  <p:childTnLst>
                                    <p:set>
                                      <p:cBhvr>
                                        <p:cTn id="15" dur="1" fill="hold">
                                          <p:stCondLst>
                                            <p:cond delay="0"/>
                                          </p:stCondLst>
                                        </p:cTn>
                                        <p:tgtEl>
                                          <p:spTgt spid="2919"/>
                                        </p:tgtEl>
                                        <p:attrNameLst>
                                          <p:attrName>style.visibility</p:attrName>
                                        </p:attrNameLst>
                                      </p:cBhvr>
                                      <p:to>
                                        <p:strVal val="visible"/>
                                      </p:to>
                                    </p:set>
                                    <p:anim calcmode="lin" valueType="num">
                                      <p:cBhvr>
                                        <p:cTn id="16" dur="500" fill="hold"/>
                                        <p:tgtEl>
                                          <p:spTgt spid="2919"/>
                                        </p:tgtEl>
                                        <p:attrNameLst>
                                          <p:attrName>ppt_w</p:attrName>
                                        </p:attrNameLst>
                                      </p:cBhvr>
                                      <p:tavLst>
                                        <p:tav tm="0">
                                          <p:val>
                                            <p:strVal val="4/3*#ppt_w"/>
                                          </p:val>
                                        </p:tav>
                                        <p:tav tm="100000">
                                          <p:val>
                                            <p:strVal val="#ppt_w"/>
                                          </p:val>
                                        </p:tav>
                                      </p:tavLst>
                                    </p:anim>
                                    <p:anim calcmode="lin" valueType="num">
                                      <p:cBhvr>
                                        <p:cTn id="17" dur="500" fill="hold"/>
                                        <p:tgtEl>
                                          <p:spTgt spid="2919"/>
                                        </p:tgtEl>
                                        <p:attrNameLst>
                                          <p:attrName>ppt_h</p:attrName>
                                        </p:attrNameLst>
                                      </p:cBhvr>
                                      <p:tavLst>
                                        <p:tav tm="0">
                                          <p:val>
                                            <p:strVal val="4/3*#ppt_h"/>
                                          </p:val>
                                        </p:tav>
                                        <p:tav tm="100000">
                                          <p:val>
                                            <p:strVal val="#ppt_h"/>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920"/>
                                        </p:tgtEl>
                                        <p:attrNameLst>
                                          <p:attrName>style.visibility</p:attrName>
                                        </p:attrNameLst>
                                      </p:cBhvr>
                                      <p:to>
                                        <p:strVal val="visible"/>
                                      </p:to>
                                    </p:set>
                                    <p:anim calcmode="lin" valueType="num">
                                      <p:cBhvr>
                                        <p:cTn id="21" dur="500" fill="hold"/>
                                        <p:tgtEl>
                                          <p:spTgt spid="2920"/>
                                        </p:tgtEl>
                                        <p:attrNameLst>
                                          <p:attrName>ppt_w</p:attrName>
                                        </p:attrNameLst>
                                      </p:cBhvr>
                                      <p:tavLst>
                                        <p:tav tm="0">
                                          <p:val>
                                            <p:fltVal val="0"/>
                                          </p:val>
                                        </p:tav>
                                        <p:tav tm="100000">
                                          <p:val>
                                            <p:strVal val="#ppt_w"/>
                                          </p:val>
                                        </p:tav>
                                      </p:tavLst>
                                    </p:anim>
                                    <p:anim calcmode="lin" valueType="num">
                                      <p:cBhvr>
                                        <p:cTn id="22" dur="500" fill="hold"/>
                                        <p:tgtEl>
                                          <p:spTgt spid="2920"/>
                                        </p:tgtEl>
                                        <p:attrNameLst>
                                          <p:attrName>ppt_h</p:attrName>
                                        </p:attrNameLst>
                                      </p:cBhvr>
                                      <p:tavLst>
                                        <p:tav tm="0">
                                          <p:val>
                                            <p:fltVal val="0"/>
                                          </p:val>
                                        </p:tav>
                                        <p:tav tm="100000">
                                          <p:val>
                                            <p:strVal val="#ppt_h"/>
                                          </p:val>
                                        </p:tav>
                                      </p:tavLst>
                                    </p:anim>
                                    <p:animEffect transition="in" filter="fade">
                                      <p:cBhvr>
                                        <p:cTn id="23" dur="500"/>
                                        <p:tgtEl>
                                          <p:spTgt spid="2920"/>
                                        </p:tgtEl>
                                      </p:cBhvr>
                                    </p:animEffect>
                                  </p:childTnLst>
                                </p:cTn>
                              </p:par>
                            </p:childTnLst>
                          </p:cTn>
                        </p:par>
                        <p:par>
                          <p:cTn id="24" fill="hold">
                            <p:stCondLst>
                              <p:cond delay="1500"/>
                            </p:stCondLst>
                            <p:childTnLst>
                              <p:par>
                                <p:cTn id="25" presetID="42" presetClass="entr" presetSubtype="0" fill="hold" grpId="0" nodeType="afterEffect">
                                  <p:stCondLst>
                                    <p:cond delay="0"/>
                                  </p:stCondLst>
                                  <p:childTnLst>
                                    <p:set>
                                      <p:cBhvr>
                                        <p:cTn id="26" dur="1" fill="hold">
                                          <p:stCondLst>
                                            <p:cond delay="0"/>
                                          </p:stCondLst>
                                        </p:cTn>
                                        <p:tgtEl>
                                          <p:spTgt spid="2921"/>
                                        </p:tgtEl>
                                        <p:attrNameLst>
                                          <p:attrName>style.visibility</p:attrName>
                                        </p:attrNameLst>
                                      </p:cBhvr>
                                      <p:to>
                                        <p:strVal val="visible"/>
                                      </p:to>
                                    </p:set>
                                    <p:animEffect transition="in" filter="fade">
                                      <p:cBhvr>
                                        <p:cTn id="27" dur="1000"/>
                                        <p:tgtEl>
                                          <p:spTgt spid="2921"/>
                                        </p:tgtEl>
                                      </p:cBhvr>
                                    </p:animEffect>
                                    <p:anim calcmode="lin" valueType="num">
                                      <p:cBhvr>
                                        <p:cTn id="28" dur="1000" fill="hold"/>
                                        <p:tgtEl>
                                          <p:spTgt spid="2921"/>
                                        </p:tgtEl>
                                        <p:attrNameLst>
                                          <p:attrName>ppt_x</p:attrName>
                                        </p:attrNameLst>
                                      </p:cBhvr>
                                      <p:tavLst>
                                        <p:tav tm="0">
                                          <p:val>
                                            <p:strVal val="#ppt_x"/>
                                          </p:val>
                                        </p:tav>
                                        <p:tav tm="100000">
                                          <p:val>
                                            <p:strVal val="#ppt_x"/>
                                          </p:val>
                                        </p:tav>
                                      </p:tavLst>
                                    </p:anim>
                                    <p:anim calcmode="lin" valueType="num">
                                      <p:cBhvr>
                                        <p:cTn id="29" dur="1000" fill="hold"/>
                                        <p:tgtEl>
                                          <p:spTgt spid="2921"/>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16" presetClass="entr" presetSubtype="21" fill="hold" nodeType="afterEffect">
                                  <p:stCondLst>
                                    <p:cond delay="0"/>
                                  </p:stCondLst>
                                  <p:childTnLst>
                                    <p:set>
                                      <p:cBhvr>
                                        <p:cTn id="32" dur="1" fill="hold">
                                          <p:stCondLst>
                                            <p:cond delay="0"/>
                                          </p:stCondLst>
                                        </p:cTn>
                                        <p:tgtEl>
                                          <p:spTgt spid="2923"/>
                                        </p:tgtEl>
                                        <p:attrNameLst>
                                          <p:attrName>style.visibility</p:attrName>
                                        </p:attrNameLst>
                                      </p:cBhvr>
                                      <p:to>
                                        <p:strVal val="visible"/>
                                      </p:to>
                                    </p:set>
                                    <p:animEffect transition="in" filter="barn(inVertical)">
                                      <p:cBhvr>
                                        <p:cTn id="33" dur="500"/>
                                        <p:tgtEl>
                                          <p:spTgt spid="2923"/>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2924"/>
                                        </p:tgtEl>
                                        <p:attrNameLst>
                                          <p:attrName>style.visibility</p:attrName>
                                        </p:attrNameLst>
                                      </p:cBhvr>
                                      <p:to>
                                        <p:strVal val="visible"/>
                                      </p:to>
                                    </p:set>
                                    <p:animEffect transition="in" filter="fade">
                                      <p:cBhvr>
                                        <p:cTn id="37" dur="500"/>
                                        <p:tgtEl>
                                          <p:spTgt spid="2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0" grpId="0"/>
      <p:bldP spid="2921" grpId="0"/>
      <p:bldP spid="2924" grpId="0" animBg="1"/>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511354" y="177223"/>
            <a:ext cx="64633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模拟</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5" name="矩形 14"/>
          <p:cNvSpPr/>
          <p:nvPr/>
        </p:nvSpPr>
        <p:spPr>
          <a:xfrm>
            <a:off x="1996802" y="1738729"/>
            <a:ext cx="7327819" cy="108775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latin typeface="苏新诗古印宋简" pitchFamily="49" charset="-122"/>
                <a:ea typeface="苏新诗古印宋简" pitchFamily="49" charset="-122"/>
                <a:cs typeface="+mn-ea"/>
              </a:rPr>
              <a:t>模拟</a:t>
            </a:r>
            <a:r>
              <a:rPr lang="zh-CN" altLang="en-US" dirty="0" smtClean="0">
                <a:latin typeface="苏新诗古印宋简" pitchFamily="49" charset="-122"/>
                <a:ea typeface="苏新诗古印宋简" pitchFamily="49" charset="-122"/>
                <a:cs typeface="+mn-ea"/>
              </a:rPr>
              <a:t>是一种常见题型。考察根据题意、算法需求进行的模拟操作。过程中使用的都是我们已知的各种方法，如数组元素调用、排序、枚举等。关键是</a:t>
            </a:r>
            <a:r>
              <a:rPr lang="zh-CN" altLang="en-US" b="1" dirty="0" smtClean="0">
                <a:latin typeface="苏新诗古印宋简" pitchFamily="49" charset="-122"/>
                <a:ea typeface="苏新诗古印宋简" pitchFamily="49" charset="-122"/>
                <a:cs typeface="+mn-ea"/>
              </a:rPr>
              <a:t>准确无误地遵循既定规则</a:t>
            </a:r>
            <a:r>
              <a:rPr lang="zh-CN" altLang="en-US" dirty="0" smtClean="0">
                <a:latin typeface="苏新诗古印宋简" pitchFamily="49" charset="-122"/>
                <a:ea typeface="苏新诗古印宋简" pitchFamily="49" charset="-122"/>
                <a:cs typeface="+mn-ea"/>
              </a:rPr>
              <a:t>来实现代码。</a:t>
            </a:r>
            <a:endParaRPr lang="en-US" altLang="zh-CN" dirty="0" smtClean="0">
              <a:latin typeface="苏新诗古印宋简" pitchFamily="49" charset="-122"/>
              <a:ea typeface="苏新诗古印宋简" pitchFamily="49" charset="-122"/>
              <a:cs typeface="+mn-ea"/>
            </a:endParaRPr>
          </a:p>
        </p:txBody>
      </p:sp>
      <p:sp>
        <p:nvSpPr>
          <p:cNvPr id="23" name="矩形 22"/>
          <p:cNvSpPr/>
          <p:nvPr/>
        </p:nvSpPr>
        <p:spPr>
          <a:xfrm>
            <a:off x="1996803" y="3176286"/>
            <a:ext cx="7327818" cy="2416175"/>
          </a:xfrm>
          <a:prstGeom prst="rect">
            <a:avLst/>
          </a:prstGeom>
        </p:spPr>
        <p:txBody>
          <a:bodyPr wrap="square">
            <a:spAutoFit/>
            <a:scene3d>
              <a:camera prst="orthographicFront"/>
              <a:lightRig rig="threePt" dir="t"/>
            </a:scene3d>
            <a:sp3d contourW="12700"/>
          </a:bodyPr>
          <a:lstStyle/>
          <a:p>
            <a:pPr algn="just">
              <a:lnSpc>
                <a:spcPct val="120000"/>
              </a:lnSpc>
              <a:buClrTx/>
              <a:buSzTx/>
              <a:buFontTx/>
            </a:pPr>
            <a:r>
              <a:rPr lang="zh-CN" altLang="en-US" dirty="0" smtClean="0">
                <a:latin typeface="苏新诗古印宋简" pitchFamily="49" charset="-122"/>
                <a:ea typeface="苏新诗古印宋简" pitchFamily="49" charset="-122"/>
                <a:cs typeface="+mn-ea"/>
              </a:rPr>
              <a:t>类型特点：</a:t>
            </a:r>
            <a:endParaRPr lang="zh-CN" altLang="en-US" dirty="0" smtClean="0">
              <a:latin typeface="苏新诗古印宋简" pitchFamily="49" charset="-122"/>
              <a:ea typeface="苏新诗古印宋简" pitchFamily="49" charset="-122"/>
              <a:cs typeface="+mn-ea"/>
            </a:endParaRPr>
          </a:p>
          <a:p>
            <a:pPr algn="just">
              <a:lnSpc>
                <a:spcPct val="120000"/>
              </a:lnSpc>
              <a:buClrTx/>
              <a:buSzTx/>
              <a:buFontTx/>
            </a:pPr>
            <a:r>
              <a:rPr lang="zh-CN" altLang="en-US" dirty="0" smtClean="0">
                <a:latin typeface="苏新诗古印宋简" pitchFamily="49" charset="-122"/>
                <a:ea typeface="苏新诗古印宋简" pitchFamily="49" charset="-122"/>
                <a:cs typeface="+mn-ea"/>
              </a:rPr>
              <a:t>码量大、操作多、思路繁复，对选手的耐心、仔细程度、理解能力、手速、DEBUG水平等要求颇高。体现程序实现能力，表现基本功是否过硬扎实。</a:t>
            </a:r>
            <a:endParaRPr lang="zh-CN" altLang="en-US" dirty="0" smtClean="0">
              <a:latin typeface="苏新诗古印宋简" pitchFamily="49" charset="-122"/>
              <a:ea typeface="苏新诗古印宋简" pitchFamily="49" charset="-122"/>
              <a:cs typeface="+mn-ea"/>
            </a:endParaRPr>
          </a:p>
          <a:p>
            <a:pPr algn="just">
              <a:lnSpc>
                <a:spcPct val="120000"/>
              </a:lnSpc>
              <a:buClrTx/>
              <a:buSzTx/>
              <a:buFontTx/>
            </a:pPr>
            <a:r>
              <a:rPr lang="zh-CN" altLang="en-US" dirty="0" smtClean="0">
                <a:latin typeface="苏新诗古印宋简" pitchFamily="49" charset="-122"/>
                <a:ea typeface="苏新诗古印宋简" pitchFamily="49" charset="-122"/>
                <a:cs typeface="+mn-ea"/>
              </a:rPr>
              <a:t>万丈高楼平地起，对于各类算法和数据结构，代码的基本实现能力就是地基，决定了我们能不能有效、快速、准确地将算法程序实现，模拟题常练常新！每次练习都是对于程序实现思维的整理和总结。</a:t>
            </a:r>
            <a:endParaRPr lang="zh-CN" altLang="en-US" dirty="0" smtClean="0">
              <a:latin typeface="苏新诗古印宋简" pitchFamily="49" charset="-122"/>
              <a:ea typeface="苏新诗古印宋简" pitchFamily="49"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511354" y="177223"/>
            <a:ext cx="64633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模拟</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9" name="矩形 28"/>
          <p:cNvSpPr/>
          <p:nvPr/>
        </p:nvSpPr>
        <p:spPr>
          <a:xfrm>
            <a:off x="1997075" y="1259205"/>
            <a:ext cx="8199755" cy="341376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写模拟题时，遵循以下建议有可能会</a:t>
            </a:r>
            <a:r>
              <a:rPr lang="zh-CN" altLang="en-US" dirty="0">
                <a:cs typeface="+mn-ea"/>
              </a:rPr>
              <a:t>提升做题效率</a:t>
            </a:r>
            <a:r>
              <a:rPr lang="en-US" altLang="zh-CN" dirty="0">
                <a:cs typeface="+mn-ea"/>
              </a:rPr>
              <a:t>(</a:t>
            </a:r>
            <a:r>
              <a:rPr lang="zh-CN" altLang="en-US" dirty="0">
                <a:cs typeface="+mn-ea"/>
              </a:rPr>
              <a:t>其实所有题目都适用</a:t>
            </a:r>
            <a:r>
              <a:rPr lang="en-US" altLang="zh-CN" dirty="0">
                <a:cs typeface="+mn-ea"/>
              </a:rPr>
              <a:t>)</a:t>
            </a:r>
            <a:r>
              <a:rPr lang="zh-CN" altLang="en-US" dirty="0">
                <a:cs typeface="+mn-ea"/>
              </a:rPr>
              <a:t>：</a:t>
            </a:r>
            <a:endParaRPr lang="zh-CN" altLang="en-US" dirty="0">
              <a:cs typeface="+mn-ea"/>
            </a:endParaRPr>
          </a:p>
          <a:p>
            <a:pPr algn="just">
              <a:lnSpc>
                <a:spcPct val="120000"/>
              </a:lnSpc>
            </a:pPr>
            <a:r>
              <a:rPr lang="zh-CN" altLang="en-US" dirty="0">
                <a:cs typeface="+mn-ea"/>
              </a:rPr>
              <a:t>①</a:t>
            </a:r>
            <a:r>
              <a:rPr lang="en-US" altLang="zh-CN" dirty="0">
                <a:cs typeface="+mn-ea"/>
              </a:rPr>
              <a:t> </a:t>
            </a:r>
            <a:r>
              <a:rPr lang="zh-CN" altLang="en-US" dirty="0">
                <a:cs typeface="+mn-ea"/>
              </a:rPr>
              <a:t>精准读题，抽象建模，做好流程设计。</a:t>
            </a:r>
            <a:endParaRPr lang="zh-CN" altLang="en-US" dirty="0">
              <a:cs typeface="+mn-ea"/>
            </a:endParaRPr>
          </a:p>
          <a:p>
            <a:pPr algn="just">
              <a:lnSpc>
                <a:spcPct val="120000"/>
              </a:lnSpc>
            </a:pPr>
            <a:r>
              <a:rPr lang="en-US" altLang="zh-CN" dirty="0">
                <a:cs typeface="+mn-ea"/>
              </a:rPr>
              <a:t>	</a:t>
            </a:r>
            <a:r>
              <a:rPr lang="zh-CN" altLang="en-US" dirty="0">
                <a:cs typeface="+mn-ea"/>
              </a:rPr>
              <a:t>标注题目中每个关键元素、动作、步骤：每个关键元素抽象成变量，动作抽象成表达式、语句块，步骤抽象成变量、表达式、语句块的共同实现。</a:t>
            </a:r>
            <a:endParaRPr lang="zh-CN" altLang="en-US" dirty="0">
              <a:cs typeface="+mn-ea"/>
            </a:endParaRPr>
          </a:p>
          <a:p>
            <a:pPr algn="just">
              <a:lnSpc>
                <a:spcPct val="120000"/>
              </a:lnSpc>
            </a:pPr>
            <a:r>
              <a:rPr lang="en-US" altLang="zh-CN" dirty="0">
                <a:cs typeface="+mn-ea"/>
              </a:rPr>
              <a:t>	</a:t>
            </a:r>
            <a:r>
              <a:rPr lang="zh-CN" altLang="en-US" dirty="0">
                <a:cs typeface="+mn-ea"/>
              </a:rPr>
              <a:t>开始写代码前，在草稿纸上理清要实现的流程、细节、注意事项。</a:t>
            </a:r>
            <a:endParaRPr lang="zh-CN" altLang="en-US" dirty="0">
              <a:cs typeface="+mn-ea"/>
            </a:endParaRPr>
          </a:p>
          <a:p>
            <a:r>
              <a:rPr lang="zh-CN" altLang="en-US" dirty="0" smtClean="0">
                <a:cs typeface="+mn-ea"/>
              </a:rPr>
              <a:t>②</a:t>
            </a:r>
            <a:r>
              <a:rPr lang="en-US" altLang="zh-CN" dirty="0" smtClean="0">
                <a:cs typeface="+mn-ea"/>
              </a:rPr>
              <a:t> </a:t>
            </a:r>
            <a:r>
              <a:rPr lang="zh-CN" altLang="en-US" dirty="0" smtClean="0">
                <a:cs typeface="+mn-ea"/>
                <a:sym typeface="+mn-ea"/>
              </a:rPr>
              <a:t>在</a:t>
            </a:r>
            <a:r>
              <a:rPr lang="zh-CN" altLang="en-US" dirty="0">
                <a:cs typeface="+mn-ea"/>
                <a:sym typeface="+mn-ea"/>
              </a:rPr>
              <a:t>代码中，大问题分成小问题，流程拆分成动作，先后顺序分段处理，段落与段落之间隔开；包含关系模块化处理，写成函数、结构体或类。用注释语句描述每部分的目标功能。</a:t>
            </a:r>
            <a:endParaRPr lang="zh-CN" altLang="en-US" dirty="0">
              <a:cs typeface="+mn-ea"/>
              <a:sym typeface="+mn-ea"/>
            </a:endParaRPr>
          </a:p>
          <a:p>
            <a:r>
              <a:rPr lang="zh-CN" altLang="en-US" dirty="0">
                <a:cs typeface="+mn-ea"/>
              </a:rPr>
              <a:t>③</a:t>
            </a:r>
            <a:r>
              <a:rPr lang="en-US" altLang="zh-CN" dirty="0">
                <a:cs typeface="+mn-ea"/>
              </a:rPr>
              <a:t> </a:t>
            </a:r>
            <a:r>
              <a:rPr lang="zh-CN" altLang="en-US" dirty="0">
                <a:cs typeface="+mn-ea"/>
              </a:rPr>
              <a:t>调试时分块调试，有先后顺序的，在每一关键步骤后打印中间结果，确认每一步的正确性；有包含关系的，可对单独模块函数进行调用测试。</a:t>
            </a:r>
            <a:r>
              <a:rPr lang="zh-CN" altLang="en-US" dirty="0">
                <a:cs typeface="+mn-ea"/>
                <a:sym typeface="+mn-ea"/>
              </a:rPr>
              <a:t>模块化的好处就是可以方便的单独调试某一部分。</a:t>
            </a:r>
            <a:endParaRPr lang="zh-CN" altLang="en-US" dirty="0">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511354" y="177223"/>
            <a:ext cx="64633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模拟</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 name="文本框 1"/>
          <p:cNvSpPr txBox="1"/>
          <p:nvPr/>
        </p:nvSpPr>
        <p:spPr>
          <a:xfrm>
            <a:off x="1492250" y="967740"/>
            <a:ext cx="9386570" cy="5908040"/>
          </a:xfrm>
          <a:prstGeom prst="rect">
            <a:avLst/>
          </a:prstGeom>
          <a:noFill/>
        </p:spPr>
        <p:txBody>
          <a:bodyPr wrap="square" rtlCol="0">
            <a:spAutoFit/>
          </a:bodyPr>
          <a:p>
            <a:r>
              <a:rPr lang="zh-CN" altLang="en-US" dirty="0">
                <a:cs typeface="+mn-ea"/>
              </a:rPr>
              <a:t>常见的一些小</a:t>
            </a:r>
            <a:r>
              <a:rPr lang="en-US" altLang="zh-CN" dirty="0">
                <a:cs typeface="+mn-ea"/>
              </a:rPr>
              <a:t>Trick</a:t>
            </a:r>
            <a:r>
              <a:rPr lang="zh-CN" altLang="en-US" dirty="0">
                <a:cs typeface="+mn-ea"/>
              </a:rPr>
              <a:t>：</a:t>
            </a:r>
            <a:endParaRPr lang="zh-CN" altLang="en-US" dirty="0">
              <a:cs typeface="+mn-ea"/>
            </a:endParaRPr>
          </a:p>
          <a:p>
            <a:r>
              <a:rPr lang="en-US" altLang="zh-CN" dirty="0" smtClean="0">
                <a:cs typeface="+mn-ea"/>
                <a:sym typeface="+mn-ea"/>
              </a:rPr>
              <a:t>• </a:t>
            </a:r>
            <a:r>
              <a:rPr lang="zh-CN" altLang="en-US" dirty="0" smtClean="0">
                <a:cs typeface="+mn-ea"/>
                <a:sym typeface="+mn-ea"/>
              </a:rPr>
              <a:t>对于</a:t>
            </a:r>
            <a:r>
              <a:rPr lang="zh-CN" altLang="en-US" dirty="0">
                <a:cs typeface="+mn-ea"/>
                <a:sym typeface="+mn-ea"/>
              </a:rPr>
              <a:t>一些可能重复用到的概念，统一整合，方便处理：如，某题给你 </a:t>
            </a:r>
            <a:r>
              <a:rPr lang="en-US" altLang="zh-CN" dirty="0">
                <a:cs typeface="+mn-ea"/>
                <a:sym typeface="+mn-ea"/>
              </a:rPr>
              <a:t>"YY-MM-DD </a:t>
            </a:r>
            <a:r>
              <a:rPr lang="zh-CN" altLang="en-US" dirty="0">
                <a:cs typeface="+mn-ea"/>
                <a:sym typeface="+mn-ea"/>
              </a:rPr>
              <a:t>时：分：秒</a:t>
            </a:r>
            <a:r>
              <a:rPr lang="en-US" altLang="zh-CN" dirty="0">
                <a:cs typeface="+mn-ea"/>
                <a:sym typeface="+mn-ea"/>
              </a:rPr>
              <a:t>" </a:t>
            </a:r>
            <a:r>
              <a:rPr lang="zh-CN" altLang="en-US" dirty="0">
                <a:cs typeface="+mn-ea"/>
                <a:sym typeface="+mn-ea"/>
              </a:rPr>
              <a:t>编写一个函数，统一处理成秒，会减少概念混淆。同理可以预处理、空间换时间等剪枝方式压缩程序实现时间、代码长度、变量利用率等。</a:t>
            </a:r>
            <a:endParaRPr lang="zh-CN" altLang="en-US" dirty="0">
              <a:cs typeface="+mn-ea"/>
            </a:endParaRPr>
          </a:p>
          <a:p>
            <a:r>
              <a:rPr lang="en-US" altLang="zh-CN" dirty="0" smtClean="0">
                <a:cs typeface="+mn-ea"/>
                <a:sym typeface="+mn-ea"/>
              </a:rPr>
              <a:t>• </a:t>
            </a:r>
            <a:r>
              <a:rPr lang="zh-CN" altLang="en-US" dirty="0" smtClean="0">
                <a:cs typeface="+mn-ea"/>
                <a:sym typeface="+mn-ea"/>
              </a:rPr>
              <a:t>写</a:t>
            </a:r>
            <a:r>
              <a:rPr lang="zh-CN" altLang="en-US" dirty="0">
                <a:cs typeface="+mn-ea"/>
                <a:sym typeface="+mn-ea"/>
              </a:rPr>
              <a:t>代码的时候一定要思路清晰，不要想到什么写什么，脑子乱了，就停手，回顾一开始草稿纸上的细节，重新盘一遍，遇到新的问题要及时修正</a:t>
            </a:r>
            <a:endParaRPr lang="zh-CN" altLang="en-US" dirty="0">
              <a:cs typeface="+mn-ea"/>
              <a:sym typeface="+mn-ea"/>
            </a:endParaRPr>
          </a:p>
          <a:p>
            <a:r>
              <a:rPr lang="en-US" altLang="zh-CN" dirty="0" smtClean="0">
                <a:cs typeface="+mn-ea"/>
                <a:sym typeface="+mn-ea"/>
              </a:rPr>
              <a:t>• </a:t>
            </a:r>
            <a:r>
              <a:rPr lang="zh-CN" altLang="en-US" dirty="0" smtClean="0">
                <a:cs typeface="+mn-ea"/>
                <a:sym typeface="+mn-ea"/>
              </a:rPr>
              <a:t>测试驱动开发：</a:t>
            </a:r>
            <a:endParaRPr lang="zh-CN" altLang="en-US" dirty="0" smtClean="0">
              <a:cs typeface="+mn-ea"/>
              <a:sym typeface="+mn-ea"/>
            </a:endParaRPr>
          </a:p>
          <a:p>
            <a:r>
              <a:rPr lang="en-US" altLang="zh-CN" dirty="0" smtClean="0">
                <a:cs typeface="+mn-ea"/>
                <a:sym typeface="+mn-ea"/>
              </a:rPr>
              <a:t>    </a:t>
            </a:r>
            <a:r>
              <a:rPr lang="zh-CN" altLang="en-US" dirty="0" smtClean="0">
                <a:cs typeface="+mn-ea"/>
                <a:sym typeface="+mn-ea"/>
              </a:rPr>
              <a:t>普通数据测试：</a:t>
            </a:r>
            <a:endParaRPr lang="zh-CN" altLang="en-US" dirty="0" smtClean="0">
              <a:cs typeface="+mn-ea"/>
              <a:sym typeface="+mn-ea"/>
            </a:endParaRPr>
          </a:p>
          <a:p>
            <a:r>
              <a:rPr lang="en-US" altLang="zh-CN" dirty="0" smtClean="0">
                <a:cs typeface="+mn-ea"/>
                <a:sym typeface="+mn-ea"/>
              </a:rPr>
              <a:t>	</a:t>
            </a:r>
            <a:r>
              <a:rPr lang="zh-CN" altLang="en-US" dirty="0" smtClean="0">
                <a:cs typeface="+mn-ea"/>
                <a:sym typeface="+mn-ea"/>
              </a:rPr>
              <a:t>构思一些规模偏小，可以自己手动验证的数据</a:t>
            </a:r>
            <a:endParaRPr lang="zh-CN" altLang="en-US" dirty="0" smtClean="0">
              <a:cs typeface="+mn-ea"/>
              <a:sym typeface="+mn-ea"/>
            </a:endParaRPr>
          </a:p>
          <a:p>
            <a:r>
              <a:rPr lang="en-US" altLang="zh-CN" dirty="0" smtClean="0">
                <a:cs typeface="+mn-ea"/>
                <a:sym typeface="+mn-ea"/>
              </a:rPr>
              <a:t>	</a:t>
            </a:r>
            <a:r>
              <a:rPr lang="zh-CN" altLang="en-US" dirty="0" smtClean="0">
                <a:cs typeface="+mn-ea"/>
                <a:sym typeface="+mn-ea"/>
              </a:rPr>
              <a:t>使用随机程序构造一些简单、直白的可以用暴力程序对拍验证的小数据。</a:t>
            </a:r>
            <a:endParaRPr lang="zh-CN" altLang="en-US" dirty="0" smtClean="0">
              <a:cs typeface="+mn-ea"/>
              <a:sym typeface="+mn-ea"/>
            </a:endParaRPr>
          </a:p>
          <a:p>
            <a:r>
              <a:rPr lang="en-US" altLang="zh-CN" dirty="0" smtClean="0">
                <a:cs typeface="+mn-ea"/>
                <a:sym typeface="+mn-ea"/>
              </a:rPr>
              <a:t>	</a:t>
            </a:r>
            <a:r>
              <a:rPr lang="zh-CN" altLang="en-US" dirty="0" smtClean="0">
                <a:cs typeface="+mn-ea"/>
                <a:sym typeface="+mn-ea"/>
              </a:rPr>
              <a:t>构造符合题目给出条件、范围的中、大数据</a:t>
            </a:r>
            <a:endParaRPr lang="zh-CN" altLang="en-US" dirty="0" smtClean="0">
              <a:cs typeface="+mn-ea"/>
              <a:sym typeface="+mn-ea"/>
            </a:endParaRPr>
          </a:p>
          <a:p>
            <a:r>
              <a:rPr lang="en-US" altLang="zh-CN" dirty="0" smtClean="0">
                <a:cs typeface="+mn-ea"/>
                <a:sym typeface="+mn-ea"/>
              </a:rPr>
              <a:t>    </a:t>
            </a:r>
            <a:r>
              <a:rPr lang="zh-CN" altLang="en-US" dirty="0" smtClean="0">
                <a:cs typeface="+mn-ea"/>
                <a:sym typeface="+mn-ea"/>
              </a:rPr>
              <a:t>特殊数据测试：</a:t>
            </a:r>
            <a:endParaRPr lang="zh-CN" altLang="en-US" dirty="0" smtClean="0">
              <a:cs typeface="+mn-ea"/>
              <a:sym typeface="+mn-ea"/>
            </a:endParaRPr>
          </a:p>
          <a:p>
            <a:r>
              <a:rPr lang="en-US" altLang="zh-CN" dirty="0" smtClean="0">
                <a:cs typeface="+mn-ea"/>
                <a:sym typeface="+mn-ea"/>
              </a:rPr>
              <a:t>	</a:t>
            </a:r>
            <a:r>
              <a:rPr lang="zh-CN" altLang="en-US" dirty="0" smtClean="0">
                <a:cs typeface="+mn-ea"/>
                <a:sym typeface="+mn-ea"/>
              </a:rPr>
              <a:t>如果是模拟题，很难验证细节、条件很多的中、大数据，可以手动构造规模偏小，但包含各类细节、条件的数据。</a:t>
            </a:r>
            <a:endParaRPr lang="zh-CN" altLang="en-US" dirty="0" smtClean="0">
              <a:cs typeface="+mn-ea"/>
              <a:sym typeface="+mn-ea"/>
            </a:endParaRPr>
          </a:p>
          <a:p>
            <a:r>
              <a:rPr lang="en-US" altLang="zh-CN" dirty="0" smtClean="0">
                <a:cs typeface="+mn-ea"/>
                <a:sym typeface="+mn-ea"/>
              </a:rPr>
              <a:t>	</a:t>
            </a:r>
            <a:r>
              <a:rPr lang="zh-CN" altLang="en-US" dirty="0" smtClean="0">
                <a:cs typeface="+mn-ea"/>
                <a:sym typeface="+mn-ea"/>
              </a:rPr>
              <a:t>此类数据，一是要参照题目给出的各类约束条件、细节；二是考虑常见的边界与异常处理，包括一些诸如</a:t>
            </a:r>
            <a:r>
              <a:rPr lang="en-US" altLang="zh-CN" dirty="0" smtClean="0">
                <a:cs typeface="+mn-ea"/>
                <a:sym typeface="+mn-ea"/>
              </a:rPr>
              <a:t>0</a:t>
            </a:r>
            <a:r>
              <a:rPr lang="zh-CN" altLang="en-US" dirty="0" smtClean="0">
                <a:cs typeface="+mn-ea"/>
                <a:sym typeface="+mn-ea"/>
              </a:rPr>
              <a:t>或最大值的极端数据；三是平时做题积累遇到的具有特殊规律的数据类型，譬如在图相关问题时考虑加入链、菊花图、仙人掌图等对算法时间的影响，或是在贪心相关问题上尝试构造一些较为极端的数据来验证是否存在反例。</a:t>
            </a:r>
            <a:endParaRPr lang="zh-CN" altLang="en-US" dirty="0" smtClean="0">
              <a:cs typeface="+mn-ea"/>
              <a:sym typeface="+mn-ea"/>
            </a:endParaRPr>
          </a:p>
          <a:p>
            <a:r>
              <a:rPr lang="en-US" altLang="zh-CN" dirty="0">
                <a:cs typeface="+mn-ea"/>
              </a:rPr>
              <a:t>    </a:t>
            </a:r>
            <a:r>
              <a:rPr lang="zh-CN" altLang="en-US" dirty="0">
                <a:cs typeface="+mn-ea"/>
              </a:rPr>
              <a:t>以上所有数据，使用后要存储以重复使用。因为改过代码后，还要全部重新测试一遍。</a:t>
            </a:r>
            <a:endParaRPr lang="zh-CN" altLang="en-US" dirty="0">
              <a:cs typeface="+mn-ea"/>
            </a:endParaRPr>
          </a:p>
          <a:p>
            <a:r>
              <a:rPr lang="en-US" altLang="zh-CN" dirty="0" smtClean="0">
                <a:cs typeface="+mn-ea"/>
                <a:sym typeface="+mn-ea"/>
              </a:rPr>
              <a:t>• </a:t>
            </a:r>
            <a:r>
              <a:rPr lang="zh-CN" altLang="en-US" dirty="0">
                <a:cs typeface="+mn-ea"/>
                <a:sym typeface="+mn-ea"/>
              </a:rPr>
              <a:t>对于一些可能的常见问题，测试时主动当做是错的进行防御性编程。譬如变量</a:t>
            </a:r>
            <a:r>
              <a:rPr lang="en-US" altLang="zh-CN" dirty="0">
                <a:cs typeface="+mn-ea"/>
                <a:sym typeface="+mn-ea"/>
              </a:rPr>
              <a:t>m</a:t>
            </a:r>
            <a:r>
              <a:rPr lang="zh-CN" altLang="en-US" dirty="0">
                <a:cs typeface="+mn-ea"/>
                <a:sym typeface="+mn-ea"/>
              </a:rPr>
              <a:t>表示月份，可以在关键步骤写一个</a:t>
            </a:r>
            <a:r>
              <a:rPr lang="en-US" altLang="zh-CN" dirty="0">
                <a:cs typeface="+mn-ea"/>
                <a:sym typeface="+mn-ea"/>
              </a:rPr>
              <a:t>if (m&lt;1||m&gt;12) cout&lt;&lt;”IakIOI”;</a:t>
            </a:r>
            <a:r>
              <a:rPr lang="zh-CN" altLang="en-US" dirty="0">
                <a:cs typeface="+mn-ea"/>
                <a:sym typeface="+mn-ea"/>
              </a:rPr>
              <a:t>辅助判断。</a:t>
            </a:r>
            <a:endParaRPr lang="zh-CN" altLang="en-US" dirty="0">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511354" y="177223"/>
            <a:ext cx="64633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模拟</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9" name="矩形 28"/>
          <p:cNvSpPr/>
          <p:nvPr/>
        </p:nvSpPr>
        <p:spPr>
          <a:xfrm>
            <a:off x="1996803" y="1516536"/>
            <a:ext cx="7327818" cy="407670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近五年真题：</a:t>
            </a:r>
            <a:endParaRPr lang="en-US" altLang="zh-CN" dirty="0" smtClean="0">
              <a:cs typeface="+mn-ea"/>
            </a:endParaRPr>
          </a:p>
          <a:p>
            <a:pPr algn="just">
              <a:lnSpc>
                <a:spcPct val="120000"/>
              </a:lnSpc>
            </a:pPr>
            <a:r>
              <a:rPr lang="en-US" altLang="zh-CN" dirty="0">
                <a:solidFill>
                  <a:schemeClr val="tx1">
                    <a:lumMod val="50000"/>
                    <a:lumOff val="50000"/>
                  </a:schemeClr>
                </a:solidFill>
                <a:cs typeface="+mn-ea"/>
              </a:rPr>
              <a:t>	</a:t>
            </a:r>
            <a:r>
              <a:rPr lang="en-US" altLang="zh-CN" b="1" dirty="0" smtClean="0">
                <a:latin typeface="苏新诗古印宋简" pitchFamily="49" charset="-122"/>
                <a:ea typeface="苏新诗古印宋简" pitchFamily="49" charset="-122"/>
              </a:rPr>
              <a:t>[</a:t>
            </a:r>
            <a:r>
              <a:rPr lang="en-US" altLang="zh-CN" b="1" dirty="0">
                <a:latin typeface="苏新诗古印宋简" pitchFamily="49" charset="-122"/>
                <a:ea typeface="苏新诗古印宋简" pitchFamily="49" charset="-122"/>
              </a:rPr>
              <a:t>CSP-J 2021] </a:t>
            </a:r>
            <a:r>
              <a:rPr lang="zh-CN" altLang="en-US" b="1" dirty="0">
                <a:latin typeface="苏新诗古印宋简" pitchFamily="49" charset="-122"/>
                <a:ea typeface="苏新诗古印宋简" pitchFamily="49" charset="-122"/>
              </a:rPr>
              <a:t>网络连接</a:t>
            </a:r>
            <a:endParaRPr lang="zh-CN" altLang="en-US" b="1" dirty="0">
              <a:latin typeface="苏新诗古印宋简" pitchFamily="49" charset="-122"/>
              <a:ea typeface="苏新诗古印宋简" pitchFamily="49" charset="-122"/>
            </a:endParaRPr>
          </a:p>
          <a:p>
            <a:pPr algn="just">
              <a:lnSpc>
                <a:spcPct val="120000"/>
              </a:lnSpc>
            </a:pPr>
            <a:r>
              <a:rPr lang="en-US" altLang="zh-CN" b="1" dirty="0" smtClean="0">
                <a:latin typeface="苏新诗古印宋简" pitchFamily="49" charset="-122"/>
                <a:ea typeface="苏新诗古印宋简" pitchFamily="49" charset="-122"/>
              </a:rPr>
              <a:t>	[</a:t>
            </a:r>
            <a:r>
              <a:rPr lang="en-US" altLang="zh-CN" b="1" dirty="0">
                <a:latin typeface="苏新诗古印宋简" pitchFamily="49" charset="-122"/>
                <a:ea typeface="苏新诗古印宋简" pitchFamily="49" charset="-122"/>
              </a:rPr>
              <a:t>CSP-J 2021] </a:t>
            </a:r>
            <a:r>
              <a:rPr lang="zh-CN" altLang="en-US" b="1" dirty="0">
                <a:latin typeface="苏新诗古印宋简" pitchFamily="49" charset="-122"/>
                <a:ea typeface="苏新诗古印宋简" pitchFamily="49" charset="-122"/>
              </a:rPr>
              <a:t>小熊的果篮</a:t>
            </a:r>
            <a:endParaRPr lang="zh-CN" altLang="en-US" b="1" dirty="0">
              <a:latin typeface="苏新诗古印宋简" pitchFamily="49" charset="-122"/>
              <a:ea typeface="苏新诗古印宋简" pitchFamily="49" charset="-122"/>
            </a:endParaRPr>
          </a:p>
          <a:p>
            <a:pPr algn="just">
              <a:lnSpc>
                <a:spcPct val="120000"/>
              </a:lnSpc>
            </a:pPr>
            <a:r>
              <a:rPr lang="en-US" altLang="zh-CN" b="1" dirty="0">
                <a:latin typeface="苏新诗古印宋简" pitchFamily="49" charset="-122"/>
                <a:ea typeface="苏新诗古印宋简" pitchFamily="49" charset="-122"/>
              </a:rPr>
              <a:t>	</a:t>
            </a:r>
            <a:r>
              <a:rPr lang="zh-CN" altLang="en-US" b="1" dirty="0">
                <a:latin typeface="苏新诗古印宋简" pitchFamily="49" charset="-122"/>
                <a:ea typeface="苏新诗古印宋简" pitchFamily="49" charset="-122"/>
              </a:rPr>
              <a:t>[CSP-S 2021] 廊桥分配</a:t>
            </a:r>
            <a:endParaRPr lang="zh-CN" altLang="en-US" b="1" dirty="0">
              <a:latin typeface="苏新诗古印宋简" pitchFamily="49" charset="-122"/>
              <a:ea typeface="苏新诗古印宋简" pitchFamily="49" charset="-122"/>
            </a:endParaRPr>
          </a:p>
          <a:p>
            <a:pPr algn="just">
              <a:lnSpc>
                <a:spcPct val="120000"/>
              </a:lnSpc>
            </a:pPr>
            <a:r>
              <a:rPr lang="en-US" altLang="zh-CN" b="1" dirty="0" smtClean="0">
                <a:latin typeface="苏新诗古印宋简" pitchFamily="49" charset="-122"/>
                <a:ea typeface="苏新诗古印宋简" pitchFamily="49" charset="-122"/>
              </a:rPr>
              <a:t>	[</a:t>
            </a:r>
            <a:r>
              <a:rPr lang="en-US" altLang="zh-CN" b="1" dirty="0">
                <a:latin typeface="苏新诗古印宋简" pitchFamily="49" charset="-122"/>
                <a:ea typeface="苏新诗古印宋简" pitchFamily="49" charset="-122"/>
              </a:rPr>
              <a:t>CSP-J 2022] </a:t>
            </a:r>
            <a:r>
              <a:rPr lang="zh-CN" altLang="en-US" b="1" dirty="0">
                <a:latin typeface="苏新诗古印宋简" pitchFamily="49" charset="-122"/>
                <a:ea typeface="苏新诗古印宋简" pitchFamily="49" charset="-122"/>
              </a:rPr>
              <a:t>逻辑表达式</a:t>
            </a:r>
            <a:endParaRPr lang="zh-CN" altLang="en-US" b="1" dirty="0">
              <a:latin typeface="苏新诗古印宋简" pitchFamily="49" charset="-122"/>
              <a:ea typeface="苏新诗古印宋简" pitchFamily="49" charset="-122"/>
            </a:endParaRPr>
          </a:p>
          <a:p>
            <a:pPr algn="just">
              <a:lnSpc>
                <a:spcPct val="120000"/>
              </a:lnSpc>
            </a:pPr>
            <a:r>
              <a:rPr lang="en-US" altLang="zh-CN" b="1" dirty="0" smtClean="0">
                <a:latin typeface="苏新诗古印宋简" pitchFamily="49" charset="-122"/>
                <a:ea typeface="苏新诗古印宋简" pitchFamily="49" charset="-122"/>
              </a:rPr>
              <a:t>	</a:t>
            </a:r>
            <a:r>
              <a:rPr lang="en-US" altLang="zh-CN" b="1" dirty="0">
                <a:latin typeface="苏新诗古印宋简" pitchFamily="49" charset="-122"/>
                <a:ea typeface="苏新诗古印宋简" pitchFamily="49" charset="-122"/>
              </a:rPr>
              <a:t>[CSP-J 2023] </a:t>
            </a:r>
            <a:r>
              <a:rPr lang="zh-CN" altLang="en-US" b="1" dirty="0">
                <a:latin typeface="苏新诗古印宋简" pitchFamily="49" charset="-122"/>
                <a:ea typeface="苏新诗古印宋简" pitchFamily="49" charset="-122"/>
              </a:rPr>
              <a:t>一元二次方程</a:t>
            </a:r>
            <a:endParaRPr lang="zh-CN" altLang="en-US" b="1" dirty="0">
              <a:latin typeface="苏新诗古印宋简" pitchFamily="49" charset="-122"/>
              <a:ea typeface="苏新诗古印宋简" pitchFamily="49" charset="-122"/>
            </a:endParaRPr>
          </a:p>
          <a:p>
            <a:pPr algn="just">
              <a:lnSpc>
                <a:spcPct val="120000"/>
              </a:lnSpc>
            </a:pPr>
            <a:r>
              <a:rPr lang="zh-CN" altLang="en-US" b="1" dirty="0">
                <a:latin typeface="苏新诗古印宋简" pitchFamily="49" charset="-122"/>
                <a:ea typeface="苏新诗古印宋简" pitchFamily="49" charset="-122"/>
              </a:rPr>
              <a:t>	[CSP-S 2023] 密码锁</a:t>
            </a:r>
            <a:endParaRPr lang="zh-CN" altLang="en-US" b="1" dirty="0">
              <a:latin typeface="苏新诗古印宋简" pitchFamily="49" charset="-122"/>
              <a:ea typeface="苏新诗古印宋简" pitchFamily="49" charset="-122"/>
            </a:endParaRPr>
          </a:p>
          <a:p>
            <a:pPr algn="just">
              <a:lnSpc>
                <a:spcPct val="120000"/>
              </a:lnSpc>
            </a:pPr>
            <a:r>
              <a:rPr lang="en-US" altLang="zh-CN" b="1" dirty="0" smtClean="0">
                <a:latin typeface="苏新诗古印宋简" pitchFamily="49" charset="-122"/>
                <a:ea typeface="苏新诗古印宋简" pitchFamily="49" charset="-122"/>
              </a:rPr>
              <a:t>	[</a:t>
            </a:r>
            <a:r>
              <a:rPr lang="en-US" altLang="zh-CN" b="1" dirty="0">
                <a:latin typeface="苏新诗古印宋简" pitchFamily="49" charset="-122"/>
                <a:ea typeface="苏新诗古印宋简" pitchFamily="49" charset="-122"/>
              </a:rPr>
              <a:t>CSP-S 2023] </a:t>
            </a:r>
            <a:r>
              <a:rPr lang="zh-CN" altLang="en-US" b="1" dirty="0" smtClean="0">
                <a:latin typeface="苏新诗古印宋简" pitchFamily="49" charset="-122"/>
                <a:ea typeface="苏新诗古印宋简" pitchFamily="49" charset="-122"/>
              </a:rPr>
              <a:t>结构体</a:t>
            </a:r>
            <a:endParaRPr lang="zh-CN" altLang="en-US" b="1" dirty="0" smtClean="0">
              <a:latin typeface="苏新诗古印宋简" pitchFamily="49" charset="-122"/>
              <a:ea typeface="苏新诗古印宋简" pitchFamily="49" charset="-122"/>
            </a:endParaRPr>
          </a:p>
          <a:p>
            <a:pPr algn="just">
              <a:lnSpc>
                <a:spcPct val="120000"/>
              </a:lnSpc>
            </a:pPr>
            <a:r>
              <a:rPr lang="zh-CN" altLang="en-US" b="1" dirty="0" smtClean="0">
                <a:latin typeface="苏新诗古印宋简" pitchFamily="49" charset="-122"/>
                <a:ea typeface="苏新诗古印宋简" pitchFamily="49" charset="-122"/>
              </a:rPr>
              <a:t>	[CSP-J 2024] 扑克牌</a:t>
            </a:r>
            <a:endParaRPr lang="zh-CN" altLang="en-US" b="1" dirty="0" smtClean="0">
              <a:latin typeface="苏新诗古印宋简" pitchFamily="49" charset="-122"/>
              <a:ea typeface="苏新诗古印宋简" pitchFamily="49" charset="-122"/>
            </a:endParaRPr>
          </a:p>
          <a:p>
            <a:pPr algn="just">
              <a:lnSpc>
                <a:spcPct val="120000"/>
              </a:lnSpc>
            </a:pPr>
            <a:r>
              <a:rPr lang="zh-CN" altLang="en-US" b="1" dirty="0" smtClean="0">
                <a:latin typeface="苏新诗古印宋简" pitchFamily="49" charset="-122"/>
                <a:ea typeface="苏新诗古印宋简" pitchFamily="49" charset="-122"/>
              </a:rPr>
              <a:t>	[CSP-J 2024] 地图探险</a:t>
            </a:r>
            <a:endParaRPr lang="zh-CN" altLang="en-US" b="1" dirty="0" smtClean="0">
              <a:latin typeface="苏新诗古印宋简" pitchFamily="49" charset="-122"/>
              <a:ea typeface="苏新诗古印宋简" pitchFamily="49" charset="-122"/>
            </a:endParaRPr>
          </a:p>
          <a:p>
            <a:pPr algn="just">
              <a:lnSpc>
                <a:spcPct val="120000"/>
              </a:lnSpc>
            </a:pPr>
            <a:r>
              <a:rPr lang="zh-CN" altLang="en-US" b="1" dirty="0" smtClean="0">
                <a:latin typeface="苏新诗古印宋简" pitchFamily="49" charset="-122"/>
                <a:ea typeface="苏新诗古印宋简" pitchFamily="49" charset="-122"/>
              </a:rPr>
              <a:t>	[CSP-J 2025] 座位</a:t>
            </a:r>
            <a:endParaRPr lang="zh-CN" altLang="en-US" b="1" dirty="0" smtClean="0">
              <a:latin typeface="苏新诗古印宋简" pitchFamily="49" charset="-122"/>
              <a:ea typeface="苏新诗古印宋简" pitchFamily="49" charset="-122"/>
            </a:endParaRPr>
          </a:p>
          <a:p>
            <a:pPr algn="just">
              <a:lnSpc>
                <a:spcPct val="120000"/>
              </a:lnSpc>
            </a:pPr>
            <a:r>
              <a:rPr lang="en-US" altLang="zh-CN" b="1" dirty="0">
                <a:latin typeface="苏新诗古印宋简" pitchFamily="49" charset="-122"/>
                <a:ea typeface="苏新诗古印宋简" pitchFamily="49" charset="-122"/>
              </a:rPr>
              <a:t>	[CSP-S 2024] 超速检测</a:t>
            </a:r>
            <a:endParaRPr lang="en-US" altLang="zh-CN" b="1" dirty="0">
              <a:latin typeface="苏新诗古印宋简" pitchFamily="49" charset="-122"/>
              <a:ea typeface="苏新诗古印宋简"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049689" y="177223"/>
            <a:ext cx="156966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深度优先搜索</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5" name="矩形 14"/>
          <p:cNvSpPr/>
          <p:nvPr/>
        </p:nvSpPr>
        <p:spPr>
          <a:xfrm>
            <a:off x="1996802" y="1313914"/>
            <a:ext cx="7327819"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latin typeface="苏新诗古印宋简" pitchFamily="49" charset="-122"/>
                <a:ea typeface="苏新诗古印宋简" pitchFamily="49" charset="-122"/>
                <a:cs typeface="+mn-ea"/>
              </a:rPr>
              <a:t>深度优先搜索</a:t>
            </a:r>
            <a:r>
              <a:rPr lang="en-US" altLang="zh-CN" dirty="0" smtClean="0">
                <a:latin typeface="苏新诗古印宋简" pitchFamily="49" charset="-122"/>
                <a:ea typeface="苏新诗古印宋简" pitchFamily="49" charset="-122"/>
                <a:cs typeface="+mn-ea"/>
              </a:rPr>
              <a:t>(Deep First Search)</a:t>
            </a:r>
            <a:r>
              <a:rPr lang="zh-CN" altLang="en-US" dirty="0" smtClean="0">
                <a:latin typeface="苏新诗古印宋简" pitchFamily="49" charset="-122"/>
                <a:ea typeface="苏新诗古印宋简" pitchFamily="49" charset="-122"/>
                <a:cs typeface="+mn-ea"/>
              </a:rPr>
              <a:t>，简称</a:t>
            </a:r>
            <a:r>
              <a:rPr lang="en-US" altLang="zh-CN" dirty="0" smtClean="0">
                <a:latin typeface="苏新诗古印宋简" pitchFamily="49" charset="-122"/>
                <a:ea typeface="苏新诗古印宋简" pitchFamily="49" charset="-122"/>
                <a:cs typeface="+mn-ea"/>
              </a:rPr>
              <a:t>DFS</a:t>
            </a:r>
            <a:r>
              <a:rPr lang="zh-CN" altLang="en-US" dirty="0">
                <a:latin typeface="苏新诗古印宋简" pitchFamily="49" charset="-122"/>
                <a:ea typeface="苏新诗古印宋简" pitchFamily="49" charset="-122"/>
                <a:cs typeface="+mn-ea"/>
              </a:rPr>
              <a:t>。</a:t>
            </a:r>
            <a:endParaRPr lang="en-US" altLang="zh-CN" dirty="0" smtClean="0">
              <a:latin typeface="苏新诗古印宋简" pitchFamily="49" charset="-122"/>
              <a:ea typeface="苏新诗古印宋简" pitchFamily="49" charset="-122"/>
              <a:cs typeface="+mn-ea"/>
            </a:endParaRPr>
          </a:p>
        </p:txBody>
      </p:sp>
      <p:sp>
        <p:nvSpPr>
          <p:cNvPr id="23" name="矩形 22"/>
          <p:cNvSpPr/>
          <p:nvPr/>
        </p:nvSpPr>
        <p:spPr>
          <a:xfrm>
            <a:off x="1996803" y="1738646"/>
            <a:ext cx="7327818" cy="75713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在图论中，指的是一种用于遍历或搜索树或图的算法。所谓深度优先，就是说每次都尝试向更深的节点走。</a:t>
            </a:r>
            <a:endParaRPr lang="en-US" altLang="zh-CN" dirty="0" smtClean="0">
              <a:cs typeface="+mn-ea"/>
            </a:endParaRPr>
          </a:p>
        </p:txBody>
      </p:sp>
      <p:sp>
        <p:nvSpPr>
          <p:cNvPr id="11" name="矩形 10"/>
          <p:cNvSpPr/>
          <p:nvPr/>
        </p:nvSpPr>
        <p:spPr>
          <a:xfrm>
            <a:off x="1996802" y="2602784"/>
            <a:ext cx="7327818" cy="75713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a:cs typeface="+mn-ea"/>
              </a:rPr>
              <a:t>其</a:t>
            </a:r>
            <a:r>
              <a:rPr lang="zh-CN" altLang="en-US" dirty="0" smtClean="0">
                <a:cs typeface="+mn-ea"/>
              </a:rPr>
              <a:t>过程简要来说是对每一个可能得分支路径深入到不能再深入为止，且每个节点只能访问一次。</a:t>
            </a:r>
            <a:endParaRPr lang="en-US" altLang="zh-CN" dirty="0" smtClean="0">
              <a:cs typeface="+mn-ea"/>
            </a:endParaRP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4414" y="3461161"/>
            <a:ext cx="2571044" cy="2571044"/>
          </a:xfrm>
          <a:prstGeom prst="rect">
            <a:avLst/>
          </a:prstGeom>
        </p:spPr>
      </p:pic>
      <p:sp>
        <p:nvSpPr>
          <p:cNvPr id="13" name="矩形 12"/>
          <p:cNvSpPr/>
          <p:nvPr/>
        </p:nvSpPr>
        <p:spPr>
          <a:xfrm>
            <a:off x="3785527" y="3461161"/>
            <a:ext cx="7327818" cy="72853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设</a:t>
            </a:r>
            <a:r>
              <a:rPr lang="en-US" altLang="zh-CN" dirty="0" smtClean="0">
                <a:cs typeface="+mn-ea"/>
              </a:rPr>
              <a:t>1</a:t>
            </a:r>
            <a:r>
              <a:rPr lang="zh-CN" altLang="en-US" dirty="0" smtClean="0">
                <a:cs typeface="+mn-ea"/>
              </a:rPr>
              <a:t>为这棵树的根</a:t>
            </a:r>
            <a:endParaRPr lang="en-US" altLang="zh-CN" dirty="0" smtClean="0">
              <a:cs typeface="+mn-ea"/>
            </a:endParaRPr>
          </a:p>
          <a:p>
            <a:pPr algn="just">
              <a:lnSpc>
                <a:spcPct val="120000"/>
              </a:lnSpc>
            </a:pPr>
            <a:r>
              <a:rPr lang="zh-CN" altLang="en-US" dirty="0" smtClean="0">
                <a:cs typeface="+mn-ea"/>
              </a:rPr>
              <a:t>则</a:t>
            </a:r>
            <a:r>
              <a:rPr lang="en-US" altLang="zh-CN" dirty="0" smtClean="0">
                <a:cs typeface="+mn-ea"/>
              </a:rPr>
              <a:t>DFS</a:t>
            </a:r>
            <a:r>
              <a:rPr lang="zh-CN" altLang="en-US" dirty="0" smtClean="0">
                <a:cs typeface="+mn-ea"/>
              </a:rPr>
              <a:t>序为：</a:t>
            </a:r>
            <a:r>
              <a:rPr lang="en-US" altLang="zh-CN" dirty="0" smtClean="0">
                <a:cs typeface="+mn-ea"/>
              </a:rPr>
              <a:t>1</a:t>
            </a:r>
            <a:r>
              <a:rPr lang="zh-CN" altLang="en-US" dirty="0" smtClean="0">
                <a:cs typeface="+mn-ea"/>
              </a:rPr>
              <a:t>、</a:t>
            </a:r>
            <a:r>
              <a:rPr lang="en-US" altLang="zh-CN" dirty="0" smtClean="0">
                <a:cs typeface="+mn-ea"/>
              </a:rPr>
              <a:t>2</a:t>
            </a:r>
            <a:r>
              <a:rPr lang="zh-CN" altLang="en-US" dirty="0" smtClean="0">
                <a:cs typeface="+mn-ea"/>
              </a:rPr>
              <a:t>、</a:t>
            </a:r>
            <a:r>
              <a:rPr lang="en-US" altLang="zh-CN" dirty="0" smtClean="0">
                <a:cs typeface="+mn-ea"/>
              </a:rPr>
              <a:t>3</a:t>
            </a:r>
            <a:r>
              <a:rPr lang="zh-CN" altLang="en-US" dirty="0" smtClean="0">
                <a:cs typeface="+mn-ea"/>
              </a:rPr>
              <a:t>、</a:t>
            </a:r>
            <a:r>
              <a:rPr lang="en-US" altLang="zh-CN" dirty="0" smtClean="0">
                <a:cs typeface="+mn-ea"/>
              </a:rPr>
              <a:t>4</a:t>
            </a:r>
            <a:r>
              <a:rPr lang="zh-CN" altLang="en-US" dirty="0" smtClean="0">
                <a:cs typeface="+mn-ea"/>
              </a:rPr>
              <a:t>、</a:t>
            </a:r>
            <a:r>
              <a:rPr lang="en-US" altLang="zh-CN" dirty="0" smtClean="0">
                <a:cs typeface="+mn-ea"/>
              </a:rPr>
              <a:t>4</a:t>
            </a:r>
            <a:r>
              <a:rPr lang="zh-CN" altLang="en-US" dirty="0" smtClean="0">
                <a:cs typeface="+mn-ea"/>
              </a:rPr>
              <a:t>、</a:t>
            </a:r>
            <a:r>
              <a:rPr lang="en-US" altLang="zh-CN" dirty="0" smtClean="0">
                <a:cs typeface="+mn-ea"/>
              </a:rPr>
              <a:t>6</a:t>
            </a:r>
            <a:r>
              <a:rPr lang="zh-CN" altLang="en-US" dirty="0" smtClean="0">
                <a:cs typeface="+mn-ea"/>
              </a:rPr>
              <a:t>、</a:t>
            </a:r>
            <a:r>
              <a:rPr lang="en-US" altLang="zh-CN" dirty="0" smtClean="0">
                <a:cs typeface="+mn-ea"/>
              </a:rPr>
              <a:t>6</a:t>
            </a:r>
            <a:r>
              <a:rPr lang="zh-CN" altLang="en-US" dirty="0" smtClean="0">
                <a:cs typeface="+mn-ea"/>
              </a:rPr>
              <a:t>、</a:t>
            </a:r>
            <a:r>
              <a:rPr lang="en-US" altLang="zh-CN" dirty="0" smtClean="0">
                <a:cs typeface="+mn-ea"/>
              </a:rPr>
              <a:t>3</a:t>
            </a:r>
            <a:r>
              <a:rPr lang="zh-CN" altLang="en-US" dirty="0" smtClean="0">
                <a:cs typeface="+mn-ea"/>
              </a:rPr>
              <a:t>、</a:t>
            </a:r>
            <a:r>
              <a:rPr lang="en-US" altLang="zh-CN" dirty="0" smtClean="0">
                <a:cs typeface="+mn-ea"/>
              </a:rPr>
              <a:t>2</a:t>
            </a:r>
            <a:r>
              <a:rPr lang="zh-CN" altLang="en-US" dirty="0" smtClean="0">
                <a:cs typeface="+mn-ea"/>
              </a:rPr>
              <a:t>、</a:t>
            </a:r>
            <a:r>
              <a:rPr lang="en-US" altLang="zh-CN" dirty="0" smtClean="0">
                <a:cs typeface="+mn-ea"/>
              </a:rPr>
              <a:t>5</a:t>
            </a:r>
            <a:r>
              <a:rPr lang="zh-CN" altLang="en-US" dirty="0" smtClean="0">
                <a:cs typeface="+mn-ea"/>
              </a:rPr>
              <a:t>、</a:t>
            </a:r>
            <a:r>
              <a:rPr lang="en-US" altLang="zh-CN" dirty="0" smtClean="0">
                <a:cs typeface="+mn-ea"/>
              </a:rPr>
              <a:t>5</a:t>
            </a:r>
            <a:r>
              <a:rPr lang="zh-CN" altLang="en-US" dirty="0" smtClean="0">
                <a:cs typeface="+mn-ea"/>
              </a:rPr>
              <a:t>、</a:t>
            </a:r>
            <a:r>
              <a:rPr lang="en-US" altLang="zh-CN" dirty="0" smtClean="0">
                <a:cs typeface="+mn-ea"/>
              </a:rPr>
              <a:t>1</a:t>
            </a:r>
            <a:endParaRPr lang="en-US" altLang="zh-CN" dirty="0" smtClean="0">
              <a:cs typeface="+mn-ea"/>
            </a:endParaRPr>
          </a:p>
        </p:txBody>
      </p:sp>
      <p:sp>
        <p:nvSpPr>
          <p:cNvPr id="14" name="矩形 13"/>
          <p:cNvSpPr/>
          <p:nvPr/>
        </p:nvSpPr>
        <p:spPr>
          <a:xfrm>
            <a:off x="3785527" y="4506876"/>
            <a:ext cx="7327818" cy="75713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深度优先：选定一个节点，一直向深处遍历，直到无路可走才回溯上来寻找另外的路</a:t>
            </a:r>
            <a:endParaRPr lang="en-US" altLang="zh-CN" dirty="0" smtClean="0">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1" grpId="0"/>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049689" y="177223"/>
            <a:ext cx="156966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深度优先搜索</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5" name="矩形 14"/>
          <p:cNvSpPr/>
          <p:nvPr/>
        </p:nvSpPr>
        <p:spPr>
          <a:xfrm>
            <a:off x="1996802" y="1313914"/>
            <a:ext cx="7327819"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latin typeface="苏新诗古印宋简" pitchFamily="49" charset="-122"/>
                <a:ea typeface="苏新诗古印宋简" pitchFamily="49" charset="-122"/>
                <a:cs typeface="+mn-ea"/>
              </a:rPr>
              <a:t>深度优先搜索</a:t>
            </a:r>
            <a:r>
              <a:rPr lang="en-US" altLang="zh-CN" dirty="0" smtClean="0">
                <a:latin typeface="苏新诗古印宋简" pitchFamily="49" charset="-122"/>
                <a:ea typeface="苏新诗古印宋简" pitchFamily="49" charset="-122"/>
                <a:cs typeface="+mn-ea"/>
              </a:rPr>
              <a:t>(Deep First Search)</a:t>
            </a:r>
            <a:r>
              <a:rPr lang="zh-CN" altLang="en-US" dirty="0" smtClean="0">
                <a:latin typeface="苏新诗古印宋简" pitchFamily="49" charset="-122"/>
                <a:ea typeface="苏新诗古印宋简" pitchFamily="49" charset="-122"/>
                <a:cs typeface="+mn-ea"/>
              </a:rPr>
              <a:t>，简称</a:t>
            </a:r>
            <a:r>
              <a:rPr lang="en-US" altLang="zh-CN" dirty="0" smtClean="0">
                <a:latin typeface="苏新诗古印宋简" pitchFamily="49" charset="-122"/>
                <a:ea typeface="苏新诗古印宋简" pitchFamily="49" charset="-122"/>
                <a:cs typeface="+mn-ea"/>
              </a:rPr>
              <a:t>DFS</a:t>
            </a:r>
            <a:r>
              <a:rPr lang="zh-CN" altLang="en-US" dirty="0">
                <a:latin typeface="苏新诗古印宋简" pitchFamily="49" charset="-122"/>
                <a:ea typeface="苏新诗古印宋简" pitchFamily="49" charset="-122"/>
                <a:cs typeface="+mn-ea"/>
              </a:rPr>
              <a:t>。</a:t>
            </a:r>
            <a:endParaRPr lang="en-US" altLang="zh-CN" dirty="0" smtClean="0">
              <a:latin typeface="苏新诗古印宋简" pitchFamily="49" charset="-122"/>
              <a:ea typeface="苏新诗古印宋简" pitchFamily="49" charset="-122"/>
              <a:cs typeface="+mn-ea"/>
            </a:endParaRPr>
          </a:p>
        </p:txBody>
      </p:sp>
      <p:sp>
        <p:nvSpPr>
          <p:cNvPr id="23" name="矩形 22"/>
          <p:cNvSpPr/>
          <p:nvPr/>
        </p:nvSpPr>
        <p:spPr>
          <a:xfrm>
            <a:off x="1996803" y="1738646"/>
            <a:ext cx="7327818" cy="108775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sym typeface="+mn-ea"/>
              </a:rPr>
              <a:t>在搜索中，指的是利用递归函数方便地实现暴力枚举的算法，如果将“问题状态”视作点，将“状态之间的联系”视作边，那么用</a:t>
            </a:r>
            <a:r>
              <a:rPr lang="en-US" altLang="zh-CN" dirty="0" smtClean="0">
                <a:cs typeface="+mn-ea"/>
                <a:sym typeface="+mn-ea"/>
              </a:rPr>
              <a:t>DFS</a:t>
            </a:r>
            <a:r>
              <a:rPr lang="zh-CN" altLang="en-US" dirty="0" smtClean="0">
                <a:cs typeface="+mn-ea"/>
                <a:sym typeface="+mn-ea"/>
              </a:rPr>
              <a:t>求解问题，也可以看作深度优先遍历一遍图。</a:t>
            </a:r>
            <a:endParaRPr lang="en-US" altLang="zh-CN" dirty="0" smtClean="0">
              <a:cs typeface="+mn-ea"/>
            </a:endParaRPr>
          </a:p>
        </p:txBody>
      </p:sp>
      <p:sp>
        <p:nvSpPr>
          <p:cNvPr id="16" name="矩形 15"/>
          <p:cNvSpPr/>
          <p:nvPr/>
        </p:nvSpPr>
        <p:spPr>
          <a:xfrm>
            <a:off x="1996522" y="3050425"/>
            <a:ext cx="7327818" cy="757130"/>
          </a:xfrm>
          <a:prstGeom prst="rect">
            <a:avLst/>
          </a:prstGeom>
        </p:spPr>
        <p:txBody>
          <a:bodyPr wrap="square">
            <a:spAutoFit/>
            <a:scene3d>
              <a:camera prst="orthographicFront"/>
              <a:lightRig rig="threePt" dir="t"/>
            </a:scene3d>
            <a:sp3d contourW="12700"/>
          </a:bodyPr>
          <a:p>
            <a:pPr algn="just">
              <a:lnSpc>
                <a:spcPct val="120000"/>
              </a:lnSpc>
            </a:pPr>
            <a:r>
              <a:rPr lang="zh-CN" altLang="en-US" dirty="0" smtClean="0">
                <a:latin typeface="苏新诗古印宋简" pitchFamily="49" charset="-122"/>
                <a:ea typeface="苏新诗古印宋简" pitchFamily="49" charset="-122"/>
                <a:cs typeface="+mn-ea"/>
              </a:rPr>
              <a:t>回溯法基本思想：从一条路往前走，同时记录当前状态，能进则进；不能进则退回来，同时退出记录的状态；换一条路再试。</a:t>
            </a:r>
            <a:endParaRPr lang="en-US" altLang="zh-CN" dirty="0" smtClean="0">
              <a:latin typeface="苏新诗古印宋简" pitchFamily="49" charset="-122"/>
              <a:ea typeface="苏新诗古印宋简" pitchFamily="49" charset="-122"/>
              <a:cs typeface="+mn-ea"/>
            </a:endParaRPr>
          </a:p>
        </p:txBody>
      </p:sp>
      <p:sp>
        <p:nvSpPr>
          <p:cNvPr id="17" name="矩形 16"/>
          <p:cNvSpPr/>
          <p:nvPr/>
        </p:nvSpPr>
        <p:spPr>
          <a:xfrm>
            <a:off x="1996440" y="3807460"/>
            <a:ext cx="2918460" cy="2030095"/>
          </a:xfrm>
          <a:prstGeom prst="rect">
            <a:avLst/>
          </a:prstGeom>
        </p:spPr>
        <p:txBody>
          <a:bodyPr wrap="square">
            <a:spAutoFit/>
            <a:scene3d>
              <a:camera prst="orthographicFront"/>
              <a:lightRig rig="threePt" dir="t"/>
            </a:scene3d>
            <a:sp3d contourW="12700"/>
          </a:bodyPr>
          <a:p>
            <a:r>
              <a:rPr lang="en-US" altLang="zh-CN" sz="1400" dirty="0" smtClean="0"/>
              <a:t>   </a:t>
            </a:r>
            <a:r>
              <a:rPr lang="en-US" altLang="zh-CN" sz="1400" dirty="0" err="1" smtClean="0"/>
              <a:t>dfs</a:t>
            </a:r>
            <a:r>
              <a:rPr lang="en-US" altLang="zh-CN" sz="1400" dirty="0" smtClean="0"/>
              <a:t> </a:t>
            </a:r>
            <a:r>
              <a:rPr lang="zh-CN" altLang="en-US" sz="1400" dirty="0" smtClean="0"/>
              <a:t>当前状态</a:t>
            </a:r>
            <a:r>
              <a:rPr lang="en-US" altLang="zh-CN" sz="1400" dirty="0" smtClean="0"/>
              <a:t>/</a:t>
            </a:r>
            <a:r>
              <a:rPr lang="zh-CN" altLang="en-US" sz="1400" dirty="0" smtClean="0"/>
              <a:t>层数</a:t>
            </a:r>
            <a:endParaRPr lang="en-US" altLang="zh-CN" sz="1400" dirty="0"/>
          </a:p>
          <a:p>
            <a:r>
              <a:rPr lang="en-US" altLang="zh-CN" sz="1400" dirty="0" smtClean="0"/>
              <a:t> </a:t>
            </a:r>
            <a:r>
              <a:rPr lang="en-US" altLang="zh-CN" sz="1400" dirty="0" smtClean="0"/>
              <a:t>       if   </a:t>
            </a:r>
            <a:r>
              <a:rPr lang="zh-CN" altLang="en-US" sz="1400" dirty="0" smtClean="0"/>
              <a:t>到达问题边界：</a:t>
            </a:r>
            <a:endParaRPr lang="en-US" altLang="zh-CN" sz="1400" dirty="0" smtClean="0"/>
          </a:p>
          <a:p>
            <a:r>
              <a:rPr lang="en-US" altLang="zh-CN" sz="1400" dirty="0"/>
              <a:t>	</a:t>
            </a:r>
            <a:r>
              <a:rPr lang="zh-CN" altLang="en-US" sz="1400" dirty="0" smtClean="0"/>
              <a:t>统计答案</a:t>
            </a:r>
            <a:endParaRPr lang="en-US" altLang="zh-CN" sz="1400" dirty="0" smtClean="0"/>
          </a:p>
          <a:p>
            <a:r>
              <a:rPr lang="en-US" altLang="zh-CN" sz="1400" dirty="0"/>
              <a:t>	</a:t>
            </a:r>
            <a:r>
              <a:rPr lang="en-US" altLang="zh-CN" sz="1400" dirty="0" smtClean="0"/>
              <a:t>return</a:t>
            </a:r>
            <a:endParaRPr lang="en-US" altLang="zh-CN" sz="1400" dirty="0" smtClean="0"/>
          </a:p>
          <a:p>
            <a:r>
              <a:rPr lang="en-US" altLang="zh-CN" sz="1400" dirty="0"/>
              <a:t> </a:t>
            </a:r>
            <a:r>
              <a:rPr lang="en-US" altLang="zh-CN" sz="1400" dirty="0" smtClean="0"/>
              <a:t>       for </a:t>
            </a:r>
            <a:r>
              <a:rPr lang="zh-CN" altLang="en-US" sz="1400" dirty="0" smtClean="0"/>
              <a:t>遍历所有可能性：</a:t>
            </a:r>
            <a:endParaRPr lang="en-US" altLang="zh-CN" sz="1400" dirty="0" smtClean="0"/>
          </a:p>
          <a:p>
            <a:r>
              <a:rPr lang="en-US" altLang="zh-CN" sz="1400" dirty="0"/>
              <a:t>	</a:t>
            </a:r>
            <a:r>
              <a:rPr lang="en-US" altLang="zh-CN" sz="1400" dirty="0" smtClean="0"/>
              <a:t>if   </a:t>
            </a:r>
            <a:r>
              <a:rPr lang="zh-CN" altLang="en-US" sz="1400" dirty="0" smtClean="0"/>
              <a:t>可行：</a:t>
            </a:r>
            <a:endParaRPr lang="en-US" altLang="zh-CN" sz="1400" dirty="0" smtClean="0"/>
          </a:p>
          <a:p>
            <a:r>
              <a:rPr lang="en-US" altLang="zh-CN" sz="1400" dirty="0"/>
              <a:t>	 </a:t>
            </a:r>
            <a:r>
              <a:rPr lang="en-US" altLang="zh-CN" sz="1400" dirty="0" smtClean="0"/>
              <a:t>   </a:t>
            </a:r>
            <a:r>
              <a:rPr lang="zh-CN" altLang="en-US" sz="1400" dirty="0" smtClean="0"/>
              <a:t>进行操作</a:t>
            </a:r>
            <a:endParaRPr lang="en-US" altLang="zh-CN" sz="1400" dirty="0" smtClean="0"/>
          </a:p>
          <a:p>
            <a:r>
              <a:rPr lang="en-US" altLang="zh-CN" sz="1400" dirty="0"/>
              <a:t>	 </a:t>
            </a:r>
            <a:r>
              <a:rPr lang="en-US" altLang="zh-CN" sz="1400" dirty="0" smtClean="0"/>
              <a:t>   </a:t>
            </a:r>
            <a:r>
              <a:rPr lang="en-US" altLang="zh-CN" sz="1400" dirty="0" err="1" smtClean="0"/>
              <a:t>dfs</a:t>
            </a:r>
            <a:r>
              <a:rPr lang="en-US" altLang="zh-CN" sz="1400" dirty="0" smtClean="0"/>
              <a:t>(</a:t>
            </a:r>
            <a:r>
              <a:rPr lang="zh-CN" altLang="en-US" sz="1400" dirty="0"/>
              <a:t>下</a:t>
            </a:r>
            <a:r>
              <a:rPr lang="zh-CN" altLang="en-US" sz="1400" dirty="0" smtClean="0"/>
              <a:t>个状态</a:t>
            </a:r>
            <a:r>
              <a:rPr lang="en-US" altLang="zh-CN" sz="1400" dirty="0" smtClean="0"/>
              <a:t>)</a:t>
            </a:r>
            <a:endParaRPr lang="en-US" altLang="zh-CN" sz="1400" dirty="0" smtClean="0"/>
          </a:p>
          <a:p>
            <a:r>
              <a:rPr lang="en-US" altLang="zh-CN" sz="1400" dirty="0"/>
              <a:t>	</a:t>
            </a:r>
            <a:r>
              <a:rPr lang="en-US" altLang="zh-CN" sz="1400" dirty="0" smtClean="0"/>
              <a:t>    </a:t>
            </a:r>
            <a:r>
              <a:rPr lang="zh-CN" altLang="en-US" sz="1400" dirty="0" smtClean="0"/>
              <a:t>撤回操作</a:t>
            </a:r>
            <a:endParaRPr lang="en-US" altLang="zh-CN" sz="1400" dirty="0" smtClean="0"/>
          </a:p>
        </p:txBody>
      </p:sp>
      <p:sp>
        <p:nvSpPr>
          <p:cNvPr id="18" name="矩形 17"/>
          <p:cNvSpPr/>
          <p:nvPr/>
        </p:nvSpPr>
        <p:spPr>
          <a:xfrm>
            <a:off x="5671185" y="3807460"/>
            <a:ext cx="4013200" cy="1751965"/>
          </a:xfrm>
          <a:prstGeom prst="rect">
            <a:avLst/>
          </a:prstGeom>
        </p:spPr>
        <p:txBody>
          <a:bodyPr wrap="square">
            <a:spAutoFit/>
            <a:scene3d>
              <a:camera prst="orthographicFront"/>
              <a:lightRig rig="threePt" dir="t"/>
            </a:scene3d>
            <a:sp3d contourW="12700"/>
          </a:bodyPr>
          <a:p>
            <a:pPr algn="just">
              <a:lnSpc>
                <a:spcPct val="120000"/>
              </a:lnSpc>
            </a:pPr>
            <a:r>
              <a:rPr lang="zh-CN" altLang="en-US" dirty="0" smtClean="0">
                <a:cs typeface="+mn-ea"/>
              </a:rPr>
              <a:t>如果到达递归边界，更新答案，返回；</a:t>
            </a:r>
            <a:endParaRPr lang="zh-CN" altLang="en-US" dirty="0" smtClean="0">
              <a:cs typeface="+mn-ea"/>
            </a:endParaRPr>
          </a:p>
          <a:p>
            <a:pPr algn="just">
              <a:lnSpc>
                <a:spcPct val="120000"/>
              </a:lnSpc>
            </a:pPr>
            <a:endParaRPr lang="en-US" altLang="zh-CN" dirty="0" smtClean="0">
              <a:cs typeface="+mn-ea"/>
            </a:endParaRPr>
          </a:p>
          <a:p>
            <a:pPr algn="just">
              <a:lnSpc>
                <a:spcPct val="120000"/>
              </a:lnSpc>
            </a:pPr>
            <a:r>
              <a:rPr lang="zh-CN" altLang="en-US" dirty="0" smtClean="0">
                <a:cs typeface="+mn-ea"/>
              </a:rPr>
              <a:t>否则遍历当前状态可到达的状态，逐个递归搜索这些状态，某个递归状态返回后进行回溯</a:t>
            </a:r>
            <a:endParaRPr lang="en-US" altLang="zh-CN" dirty="0" smtClean="0">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6" grpId="0"/>
      <p:bldP spid="1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395936" y="177223"/>
            <a:ext cx="877163"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解答树</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788" y="1053897"/>
            <a:ext cx="5337881" cy="5105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矩形 13"/>
          <p:cNvSpPr/>
          <p:nvPr/>
        </p:nvSpPr>
        <p:spPr>
          <a:xfrm>
            <a:off x="5957551" y="1528030"/>
            <a:ext cx="5315548" cy="440880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状态和状态转移：状态</a:t>
            </a:r>
            <a:r>
              <a:rPr lang="en-US" altLang="zh-CN" dirty="0" smtClean="0">
                <a:cs typeface="+mn-ea"/>
              </a:rPr>
              <a:t>(state)</a:t>
            </a:r>
            <a:r>
              <a:rPr lang="zh-CN" altLang="en-US" dirty="0" smtClean="0">
                <a:cs typeface="+mn-ea"/>
              </a:rPr>
              <a:t>是对一个问题在某一个时候进展情况的数学描述。状态转移</a:t>
            </a:r>
            <a:r>
              <a:rPr lang="en-US" altLang="zh-CN" dirty="0" smtClean="0">
                <a:cs typeface="+mn-ea"/>
              </a:rPr>
              <a:t>(state-</a:t>
            </a:r>
            <a:r>
              <a:rPr lang="en-US" altLang="zh-CN" dirty="0" err="1" smtClean="0">
                <a:cs typeface="+mn-ea"/>
              </a:rPr>
              <a:t>transiton</a:t>
            </a:r>
            <a:r>
              <a:rPr lang="en-US" altLang="zh-CN" dirty="0" smtClean="0">
                <a:cs typeface="+mn-ea"/>
              </a:rPr>
              <a:t>)</a:t>
            </a:r>
            <a:r>
              <a:rPr lang="zh-CN" altLang="en-US" dirty="0" smtClean="0">
                <a:cs typeface="+mn-ea"/>
              </a:rPr>
              <a:t>就是问题从一种状态到另一种</a:t>
            </a:r>
            <a:r>
              <a:rPr lang="en-US" altLang="zh-CN" dirty="0" smtClean="0">
                <a:cs typeface="+mn-ea"/>
              </a:rPr>
              <a:t>(</a:t>
            </a:r>
            <a:r>
              <a:rPr lang="zh-CN" altLang="en-US" dirty="0" smtClean="0">
                <a:cs typeface="+mn-ea"/>
              </a:rPr>
              <a:t>或几种</a:t>
            </a:r>
            <a:r>
              <a:rPr lang="en-US" altLang="zh-CN" dirty="0" smtClean="0">
                <a:cs typeface="+mn-ea"/>
              </a:rPr>
              <a:t>)</a:t>
            </a:r>
            <a:r>
              <a:rPr lang="zh-CN" altLang="en-US" dirty="0" smtClean="0">
                <a:cs typeface="+mn-ea"/>
              </a:rPr>
              <a:t>状态的操作。</a:t>
            </a:r>
            <a:endParaRPr lang="zh-CN" altLang="en-US" dirty="0" smtClean="0">
              <a:cs typeface="+mn-ea"/>
            </a:endParaRPr>
          </a:p>
          <a:p>
            <a:pPr algn="just">
              <a:lnSpc>
                <a:spcPct val="120000"/>
              </a:lnSpc>
            </a:pPr>
            <a:endParaRPr lang="en-US" altLang="zh-CN" dirty="0" smtClean="0">
              <a:cs typeface="+mn-ea"/>
            </a:endParaRPr>
          </a:p>
          <a:p>
            <a:pPr algn="just">
              <a:lnSpc>
                <a:spcPct val="120000"/>
              </a:lnSpc>
            </a:pPr>
            <a:r>
              <a:rPr lang="zh-CN" altLang="en-US" dirty="0" smtClean="0">
                <a:cs typeface="+mn-ea"/>
              </a:rPr>
              <a:t>状态空间：搜索的过程其实是在遍历一个隐式图或树，它的节点是所有的状态，有向边对应状态转移</a:t>
            </a:r>
            <a:endParaRPr lang="en-US" altLang="zh-CN" dirty="0" smtClean="0">
              <a:cs typeface="+mn-ea"/>
            </a:endParaRPr>
          </a:p>
          <a:p>
            <a:pPr algn="just">
              <a:lnSpc>
                <a:spcPct val="120000"/>
              </a:lnSpc>
            </a:pPr>
            <a:endParaRPr lang="en-US" altLang="zh-CN" dirty="0">
              <a:cs typeface="+mn-ea"/>
            </a:endParaRPr>
          </a:p>
          <a:p>
            <a:pPr algn="just">
              <a:lnSpc>
                <a:spcPct val="120000"/>
              </a:lnSpc>
            </a:pPr>
            <a:r>
              <a:rPr lang="zh-CN" altLang="en-US" dirty="0" smtClean="0">
                <a:cs typeface="+mn-ea"/>
              </a:rPr>
              <a:t>解答树：对状态空间的遍历结果叫解答树，是这个隐式图的一棵生成树</a:t>
            </a:r>
            <a:r>
              <a:rPr lang="zh-CN" altLang="en-US" dirty="0" smtClean="0">
                <a:cs typeface="+mn-ea"/>
              </a:rPr>
              <a:t>，由搜索产生</a:t>
            </a:r>
            <a:endParaRPr lang="zh-CN" altLang="en-US" dirty="0" smtClean="0">
              <a:cs typeface="+mn-ea"/>
            </a:endParaRPr>
          </a:p>
          <a:p>
            <a:pPr algn="just">
              <a:lnSpc>
                <a:spcPct val="120000"/>
              </a:lnSpc>
            </a:pPr>
            <a:endParaRPr lang="en-US" altLang="zh-CN" dirty="0" smtClean="0">
              <a:cs typeface="+mn-ea"/>
            </a:endParaRPr>
          </a:p>
          <a:p>
            <a:pPr algn="just">
              <a:lnSpc>
                <a:spcPct val="120000"/>
              </a:lnSpc>
            </a:pPr>
            <a:r>
              <a:rPr lang="zh-CN" altLang="en-US" dirty="0">
                <a:cs typeface="+mn-ea"/>
              </a:rPr>
              <a:t>解答</a:t>
            </a:r>
            <a:r>
              <a:rPr lang="zh-CN" altLang="en-US" dirty="0" smtClean="0">
                <a:cs typeface="+mn-ea"/>
              </a:rPr>
              <a:t>树描述了搜索的过程，常用于搜索算法的分析和优化</a:t>
            </a:r>
            <a:endParaRPr lang="en-US" altLang="zh-CN" dirty="0">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165103" y="177223"/>
            <a:ext cx="1338829"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指数型枚举</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4" name="矩形 13"/>
          <p:cNvSpPr/>
          <p:nvPr/>
        </p:nvSpPr>
        <p:spPr>
          <a:xfrm>
            <a:off x="5957551" y="1528030"/>
            <a:ext cx="5315548" cy="108775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latin typeface="苏新诗古印宋简" pitchFamily="49" charset="-122"/>
                <a:ea typeface="苏新诗古印宋简" pitchFamily="49" charset="-122"/>
                <a:cs typeface="+mn-ea"/>
              </a:rPr>
              <a:t>例：指数型枚举</a:t>
            </a:r>
            <a:endParaRPr lang="zh-CN" altLang="en-US" dirty="0" smtClean="0">
              <a:latin typeface="苏新诗古印宋简" pitchFamily="49" charset="-122"/>
              <a:ea typeface="苏新诗古印宋简" pitchFamily="49" charset="-122"/>
              <a:cs typeface="+mn-ea"/>
            </a:endParaRPr>
          </a:p>
          <a:p>
            <a:pPr algn="just">
              <a:lnSpc>
                <a:spcPct val="120000"/>
              </a:lnSpc>
            </a:pPr>
            <a:r>
              <a:rPr lang="zh-CN" altLang="en-US" dirty="0" smtClean="0">
                <a:latin typeface="苏新诗古印宋简" pitchFamily="49" charset="-122"/>
                <a:ea typeface="苏新诗古印宋简" pitchFamily="49" charset="-122"/>
                <a:cs typeface="+mn-ea"/>
              </a:rPr>
              <a:t>从</a:t>
            </a:r>
            <a:r>
              <a:rPr lang="en-US" altLang="zh-CN" dirty="0" smtClean="0">
                <a:latin typeface="苏新诗古印宋简" pitchFamily="49" charset="-122"/>
                <a:ea typeface="苏新诗古印宋简" pitchFamily="49" charset="-122"/>
                <a:cs typeface="+mn-ea"/>
              </a:rPr>
              <a:t>1..n</a:t>
            </a:r>
            <a:r>
              <a:rPr lang="zh-CN" altLang="en-US" dirty="0" smtClean="0">
                <a:latin typeface="苏新诗古印宋简" pitchFamily="49" charset="-122"/>
                <a:ea typeface="苏新诗古印宋简" pitchFamily="49" charset="-122"/>
                <a:cs typeface="+mn-ea"/>
              </a:rPr>
              <a:t>这</a:t>
            </a:r>
            <a:r>
              <a:rPr lang="en-US" altLang="zh-CN" dirty="0" smtClean="0">
                <a:latin typeface="苏新诗古印宋简" pitchFamily="49" charset="-122"/>
                <a:ea typeface="苏新诗古印宋简" pitchFamily="49" charset="-122"/>
                <a:cs typeface="+mn-ea"/>
              </a:rPr>
              <a:t>n(n&lt;20)</a:t>
            </a:r>
            <a:r>
              <a:rPr lang="zh-CN" altLang="en-US" dirty="0" smtClean="0">
                <a:latin typeface="苏新诗古印宋简" pitchFamily="49" charset="-122"/>
                <a:ea typeface="苏新诗古印宋简" pitchFamily="49" charset="-122"/>
                <a:cs typeface="+mn-ea"/>
              </a:rPr>
              <a:t>个整数中随机选取任意多个，输出所有可能的方案。</a:t>
            </a:r>
            <a:endParaRPr lang="en-US" altLang="zh-CN" dirty="0" smtClean="0">
              <a:latin typeface="苏新诗古印宋简" pitchFamily="49" charset="-122"/>
              <a:ea typeface="苏新诗古印宋简" pitchFamily="49" charset="-122"/>
              <a:cs typeface="+mn-ea"/>
            </a:endParaRPr>
          </a:p>
        </p:txBody>
      </p:sp>
      <p:sp>
        <p:nvSpPr>
          <p:cNvPr id="11" name="矩形 10"/>
          <p:cNvSpPr/>
          <p:nvPr/>
        </p:nvSpPr>
        <p:spPr>
          <a:xfrm>
            <a:off x="5957551" y="3242167"/>
            <a:ext cx="5315548" cy="1089529"/>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这等价于每个整数可以选或不选，方案数有</a:t>
            </a:r>
            <a:r>
              <a:rPr lang="en-US" altLang="zh-CN" dirty="0" smtClean="0">
                <a:cs typeface="+mn-ea"/>
              </a:rPr>
              <a:t>2</a:t>
            </a:r>
            <a:r>
              <a:rPr lang="en-US" altLang="zh-CN" baseline="30000" dirty="0" smtClean="0">
                <a:cs typeface="+mn-ea"/>
              </a:rPr>
              <a:t>n</a:t>
            </a:r>
            <a:r>
              <a:rPr lang="zh-CN" altLang="en-US" dirty="0" smtClean="0">
                <a:cs typeface="+mn-ea"/>
              </a:rPr>
              <a:t>种。在第</a:t>
            </a:r>
            <a:r>
              <a:rPr lang="en-US" altLang="zh-CN" dirty="0" smtClean="0">
                <a:cs typeface="+mn-ea"/>
              </a:rPr>
              <a:t>x</a:t>
            </a:r>
            <a:r>
              <a:rPr lang="zh-CN" altLang="en-US" dirty="0" smtClean="0">
                <a:cs typeface="+mn-ea"/>
              </a:rPr>
              <a:t>层搜索将整数</a:t>
            </a:r>
            <a:r>
              <a:rPr lang="en-US" altLang="zh-CN" dirty="0" smtClean="0">
                <a:cs typeface="+mn-ea"/>
              </a:rPr>
              <a:t>x</a:t>
            </a:r>
            <a:r>
              <a:rPr lang="zh-CN" altLang="en-US" dirty="0" smtClean="0">
                <a:cs typeface="+mn-ea"/>
              </a:rPr>
              <a:t>依次设为“选”和“不选”两种状态，分别进行递归。时间复杂度</a:t>
            </a:r>
            <a:r>
              <a:rPr lang="en-US" altLang="zh-CN" dirty="0" smtClean="0">
                <a:cs typeface="+mn-ea"/>
              </a:rPr>
              <a:t>O(2</a:t>
            </a:r>
            <a:r>
              <a:rPr lang="en-US" altLang="zh-CN" baseline="30000" dirty="0" smtClean="0">
                <a:cs typeface="+mn-ea"/>
              </a:rPr>
              <a:t>n</a:t>
            </a:r>
            <a:r>
              <a:rPr lang="en-US" altLang="zh-CN" dirty="0">
                <a:cs typeface="+mn-ea"/>
              </a:rPr>
              <a:t>×</a:t>
            </a:r>
            <a:r>
              <a:rPr lang="en-US" altLang="zh-CN" dirty="0" smtClean="0">
                <a:cs typeface="+mn-ea"/>
              </a:rPr>
              <a:t>n)</a:t>
            </a:r>
            <a:endParaRPr lang="en-US" altLang="zh-CN" dirty="0" smtClean="0">
              <a:cs typeface="+mn-ea"/>
            </a:endParaRPr>
          </a:p>
        </p:txBody>
      </p:sp>
      <p:graphicFrame>
        <p:nvGraphicFramePr>
          <p:cNvPr id="2" name="对象 1"/>
          <p:cNvGraphicFramePr/>
          <p:nvPr/>
        </p:nvGraphicFramePr>
        <p:xfrm>
          <a:off x="504190" y="1054100"/>
          <a:ext cx="5285740" cy="5037455"/>
        </p:xfrm>
        <a:graphic>
          <a:graphicData uri="http://schemas.openxmlformats.org/presentationml/2006/ole">
            <mc:AlternateContent xmlns:mc="http://schemas.openxmlformats.org/markup-compatibility/2006">
              <mc:Choice xmlns:v="urn:schemas-microsoft-com:vml" Requires="v">
                <p:oleObj spid="_x0000_s3" name="" r:id="rId3" imgW="5638800" imgH="5372100" progId="Paint.Picture">
                  <p:embed/>
                </p:oleObj>
              </mc:Choice>
              <mc:Fallback>
                <p:oleObj name="" r:id="rId3" imgW="5638800" imgH="5372100" progId="Paint.Picture">
                  <p:embed/>
                  <p:pic>
                    <p:nvPicPr>
                      <p:cNvPr id="0" name="图片 2"/>
                      <p:cNvPicPr/>
                      <p:nvPr/>
                    </p:nvPicPr>
                    <p:blipFill>
                      <a:blip r:embed="rId4"/>
                      <a:stretch>
                        <a:fillRect/>
                      </a:stretch>
                    </p:blipFill>
                    <p:spPr>
                      <a:xfrm>
                        <a:off x="504190" y="1054100"/>
                        <a:ext cx="5285740" cy="503745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9808179" y="177223"/>
            <a:ext cx="2052678" cy="369332"/>
          </a:xfrm>
          <a:prstGeom prst="rect">
            <a:avLst/>
          </a:prstGeom>
          <a:noFill/>
        </p:spPr>
        <p:txBody>
          <a:bodyPr wrap="none" rtlCol="0">
            <a:spAutoFit/>
            <a:scene3d>
              <a:camera prst="orthographicFront"/>
              <a:lightRig rig="threePt" dir="t"/>
            </a:scene3d>
            <a:sp3d extrusionH="12700"/>
          </a:bodyPr>
          <a:lstStyle/>
          <a:p>
            <a:pPr algn="ctr"/>
            <a:r>
              <a:rPr lang="en-US" altLang="zh-CN" dirty="0" smtClean="0">
                <a:solidFill>
                  <a:schemeClr val="bg1"/>
                </a:solidFill>
                <a:effectLst>
                  <a:outerShdw blurRad="203200" dist="38100" dir="5400000" algn="t" rotWithShape="0">
                    <a:prstClr val="black">
                      <a:alpha val="83000"/>
                    </a:prstClr>
                  </a:outerShdw>
                </a:effectLst>
                <a:cs typeface="+mn-ea"/>
                <a:sym typeface="+mn-lt"/>
              </a:rPr>
              <a:t>P1157 </a:t>
            </a:r>
            <a:r>
              <a:rPr lang="zh-CN" altLang="en-US" dirty="0" smtClean="0">
                <a:solidFill>
                  <a:schemeClr val="bg1"/>
                </a:solidFill>
                <a:effectLst>
                  <a:outerShdw blurRad="203200" dist="38100" dir="5400000" algn="t" rotWithShape="0">
                    <a:prstClr val="black">
                      <a:alpha val="83000"/>
                    </a:prstClr>
                  </a:outerShdw>
                </a:effectLst>
                <a:cs typeface="+mn-ea"/>
                <a:sym typeface="+mn-lt"/>
              </a:rPr>
              <a:t>组合型</a:t>
            </a:r>
            <a:r>
              <a:rPr lang="zh-CN" altLang="en-US" dirty="0" smtClean="0">
                <a:solidFill>
                  <a:schemeClr val="bg1"/>
                </a:solidFill>
                <a:effectLst>
                  <a:outerShdw blurRad="203200" dist="38100" dir="5400000" algn="t" rotWithShape="0">
                    <a:prstClr val="black">
                      <a:alpha val="83000"/>
                    </a:prstClr>
                  </a:outerShdw>
                </a:effectLst>
                <a:cs typeface="+mn-ea"/>
                <a:sym typeface="+mn-lt"/>
              </a:rPr>
              <a:t>枚举</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4" name="矩形 13"/>
          <p:cNvSpPr/>
          <p:nvPr/>
        </p:nvSpPr>
        <p:spPr>
          <a:xfrm>
            <a:off x="5957551" y="1528030"/>
            <a:ext cx="5315548" cy="108775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latin typeface="苏新诗古印宋简" pitchFamily="49" charset="-122"/>
                <a:ea typeface="苏新诗古印宋简" pitchFamily="49" charset="-122"/>
                <a:cs typeface="+mn-ea"/>
                <a:sym typeface="+mn-ea"/>
              </a:rPr>
              <a:t>例：组合型枚举</a:t>
            </a:r>
            <a:endParaRPr lang="zh-CN" altLang="en-US" dirty="0" smtClean="0">
              <a:latin typeface="苏新诗古印宋简" pitchFamily="49" charset="-122"/>
              <a:ea typeface="苏新诗古印宋简" pitchFamily="49" charset="-122"/>
              <a:cs typeface="+mn-ea"/>
            </a:endParaRPr>
          </a:p>
          <a:p>
            <a:pPr algn="just">
              <a:lnSpc>
                <a:spcPct val="120000"/>
              </a:lnSpc>
            </a:pPr>
            <a:r>
              <a:rPr lang="zh-CN" altLang="en-US" dirty="0" smtClean="0">
                <a:latin typeface="苏新诗古印宋简" pitchFamily="49" charset="-122"/>
                <a:ea typeface="苏新诗古印宋简" pitchFamily="49" charset="-122"/>
                <a:cs typeface="+mn-ea"/>
              </a:rPr>
              <a:t>从</a:t>
            </a:r>
            <a:r>
              <a:rPr lang="en-US" altLang="zh-CN" dirty="0" smtClean="0">
                <a:latin typeface="苏新诗古印宋简" pitchFamily="49" charset="-122"/>
                <a:ea typeface="苏新诗古印宋简" pitchFamily="49" charset="-122"/>
                <a:cs typeface="+mn-ea"/>
              </a:rPr>
              <a:t>1..n</a:t>
            </a:r>
            <a:r>
              <a:rPr lang="zh-CN" altLang="en-US" dirty="0" smtClean="0">
                <a:latin typeface="苏新诗古印宋简" pitchFamily="49" charset="-122"/>
                <a:ea typeface="苏新诗古印宋简" pitchFamily="49" charset="-122"/>
                <a:cs typeface="+mn-ea"/>
              </a:rPr>
              <a:t>这</a:t>
            </a:r>
            <a:r>
              <a:rPr lang="en-US" altLang="zh-CN" dirty="0" smtClean="0">
                <a:latin typeface="苏新诗古印宋简" pitchFamily="49" charset="-122"/>
                <a:ea typeface="苏新诗古印宋简" pitchFamily="49" charset="-122"/>
                <a:cs typeface="+mn-ea"/>
              </a:rPr>
              <a:t>n</a:t>
            </a:r>
            <a:r>
              <a:rPr lang="zh-CN" altLang="en-US" dirty="0" smtClean="0">
                <a:latin typeface="苏新诗古印宋简" pitchFamily="49" charset="-122"/>
                <a:ea typeface="苏新诗古印宋简" pitchFamily="49" charset="-122"/>
                <a:cs typeface="+mn-ea"/>
              </a:rPr>
              <a:t>个整数中随机选出</a:t>
            </a:r>
            <a:r>
              <a:rPr lang="en-US" altLang="zh-CN" dirty="0" smtClean="0">
                <a:latin typeface="苏新诗古印宋简" pitchFamily="49" charset="-122"/>
                <a:ea typeface="苏新诗古印宋简" pitchFamily="49" charset="-122"/>
                <a:cs typeface="+mn-ea"/>
              </a:rPr>
              <a:t>m(1&lt;=m&lt;=n&lt;25)</a:t>
            </a:r>
            <a:r>
              <a:rPr lang="zh-CN" altLang="en-US" dirty="0" smtClean="0">
                <a:latin typeface="苏新诗古印宋简" pitchFamily="49" charset="-122"/>
                <a:ea typeface="苏新诗古印宋简" pitchFamily="49" charset="-122"/>
                <a:cs typeface="+mn-ea"/>
              </a:rPr>
              <a:t>个，输出所有可能的方案。</a:t>
            </a:r>
            <a:endParaRPr lang="en-US" altLang="zh-CN" dirty="0" smtClean="0">
              <a:latin typeface="苏新诗古印宋简" pitchFamily="49" charset="-122"/>
              <a:ea typeface="苏新诗古印宋简" pitchFamily="49" charset="-122"/>
              <a:cs typeface="+mn-ea"/>
            </a:endParaRPr>
          </a:p>
        </p:txBody>
      </p:sp>
      <p:sp>
        <p:nvSpPr>
          <p:cNvPr id="11" name="矩形 10"/>
          <p:cNvSpPr/>
          <p:nvPr/>
        </p:nvSpPr>
        <p:spPr>
          <a:xfrm>
            <a:off x="5957551" y="3242167"/>
            <a:ext cx="5315548" cy="241617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在“指数型枚举”的基础上判断所选整数个数是否为</a:t>
            </a:r>
            <a:r>
              <a:rPr lang="en-US" altLang="zh-CN" dirty="0" smtClean="0">
                <a:cs typeface="+mn-ea"/>
              </a:rPr>
              <a:t>m</a:t>
            </a:r>
            <a:r>
              <a:rPr lang="zh-CN" altLang="en-US" dirty="0" smtClean="0">
                <a:cs typeface="+mn-ea"/>
              </a:rPr>
              <a:t>，但时间复杂度太高。</a:t>
            </a:r>
            <a:endParaRPr lang="zh-CN" altLang="en-US" dirty="0" smtClean="0">
              <a:cs typeface="+mn-ea"/>
            </a:endParaRPr>
          </a:p>
          <a:p>
            <a:pPr algn="just">
              <a:lnSpc>
                <a:spcPct val="120000"/>
              </a:lnSpc>
            </a:pPr>
            <a:endParaRPr lang="en-US" altLang="zh-CN" dirty="0" smtClean="0">
              <a:cs typeface="+mn-ea"/>
            </a:endParaRPr>
          </a:p>
          <a:p>
            <a:pPr algn="just">
              <a:lnSpc>
                <a:spcPct val="120000"/>
              </a:lnSpc>
            </a:pPr>
            <a:r>
              <a:rPr lang="zh-CN" altLang="en-US" dirty="0" smtClean="0">
                <a:cs typeface="+mn-ea"/>
              </a:rPr>
              <a:t>使用回溯法，在递归时，如果当前选的整数个数已经超过</a:t>
            </a:r>
            <a:r>
              <a:rPr lang="en-US" altLang="zh-CN" dirty="0" smtClean="0">
                <a:cs typeface="+mn-ea"/>
              </a:rPr>
              <a:t>m</a:t>
            </a:r>
            <a:r>
              <a:rPr lang="zh-CN" altLang="en-US" dirty="0" smtClean="0">
                <a:cs typeface="+mn-ea"/>
              </a:rPr>
              <a:t>个，或者即使选上之后的所有数，整数个数也到达不了</a:t>
            </a:r>
            <a:r>
              <a:rPr lang="en-US" altLang="zh-CN" dirty="0" smtClean="0">
                <a:cs typeface="+mn-ea"/>
              </a:rPr>
              <a:t>m</a:t>
            </a:r>
            <a:r>
              <a:rPr lang="zh-CN" altLang="en-US" dirty="0" smtClean="0">
                <a:cs typeface="+mn-ea"/>
              </a:rPr>
              <a:t>个时，进行回溯。</a:t>
            </a:r>
            <a:endParaRPr lang="en-US" altLang="zh-CN" dirty="0" smtClean="0">
              <a:cs typeface="+mn-ea"/>
            </a:endParaRPr>
          </a:p>
          <a:p>
            <a:pPr algn="just">
              <a:lnSpc>
                <a:spcPct val="120000"/>
              </a:lnSpc>
            </a:pPr>
            <a:r>
              <a:rPr lang="zh-CN" altLang="en-US" dirty="0" smtClean="0">
                <a:cs typeface="+mn-ea"/>
              </a:rPr>
              <a:t>时间复杂度</a:t>
            </a:r>
            <a:r>
              <a:rPr lang="en-US" altLang="zh-CN" dirty="0" smtClean="0">
                <a:cs typeface="+mn-ea"/>
              </a:rPr>
              <a:t>O(C(</a:t>
            </a:r>
            <a:r>
              <a:rPr lang="en-US" altLang="zh-CN" dirty="0" err="1" smtClean="0">
                <a:cs typeface="+mn-ea"/>
              </a:rPr>
              <a:t>n,m</a:t>
            </a:r>
            <a:r>
              <a:rPr lang="en-US" altLang="zh-CN" dirty="0" smtClean="0">
                <a:cs typeface="+mn-ea"/>
              </a:rPr>
              <a:t>)×n)</a:t>
            </a:r>
            <a:r>
              <a:rPr lang="zh-CN" altLang="en-US" dirty="0" smtClean="0">
                <a:cs typeface="+mn-ea"/>
              </a:rPr>
              <a:t>。</a:t>
            </a:r>
            <a:endParaRPr lang="en-US" altLang="zh-CN" dirty="0" smtClean="0">
              <a:cs typeface="+mn-ea"/>
            </a:endParaRPr>
          </a:p>
        </p:txBody>
      </p:sp>
      <p:graphicFrame>
        <p:nvGraphicFramePr>
          <p:cNvPr id="2" name="对象 1"/>
          <p:cNvGraphicFramePr/>
          <p:nvPr/>
        </p:nvGraphicFramePr>
        <p:xfrm>
          <a:off x="456565" y="1054100"/>
          <a:ext cx="5333365" cy="5064760"/>
        </p:xfrm>
        <a:graphic>
          <a:graphicData uri="http://schemas.openxmlformats.org/presentationml/2006/ole">
            <mc:AlternateContent xmlns:mc="http://schemas.openxmlformats.org/markup-compatibility/2006">
              <mc:Choice xmlns:v="urn:schemas-microsoft-com:vml" Requires="v">
                <p:oleObj spid="_x0000_s3" name="" r:id="rId3" imgW="5657850" imgH="5372100" progId="Paint.Picture">
                  <p:embed/>
                </p:oleObj>
              </mc:Choice>
              <mc:Fallback>
                <p:oleObj name="" r:id="rId3" imgW="5657850" imgH="5372100" progId="Paint.Picture">
                  <p:embed/>
                  <p:pic>
                    <p:nvPicPr>
                      <p:cNvPr id="0" name="图片 2"/>
                      <p:cNvPicPr/>
                      <p:nvPr/>
                    </p:nvPicPr>
                    <p:blipFill>
                      <a:blip r:embed="rId4"/>
                      <a:stretch>
                        <a:fillRect/>
                      </a:stretch>
                    </p:blipFill>
                    <p:spPr>
                      <a:xfrm>
                        <a:off x="456565" y="1054100"/>
                        <a:ext cx="5333365" cy="506476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9799619" y="177223"/>
            <a:ext cx="2069797" cy="369332"/>
          </a:xfrm>
          <a:prstGeom prst="rect">
            <a:avLst/>
          </a:prstGeom>
          <a:noFill/>
        </p:spPr>
        <p:txBody>
          <a:bodyPr wrap="none" rtlCol="0">
            <a:spAutoFit/>
            <a:scene3d>
              <a:camera prst="orthographicFront"/>
              <a:lightRig rig="threePt" dir="t"/>
            </a:scene3d>
            <a:sp3d extrusionH="12700"/>
          </a:bodyPr>
          <a:lstStyle/>
          <a:p>
            <a:pPr algn="ctr"/>
            <a:r>
              <a:rPr lang="en-US" altLang="zh-CN" dirty="0" smtClean="0">
                <a:solidFill>
                  <a:schemeClr val="bg1"/>
                </a:solidFill>
                <a:effectLst>
                  <a:outerShdw blurRad="203200" dist="38100" dir="5400000" algn="t" rotWithShape="0">
                    <a:prstClr val="black">
                      <a:alpha val="83000"/>
                    </a:prstClr>
                  </a:outerShdw>
                </a:effectLst>
                <a:cs typeface="+mn-ea"/>
                <a:sym typeface="+mn-lt"/>
              </a:rPr>
              <a:t>P1706 </a:t>
            </a:r>
            <a:r>
              <a:rPr lang="zh-CN" altLang="en-US" dirty="0" smtClean="0">
                <a:solidFill>
                  <a:schemeClr val="bg1"/>
                </a:solidFill>
                <a:effectLst>
                  <a:outerShdw blurRad="203200" dist="38100" dir="5400000" algn="t" rotWithShape="0">
                    <a:prstClr val="black">
                      <a:alpha val="83000"/>
                    </a:prstClr>
                  </a:outerShdw>
                </a:effectLst>
                <a:cs typeface="+mn-ea"/>
                <a:sym typeface="+mn-lt"/>
              </a:rPr>
              <a:t>排列型</a:t>
            </a:r>
            <a:r>
              <a:rPr lang="zh-CN" altLang="en-US" dirty="0" smtClean="0">
                <a:solidFill>
                  <a:schemeClr val="bg1"/>
                </a:solidFill>
                <a:effectLst>
                  <a:outerShdw blurRad="203200" dist="38100" dir="5400000" algn="t" rotWithShape="0">
                    <a:prstClr val="black">
                      <a:alpha val="83000"/>
                    </a:prstClr>
                  </a:outerShdw>
                </a:effectLst>
                <a:cs typeface="+mn-ea"/>
                <a:sym typeface="+mn-lt"/>
              </a:rPr>
              <a:t>枚举</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4" name="矩形 13"/>
          <p:cNvSpPr/>
          <p:nvPr/>
        </p:nvSpPr>
        <p:spPr>
          <a:xfrm>
            <a:off x="5957551" y="1528030"/>
            <a:ext cx="5315548" cy="108775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latin typeface="苏新诗古印宋简" pitchFamily="49" charset="-122"/>
                <a:ea typeface="苏新诗古印宋简" pitchFamily="49" charset="-122"/>
                <a:cs typeface="+mn-ea"/>
                <a:sym typeface="+mn-ea"/>
              </a:rPr>
              <a:t>例：排列型枚举</a:t>
            </a:r>
            <a:endParaRPr lang="zh-CN" altLang="en-US" dirty="0" smtClean="0">
              <a:latin typeface="苏新诗古印宋简" pitchFamily="49" charset="-122"/>
              <a:ea typeface="苏新诗古印宋简" pitchFamily="49" charset="-122"/>
              <a:cs typeface="+mn-ea"/>
            </a:endParaRPr>
          </a:p>
          <a:p>
            <a:pPr algn="just">
              <a:lnSpc>
                <a:spcPct val="120000"/>
              </a:lnSpc>
            </a:pPr>
            <a:r>
              <a:rPr lang="zh-CN" altLang="en-US" dirty="0" smtClean="0">
                <a:latin typeface="苏新诗古印宋简" pitchFamily="49" charset="-122"/>
                <a:ea typeface="苏新诗古印宋简" pitchFamily="49" charset="-122"/>
                <a:cs typeface="+mn-ea"/>
              </a:rPr>
              <a:t>按照字典序输出自然数</a:t>
            </a:r>
            <a:r>
              <a:rPr lang="en-US" altLang="zh-CN" dirty="0" smtClean="0">
                <a:latin typeface="苏新诗古印宋简" pitchFamily="49" charset="-122"/>
                <a:ea typeface="苏新诗古印宋简" pitchFamily="49" charset="-122"/>
                <a:cs typeface="+mn-ea"/>
              </a:rPr>
              <a:t>1</a:t>
            </a:r>
            <a:r>
              <a:rPr lang="zh-CN" altLang="en-US" dirty="0" smtClean="0">
                <a:latin typeface="苏新诗古印宋简" pitchFamily="49" charset="-122"/>
                <a:ea typeface="苏新诗古印宋简" pitchFamily="49" charset="-122"/>
                <a:cs typeface="+mn-ea"/>
              </a:rPr>
              <a:t>到</a:t>
            </a:r>
            <a:r>
              <a:rPr lang="en-US" altLang="zh-CN" dirty="0" smtClean="0">
                <a:latin typeface="苏新诗古印宋简" pitchFamily="49" charset="-122"/>
                <a:ea typeface="苏新诗古印宋简" pitchFamily="49" charset="-122"/>
                <a:cs typeface="+mn-ea"/>
              </a:rPr>
              <a:t>n(1&lt;=n&lt;=9)</a:t>
            </a:r>
            <a:r>
              <a:rPr lang="zh-CN" altLang="en-US" dirty="0" smtClean="0">
                <a:latin typeface="苏新诗古印宋简" pitchFamily="49" charset="-122"/>
                <a:ea typeface="苏新诗古印宋简" pitchFamily="49" charset="-122"/>
                <a:cs typeface="+mn-ea"/>
              </a:rPr>
              <a:t>所有不重复的排列，即</a:t>
            </a:r>
            <a:r>
              <a:rPr lang="en-US" altLang="zh-CN" dirty="0" smtClean="0">
                <a:latin typeface="苏新诗古印宋简" pitchFamily="49" charset="-122"/>
                <a:ea typeface="苏新诗古印宋简" pitchFamily="49" charset="-122"/>
                <a:cs typeface="+mn-ea"/>
              </a:rPr>
              <a:t>n</a:t>
            </a:r>
            <a:r>
              <a:rPr lang="zh-CN" altLang="en-US" dirty="0" smtClean="0">
                <a:latin typeface="苏新诗古印宋简" pitchFamily="49" charset="-122"/>
                <a:ea typeface="苏新诗古印宋简" pitchFamily="49" charset="-122"/>
                <a:cs typeface="+mn-ea"/>
              </a:rPr>
              <a:t>的全排列。</a:t>
            </a:r>
            <a:endParaRPr lang="en-US" altLang="zh-CN" dirty="0" smtClean="0">
              <a:latin typeface="苏新诗古印宋简" pitchFamily="49" charset="-122"/>
              <a:ea typeface="苏新诗古印宋简" pitchFamily="49" charset="-122"/>
              <a:cs typeface="+mn-ea"/>
            </a:endParaRPr>
          </a:p>
        </p:txBody>
      </p:sp>
      <p:sp>
        <p:nvSpPr>
          <p:cNvPr id="11" name="矩形 10"/>
          <p:cNvSpPr/>
          <p:nvPr/>
        </p:nvSpPr>
        <p:spPr>
          <a:xfrm>
            <a:off x="5957551" y="3242167"/>
            <a:ext cx="5315548" cy="308038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对于每个位置选择一个数，因为每个数只能用一次，所以设置</a:t>
            </a:r>
            <a:r>
              <a:rPr lang="en-US" altLang="zh-CN" dirty="0" err="1" smtClean="0">
                <a:cs typeface="+mn-ea"/>
              </a:rPr>
              <a:t>vis</a:t>
            </a:r>
            <a:r>
              <a:rPr lang="en-US" altLang="zh-CN" baseline="-25000" dirty="0" err="1" smtClean="0">
                <a:cs typeface="+mn-ea"/>
              </a:rPr>
              <a:t>i</a:t>
            </a:r>
            <a:r>
              <a:rPr lang="zh-CN" altLang="en-US" dirty="0" smtClean="0">
                <a:cs typeface="+mn-ea"/>
              </a:rPr>
              <a:t>表示数字</a:t>
            </a:r>
            <a:r>
              <a:rPr lang="en-US" altLang="zh-CN" dirty="0" smtClean="0">
                <a:cs typeface="+mn-ea"/>
              </a:rPr>
              <a:t>i</a:t>
            </a:r>
            <a:r>
              <a:rPr lang="zh-CN" altLang="en-US" dirty="0" smtClean="0">
                <a:cs typeface="+mn-ea"/>
              </a:rPr>
              <a:t>有没有被使用过。</a:t>
            </a:r>
            <a:endParaRPr lang="zh-CN" altLang="en-US" dirty="0" smtClean="0">
              <a:cs typeface="+mn-ea"/>
            </a:endParaRPr>
          </a:p>
          <a:p>
            <a:pPr algn="just">
              <a:lnSpc>
                <a:spcPct val="120000"/>
              </a:lnSpc>
            </a:pPr>
            <a:endParaRPr lang="en-US" altLang="zh-CN" dirty="0" smtClean="0">
              <a:cs typeface="+mn-ea"/>
            </a:endParaRPr>
          </a:p>
          <a:p>
            <a:pPr algn="just">
              <a:lnSpc>
                <a:spcPct val="120000"/>
              </a:lnSpc>
            </a:pPr>
            <a:r>
              <a:rPr lang="zh-CN" altLang="en-US" dirty="0" smtClean="0">
                <a:cs typeface="+mn-ea"/>
              </a:rPr>
              <a:t>在递归第</a:t>
            </a:r>
            <a:r>
              <a:rPr lang="en-US" altLang="zh-CN" dirty="0" smtClean="0">
                <a:cs typeface="+mn-ea"/>
              </a:rPr>
              <a:t>x</a:t>
            </a:r>
            <a:r>
              <a:rPr lang="zh-CN" altLang="en-US" dirty="0" smtClean="0">
                <a:cs typeface="+mn-ea"/>
              </a:rPr>
              <a:t>层时选择第</a:t>
            </a:r>
            <a:r>
              <a:rPr lang="en-US" altLang="zh-CN" dirty="0" smtClean="0">
                <a:cs typeface="+mn-ea"/>
              </a:rPr>
              <a:t>x</a:t>
            </a:r>
            <a:r>
              <a:rPr lang="zh-CN" altLang="en-US" dirty="0" smtClean="0">
                <a:cs typeface="+mn-ea"/>
              </a:rPr>
              <a:t>个位置上的数，如果一个数之前没有被选过，那么选择这个数，并将</a:t>
            </a:r>
            <a:r>
              <a:rPr lang="en-US" altLang="zh-CN" dirty="0" err="1" smtClean="0">
                <a:cs typeface="+mn-ea"/>
              </a:rPr>
              <a:t>vis</a:t>
            </a:r>
            <a:r>
              <a:rPr lang="zh-CN" altLang="en-US" dirty="0" smtClean="0">
                <a:cs typeface="+mn-ea"/>
              </a:rPr>
              <a:t>设为</a:t>
            </a:r>
            <a:r>
              <a:rPr lang="en-US" altLang="zh-CN" dirty="0" smtClean="0">
                <a:cs typeface="+mn-ea"/>
              </a:rPr>
              <a:t>true</a:t>
            </a:r>
            <a:r>
              <a:rPr lang="zh-CN" altLang="en-US" dirty="0" smtClean="0">
                <a:cs typeface="+mn-ea"/>
              </a:rPr>
              <a:t>，递归下一层；回溯时将</a:t>
            </a:r>
            <a:r>
              <a:rPr lang="en-US" altLang="zh-CN" dirty="0" err="1" smtClean="0">
                <a:cs typeface="+mn-ea"/>
              </a:rPr>
              <a:t>vis</a:t>
            </a:r>
            <a:r>
              <a:rPr lang="zh-CN" altLang="en-US" dirty="0" smtClean="0">
                <a:cs typeface="+mn-ea"/>
              </a:rPr>
              <a:t>设为</a:t>
            </a:r>
            <a:r>
              <a:rPr lang="en-US" altLang="zh-CN" dirty="0" smtClean="0">
                <a:cs typeface="+mn-ea"/>
              </a:rPr>
              <a:t>false</a:t>
            </a:r>
            <a:r>
              <a:rPr lang="zh-CN" altLang="en-US" dirty="0" smtClean="0">
                <a:cs typeface="+mn-ea"/>
              </a:rPr>
              <a:t>，防止影响其他层的选择。</a:t>
            </a:r>
            <a:endParaRPr lang="zh-CN" altLang="en-US" dirty="0" smtClean="0">
              <a:cs typeface="+mn-ea"/>
            </a:endParaRPr>
          </a:p>
          <a:p>
            <a:pPr algn="just">
              <a:lnSpc>
                <a:spcPct val="120000"/>
              </a:lnSpc>
            </a:pPr>
            <a:endParaRPr lang="en-US" altLang="zh-CN" dirty="0" smtClean="0">
              <a:cs typeface="+mn-ea"/>
            </a:endParaRPr>
          </a:p>
          <a:p>
            <a:pPr algn="just">
              <a:lnSpc>
                <a:spcPct val="120000"/>
              </a:lnSpc>
            </a:pPr>
            <a:r>
              <a:rPr lang="zh-CN" altLang="en-US" dirty="0" smtClean="0">
                <a:cs typeface="+mn-ea"/>
              </a:rPr>
              <a:t>时间复杂度</a:t>
            </a:r>
            <a:r>
              <a:rPr lang="en-US" altLang="zh-CN" dirty="0" smtClean="0">
                <a:cs typeface="+mn-ea"/>
              </a:rPr>
              <a:t>O(n!×n)</a:t>
            </a:r>
            <a:r>
              <a:rPr lang="zh-CN" altLang="en-US" dirty="0" smtClean="0">
                <a:cs typeface="+mn-ea"/>
              </a:rPr>
              <a:t>。</a:t>
            </a:r>
            <a:endParaRPr lang="en-US" altLang="zh-CN" dirty="0" smtClean="0">
              <a:cs typeface="+mn-ea"/>
            </a:endParaRPr>
          </a:p>
        </p:txBody>
      </p:sp>
      <p:graphicFrame>
        <p:nvGraphicFramePr>
          <p:cNvPr id="2" name="对象 1"/>
          <p:cNvGraphicFramePr/>
          <p:nvPr/>
        </p:nvGraphicFramePr>
        <p:xfrm>
          <a:off x="524510" y="1054100"/>
          <a:ext cx="5239385" cy="5013325"/>
        </p:xfrm>
        <a:graphic>
          <a:graphicData uri="http://schemas.openxmlformats.org/presentationml/2006/ole">
            <mc:AlternateContent xmlns:mc="http://schemas.openxmlformats.org/markup-compatibility/2006">
              <mc:Choice xmlns:v="urn:schemas-microsoft-com:vml" Requires="v">
                <p:oleObj spid="_x0000_s3" name="" r:id="rId3" imgW="5715000" imgH="5467350" progId="Paint.Picture">
                  <p:embed/>
                </p:oleObj>
              </mc:Choice>
              <mc:Fallback>
                <p:oleObj name="" r:id="rId3" imgW="5715000" imgH="5467350" progId="Paint.Picture">
                  <p:embed/>
                  <p:pic>
                    <p:nvPicPr>
                      <p:cNvPr id="0" name="图片 2"/>
                      <p:cNvPicPr/>
                      <p:nvPr/>
                    </p:nvPicPr>
                    <p:blipFill>
                      <a:blip r:embed="rId4"/>
                      <a:stretch>
                        <a:fillRect/>
                      </a:stretch>
                    </p:blipFill>
                    <p:spPr>
                      <a:xfrm>
                        <a:off x="524510" y="1054100"/>
                        <a:ext cx="5239385" cy="501332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395937" y="177223"/>
            <a:ext cx="877164"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记忆化</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5" name="矩形 14"/>
          <p:cNvSpPr/>
          <p:nvPr/>
        </p:nvSpPr>
        <p:spPr>
          <a:xfrm>
            <a:off x="1996802" y="1881604"/>
            <a:ext cx="7327819" cy="75713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latin typeface="苏新诗古印宋简" pitchFamily="49" charset="-122"/>
                <a:ea typeface="苏新诗古印宋简" pitchFamily="49" charset="-122"/>
                <a:cs typeface="+mn-ea"/>
              </a:rPr>
              <a:t>记忆化搜索是一种通过记录已经遍历过的状态的信息，从而避免对同一状态重复遍历的搜索实现方式。</a:t>
            </a:r>
            <a:endParaRPr lang="en-US" altLang="zh-CN" dirty="0" smtClean="0">
              <a:latin typeface="苏新诗古印宋简" pitchFamily="49" charset="-122"/>
              <a:ea typeface="苏新诗古印宋简" pitchFamily="49" charset="-122"/>
              <a:cs typeface="+mn-ea"/>
            </a:endParaRPr>
          </a:p>
        </p:txBody>
      </p:sp>
      <p:sp>
        <p:nvSpPr>
          <p:cNvPr id="16" name="矩形 15"/>
          <p:cNvSpPr/>
          <p:nvPr/>
        </p:nvSpPr>
        <p:spPr>
          <a:xfrm>
            <a:off x="1996802" y="2782245"/>
            <a:ext cx="7327818" cy="75713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因为记忆化搜索确保了每个状态只访问一次，它也是一种常见的动态规划实现方式。</a:t>
            </a:r>
            <a:endParaRPr lang="en-US" altLang="zh-CN" dirty="0" smtClean="0">
              <a:cs typeface="+mn-ea"/>
            </a:endParaRPr>
          </a:p>
        </p:txBody>
      </p:sp>
      <p:sp>
        <p:nvSpPr>
          <p:cNvPr id="13" name="矩形 12"/>
          <p:cNvSpPr/>
          <p:nvPr/>
        </p:nvSpPr>
        <p:spPr>
          <a:xfrm>
            <a:off x="1996802" y="3539375"/>
            <a:ext cx="7327818" cy="39421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记忆化搜索要满足的条件：状态间重复利用、状态可以存储。</a:t>
            </a:r>
            <a:endParaRPr lang="en-US" altLang="zh-CN" dirty="0" smtClean="0">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145869" y="177223"/>
            <a:ext cx="1377301" cy="369332"/>
          </a:xfrm>
          <a:prstGeom prst="rect">
            <a:avLst/>
          </a:prstGeom>
          <a:noFill/>
        </p:spPr>
        <p:txBody>
          <a:bodyPr wrap="none" rtlCol="0">
            <a:spAutoFit/>
            <a:scene3d>
              <a:camera prst="orthographicFront"/>
              <a:lightRig rig="threePt" dir="t"/>
            </a:scene3d>
            <a:sp3d extrusionH="12700"/>
          </a:bodyPr>
          <a:lstStyle/>
          <a:p>
            <a:pPr algn="ctr"/>
            <a:r>
              <a:rPr lang="en-US" altLang="zh-CN" dirty="0" smtClean="0">
                <a:solidFill>
                  <a:schemeClr val="bg1"/>
                </a:solidFill>
                <a:effectLst>
                  <a:outerShdw blurRad="203200" dist="38100" dir="5400000" algn="t" rotWithShape="0">
                    <a:prstClr val="black">
                      <a:alpha val="83000"/>
                    </a:prstClr>
                  </a:outerShdw>
                </a:effectLst>
                <a:cs typeface="+mn-ea"/>
                <a:sym typeface="+mn-lt"/>
              </a:rPr>
              <a:t>P1048 </a:t>
            </a:r>
            <a:r>
              <a:rPr lang="zh-CN" altLang="en-US" dirty="0" smtClean="0">
                <a:solidFill>
                  <a:schemeClr val="bg1"/>
                </a:solidFill>
                <a:effectLst>
                  <a:outerShdw blurRad="203200" dist="38100" dir="5400000" algn="t" rotWithShape="0">
                    <a:prstClr val="black">
                      <a:alpha val="83000"/>
                    </a:prstClr>
                  </a:outerShdw>
                </a:effectLst>
                <a:cs typeface="+mn-ea"/>
                <a:sym typeface="+mn-lt"/>
              </a:rPr>
              <a:t>采药</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2308324"/>
          </a:xfrm>
          <a:prstGeom prst="rect">
            <a:avLst/>
          </a:prstGeom>
        </p:spPr>
        <p:txBody>
          <a:bodyPr wrap="square">
            <a:spAutoFit/>
            <a:scene3d>
              <a:camera prst="orthographicFront"/>
              <a:lightRig rig="threePt" dir="t"/>
            </a:scene3d>
            <a:sp3d contourW="12700"/>
          </a:bodyPr>
          <a:lstStyle/>
          <a:p>
            <a:pPr algn="ctr"/>
            <a:r>
              <a:rPr lang="zh-CN" altLang="en-US" b="1" dirty="0"/>
              <a:t>采药</a:t>
            </a:r>
            <a:endParaRPr lang="zh-CN" altLang="zh-CN" dirty="0"/>
          </a:p>
          <a:p>
            <a:r>
              <a:rPr lang="zh-CN" altLang="zh-CN" b="1" dirty="0"/>
              <a:t>【题目描述】</a:t>
            </a:r>
            <a:endParaRPr lang="zh-CN" altLang="zh-CN" dirty="0"/>
          </a:p>
          <a:p>
            <a:r>
              <a:rPr lang="zh-CN" altLang="en-US" dirty="0" smtClean="0"/>
              <a:t>    山洞里有</a:t>
            </a:r>
            <a:r>
              <a:rPr lang="en-US" altLang="zh-CN" dirty="0" smtClean="0"/>
              <a:t>M</a:t>
            </a:r>
            <a:r>
              <a:rPr lang="zh-CN" altLang="en-US" dirty="0" smtClean="0"/>
              <a:t>株不同的草药，采每一株都需要一些时间</a:t>
            </a:r>
            <a:r>
              <a:rPr lang="en-US" altLang="zh-CN" dirty="0" err="1" smtClean="0"/>
              <a:t>t</a:t>
            </a:r>
            <a:r>
              <a:rPr lang="en-US" altLang="zh-CN" baseline="-25000" dirty="0" err="1" smtClean="0"/>
              <a:t>i</a:t>
            </a:r>
            <a:r>
              <a:rPr lang="zh-CN" altLang="en-US" dirty="0" smtClean="0"/>
              <a:t>，每一株也有它自身的价值</a:t>
            </a:r>
            <a:r>
              <a:rPr lang="en-US" altLang="zh-CN" dirty="0" smtClean="0"/>
              <a:t>v</a:t>
            </a:r>
            <a:r>
              <a:rPr lang="en-US" altLang="zh-CN" baseline="-25000" dirty="0" smtClean="0"/>
              <a:t>i</a:t>
            </a:r>
            <a:r>
              <a:rPr lang="zh-CN" altLang="en-US" dirty="0" smtClean="0"/>
              <a:t>。给你一段时间</a:t>
            </a:r>
            <a:r>
              <a:rPr lang="en-US" altLang="zh-CN" dirty="0" smtClean="0"/>
              <a:t>T</a:t>
            </a:r>
            <a:r>
              <a:rPr lang="zh-CN" altLang="en-US" dirty="0" smtClean="0"/>
              <a:t>，在这段时间里，你可以采到一些草药。让采到的草药总价值最大。</a:t>
            </a:r>
            <a:endParaRPr lang="zh-CN" altLang="zh-CN" dirty="0"/>
          </a:p>
          <a:p>
            <a:endParaRPr lang="en-US" altLang="zh-CN" dirty="0" smtClean="0"/>
          </a:p>
          <a:p>
            <a:r>
              <a:rPr lang="en-US" altLang="zh-CN" dirty="0" smtClean="0"/>
              <a:t>1&lt;=T&lt;=10</a:t>
            </a:r>
            <a:r>
              <a:rPr lang="en-US" altLang="zh-CN" baseline="30000" dirty="0" smtClean="0"/>
              <a:t>3</a:t>
            </a:r>
            <a:r>
              <a:rPr lang="zh-CN" altLang="en-US" dirty="0" smtClean="0"/>
              <a:t>，</a:t>
            </a:r>
            <a:r>
              <a:rPr lang="en-US" altLang="zh-CN" dirty="0" smtClean="0"/>
              <a:t>1&lt;=</a:t>
            </a:r>
            <a:r>
              <a:rPr lang="en-US" altLang="zh-CN" dirty="0" err="1" smtClean="0"/>
              <a:t>t</a:t>
            </a:r>
            <a:r>
              <a:rPr lang="en-US" altLang="zh-CN" baseline="-25000" dirty="0" err="1" smtClean="0"/>
              <a:t>i</a:t>
            </a:r>
            <a:r>
              <a:rPr lang="en-US" altLang="zh-CN" dirty="0" err="1" smtClean="0"/>
              <a:t>,v</a:t>
            </a:r>
            <a:r>
              <a:rPr lang="en-US" altLang="zh-CN" baseline="-25000" dirty="0" err="1" smtClean="0"/>
              <a:t>i</a:t>
            </a:r>
            <a:r>
              <a:rPr lang="en-US" altLang="zh-CN" dirty="0" err="1" smtClean="0"/>
              <a:t>,M</a:t>
            </a:r>
            <a:r>
              <a:rPr lang="en-US" altLang="zh-CN" dirty="0" smtClean="0"/>
              <a:t>&lt;=100</a:t>
            </a:r>
            <a:r>
              <a:rPr lang="zh-CN" altLang="en-US" dirty="0" smtClean="0"/>
              <a:t>。</a:t>
            </a:r>
            <a:endParaRPr lang="zh-CN" altLang="zh-CN"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9666" y="776898"/>
            <a:ext cx="5275551" cy="5070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4"/>
          <p:cNvSpPr/>
          <p:nvPr/>
        </p:nvSpPr>
        <p:spPr>
          <a:xfrm>
            <a:off x="706354" y="3821259"/>
            <a:ext cx="4964872" cy="2031325"/>
          </a:xfrm>
          <a:prstGeom prst="rect">
            <a:avLst/>
          </a:prstGeom>
        </p:spPr>
        <p:txBody>
          <a:bodyPr wrap="square">
            <a:spAutoFit/>
            <a:scene3d>
              <a:camera prst="orthographicFront"/>
              <a:lightRig rig="threePt" dir="t"/>
            </a:scene3d>
            <a:sp3d contourW="12700"/>
          </a:bodyPr>
          <a:lstStyle/>
          <a:p>
            <a:r>
              <a:rPr lang="zh-CN" altLang="zh-CN" b="1" dirty="0"/>
              <a:t>【</a:t>
            </a:r>
            <a:r>
              <a:rPr lang="zh-CN" altLang="en-US" b="1" dirty="0"/>
              <a:t>算法分析</a:t>
            </a:r>
            <a:r>
              <a:rPr lang="zh-CN" altLang="zh-CN" b="1" dirty="0"/>
              <a:t>】</a:t>
            </a:r>
            <a:endParaRPr lang="zh-CN" altLang="zh-CN" dirty="0"/>
          </a:p>
          <a:p>
            <a:r>
              <a:rPr lang="zh-CN" altLang="en-US" dirty="0"/>
              <a:t>    </a:t>
            </a:r>
            <a:r>
              <a:rPr lang="zh-CN" altLang="en-US" dirty="0" smtClean="0"/>
              <a:t>朴素的</a:t>
            </a:r>
            <a:r>
              <a:rPr lang="en-US" altLang="zh-CN" dirty="0" smtClean="0"/>
              <a:t>DFS</a:t>
            </a:r>
            <a:r>
              <a:rPr lang="zh-CN" altLang="en-US" dirty="0" smtClean="0"/>
              <a:t>算法：在搜索时记录下当前准备选第几个物品、剩余时间是多少、已经获得的价值是多少。枚举当前物品是否被选，转移到当前状态。</a:t>
            </a:r>
            <a:endParaRPr lang="en-US" altLang="zh-CN" dirty="0" smtClean="0"/>
          </a:p>
          <a:p>
            <a:r>
              <a:rPr lang="en-US" altLang="zh-CN" dirty="0"/>
              <a:t> </a:t>
            </a:r>
            <a:r>
              <a:rPr lang="en-US" altLang="zh-CN" dirty="0" smtClean="0"/>
              <a:t>   </a:t>
            </a:r>
            <a:r>
              <a:rPr lang="zh-CN" altLang="en-US" dirty="0" smtClean="0"/>
              <a:t>时间复杂度</a:t>
            </a:r>
            <a:r>
              <a:rPr lang="en-US" altLang="zh-CN" dirty="0" smtClean="0"/>
              <a:t>O(2</a:t>
            </a:r>
            <a:r>
              <a:rPr lang="en-US" altLang="zh-CN" baseline="30000" dirty="0" smtClean="0"/>
              <a:t>m</a:t>
            </a:r>
            <a:r>
              <a:rPr lang="en-US" altLang="zh-CN" dirty="0" smtClean="0"/>
              <a:t>)</a:t>
            </a:r>
            <a:r>
              <a:rPr lang="zh-CN" altLang="en-US" dirty="0" smtClean="0"/>
              <a:t>，会超时。</a:t>
            </a:r>
            <a:endParaRPr lang="en-US" altLang="zh-CN" dirty="0" smtClean="0"/>
          </a:p>
          <a:p>
            <a:r>
              <a:rPr lang="en-US" altLang="zh-CN" dirty="0"/>
              <a:t> </a:t>
            </a:r>
            <a:r>
              <a:rPr lang="en-US" altLang="zh-CN" dirty="0" smtClean="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4099"/>
                                        </p:tgtEl>
                                        <p:attrNameLst>
                                          <p:attrName>style.visibility</p:attrName>
                                        </p:attrNameLst>
                                      </p:cBhvr>
                                      <p:to>
                                        <p:strVal val="visible"/>
                                      </p:to>
                                    </p:set>
                                    <p:animEffect transition="in" filter="fade">
                                      <p:cBhvr>
                                        <p:cTn id="24"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145869" y="177223"/>
            <a:ext cx="1377301" cy="369332"/>
          </a:xfrm>
          <a:prstGeom prst="rect">
            <a:avLst/>
          </a:prstGeom>
          <a:noFill/>
        </p:spPr>
        <p:txBody>
          <a:bodyPr wrap="none" rtlCol="0">
            <a:spAutoFit/>
            <a:scene3d>
              <a:camera prst="orthographicFront"/>
              <a:lightRig rig="threePt" dir="t"/>
            </a:scene3d>
            <a:sp3d extrusionH="12700"/>
          </a:bodyPr>
          <a:lstStyle/>
          <a:p>
            <a:pPr algn="ctr"/>
            <a:r>
              <a:rPr lang="en-US" altLang="zh-CN" dirty="0" smtClean="0">
                <a:solidFill>
                  <a:schemeClr val="bg1"/>
                </a:solidFill>
                <a:effectLst>
                  <a:outerShdw blurRad="203200" dist="38100" dir="5400000" algn="t" rotWithShape="0">
                    <a:prstClr val="black">
                      <a:alpha val="83000"/>
                    </a:prstClr>
                  </a:outerShdw>
                </a:effectLst>
                <a:cs typeface="+mn-ea"/>
                <a:sym typeface="+mn-lt"/>
              </a:rPr>
              <a:t>P1048 </a:t>
            </a:r>
            <a:r>
              <a:rPr lang="zh-CN" altLang="en-US" dirty="0" smtClean="0">
                <a:solidFill>
                  <a:schemeClr val="bg1"/>
                </a:solidFill>
                <a:effectLst>
                  <a:outerShdw blurRad="203200" dist="38100" dir="5400000" algn="t" rotWithShape="0">
                    <a:prstClr val="black">
                      <a:alpha val="83000"/>
                    </a:prstClr>
                  </a:outerShdw>
                </a:effectLst>
                <a:cs typeface="+mn-ea"/>
                <a:sym typeface="+mn-lt"/>
              </a:rPr>
              <a:t>采药</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2308324"/>
          </a:xfrm>
          <a:prstGeom prst="rect">
            <a:avLst/>
          </a:prstGeom>
        </p:spPr>
        <p:txBody>
          <a:bodyPr wrap="square">
            <a:spAutoFit/>
            <a:scene3d>
              <a:camera prst="orthographicFront"/>
              <a:lightRig rig="threePt" dir="t"/>
            </a:scene3d>
            <a:sp3d contourW="12700"/>
          </a:bodyPr>
          <a:lstStyle/>
          <a:p>
            <a:pPr algn="ctr"/>
            <a:r>
              <a:rPr lang="zh-CN" altLang="en-US" b="1" dirty="0"/>
              <a:t>采药</a:t>
            </a:r>
            <a:endParaRPr lang="zh-CN" altLang="zh-CN" dirty="0"/>
          </a:p>
          <a:p>
            <a:r>
              <a:rPr lang="zh-CN" altLang="zh-CN" b="1" dirty="0"/>
              <a:t>【题目描述】</a:t>
            </a:r>
            <a:endParaRPr lang="zh-CN" altLang="zh-CN" dirty="0"/>
          </a:p>
          <a:p>
            <a:r>
              <a:rPr lang="zh-CN" altLang="en-US" dirty="0" smtClean="0"/>
              <a:t>    山洞里有</a:t>
            </a:r>
            <a:r>
              <a:rPr lang="en-US" altLang="zh-CN" dirty="0" smtClean="0"/>
              <a:t>M</a:t>
            </a:r>
            <a:r>
              <a:rPr lang="zh-CN" altLang="en-US" dirty="0" smtClean="0"/>
              <a:t>株不同的草药，采每一株都需要一些时间</a:t>
            </a:r>
            <a:r>
              <a:rPr lang="en-US" altLang="zh-CN" dirty="0" err="1" smtClean="0"/>
              <a:t>t</a:t>
            </a:r>
            <a:r>
              <a:rPr lang="en-US" altLang="zh-CN" baseline="-25000" dirty="0" err="1" smtClean="0"/>
              <a:t>i</a:t>
            </a:r>
            <a:r>
              <a:rPr lang="zh-CN" altLang="en-US" dirty="0" smtClean="0"/>
              <a:t>，每一株也有它自身的价值</a:t>
            </a:r>
            <a:r>
              <a:rPr lang="en-US" altLang="zh-CN" dirty="0" smtClean="0"/>
              <a:t>v</a:t>
            </a:r>
            <a:r>
              <a:rPr lang="en-US" altLang="zh-CN" baseline="-25000" dirty="0" smtClean="0"/>
              <a:t>i</a:t>
            </a:r>
            <a:r>
              <a:rPr lang="zh-CN" altLang="en-US" dirty="0" smtClean="0"/>
              <a:t>。给你一段时间</a:t>
            </a:r>
            <a:r>
              <a:rPr lang="en-US" altLang="zh-CN" dirty="0" smtClean="0"/>
              <a:t>T</a:t>
            </a:r>
            <a:r>
              <a:rPr lang="zh-CN" altLang="en-US" dirty="0" smtClean="0"/>
              <a:t>，在这段时间里，你可以采到一些草药。让采到的草药总价值最大。</a:t>
            </a:r>
            <a:endParaRPr lang="zh-CN" altLang="zh-CN" dirty="0"/>
          </a:p>
          <a:p>
            <a:endParaRPr lang="en-US" altLang="zh-CN" dirty="0" smtClean="0"/>
          </a:p>
          <a:p>
            <a:r>
              <a:rPr lang="en-US" altLang="zh-CN" dirty="0" smtClean="0"/>
              <a:t>1&lt;=T&lt;=10</a:t>
            </a:r>
            <a:r>
              <a:rPr lang="en-US" altLang="zh-CN" baseline="30000" dirty="0" smtClean="0"/>
              <a:t>3</a:t>
            </a:r>
            <a:r>
              <a:rPr lang="zh-CN" altLang="en-US" dirty="0" smtClean="0"/>
              <a:t>，</a:t>
            </a:r>
            <a:r>
              <a:rPr lang="en-US" altLang="zh-CN" dirty="0" smtClean="0"/>
              <a:t>1&lt;=</a:t>
            </a:r>
            <a:r>
              <a:rPr lang="en-US" altLang="zh-CN" dirty="0" err="1" smtClean="0"/>
              <a:t>t</a:t>
            </a:r>
            <a:r>
              <a:rPr lang="en-US" altLang="zh-CN" baseline="-25000" dirty="0" err="1" smtClean="0"/>
              <a:t>i</a:t>
            </a:r>
            <a:r>
              <a:rPr lang="en-US" altLang="zh-CN" dirty="0" err="1" smtClean="0"/>
              <a:t>,v</a:t>
            </a:r>
            <a:r>
              <a:rPr lang="en-US" altLang="zh-CN" baseline="-25000" dirty="0" err="1" smtClean="0"/>
              <a:t>i</a:t>
            </a:r>
            <a:r>
              <a:rPr lang="en-US" altLang="zh-CN" dirty="0" err="1" smtClean="0"/>
              <a:t>,M</a:t>
            </a:r>
            <a:r>
              <a:rPr lang="en-US" altLang="zh-CN" dirty="0" smtClean="0"/>
              <a:t>&lt;=100</a:t>
            </a:r>
            <a:r>
              <a:rPr lang="zh-CN" altLang="en-US" dirty="0" smtClean="0"/>
              <a:t>。</a:t>
            </a:r>
            <a:endParaRPr lang="zh-CN" altLang="zh-CN"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9666" y="622570"/>
            <a:ext cx="5488555" cy="5224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矩形 11"/>
          <p:cNvSpPr/>
          <p:nvPr/>
        </p:nvSpPr>
        <p:spPr>
          <a:xfrm>
            <a:off x="706354" y="3816009"/>
            <a:ext cx="4964872" cy="1754326"/>
          </a:xfrm>
          <a:prstGeom prst="rect">
            <a:avLst/>
          </a:prstGeom>
        </p:spPr>
        <p:txBody>
          <a:bodyPr wrap="square">
            <a:spAutoFit/>
            <a:scene3d>
              <a:camera prst="orthographicFront"/>
              <a:lightRig rig="threePt" dir="t"/>
            </a:scene3d>
            <a:sp3d contourW="12700"/>
          </a:bodyPr>
          <a:lstStyle/>
          <a:p>
            <a:r>
              <a:rPr lang="zh-CN" altLang="zh-CN" b="1" dirty="0"/>
              <a:t>【</a:t>
            </a:r>
            <a:r>
              <a:rPr lang="zh-CN" altLang="en-US" b="1" dirty="0"/>
              <a:t>算法分析</a:t>
            </a:r>
            <a:r>
              <a:rPr lang="zh-CN" altLang="zh-CN" b="1" dirty="0"/>
              <a:t>】</a:t>
            </a:r>
            <a:endParaRPr lang="zh-CN" altLang="zh-CN" dirty="0"/>
          </a:p>
          <a:p>
            <a:r>
              <a:rPr lang="zh-CN" altLang="en-US" dirty="0"/>
              <a:t>    </a:t>
            </a:r>
            <a:r>
              <a:rPr lang="en-US" altLang="zh-CN" dirty="0" smtClean="0"/>
              <a:t>DFS</a:t>
            </a:r>
            <a:r>
              <a:rPr lang="zh-CN" altLang="en-US" dirty="0" smtClean="0"/>
              <a:t>的状态是</a:t>
            </a:r>
            <a:r>
              <a:rPr lang="en-US" altLang="zh-CN" dirty="0" smtClean="0"/>
              <a:t>(</a:t>
            </a:r>
            <a:r>
              <a:rPr lang="zh-CN" altLang="en-US" dirty="0" smtClean="0"/>
              <a:t>选第几个物品，剩余的时间</a:t>
            </a:r>
            <a:r>
              <a:rPr lang="en-US" altLang="zh-CN" dirty="0" smtClean="0"/>
              <a:t>)</a:t>
            </a:r>
            <a:r>
              <a:rPr lang="zh-CN" altLang="en-US" dirty="0" smtClean="0"/>
              <a:t>，用</a:t>
            </a:r>
            <a:r>
              <a:rPr lang="en-US" altLang="zh-CN" dirty="0" err="1" smtClean="0"/>
              <a:t>mem</a:t>
            </a:r>
            <a:r>
              <a:rPr lang="en-US" altLang="zh-CN" dirty="0" smtClean="0"/>
              <a:t>[i][j]</a:t>
            </a:r>
            <a:r>
              <a:rPr lang="zh-CN" altLang="en-US" dirty="0" smtClean="0"/>
              <a:t>记录下</a:t>
            </a:r>
            <a:r>
              <a:rPr lang="en-US" altLang="zh-CN" dirty="0" err="1" smtClean="0"/>
              <a:t>dfs</a:t>
            </a:r>
            <a:r>
              <a:rPr lang="en-US" altLang="zh-CN" dirty="0" smtClean="0"/>
              <a:t>(</a:t>
            </a:r>
            <a:r>
              <a:rPr lang="en-US" altLang="zh-CN" dirty="0" err="1" smtClean="0"/>
              <a:t>i,j</a:t>
            </a:r>
            <a:r>
              <a:rPr lang="en-US" altLang="zh-CN" dirty="0" smtClean="0"/>
              <a:t>)</a:t>
            </a:r>
            <a:r>
              <a:rPr lang="zh-CN" altLang="en-US" dirty="0" smtClean="0"/>
              <a:t>的返回值。当调用</a:t>
            </a:r>
            <a:r>
              <a:rPr lang="en-US" altLang="zh-CN" dirty="0" err="1" smtClean="0"/>
              <a:t>dfs</a:t>
            </a:r>
            <a:r>
              <a:rPr lang="en-US" altLang="zh-CN" dirty="0" smtClean="0"/>
              <a:t>(</a:t>
            </a:r>
            <a:r>
              <a:rPr lang="en-US" altLang="zh-CN" dirty="0" err="1" smtClean="0"/>
              <a:t>i,j</a:t>
            </a:r>
            <a:r>
              <a:rPr lang="en-US" altLang="zh-CN" dirty="0" smtClean="0"/>
              <a:t>)</a:t>
            </a:r>
            <a:r>
              <a:rPr lang="zh-CN" altLang="en-US" dirty="0" smtClean="0"/>
              <a:t>时，如果已经计算过，直接返回</a:t>
            </a:r>
            <a:r>
              <a:rPr lang="en-US" altLang="zh-CN" dirty="0" err="1" smtClean="0"/>
              <a:t>mem</a:t>
            </a:r>
            <a:r>
              <a:rPr lang="en-US" altLang="zh-CN" dirty="0" smtClean="0"/>
              <a:t>[i][j]</a:t>
            </a:r>
            <a:r>
              <a:rPr lang="zh-CN" altLang="en-US" dirty="0" smtClean="0"/>
              <a:t>，否则递归计算。</a:t>
            </a:r>
            <a:endParaRPr lang="en-US" altLang="zh-CN" dirty="0" smtClean="0"/>
          </a:p>
          <a:p>
            <a:r>
              <a:rPr lang="en-US" altLang="zh-CN" dirty="0"/>
              <a:t> </a:t>
            </a:r>
            <a:r>
              <a:rPr lang="en-US" altLang="zh-CN" dirty="0" smtClean="0"/>
              <a:t>   </a:t>
            </a:r>
            <a:r>
              <a:rPr lang="zh-CN" altLang="en-US" dirty="0" smtClean="0"/>
              <a:t>时间复杂度</a:t>
            </a:r>
            <a:r>
              <a:rPr lang="en-US" altLang="zh-CN" dirty="0" smtClean="0"/>
              <a:t>O(TM)</a:t>
            </a:r>
            <a:r>
              <a:rPr lang="zh-CN" altLang="en-US" dirty="0"/>
              <a:t>。</a:t>
            </a:r>
            <a:endParaRPr lang="en-US" altLang="zh-CN" dirty="0" smtClean="0"/>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4098"/>
                                        </p:tgtEl>
                                        <p:attrNameLst>
                                          <p:attrName>style.visibility</p:attrName>
                                        </p:attrNameLst>
                                      </p:cBhvr>
                                      <p:to>
                                        <p:strVal val="visible"/>
                                      </p:to>
                                    </p:set>
                                    <p:animEffect transition="in" filter="fade">
                                      <p:cBhvr>
                                        <p:cTn id="24"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049689" y="177223"/>
            <a:ext cx="156966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深度优先搜索</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5" name="矩形 14"/>
          <p:cNvSpPr/>
          <p:nvPr/>
        </p:nvSpPr>
        <p:spPr>
          <a:xfrm>
            <a:off x="1996802" y="1313914"/>
            <a:ext cx="7327819" cy="42354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latin typeface="苏新诗古印宋简" pitchFamily="49" charset="-122"/>
                <a:ea typeface="苏新诗古印宋简" pitchFamily="49" charset="-122"/>
                <a:cs typeface="+mn-ea"/>
                <a:sym typeface="+mn-ea"/>
              </a:rPr>
              <a:t>广</a:t>
            </a:r>
            <a:r>
              <a:rPr lang="en-US" altLang="zh-CN" dirty="0" smtClean="0">
                <a:latin typeface="苏新诗古印宋简" pitchFamily="49" charset="-122"/>
                <a:ea typeface="苏新诗古印宋简" pitchFamily="49" charset="-122"/>
                <a:cs typeface="+mn-ea"/>
                <a:sym typeface="+mn-ea"/>
              </a:rPr>
              <a:t>(</a:t>
            </a:r>
            <a:r>
              <a:rPr lang="zh-CN" altLang="en-US" dirty="0" smtClean="0">
                <a:latin typeface="苏新诗古印宋简" pitchFamily="49" charset="-122"/>
                <a:ea typeface="苏新诗古印宋简" pitchFamily="49" charset="-122"/>
                <a:cs typeface="+mn-ea"/>
                <a:sym typeface="+mn-ea"/>
              </a:rPr>
              <a:t>宽</a:t>
            </a:r>
            <a:r>
              <a:rPr lang="en-US" altLang="zh-CN" dirty="0" smtClean="0">
                <a:latin typeface="苏新诗古印宋简" pitchFamily="49" charset="-122"/>
                <a:ea typeface="苏新诗古印宋简" pitchFamily="49" charset="-122"/>
                <a:cs typeface="+mn-ea"/>
                <a:sym typeface="+mn-ea"/>
              </a:rPr>
              <a:t>)</a:t>
            </a:r>
            <a:r>
              <a:rPr lang="zh-CN" altLang="en-US" dirty="0" smtClean="0">
                <a:latin typeface="苏新诗古印宋简" pitchFamily="49" charset="-122"/>
                <a:ea typeface="苏新诗古印宋简" pitchFamily="49" charset="-122"/>
                <a:cs typeface="+mn-ea"/>
                <a:sym typeface="+mn-ea"/>
              </a:rPr>
              <a:t>度</a:t>
            </a:r>
            <a:r>
              <a:rPr lang="zh-CN" altLang="en-US" dirty="0">
                <a:latin typeface="苏新诗古印宋简" pitchFamily="49" charset="-122"/>
                <a:ea typeface="苏新诗古印宋简" pitchFamily="49" charset="-122"/>
                <a:cs typeface="+mn-ea"/>
                <a:sym typeface="+mn-ea"/>
              </a:rPr>
              <a:t>优先搜索</a:t>
            </a:r>
            <a:r>
              <a:rPr lang="en-US" altLang="zh-CN" dirty="0" smtClean="0">
                <a:latin typeface="苏新诗古印宋简" pitchFamily="49" charset="-122"/>
                <a:ea typeface="苏新诗古印宋简" pitchFamily="49" charset="-122"/>
                <a:cs typeface="+mn-ea"/>
                <a:sym typeface="+mn-ea"/>
              </a:rPr>
              <a:t>(Breadth First Search)</a:t>
            </a:r>
            <a:r>
              <a:rPr lang="zh-CN" altLang="en-US" dirty="0" smtClean="0">
                <a:latin typeface="苏新诗古印宋简" pitchFamily="49" charset="-122"/>
                <a:ea typeface="苏新诗古印宋简" pitchFamily="49" charset="-122"/>
                <a:cs typeface="+mn-ea"/>
                <a:sym typeface="+mn-ea"/>
              </a:rPr>
              <a:t>，简称</a:t>
            </a:r>
            <a:r>
              <a:rPr lang="en-US" altLang="zh-CN" dirty="0" smtClean="0">
                <a:latin typeface="苏新诗古印宋简" pitchFamily="49" charset="-122"/>
                <a:ea typeface="苏新诗古印宋简" pitchFamily="49" charset="-122"/>
                <a:cs typeface="+mn-ea"/>
                <a:sym typeface="+mn-ea"/>
              </a:rPr>
              <a:t>BFS</a:t>
            </a:r>
            <a:r>
              <a:rPr lang="zh-CN" altLang="en-US" dirty="0">
                <a:latin typeface="苏新诗古印宋简" pitchFamily="49" charset="-122"/>
                <a:ea typeface="苏新诗古印宋简" pitchFamily="49" charset="-122"/>
                <a:cs typeface="+mn-ea"/>
                <a:sym typeface="+mn-ea"/>
              </a:rPr>
              <a:t>。</a:t>
            </a:r>
            <a:endParaRPr lang="en-US" altLang="zh-CN" dirty="0" smtClean="0">
              <a:latin typeface="苏新诗古印宋简" pitchFamily="49" charset="-122"/>
              <a:ea typeface="苏新诗古印宋简" pitchFamily="49" charset="-122"/>
              <a:cs typeface="+mn-ea"/>
            </a:endParaRPr>
          </a:p>
        </p:txBody>
      </p:sp>
      <p:sp>
        <p:nvSpPr>
          <p:cNvPr id="23" name="矩形 22"/>
          <p:cNvSpPr/>
          <p:nvPr/>
        </p:nvSpPr>
        <p:spPr>
          <a:xfrm>
            <a:off x="1996803" y="1738646"/>
            <a:ext cx="7327818" cy="108775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sym typeface="+mn-ea"/>
              </a:rPr>
              <a:t>在图论中，指的是一种用于遍历或搜索树或图的算法。所谓广度优先，就是说每次都尝试访问同一层的节点；如果同一层都访问完了，再访问下一层节点。</a:t>
            </a:r>
            <a:endParaRPr lang="en-US" altLang="zh-CN" dirty="0" smtClean="0">
              <a:cs typeface="+mn-ea"/>
            </a:endParaRP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4414" y="3461161"/>
            <a:ext cx="2571044" cy="2571044"/>
          </a:xfrm>
          <a:prstGeom prst="rect">
            <a:avLst/>
          </a:prstGeom>
        </p:spPr>
      </p:pic>
      <p:sp>
        <p:nvSpPr>
          <p:cNvPr id="13" name="矩形 12"/>
          <p:cNvSpPr/>
          <p:nvPr/>
        </p:nvSpPr>
        <p:spPr>
          <a:xfrm>
            <a:off x="3785527" y="3461161"/>
            <a:ext cx="7327818" cy="75565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sym typeface="+mn-ea"/>
              </a:rPr>
              <a:t>设</a:t>
            </a:r>
            <a:r>
              <a:rPr lang="en-US" altLang="zh-CN" dirty="0" smtClean="0">
                <a:cs typeface="+mn-ea"/>
                <a:sym typeface="+mn-ea"/>
              </a:rPr>
              <a:t>1</a:t>
            </a:r>
            <a:r>
              <a:rPr lang="zh-CN" altLang="en-US" dirty="0" smtClean="0">
                <a:cs typeface="+mn-ea"/>
                <a:sym typeface="+mn-ea"/>
              </a:rPr>
              <a:t>为这棵树的根</a:t>
            </a:r>
            <a:endParaRPr lang="en-US" altLang="zh-CN" dirty="0" smtClean="0">
              <a:cs typeface="+mn-ea"/>
            </a:endParaRPr>
          </a:p>
          <a:p>
            <a:pPr algn="just">
              <a:lnSpc>
                <a:spcPct val="120000"/>
              </a:lnSpc>
            </a:pPr>
            <a:r>
              <a:rPr lang="zh-CN" altLang="en-US" dirty="0" smtClean="0">
                <a:cs typeface="+mn-ea"/>
                <a:sym typeface="+mn-ea"/>
              </a:rPr>
              <a:t>则</a:t>
            </a:r>
            <a:r>
              <a:rPr lang="en-US" altLang="zh-CN" dirty="0" smtClean="0">
                <a:cs typeface="+mn-ea"/>
                <a:sym typeface="+mn-ea"/>
              </a:rPr>
              <a:t>BFS</a:t>
            </a:r>
            <a:r>
              <a:rPr lang="zh-CN" altLang="en-US" dirty="0" smtClean="0">
                <a:cs typeface="+mn-ea"/>
                <a:sym typeface="+mn-ea"/>
              </a:rPr>
              <a:t>的过程是：</a:t>
            </a:r>
            <a:r>
              <a:rPr lang="en-US" altLang="zh-CN" dirty="0" smtClean="0">
                <a:cs typeface="+mn-ea"/>
                <a:sym typeface="+mn-ea"/>
              </a:rPr>
              <a:t>1</a:t>
            </a:r>
            <a:r>
              <a:rPr lang="zh-CN" altLang="en-US" dirty="0" smtClean="0">
                <a:cs typeface="+mn-ea"/>
                <a:sym typeface="+mn-ea"/>
              </a:rPr>
              <a:t>、</a:t>
            </a:r>
            <a:r>
              <a:rPr lang="en-US" altLang="zh-CN" dirty="0" smtClean="0">
                <a:cs typeface="+mn-ea"/>
                <a:sym typeface="+mn-ea"/>
              </a:rPr>
              <a:t>2</a:t>
            </a:r>
            <a:r>
              <a:rPr lang="zh-CN" altLang="en-US" dirty="0" smtClean="0">
                <a:cs typeface="+mn-ea"/>
                <a:sym typeface="+mn-ea"/>
              </a:rPr>
              <a:t>、</a:t>
            </a:r>
            <a:r>
              <a:rPr lang="en-US" altLang="zh-CN" dirty="0" smtClean="0">
                <a:cs typeface="+mn-ea"/>
                <a:sym typeface="+mn-ea"/>
              </a:rPr>
              <a:t>5</a:t>
            </a:r>
            <a:r>
              <a:rPr lang="zh-CN" altLang="en-US" dirty="0" smtClean="0">
                <a:cs typeface="+mn-ea"/>
                <a:sym typeface="+mn-ea"/>
              </a:rPr>
              <a:t>、</a:t>
            </a:r>
            <a:r>
              <a:rPr lang="en-US" altLang="zh-CN" dirty="0" smtClean="0">
                <a:cs typeface="+mn-ea"/>
                <a:sym typeface="+mn-ea"/>
              </a:rPr>
              <a:t>3</a:t>
            </a:r>
            <a:r>
              <a:rPr lang="zh-CN" altLang="en-US" dirty="0" smtClean="0">
                <a:cs typeface="+mn-ea"/>
                <a:sym typeface="+mn-ea"/>
              </a:rPr>
              <a:t>、</a:t>
            </a:r>
            <a:r>
              <a:rPr lang="en-US" altLang="zh-CN" dirty="0" smtClean="0">
                <a:cs typeface="+mn-ea"/>
                <a:sym typeface="+mn-ea"/>
              </a:rPr>
              <a:t>4</a:t>
            </a:r>
            <a:r>
              <a:rPr lang="zh-CN" altLang="en-US" dirty="0" smtClean="0">
                <a:cs typeface="+mn-ea"/>
                <a:sym typeface="+mn-ea"/>
              </a:rPr>
              <a:t>、</a:t>
            </a:r>
            <a:r>
              <a:rPr lang="en-US" altLang="zh-CN" dirty="0" smtClean="0">
                <a:cs typeface="+mn-ea"/>
                <a:sym typeface="+mn-ea"/>
              </a:rPr>
              <a:t>6</a:t>
            </a:r>
            <a:r>
              <a:rPr lang="zh-CN" altLang="en-US" dirty="0" smtClean="0">
                <a:cs typeface="+mn-ea"/>
                <a:sym typeface="+mn-ea"/>
              </a:rPr>
              <a:t>。</a:t>
            </a:r>
            <a:endParaRPr lang="en-US" altLang="zh-CN" dirty="0" smtClean="0">
              <a:cs typeface="+mn-ea"/>
            </a:endParaRPr>
          </a:p>
        </p:txBody>
      </p:sp>
      <p:sp>
        <p:nvSpPr>
          <p:cNvPr id="14" name="矩形 13"/>
          <p:cNvSpPr/>
          <p:nvPr/>
        </p:nvSpPr>
        <p:spPr>
          <a:xfrm>
            <a:off x="3785527" y="4506876"/>
            <a:ext cx="7327818" cy="75565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sym typeface="+mn-ea"/>
              </a:rPr>
              <a:t>广度优先过程：根</a:t>
            </a:r>
            <a:r>
              <a:rPr lang="en-US" altLang="zh-CN" dirty="0" smtClean="0">
                <a:cs typeface="+mn-ea"/>
                <a:sym typeface="+mn-ea"/>
              </a:rPr>
              <a:t>1</a:t>
            </a:r>
            <a:r>
              <a:rPr lang="zh-CN" altLang="en-US" dirty="0" smtClean="0">
                <a:cs typeface="+mn-ea"/>
                <a:sym typeface="+mn-ea"/>
              </a:rPr>
              <a:t>入队；队首</a:t>
            </a:r>
            <a:r>
              <a:rPr lang="en-US" altLang="zh-CN" dirty="0" smtClean="0">
                <a:cs typeface="+mn-ea"/>
                <a:sym typeface="+mn-ea"/>
              </a:rPr>
              <a:t>1</a:t>
            </a:r>
            <a:r>
              <a:rPr lang="zh-CN" altLang="en-US" dirty="0" smtClean="0">
                <a:cs typeface="+mn-ea"/>
                <a:sym typeface="+mn-ea"/>
              </a:rPr>
              <a:t>出队，与</a:t>
            </a:r>
            <a:r>
              <a:rPr lang="en-US" altLang="zh-CN" dirty="0" smtClean="0">
                <a:cs typeface="+mn-ea"/>
                <a:sym typeface="+mn-ea"/>
              </a:rPr>
              <a:t>1</a:t>
            </a:r>
            <a:r>
              <a:rPr lang="zh-CN" altLang="en-US" dirty="0" smtClean="0">
                <a:cs typeface="+mn-ea"/>
                <a:sym typeface="+mn-ea"/>
              </a:rPr>
              <a:t>相连的</a:t>
            </a:r>
            <a:r>
              <a:rPr lang="en-US" altLang="zh-CN" dirty="0" smtClean="0">
                <a:cs typeface="+mn-ea"/>
                <a:sym typeface="+mn-ea"/>
              </a:rPr>
              <a:t>2</a:t>
            </a:r>
            <a:r>
              <a:rPr lang="zh-CN" altLang="en-US" dirty="0" smtClean="0">
                <a:cs typeface="+mn-ea"/>
                <a:sym typeface="+mn-ea"/>
              </a:rPr>
              <a:t>、</a:t>
            </a:r>
            <a:r>
              <a:rPr lang="en-US" altLang="zh-CN" dirty="0" smtClean="0">
                <a:cs typeface="+mn-ea"/>
                <a:sym typeface="+mn-ea"/>
              </a:rPr>
              <a:t>5</a:t>
            </a:r>
            <a:r>
              <a:rPr lang="zh-CN" altLang="en-US" dirty="0" smtClean="0">
                <a:cs typeface="+mn-ea"/>
                <a:sym typeface="+mn-ea"/>
              </a:rPr>
              <a:t>入队；队首</a:t>
            </a:r>
            <a:r>
              <a:rPr lang="en-US" altLang="zh-CN" dirty="0" smtClean="0">
                <a:cs typeface="+mn-ea"/>
                <a:sym typeface="+mn-ea"/>
              </a:rPr>
              <a:t>2</a:t>
            </a:r>
            <a:r>
              <a:rPr lang="zh-CN" altLang="en-US" dirty="0" smtClean="0">
                <a:cs typeface="+mn-ea"/>
                <a:sym typeface="+mn-ea"/>
              </a:rPr>
              <a:t>出队，与</a:t>
            </a:r>
            <a:r>
              <a:rPr lang="en-US" altLang="zh-CN" dirty="0" smtClean="0">
                <a:cs typeface="+mn-ea"/>
                <a:sym typeface="+mn-ea"/>
              </a:rPr>
              <a:t>2</a:t>
            </a:r>
            <a:r>
              <a:rPr lang="zh-CN" altLang="en-US" dirty="0" smtClean="0">
                <a:cs typeface="+mn-ea"/>
                <a:sym typeface="+mn-ea"/>
              </a:rPr>
              <a:t>相连的</a:t>
            </a:r>
            <a:r>
              <a:rPr lang="en-US" altLang="zh-CN" dirty="0" smtClean="0">
                <a:cs typeface="+mn-ea"/>
                <a:sym typeface="+mn-ea"/>
              </a:rPr>
              <a:t>3</a:t>
            </a:r>
            <a:r>
              <a:rPr lang="zh-CN" altLang="en-US" dirty="0" smtClean="0">
                <a:cs typeface="+mn-ea"/>
                <a:sym typeface="+mn-ea"/>
              </a:rPr>
              <a:t>入队</a:t>
            </a:r>
            <a:r>
              <a:rPr lang="en-US" altLang="zh-CN" dirty="0" smtClean="0">
                <a:cs typeface="+mn-ea"/>
                <a:sym typeface="+mn-ea"/>
              </a:rPr>
              <a:t>……</a:t>
            </a:r>
            <a:r>
              <a:rPr lang="zh-CN" altLang="en-US" dirty="0" smtClean="0">
                <a:cs typeface="+mn-ea"/>
                <a:sym typeface="+mn-ea"/>
              </a:rPr>
              <a:t>以此类推直到所有点都被遍历完。</a:t>
            </a:r>
            <a:endParaRPr lang="en-US" altLang="zh-CN" dirty="0" smtClean="0">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3"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049689" y="177223"/>
            <a:ext cx="156966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深度优先搜索</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3" name="矩形 22"/>
          <p:cNvSpPr/>
          <p:nvPr/>
        </p:nvSpPr>
        <p:spPr>
          <a:xfrm>
            <a:off x="2017758" y="1845961"/>
            <a:ext cx="7327818" cy="75713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在搜索中，可以看作在“搜索树”结构上进行逐层遍历，所以当找到答案时，该答案</a:t>
            </a:r>
            <a:r>
              <a:rPr lang="zh-CN" altLang="en-US" dirty="0" smtClean="0">
                <a:cs typeface="+mn-ea"/>
              </a:rPr>
              <a:t>一定是深度最浅的，也就是能找到</a:t>
            </a:r>
            <a:r>
              <a:rPr lang="zh-CN" altLang="en-US" b="1" dirty="0" smtClean="0">
                <a:cs typeface="+mn-ea"/>
              </a:rPr>
              <a:t>最优解</a:t>
            </a:r>
            <a:r>
              <a:rPr lang="zh-CN" altLang="en-US" dirty="0" smtClean="0">
                <a:cs typeface="+mn-ea"/>
              </a:rPr>
              <a:t>。</a:t>
            </a:r>
            <a:endParaRPr lang="en-US" altLang="zh-CN" dirty="0" smtClean="0">
              <a:cs typeface="+mn-ea"/>
            </a:endParaRPr>
          </a:p>
        </p:txBody>
      </p:sp>
      <p:sp>
        <p:nvSpPr>
          <p:cNvPr id="16" name="矩形 15"/>
          <p:cNvSpPr/>
          <p:nvPr/>
        </p:nvSpPr>
        <p:spPr>
          <a:xfrm>
            <a:off x="1996522" y="2670401"/>
            <a:ext cx="7327818" cy="75713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a:cs typeface="+mn-ea"/>
              </a:rPr>
              <a:t>使用</a:t>
            </a:r>
            <a:r>
              <a:rPr lang="zh-CN" altLang="en-US" dirty="0" smtClean="0">
                <a:cs typeface="+mn-ea"/>
              </a:rPr>
              <a:t>队列保存待扩展状态，由于队列先进后出的特点，保证了搜索树上同一层状态一定依次被访问；同时，队列中的状态具有层次单调性。</a:t>
            </a:r>
            <a:endParaRPr lang="en-US" altLang="zh-CN" dirty="0">
              <a:cs typeface="+mn-ea"/>
            </a:endParaRPr>
          </a:p>
        </p:txBody>
      </p:sp>
      <p:sp>
        <p:nvSpPr>
          <p:cNvPr id="18" name="矩形 17"/>
          <p:cNvSpPr/>
          <p:nvPr/>
        </p:nvSpPr>
        <p:spPr>
          <a:xfrm>
            <a:off x="2007317" y="3561516"/>
            <a:ext cx="7317304" cy="1089529"/>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如果每一次扩展恰好对应一步，那么当一个状态</a:t>
            </a:r>
            <a:r>
              <a:rPr lang="zh-CN" altLang="en-US" b="1" dirty="0" smtClean="0">
                <a:cs typeface="+mn-ea"/>
              </a:rPr>
              <a:t>第一次被登记</a:t>
            </a:r>
            <a:r>
              <a:rPr lang="en-US" altLang="zh-CN" dirty="0" smtClean="0">
                <a:cs typeface="+mn-ea"/>
              </a:rPr>
              <a:t>(</a:t>
            </a:r>
            <a:r>
              <a:rPr lang="zh-CN" altLang="en-US" dirty="0">
                <a:cs typeface="+mn-ea"/>
              </a:rPr>
              <a:t>入队</a:t>
            </a:r>
            <a:r>
              <a:rPr lang="en-US" altLang="zh-CN" dirty="0" smtClean="0">
                <a:cs typeface="+mn-ea"/>
              </a:rPr>
              <a:t>)</a:t>
            </a:r>
            <a:r>
              <a:rPr lang="zh-CN" altLang="en-US" dirty="0" smtClean="0">
                <a:cs typeface="+mn-ea"/>
              </a:rPr>
              <a:t>，就得到了起始状态到达该状态的最小步数，因此每个状态只</a:t>
            </a:r>
            <a:r>
              <a:rPr lang="zh-CN" altLang="en-US" b="1" dirty="0" smtClean="0">
                <a:cs typeface="+mn-ea"/>
              </a:rPr>
              <a:t>入队一次，出队一次</a:t>
            </a:r>
            <a:r>
              <a:rPr lang="zh-CN" altLang="en-US" dirty="0" smtClean="0">
                <a:cs typeface="+mn-ea"/>
              </a:rPr>
              <a:t>。</a:t>
            </a:r>
            <a:endParaRPr lang="en-US" altLang="zh-CN" dirty="0" smtClean="0">
              <a:cs typeface="+mn-ea"/>
            </a:endParaRPr>
          </a:p>
        </p:txBody>
      </p:sp>
      <p:sp>
        <p:nvSpPr>
          <p:cNvPr id="13" name="矩形 12"/>
          <p:cNvSpPr/>
          <p:nvPr/>
        </p:nvSpPr>
        <p:spPr>
          <a:xfrm>
            <a:off x="2007036" y="4808412"/>
            <a:ext cx="7317304" cy="39613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对应到图论算法，普通广搜相当于在边权都为</a:t>
            </a:r>
            <a:r>
              <a:rPr lang="en-US" altLang="zh-CN" dirty="0" smtClean="0">
                <a:cs typeface="+mn-ea"/>
              </a:rPr>
              <a:t>1</a:t>
            </a:r>
            <a:r>
              <a:rPr lang="zh-CN" altLang="en-US" dirty="0" smtClean="0">
                <a:cs typeface="+mn-ea"/>
              </a:rPr>
              <a:t>的图上求最短路。</a:t>
            </a:r>
            <a:endParaRPr lang="en-US" altLang="zh-CN" dirty="0" smtClean="0">
              <a:cs typeface="+mn-ea"/>
            </a:endParaRPr>
          </a:p>
        </p:txBody>
      </p:sp>
      <p:sp>
        <p:nvSpPr>
          <p:cNvPr id="2" name="矩形 1"/>
          <p:cNvSpPr/>
          <p:nvPr/>
        </p:nvSpPr>
        <p:spPr>
          <a:xfrm>
            <a:off x="1996802" y="1313914"/>
            <a:ext cx="7327819" cy="423545"/>
          </a:xfrm>
          <a:prstGeom prst="rect">
            <a:avLst/>
          </a:prstGeom>
        </p:spPr>
        <p:txBody>
          <a:bodyPr wrap="square">
            <a:spAutoFit/>
            <a:scene3d>
              <a:camera prst="orthographicFront"/>
              <a:lightRig rig="threePt" dir="t"/>
            </a:scene3d>
            <a:sp3d contourW="12700"/>
          </a:bodyPr>
          <a:p>
            <a:pPr algn="just">
              <a:lnSpc>
                <a:spcPct val="120000"/>
              </a:lnSpc>
            </a:pPr>
            <a:r>
              <a:rPr lang="zh-CN" altLang="en-US" dirty="0" smtClean="0">
                <a:latin typeface="苏新诗古印宋简" pitchFamily="49" charset="-122"/>
                <a:ea typeface="苏新诗古印宋简" pitchFamily="49" charset="-122"/>
                <a:cs typeface="+mn-ea"/>
                <a:sym typeface="+mn-ea"/>
              </a:rPr>
              <a:t>广</a:t>
            </a:r>
            <a:r>
              <a:rPr lang="en-US" altLang="zh-CN" dirty="0" smtClean="0">
                <a:latin typeface="苏新诗古印宋简" pitchFamily="49" charset="-122"/>
                <a:ea typeface="苏新诗古印宋简" pitchFamily="49" charset="-122"/>
                <a:cs typeface="+mn-ea"/>
                <a:sym typeface="+mn-ea"/>
              </a:rPr>
              <a:t>(</a:t>
            </a:r>
            <a:r>
              <a:rPr lang="zh-CN" altLang="en-US" dirty="0" smtClean="0">
                <a:latin typeface="苏新诗古印宋简" pitchFamily="49" charset="-122"/>
                <a:ea typeface="苏新诗古印宋简" pitchFamily="49" charset="-122"/>
                <a:cs typeface="+mn-ea"/>
                <a:sym typeface="+mn-ea"/>
              </a:rPr>
              <a:t>宽</a:t>
            </a:r>
            <a:r>
              <a:rPr lang="en-US" altLang="zh-CN" dirty="0" smtClean="0">
                <a:latin typeface="苏新诗古印宋简" pitchFamily="49" charset="-122"/>
                <a:ea typeface="苏新诗古印宋简" pitchFamily="49" charset="-122"/>
                <a:cs typeface="+mn-ea"/>
                <a:sym typeface="+mn-ea"/>
              </a:rPr>
              <a:t>)</a:t>
            </a:r>
            <a:r>
              <a:rPr lang="zh-CN" altLang="en-US" dirty="0" smtClean="0">
                <a:latin typeface="苏新诗古印宋简" pitchFamily="49" charset="-122"/>
                <a:ea typeface="苏新诗古印宋简" pitchFamily="49" charset="-122"/>
                <a:cs typeface="+mn-ea"/>
                <a:sym typeface="+mn-ea"/>
              </a:rPr>
              <a:t>度</a:t>
            </a:r>
            <a:r>
              <a:rPr lang="zh-CN" altLang="en-US" dirty="0">
                <a:latin typeface="苏新诗古印宋简" pitchFamily="49" charset="-122"/>
                <a:ea typeface="苏新诗古印宋简" pitchFamily="49" charset="-122"/>
                <a:cs typeface="+mn-ea"/>
                <a:sym typeface="+mn-ea"/>
              </a:rPr>
              <a:t>优先搜索</a:t>
            </a:r>
            <a:r>
              <a:rPr lang="en-US" altLang="zh-CN" dirty="0" smtClean="0">
                <a:latin typeface="苏新诗古印宋简" pitchFamily="49" charset="-122"/>
                <a:ea typeface="苏新诗古印宋简" pitchFamily="49" charset="-122"/>
                <a:cs typeface="+mn-ea"/>
                <a:sym typeface="+mn-ea"/>
              </a:rPr>
              <a:t>(Breadth First Search)</a:t>
            </a:r>
            <a:r>
              <a:rPr lang="zh-CN" altLang="en-US" dirty="0" smtClean="0">
                <a:latin typeface="苏新诗古印宋简" pitchFamily="49" charset="-122"/>
                <a:ea typeface="苏新诗古印宋简" pitchFamily="49" charset="-122"/>
                <a:cs typeface="+mn-ea"/>
                <a:sym typeface="+mn-ea"/>
              </a:rPr>
              <a:t>，简称</a:t>
            </a:r>
            <a:r>
              <a:rPr lang="en-US" altLang="zh-CN" dirty="0" smtClean="0">
                <a:latin typeface="苏新诗古印宋简" pitchFamily="49" charset="-122"/>
                <a:ea typeface="苏新诗古印宋简" pitchFamily="49" charset="-122"/>
                <a:cs typeface="+mn-ea"/>
                <a:sym typeface="+mn-ea"/>
              </a:rPr>
              <a:t>BFS</a:t>
            </a:r>
            <a:r>
              <a:rPr lang="zh-CN" altLang="en-US" dirty="0">
                <a:latin typeface="苏新诗古印宋简" pitchFamily="49" charset="-122"/>
                <a:ea typeface="苏新诗古印宋简" pitchFamily="49" charset="-122"/>
                <a:cs typeface="+mn-ea"/>
                <a:sym typeface="+mn-ea"/>
              </a:rPr>
              <a:t>。</a:t>
            </a:r>
            <a:endParaRPr lang="en-US" altLang="zh-CN" dirty="0" smtClean="0">
              <a:latin typeface="苏新诗古印宋简" pitchFamily="49" charset="-122"/>
              <a:ea typeface="苏新诗古印宋简" pitchFamily="49"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049689" y="177223"/>
            <a:ext cx="156966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深度优先搜索</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3" name="矩形 22"/>
          <p:cNvSpPr/>
          <p:nvPr/>
        </p:nvSpPr>
        <p:spPr>
          <a:xfrm>
            <a:off x="1996803" y="1846596"/>
            <a:ext cx="7327818" cy="75713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在搜索中，可以看作在“搜索树”结构上进行逐层遍历，所以当找到答案时，该答案</a:t>
            </a:r>
            <a:r>
              <a:rPr lang="zh-CN" altLang="en-US" dirty="0" smtClean="0">
                <a:cs typeface="+mn-ea"/>
              </a:rPr>
              <a:t>一定是深度最浅的，也就是能找到</a:t>
            </a:r>
            <a:r>
              <a:rPr lang="zh-CN" altLang="en-US" b="1" dirty="0" smtClean="0">
                <a:cs typeface="+mn-ea"/>
              </a:rPr>
              <a:t>最优解</a:t>
            </a:r>
            <a:r>
              <a:rPr lang="zh-CN" altLang="en-US" dirty="0" smtClean="0">
                <a:cs typeface="+mn-ea"/>
              </a:rPr>
              <a:t>。</a:t>
            </a:r>
            <a:endParaRPr lang="en-US" altLang="zh-CN" dirty="0" smtClean="0">
              <a:cs typeface="+mn-ea"/>
            </a:endParaRPr>
          </a:p>
        </p:txBody>
      </p:sp>
      <p:sp>
        <p:nvSpPr>
          <p:cNvPr id="17" name="矩形 16"/>
          <p:cNvSpPr/>
          <p:nvPr/>
        </p:nvSpPr>
        <p:spPr>
          <a:xfrm>
            <a:off x="1997075" y="2787015"/>
            <a:ext cx="3673475" cy="2245360"/>
          </a:xfrm>
          <a:prstGeom prst="rect">
            <a:avLst/>
          </a:prstGeom>
        </p:spPr>
        <p:txBody>
          <a:bodyPr wrap="square">
            <a:spAutoFit/>
            <a:scene3d>
              <a:camera prst="orthographicFront"/>
              <a:lightRig rig="threePt" dir="t"/>
            </a:scene3d>
            <a:sp3d contourW="12700"/>
          </a:bodyPr>
          <a:lstStyle/>
          <a:p>
            <a:r>
              <a:rPr lang="en-US" altLang="zh-CN" sz="1400" dirty="0"/>
              <a:t>   </a:t>
            </a:r>
            <a:r>
              <a:rPr lang="en-US" altLang="zh-CN" sz="1400" dirty="0" err="1"/>
              <a:t>bfs</a:t>
            </a:r>
            <a:r>
              <a:rPr lang="en-US" altLang="zh-CN" sz="1400" dirty="0"/>
              <a:t>(s)</a:t>
            </a:r>
            <a:endParaRPr lang="en-US" altLang="zh-CN" sz="1400" dirty="0"/>
          </a:p>
          <a:p>
            <a:r>
              <a:rPr lang="en-US" altLang="zh-CN" sz="1400" dirty="0"/>
              <a:t> </a:t>
            </a:r>
            <a:r>
              <a:rPr lang="en-US" altLang="zh-CN" sz="1400" dirty="0" smtClean="0"/>
              <a:t>     q = new </a:t>
            </a:r>
            <a:r>
              <a:rPr lang="en-US" altLang="zh-CN" sz="1400" dirty="0"/>
              <a:t>queue()</a:t>
            </a:r>
            <a:endParaRPr lang="en-US" altLang="zh-CN" sz="1400" dirty="0"/>
          </a:p>
          <a:p>
            <a:r>
              <a:rPr lang="en-US" altLang="zh-CN" sz="1400" dirty="0" smtClean="0"/>
              <a:t>      </a:t>
            </a:r>
            <a:r>
              <a:rPr lang="en-US" altLang="zh-CN" sz="1400" dirty="0" err="1" smtClean="0"/>
              <a:t>vis.set</a:t>
            </a:r>
            <a:r>
              <a:rPr lang="en-US" altLang="zh-CN" sz="1400" dirty="0" smtClean="0"/>
              <a:t>(false</a:t>
            </a:r>
            <a:r>
              <a:rPr lang="en-US" altLang="zh-CN" sz="1400" dirty="0"/>
              <a:t>)</a:t>
            </a:r>
            <a:endParaRPr lang="en-US" altLang="zh-CN" sz="1400" dirty="0"/>
          </a:p>
          <a:p>
            <a:r>
              <a:rPr lang="en-US" altLang="zh-CN" sz="1400" dirty="0"/>
              <a:t>      </a:t>
            </a:r>
            <a:r>
              <a:rPr lang="en-US" altLang="zh-CN" sz="1400" dirty="0" err="1" smtClean="0"/>
              <a:t>q.push</a:t>
            </a:r>
            <a:r>
              <a:rPr lang="en-US" altLang="zh-CN" sz="1400" dirty="0" smtClean="0"/>
              <a:t>(s</a:t>
            </a:r>
            <a:r>
              <a:rPr lang="en-US" altLang="zh-CN" sz="1400" dirty="0"/>
              <a:t>),</a:t>
            </a:r>
            <a:r>
              <a:rPr lang="en-US" altLang="zh-CN" sz="1400" dirty="0" err="1"/>
              <a:t>vis</a:t>
            </a:r>
            <a:r>
              <a:rPr lang="en-US" altLang="zh-CN" sz="1400" dirty="0"/>
              <a:t>[s] = true</a:t>
            </a:r>
            <a:endParaRPr lang="en-US" altLang="zh-CN" sz="1400" dirty="0"/>
          </a:p>
          <a:p>
            <a:r>
              <a:rPr lang="en-US" altLang="zh-CN" sz="1400" dirty="0"/>
              <a:t> </a:t>
            </a:r>
            <a:r>
              <a:rPr lang="en-US" altLang="zh-CN" sz="1400" dirty="0" smtClean="0"/>
              <a:t>     while </a:t>
            </a:r>
            <a:r>
              <a:rPr lang="en-US" altLang="zh-CN" sz="1400" dirty="0"/>
              <a:t>(!</a:t>
            </a:r>
            <a:r>
              <a:rPr lang="en-US" altLang="zh-CN" sz="1400" dirty="0" err="1"/>
              <a:t>q.empty</a:t>
            </a:r>
            <a:r>
              <a:rPr lang="en-US" altLang="zh-CN" sz="1400" dirty="0"/>
              <a:t>())</a:t>
            </a:r>
            <a:endParaRPr lang="en-US" altLang="zh-CN" sz="1400" dirty="0"/>
          </a:p>
          <a:p>
            <a:r>
              <a:rPr lang="en-US" altLang="zh-CN" sz="1400" dirty="0" smtClean="0"/>
              <a:t>          u = </a:t>
            </a:r>
            <a:r>
              <a:rPr lang="en-US" altLang="zh-CN" sz="1400" dirty="0" err="1" smtClean="0"/>
              <a:t>q.pop</a:t>
            </a:r>
            <a:r>
              <a:rPr lang="en-US" altLang="zh-CN" sz="1400" dirty="0"/>
              <a:t>()</a:t>
            </a:r>
            <a:endParaRPr lang="en-US" altLang="zh-CN" sz="1400" dirty="0"/>
          </a:p>
          <a:p>
            <a:r>
              <a:rPr lang="en-US" altLang="zh-CN" sz="1400" dirty="0" smtClean="0"/>
              <a:t>          for </a:t>
            </a:r>
            <a:r>
              <a:rPr lang="en-US" altLang="zh-CN" sz="1400" dirty="0"/>
              <a:t>each edge(</a:t>
            </a:r>
            <a:r>
              <a:rPr lang="en-US" altLang="zh-CN" sz="1400" dirty="0" err="1"/>
              <a:t>u, v</a:t>
            </a:r>
            <a:r>
              <a:rPr lang="en-US" altLang="zh-CN" sz="1400" dirty="0"/>
              <a:t>)</a:t>
            </a:r>
            <a:endParaRPr lang="en-US" altLang="zh-CN" sz="1400" dirty="0"/>
          </a:p>
          <a:p>
            <a:r>
              <a:rPr lang="en-US" altLang="zh-CN" sz="1400" dirty="0" smtClean="0"/>
              <a:t>              if </a:t>
            </a:r>
            <a:r>
              <a:rPr lang="en-US" altLang="zh-CN" sz="1400" dirty="0"/>
              <a:t>(!</a:t>
            </a:r>
            <a:r>
              <a:rPr lang="en-US" altLang="zh-CN" sz="1400" dirty="0" err="1"/>
              <a:t>vis</a:t>
            </a:r>
            <a:r>
              <a:rPr lang="en-US" altLang="zh-CN" sz="1400" dirty="0"/>
              <a:t>[v])</a:t>
            </a:r>
            <a:endParaRPr lang="en-US" altLang="zh-CN" sz="1400" dirty="0"/>
          </a:p>
          <a:p>
            <a:r>
              <a:rPr lang="en-US" altLang="zh-CN" sz="1400" dirty="0"/>
              <a:t>	</a:t>
            </a:r>
            <a:r>
              <a:rPr lang="en-US" altLang="zh-CN" sz="1400" dirty="0" err="1" smtClean="0"/>
              <a:t>q.push</a:t>
            </a:r>
            <a:r>
              <a:rPr lang="en-US" altLang="zh-CN" sz="1400" dirty="0" smtClean="0"/>
              <a:t>(v</a:t>
            </a:r>
            <a:r>
              <a:rPr lang="en-US" altLang="zh-CN" sz="1400" dirty="0"/>
              <a:t>)</a:t>
            </a:r>
            <a:endParaRPr lang="en-US" altLang="zh-CN" sz="1400" dirty="0"/>
          </a:p>
          <a:p>
            <a:r>
              <a:rPr lang="en-US" altLang="zh-CN" sz="1400" dirty="0" smtClean="0"/>
              <a:t>	</a:t>
            </a:r>
            <a:r>
              <a:rPr lang="en-US" altLang="zh-CN" sz="1400" dirty="0" err="1" smtClean="0"/>
              <a:t>vis</a:t>
            </a:r>
            <a:r>
              <a:rPr lang="en-US" altLang="zh-CN" sz="1400" dirty="0" smtClean="0"/>
              <a:t>[v</a:t>
            </a:r>
            <a:r>
              <a:rPr lang="en-US" altLang="zh-CN" sz="1400" dirty="0"/>
              <a:t>]=true</a:t>
            </a:r>
            <a:endParaRPr lang="en-US" altLang="zh-CN" sz="1400" dirty="0" smtClean="0"/>
          </a:p>
        </p:txBody>
      </p:sp>
      <p:sp>
        <p:nvSpPr>
          <p:cNvPr id="22" name="矩形 21"/>
          <p:cNvSpPr/>
          <p:nvPr/>
        </p:nvSpPr>
        <p:spPr>
          <a:xfrm>
            <a:off x="5670550" y="2787015"/>
            <a:ext cx="4378325" cy="274828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初始化起始状态，加入队列；</a:t>
            </a:r>
            <a:endParaRPr lang="zh-CN" altLang="en-US" dirty="0" smtClean="0">
              <a:cs typeface="+mn-ea"/>
            </a:endParaRPr>
          </a:p>
          <a:p>
            <a:pPr algn="just">
              <a:lnSpc>
                <a:spcPct val="120000"/>
              </a:lnSpc>
            </a:pPr>
            <a:endParaRPr lang="zh-CN" altLang="en-US" dirty="0" smtClean="0">
              <a:cs typeface="+mn-ea"/>
            </a:endParaRPr>
          </a:p>
          <a:p>
            <a:pPr algn="just">
              <a:lnSpc>
                <a:spcPct val="120000"/>
              </a:lnSpc>
            </a:pPr>
            <a:r>
              <a:rPr lang="zh-CN" altLang="en-US" dirty="0" smtClean="0">
                <a:cs typeface="+mn-ea"/>
              </a:rPr>
              <a:t>从队首取出一个状态，扩展它可达的所有状态，如果扩展到的状态</a:t>
            </a:r>
            <a:r>
              <a:rPr lang="zh-CN" altLang="en-US" b="1" dirty="0" smtClean="0">
                <a:cs typeface="+mn-ea"/>
              </a:rPr>
              <a:t>没有加入过队列</a:t>
            </a:r>
            <a:r>
              <a:rPr lang="zh-CN" altLang="en-US" dirty="0" smtClean="0">
                <a:cs typeface="+mn-ea"/>
              </a:rPr>
              <a:t>，将其标记为已访问过，并加入队尾；</a:t>
            </a:r>
            <a:endParaRPr lang="zh-CN" altLang="en-US" dirty="0" smtClean="0">
              <a:cs typeface="+mn-ea"/>
            </a:endParaRPr>
          </a:p>
          <a:p>
            <a:pPr algn="just">
              <a:lnSpc>
                <a:spcPct val="120000"/>
              </a:lnSpc>
            </a:pPr>
            <a:endParaRPr lang="zh-CN" altLang="en-US" dirty="0" smtClean="0">
              <a:cs typeface="+mn-ea"/>
            </a:endParaRPr>
          </a:p>
          <a:p>
            <a:pPr algn="just">
              <a:lnSpc>
                <a:spcPct val="120000"/>
              </a:lnSpc>
            </a:pPr>
            <a:r>
              <a:rPr lang="zh-CN" altLang="en-US" dirty="0" smtClean="0">
                <a:cs typeface="+mn-ea"/>
              </a:rPr>
              <a:t>重复执行第</a:t>
            </a:r>
            <a:r>
              <a:rPr lang="en-US" altLang="zh-CN" dirty="0" smtClean="0">
                <a:cs typeface="+mn-ea"/>
              </a:rPr>
              <a:t>2</a:t>
            </a:r>
            <a:r>
              <a:rPr lang="zh-CN" altLang="en-US" dirty="0" smtClean="0">
                <a:cs typeface="+mn-ea"/>
              </a:rPr>
              <a:t>步，直到队列为空或者找到答案</a:t>
            </a:r>
            <a:endParaRPr lang="zh-CN" altLang="en-US" dirty="0" smtClean="0">
              <a:cs typeface="+mn-ea"/>
            </a:endParaRPr>
          </a:p>
        </p:txBody>
      </p:sp>
      <p:sp>
        <p:nvSpPr>
          <p:cNvPr id="2" name="矩形 1"/>
          <p:cNvSpPr/>
          <p:nvPr/>
        </p:nvSpPr>
        <p:spPr>
          <a:xfrm>
            <a:off x="1996802" y="1313914"/>
            <a:ext cx="7327819" cy="423545"/>
          </a:xfrm>
          <a:prstGeom prst="rect">
            <a:avLst/>
          </a:prstGeom>
        </p:spPr>
        <p:txBody>
          <a:bodyPr wrap="square">
            <a:spAutoFit/>
            <a:scene3d>
              <a:camera prst="orthographicFront"/>
              <a:lightRig rig="threePt" dir="t"/>
            </a:scene3d>
            <a:sp3d contourW="12700"/>
          </a:bodyPr>
          <a:p>
            <a:pPr algn="just">
              <a:lnSpc>
                <a:spcPct val="120000"/>
              </a:lnSpc>
            </a:pPr>
            <a:r>
              <a:rPr lang="zh-CN" altLang="en-US" dirty="0" smtClean="0">
                <a:latin typeface="苏新诗古印宋简" pitchFamily="49" charset="-122"/>
                <a:ea typeface="苏新诗古印宋简" pitchFamily="49" charset="-122"/>
                <a:cs typeface="+mn-ea"/>
                <a:sym typeface="+mn-ea"/>
              </a:rPr>
              <a:t>广</a:t>
            </a:r>
            <a:r>
              <a:rPr lang="en-US" altLang="zh-CN" dirty="0" smtClean="0">
                <a:latin typeface="苏新诗古印宋简" pitchFamily="49" charset="-122"/>
                <a:ea typeface="苏新诗古印宋简" pitchFamily="49" charset="-122"/>
                <a:cs typeface="+mn-ea"/>
                <a:sym typeface="+mn-ea"/>
              </a:rPr>
              <a:t>(</a:t>
            </a:r>
            <a:r>
              <a:rPr lang="zh-CN" altLang="en-US" dirty="0" smtClean="0">
                <a:latin typeface="苏新诗古印宋简" pitchFamily="49" charset="-122"/>
                <a:ea typeface="苏新诗古印宋简" pitchFamily="49" charset="-122"/>
                <a:cs typeface="+mn-ea"/>
                <a:sym typeface="+mn-ea"/>
              </a:rPr>
              <a:t>宽</a:t>
            </a:r>
            <a:r>
              <a:rPr lang="en-US" altLang="zh-CN" dirty="0" smtClean="0">
                <a:latin typeface="苏新诗古印宋简" pitchFamily="49" charset="-122"/>
                <a:ea typeface="苏新诗古印宋简" pitchFamily="49" charset="-122"/>
                <a:cs typeface="+mn-ea"/>
                <a:sym typeface="+mn-ea"/>
              </a:rPr>
              <a:t>)</a:t>
            </a:r>
            <a:r>
              <a:rPr lang="zh-CN" altLang="en-US" dirty="0" smtClean="0">
                <a:latin typeface="苏新诗古印宋简" pitchFamily="49" charset="-122"/>
                <a:ea typeface="苏新诗古印宋简" pitchFamily="49" charset="-122"/>
                <a:cs typeface="+mn-ea"/>
                <a:sym typeface="+mn-ea"/>
              </a:rPr>
              <a:t>度</a:t>
            </a:r>
            <a:r>
              <a:rPr lang="zh-CN" altLang="en-US" dirty="0">
                <a:latin typeface="苏新诗古印宋简" pitchFamily="49" charset="-122"/>
                <a:ea typeface="苏新诗古印宋简" pitchFamily="49" charset="-122"/>
                <a:cs typeface="+mn-ea"/>
                <a:sym typeface="+mn-ea"/>
              </a:rPr>
              <a:t>优先搜索</a:t>
            </a:r>
            <a:r>
              <a:rPr lang="en-US" altLang="zh-CN" dirty="0" smtClean="0">
                <a:latin typeface="苏新诗古印宋简" pitchFamily="49" charset="-122"/>
                <a:ea typeface="苏新诗古印宋简" pitchFamily="49" charset="-122"/>
                <a:cs typeface="+mn-ea"/>
                <a:sym typeface="+mn-ea"/>
              </a:rPr>
              <a:t>(Breadth First Search)</a:t>
            </a:r>
            <a:r>
              <a:rPr lang="zh-CN" altLang="en-US" dirty="0" smtClean="0">
                <a:latin typeface="苏新诗古印宋简" pitchFamily="49" charset="-122"/>
                <a:ea typeface="苏新诗古印宋简" pitchFamily="49" charset="-122"/>
                <a:cs typeface="+mn-ea"/>
                <a:sym typeface="+mn-ea"/>
              </a:rPr>
              <a:t>，简称</a:t>
            </a:r>
            <a:r>
              <a:rPr lang="en-US" altLang="zh-CN" dirty="0" smtClean="0">
                <a:latin typeface="苏新诗古印宋简" pitchFamily="49" charset="-122"/>
                <a:ea typeface="苏新诗古印宋简" pitchFamily="49" charset="-122"/>
                <a:cs typeface="+mn-ea"/>
                <a:sym typeface="+mn-ea"/>
              </a:rPr>
              <a:t>BFS</a:t>
            </a:r>
            <a:r>
              <a:rPr lang="zh-CN" altLang="en-US" dirty="0">
                <a:latin typeface="苏新诗古印宋简" pitchFamily="49" charset="-122"/>
                <a:ea typeface="苏新诗古印宋简" pitchFamily="49" charset="-122"/>
                <a:cs typeface="+mn-ea"/>
                <a:sym typeface="+mn-ea"/>
              </a:rPr>
              <a:t>。</a:t>
            </a:r>
            <a:endParaRPr lang="en-US" altLang="zh-CN" dirty="0" smtClean="0">
              <a:latin typeface="苏新诗古印宋简" pitchFamily="49" charset="-122"/>
              <a:ea typeface="苏新诗古印宋简" pitchFamily="49"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7"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9799622" y="177223"/>
            <a:ext cx="2069797" cy="369332"/>
          </a:xfrm>
          <a:prstGeom prst="rect">
            <a:avLst/>
          </a:prstGeom>
          <a:noFill/>
        </p:spPr>
        <p:txBody>
          <a:bodyPr wrap="none" rtlCol="0">
            <a:spAutoFit/>
            <a:scene3d>
              <a:camera prst="orthographicFront"/>
              <a:lightRig rig="threePt" dir="t"/>
            </a:scene3d>
            <a:sp3d extrusionH="12700"/>
          </a:bodyPr>
          <a:lstStyle/>
          <a:p>
            <a:pPr algn="ctr"/>
            <a:r>
              <a:rPr lang="en-US" altLang="zh-CN" dirty="0" smtClean="0">
                <a:solidFill>
                  <a:schemeClr val="bg1"/>
                </a:solidFill>
                <a:effectLst>
                  <a:outerShdw blurRad="203200" dist="38100" dir="5400000" algn="t" rotWithShape="0">
                    <a:prstClr val="black">
                      <a:alpha val="83000"/>
                    </a:prstClr>
                  </a:outerShdw>
                </a:effectLst>
                <a:cs typeface="+mn-ea"/>
                <a:sym typeface="+mn-lt"/>
              </a:rPr>
              <a:t>P1332 </a:t>
            </a:r>
            <a:r>
              <a:rPr lang="zh-CN" altLang="en-US" dirty="0" smtClean="0">
                <a:solidFill>
                  <a:schemeClr val="bg1"/>
                </a:solidFill>
                <a:effectLst>
                  <a:outerShdw blurRad="203200" dist="38100" dir="5400000" algn="t" rotWithShape="0">
                    <a:prstClr val="black">
                      <a:alpha val="83000"/>
                    </a:prstClr>
                  </a:outerShdw>
                </a:effectLst>
                <a:cs typeface="+mn-ea"/>
                <a:sym typeface="+mn-lt"/>
              </a:rPr>
              <a:t>血色先锋队</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1477328"/>
          </a:xfrm>
          <a:prstGeom prst="rect">
            <a:avLst/>
          </a:prstGeom>
        </p:spPr>
        <p:txBody>
          <a:bodyPr wrap="square">
            <a:spAutoFit/>
            <a:scene3d>
              <a:camera prst="orthographicFront"/>
              <a:lightRig rig="threePt" dir="t"/>
            </a:scene3d>
            <a:sp3d contourW="12700"/>
          </a:bodyPr>
          <a:lstStyle/>
          <a:p>
            <a:pPr algn="ctr"/>
            <a:r>
              <a:rPr lang="zh-CN" altLang="en-US" b="1" dirty="0" smtClean="0"/>
              <a:t>血色先锋队</a:t>
            </a:r>
            <a:endParaRPr lang="zh-CN" altLang="zh-CN" dirty="0"/>
          </a:p>
          <a:p>
            <a:r>
              <a:rPr lang="zh-CN" altLang="zh-CN" b="1" dirty="0"/>
              <a:t>【题目描述】</a:t>
            </a:r>
            <a:endParaRPr lang="zh-CN" altLang="zh-CN" dirty="0"/>
          </a:p>
          <a:p>
            <a:r>
              <a:rPr lang="zh-CN" altLang="en-US" dirty="0" smtClean="0"/>
              <a:t>    给定</a:t>
            </a:r>
            <a:r>
              <a:rPr lang="en-US" altLang="zh-CN" dirty="0" smtClean="0"/>
              <a:t>n</a:t>
            </a:r>
            <a:r>
              <a:rPr lang="zh-CN" altLang="en-US" dirty="0" smtClean="0"/>
              <a:t>行</a:t>
            </a:r>
            <a:r>
              <a:rPr lang="en-US" altLang="zh-CN" dirty="0" smtClean="0"/>
              <a:t>m</a:t>
            </a:r>
            <a:r>
              <a:rPr lang="zh-CN" altLang="en-US" dirty="0" smtClean="0"/>
              <a:t>列的棋盘，有</a:t>
            </a:r>
            <a:r>
              <a:rPr lang="en-US" altLang="zh-CN" dirty="0" smtClean="0"/>
              <a:t>a</a:t>
            </a:r>
            <a:r>
              <a:rPr lang="zh-CN" altLang="en-US" dirty="0" smtClean="0"/>
              <a:t>个出发点，</a:t>
            </a:r>
            <a:r>
              <a:rPr lang="en-US" altLang="zh-CN" dirty="0" smtClean="0"/>
              <a:t>b</a:t>
            </a:r>
            <a:r>
              <a:rPr lang="zh-CN" altLang="en-US" dirty="0" smtClean="0"/>
              <a:t>个终点，问终点到最近的出发点的曼哈顿距离。</a:t>
            </a:r>
            <a:endParaRPr lang="en-US" altLang="zh-CN" dirty="0" smtClean="0"/>
          </a:p>
          <a:p>
            <a:r>
              <a:rPr lang="en-US" altLang="zh-CN" dirty="0" smtClean="0"/>
              <a:t>1&lt;=</a:t>
            </a:r>
            <a:r>
              <a:rPr lang="en-US" altLang="zh-CN" dirty="0" err="1" smtClean="0"/>
              <a:t>n,m</a:t>
            </a:r>
            <a:r>
              <a:rPr lang="en-US" altLang="zh-CN" dirty="0" smtClean="0"/>
              <a:t>&lt;=500</a:t>
            </a:r>
            <a:r>
              <a:rPr lang="zh-CN" altLang="en-US" dirty="0" smtClean="0"/>
              <a:t>，</a:t>
            </a:r>
            <a:r>
              <a:rPr lang="en-US" altLang="zh-CN" dirty="0" smtClean="0"/>
              <a:t>1&lt;=</a:t>
            </a:r>
            <a:r>
              <a:rPr lang="en-US" altLang="zh-CN" dirty="0" err="1" smtClean="0"/>
              <a:t>a,b</a:t>
            </a:r>
            <a:r>
              <a:rPr lang="en-US" altLang="zh-CN" dirty="0" smtClean="0"/>
              <a:t>&lt;=10</a:t>
            </a:r>
            <a:r>
              <a:rPr lang="en-US" altLang="zh-CN" baseline="30000" dirty="0" smtClean="0"/>
              <a:t>5</a:t>
            </a:r>
            <a:r>
              <a:rPr lang="zh-CN" altLang="en-US" dirty="0" smtClean="0"/>
              <a:t>。</a:t>
            </a:r>
            <a:endParaRPr lang="zh-CN" altLang="zh-CN" dirty="0"/>
          </a:p>
        </p:txBody>
      </p:sp>
      <p:sp>
        <p:nvSpPr>
          <p:cNvPr id="15" name="矩形 14"/>
          <p:cNvSpPr/>
          <p:nvPr/>
        </p:nvSpPr>
        <p:spPr>
          <a:xfrm>
            <a:off x="5671226" y="3091228"/>
            <a:ext cx="4964872" cy="2585323"/>
          </a:xfrm>
          <a:prstGeom prst="rect">
            <a:avLst/>
          </a:prstGeom>
        </p:spPr>
        <p:txBody>
          <a:bodyPr wrap="square">
            <a:spAutoFit/>
            <a:scene3d>
              <a:camera prst="orthographicFront"/>
              <a:lightRig rig="threePt" dir="t"/>
            </a:scene3d>
            <a:sp3d contourW="12700"/>
          </a:bodyPr>
          <a:lstStyle/>
          <a:p>
            <a:r>
              <a:rPr lang="zh-CN" altLang="zh-CN" b="1" dirty="0"/>
              <a:t>【</a:t>
            </a:r>
            <a:r>
              <a:rPr lang="zh-CN" altLang="en-US" b="1" dirty="0"/>
              <a:t>算法分析</a:t>
            </a:r>
            <a:r>
              <a:rPr lang="zh-CN" altLang="zh-CN" b="1" dirty="0"/>
              <a:t>】</a:t>
            </a:r>
            <a:endParaRPr lang="zh-CN" altLang="zh-CN" dirty="0"/>
          </a:p>
          <a:p>
            <a:r>
              <a:rPr lang="zh-CN" altLang="en-US" dirty="0"/>
              <a:t>    </a:t>
            </a:r>
            <a:r>
              <a:rPr lang="zh-CN" altLang="en-US" dirty="0" smtClean="0"/>
              <a:t>将</a:t>
            </a:r>
            <a:r>
              <a:rPr lang="en-US" altLang="zh-CN" dirty="0" smtClean="0"/>
              <a:t>a</a:t>
            </a:r>
            <a:r>
              <a:rPr lang="zh-CN" altLang="en-US" dirty="0" smtClean="0"/>
              <a:t>个出发点加入队列，进行广度优先搜索。</a:t>
            </a:r>
            <a:endParaRPr lang="en-US" altLang="zh-CN" dirty="0" smtClean="0"/>
          </a:p>
          <a:p>
            <a:r>
              <a:rPr lang="en-US" altLang="zh-CN" dirty="0"/>
              <a:t> </a:t>
            </a:r>
            <a:r>
              <a:rPr lang="en-US" altLang="zh-CN" dirty="0" smtClean="0"/>
              <a:t>   </a:t>
            </a:r>
            <a:r>
              <a:rPr lang="zh-CN" altLang="en-US" dirty="0" smtClean="0"/>
              <a:t>每次取出的点向四个相邻方向扩展一步。</a:t>
            </a:r>
            <a:endParaRPr lang="en-US" altLang="zh-CN" dirty="0" smtClean="0"/>
          </a:p>
          <a:p>
            <a:r>
              <a:rPr lang="en-US" altLang="zh-CN" dirty="0"/>
              <a:t> </a:t>
            </a:r>
            <a:r>
              <a:rPr lang="en-US" altLang="zh-CN" dirty="0" smtClean="0"/>
              <a:t>   </a:t>
            </a:r>
            <a:r>
              <a:rPr lang="zh-CN" altLang="en-US" dirty="0" smtClean="0"/>
              <a:t>第</a:t>
            </a:r>
            <a:r>
              <a:rPr lang="en-US" altLang="zh-CN" dirty="0" smtClean="0"/>
              <a:t>i</a:t>
            </a:r>
            <a:r>
              <a:rPr lang="zh-CN" altLang="en-US" dirty="0" smtClean="0"/>
              <a:t>轮循环，所有与出发点曼哈顿距离为</a:t>
            </a:r>
            <a:r>
              <a:rPr lang="en-US" altLang="zh-CN" dirty="0" smtClean="0"/>
              <a:t>i</a:t>
            </a:r>
            <a:r>
              <a:rPr lang="zh-CN" altLang="en-US" dirty="0" smtClean="0"/>
              <a:t>的点都会被加入队列，所有终点计算完毕后退出搜索。</a:t>
            </a:r>
            <a:endParaRPr lang="en-US" altLang="zh-CN" dirty="0" smtClean="0"/>
          </a:p>
          <a:p>
            <a:r>
              <a:rPr lang="en-US" altLang="zh-CN" dirty="0"/>
              <a:t> </a:t>
            </a:r>
            <a:r>
              <a:rPr lang="en-US" altLang="zh-CN" dirty="0" smtClean="0"/>
              <a:t>   </a:t>
            </a:r>
            <a:r>
              <a:rPr lang="zh-CN" altLang="en-US" dirty="0" smtClean="0"/>
              <a:t>时间复杂度</a:t>
            </a:r>
            <a:r>
              <a:rPr lang="en-US" altLang="zh-CN" dirty="0" smtClean="0"/>
              <a:t>O(</a:t>
            </a:r>
            <a:r>
              <a:rPr lang="en-US" altLang="zh-CN" dirty="0" err="1" smtClean="0"/>
              <a:t>n×m+a+b</a:t>
            </a:r>
            <a:r>
              <a:rPr lang="en-US" altLang="zh-CN" dirty="0" smtClean="0"/>
              <a:t>)</a:t>
            </a:r>
            <a:r>
              <a:rPr lang="zh-CN" altLang="en-US" dirty="0" smtClean="0"/>
              <a:t>。</a:t>
            </a:r>
            <a:endParaRPr lang="en-US" altLang="zh-CN" dirty="0" smtClean="0"/>
          </a:p>
          <a:p>
            <a:r>
              <a:rPr lang="en-US" altLang="zh-CN" dirty="0" smtClean="0"/>
              <a:t>    </a:t>
            </a:r>
            <a:r>
              <a:rPr lang="zh-CN" altLang="en-US" dirty="0"/>
              <a:t>此</a:t>
            </a:r>
            <a:r>
              <a:rPr lang="zh-CN" altLang="en-US" dirty="0" smtClean="0"/>
              <a:t>类网格图染色算法也叫洪水填充</a:t>
            </a:r>
            <a:r>
              <a:rPr lang="en-US" altLang="zh-CN" dirty="0" smtClean="0"/>
              <a:t>(</a:t>
            </a:r>
            <a:r>
              <a:rPr lang="zh-CN" altLang="en-US" dirty="0" smtClean="0"/>
              <a:t>深搜也可以，但是容易内存栈溢出</a:t>
            </a:r>
            <a:r>
              <a:rPr lang="en-US" altLang="zh-CN" dirty="0" smtClean="0"/>
              <a:t>)</a:t>
            </a:r>
            <a:r>
              <a:rPr lang="zh-CN" altLang="en-US" dirty="0" smtClean="0"/>
              <a:t>。</a:t>
            </a:r>
            <a:r>
              <a:rPr lang="en-US" altLang="zh-CN" dirty="0" smtClean="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056101" y="177223"/>
            <a:ext cx="1556837"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双端队列</a:t>
            </a:r>
            <a:r>
              <a:rPr lang="en-US" altLang="zh-CN" dirty="0" smtClean="0">
                <a:solidFill>
                  <a:schemeClr val="bg1"/>
                </a:solidFill>
                <a:effectLst>
                  <a:outerShdw blurRad="203200" dist="38100" dir="5400000" algn="t" rotWithShape="0">
                    <a:prstClr val="black">
                      <a:alpha val="83000"/>
                    </a:prstClr>
                  </a:outerShdw>
                </a:effectLst>
                <a:cs typeface="+mn-ea"/>
                <a:sym typeface="+mn-lt"/>
              </a:rPr>
              <a:t>BFS</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3" name="矩形 22"/>
          <p:cNvSpPr/>
          <p:nvPr/>
        </p:nvSpPr>
        <p:spPr>
          <a:xfrm>
            <a:off x="1996803" y="1738646"/>
            <a:ext cx="7327818"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适用于边权为</a:t>
            </a:r>
            <a:r>
              <a:rPr lang="en-US" altLang="zh-CN" dirty="0" smtClean="0">
                <a:cs typeface="+mn-ea"/>
              </a:rPr>
              <a:t>0</a:t>
            </a:r>
            <a:r>
              <a:rPr lang="zh-CN" altLang="en-US" dirty="0" smtClean="0">
                <a:cs typeface="+mn-ea"/>
              </a:rPr>
              <a:t>或</a:t>
            </a:r>
            <a:r>
              <a:rPr lang="en-US" altLang="zh-CN" dirty="0" smtClean="0">
                <a:cs typeface="+mn-ea"/>
              </a:rPr>
              <a:t>1</a:t>
            </a:r>
            <a:r>
              <a:rPr lang="zh-CN" altLang="en-US" dirty="0" smtClean="0">
                <a:cs typeface="+mn-ea"/>
              </a:rPr>
              <a:t>的图。</a:t>
            </a:r>
            <a:endParaRPr lang="en-US" altLang="zh-CN" dirty="0" smtClean="0">
              <a:cs typeface="+mn-ea"/>
            </a:endParaRPr>
          </a:p>
        </p:txBody>
      </p:sp>
      <p:sp>
        <p:nvSpPr>
          <p:cNvPr id="13" name="矩形 12"/>
          <p:cNvSpPr/>
          <p:nvPr/>
        </p:nvSpPr>
        <p:spPr>
          <a:xfrm>
            <a:off x="4798060" y="3070860"/>
            <a:ext cx="6472555" cy="42354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状态是</a:t>
            </a:r>
            <a:r>
              <a:rPr lang="zh-CN" altLang="en-US" b="1" dirty="0" smtClean="0">
                <a:cs typeface="+mn-ea"/>
              </a:rPr>
              <a:t>入队多次，出队一次，第一次出队</a:t>
            </a:r>
            <a:r>
              <a:rPr lang="zh-CN" altLang="en-US" dirty="0" smtClean="0">
                <a:cs typeface="+mn-ea"/>
              </a:rPr>
              <a:t>时为最优解。</a:t>
            </a:r>
            <a:endParaRPr lang="en-US" altLang="zh-CN" dirty="0" smtClean="0">
              <a:cs typeface="+mn-ea"/>
            </a:endParaRPr>
          </a:p>
        </p:txBody>
      </p:sp>
      <p:sp>
        <p:nvSpPr>
          <p:cNvPr id="14" name="矩形 13"/>
          <p:cNvSpPr/>
          <p:nvPr/>
        </p:nvSpPr>
        <p:spPr>
          <a:xfrm>
            <a:off x="4798060" y="3698240"/>
            <a:ext cx="6472555" cy="208407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初始化起始状态，加入队列；</a:t>
            </a:r>
            <a:endParaRPr lang="zh-CN" altLang="en-US" dirty="0" smtClean="0">
              <a:cs typeface="+mn-ea"/>
            </a:endParaRPr>
          </a:p>
          <a:p>
            <a:pPr algn="just">
              <a:lnSpc>
                <a:spcPct val="120000"/>
              </a:lnSpc>
            </a:pPr>
            <a:endParaRPr lang="en-US" altLang="zh-CN" dirty="0" smtClean="0">
              <a:cs typeface="+mn-ea"/>
            </a:endParaRPr>
          </a:p>
          <a:p>
            <a:pPr algn="just">
              <a:lnSpc>
                <a:spcPct val="120000"/>
              </a:lnSpc>
            </a:pPr>
            <a:r>
              <a:rPr lang="zh-CN" altLang="en-US" dirty="0">
                <a:cs typeface="+mn-ea"/>
              </a:rPr>
              <a:t>队</a:t>
            </a:r>
            <a:r>
              <a:rPr lang="zh-CN" altLang="en-US" dirty="0" smtClean="0">
                <a:cs typeface="+mn-ea"/>
              </a:rPr>
              <a:t>首取出一个状态，扩展它可到达的状态。如果扩展到的状态步数为</a:t>
            </a:r>
            <a:r>
              <a:rPr lang="en-US" altLang="zh-CN" dirty="0" smtClean="0">
                <a:cs typeface="+mn-ea"/>
              </a:rPr>
              <a:t>0</a:t>
            </a:r>
            <a:r>
              <a:rPr lang="zh-CN" altLang="en-US" dirty="0" smtClean="0">
                <a:cs typeface="+mn-ea"/>
              </a:rPr>
              <a:t>，加入队首；步数为</a:t>
            </a:r>
            <a:r>
              <a:rPr lang="en-US" altLang="zh-CN" dirty="0" smtClean="0">
                <a:cs typeface="+mn-ea"/>
              </a:rPr>
              <a:t>1</a:t>
            </a:r>
            <a:r>
              <a:rPr lang="zh-CN" altLang="en-US" dirty="0" smtClean="0">
                <a:cs typeface="+mn-ea"/>
              </a:rPr>
              <a:t>，加入队尾。</a:t>
            </a:r>
            <a:endParaRPr lang="zh-CN" altLang="en-US" dirty="0" smtClean="0">
              <a:cs typeface="+mn-ea"/>
            </a:endParaRPr>
          </a:p>
          <a:p>
            <a:pPr algn="just">
              <a:lnSpc>
                <a:spcPct val="120000"/>
              </a:lnSpc>
            </a:pPr>
            <a:endParaRPr lang="en-US" altLang="zh-CN" dirty="0" smtClean="0">
              <a:cs typeface="+mn-ea"/>
            </a:endParaRPr>
          </a:p>
          <a:p>
            <a:pPr algn="just">
              <a:lnSpc>
                <a:spcPct val="120000"/>
              </a:lnSpc>
            </a:pPr>
            <a:r>
              <a:rPr lang="zh-CN" altLang="en-US" dirty="0" smtClean="0">
                <a:cs typeface="+mn-ea"/>
              </a:rPr>
              <a:t>重复执行，直到队列为空或找到答案。</a:t>
            </a:r>
            <a:endParaRPr lang="en-US" altLang="zh-CN" dirty="0" smtClean="0">
              <a:cs typeface="+mn-ea"/>
            </a:endParaRPr>
          </a:p>
        </p:txBody>
      </p:sp>
      <p:sp>
        <p:nvSpPr>
          <p:cNvPr id="16" name="矩形 15"/>
          <p:cNvSpPr/>
          <p:nvPr/>
        </p:nvSpPr>
        <p:spPr>
          <a:xfrm>
            <a:off x="1996802" y="2313735"/>
            <a:ext cx="7327818" cy="75713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为了维护状态的步数单调性，双端队列</a:t>
            </a:r>
            <a:r>
              <a:rPr lang="en-US" altLang="zh-CN" dirty="0" smtClean="0">
                <a:cs typeface="+mn-ea"/>
              </a:rPr>
              <a:t>BFS</a:t>
            </a:r>
            <a:r>
              <a:rPr lang="zh-CN" altLang="en-US" dirty="0" smtClean="0">
                <a:cs typeface="+mn-ea"/>
              </a:rPr>
              <a:t>将队列</a:t>
            </a:r>
            <a:r>
              <a:rPr lang="en-US" altLang="zh-CN" dirty="0" smtClean="0">
                <a:cs typeface="+mn-ea"/>
              </a:rPr>
              <a:t>queue</a:t>
            </a:r>
            <a:r>
              <a:rPr lang="zh-CN" altLang="en-US" dirty="0" smtClean="0">
                <a:cs typeface="+mn-ea"/>
              </a:rPr>
              <a:t>换成双端队列</a:t>
            </a:r>
            <a:r>
              <a:rPr lang="en-US" altLang="zh-CN" dirty="0" err="1" smtClean="0">
                <a:cs typeface="+mn-ea"/>
              </a:rPr>
              <a:t>deque</a:t>
            </a:r>
            <a:r>
              <a:rPr lang="zh-CN" altLang="en-US" dirty="0" smtClean="0">
                <a:cs typeface="+mn-ea"/>
              </a:rPr>
              <a:t>。</a:t>
            </a:r>
            <a:endParaRPr lang="en-US" altLang="zh-CN" dirty="0" smtClean="0">
              <a:cs typeface="+mn-ea"/>
            </a:endParaRPr>
          </a:p>
        </p:txBody>
      </p:sp>
      <p:sp>
        <p:nvSpPr>
          <p:cNvPr id="2" name="矩形 1"/>
          <p:cNvSpPr/>
          <p:nvPr/>
        </p:nvSpPr>
        <p:spPr>
          <a:xfrm>
            <a:off x="1996802" y="1313914"/>
            <a:ext cx="7327819" cy="423545"/>
          </a:xfrm>
          <a:prstGeom prst="rect">
            <a:avLst/>
          </a:prstGeom>
        </p:spPr>
        <p:txBody>
          <a:bodyPr wrap="square">
            <a:spAutoFit/>
            <a:scene3d>
              <a:camera prst="orthographicFront"/>
              <a:lightRig rig="threePt" dir="t"/>
            </a:scene3d>
            <a:sp3d contourW="12700"/>
          </a:bodyPr>
          <a:p>
            <a:pPr algn="just">
              <a:lnSpc>
                <a:spcPct val="120000"/>
              </a:lnSpc>
            </a:pPr>
            <a:r>
              <a:rPr lang="zh-CN" altLang="en-US" dirty="0">
                <a:latin typeface="苏新诗古印宋简" pitchFamily="49" charset="-122"/>
                <a:ea typeface="苏新诗古印宋简" pitchFamily="49" charset="-122"/>
                <a:cs typeface="+mn-ea"/>
                <a:sym typeface="+mn-ea"/>
              </a:rPr>
              <a:t>双端</a:t>
            </a:r>
            <a:r>
              <a:rPr lang="zh-CN" altLang="en-US" dirty="0" smtClean="0">
                <a:latin typeface="苏新诗古印宋简" pitchFamily="49" charset="-122"/>
                <a:ea typeface="苏新诗古印宋简" pitchFamily="49" charset="-122"/>
                <a:cs typeface="+mn-ea"/>
                <a:sym typeface="+mn-ea"/>
              </a:rPr>
              <a:t>队列</a:t>
            </a:r>
            <a:r>
              <a:rPr lang="en-US" altLang="zh-CN" dirty="0" smtClean="0">
                <a:latin typeface="苏新诗古印宋简" pitchFamily="49" charset="-122"/>
                <a:ea typeface="苏新诗古印宋简" pitchFamily="49" charset="-122"/>
                <a:cs typeface="+mn-ea"/>
                <a:sym typeface="+mn-ea"/>
              </a:rPr>
              <a:t>BFS</a:t>
            </a:r>
            <a:endParaRPr lang="en-US" altLang="zh-CN" dirty="0" smtClean="0">
              <a:latin typeface="苏新诗古印宋简" pitchFamily="49" charset="-122"/>
              <a:ea typeface="苏新诗古印宋简" pitchFamily="49" charset="-122"/>
              <a:cs typeface="+mn-ea"/>
            </a:endParaRPr>
          </a:p>
        </p:txBody>
      </p:sp>
      <p:sp>
        <p:nvSpPr>
          <p:cNvPr id="17" name="矩形 16"/>
          <p:cNvSpPr/>
          <p:nvPr/>
        </p:nvSpPr>
        <p:spPr>
          <a:xfrm>
            <a:off x="1124585" y="3070860"/>
            <a:ext cx="3673475" cy="2676525"/>
          </a:xfrm>
          <a:prstGeom prst="rect">
            <a:avLst/>
          </a:prstGeom>
        </p:spPr>
        <p:txBody>
          <a:bodyPr wrap="square">
            <a:spAutoFit/>
            <a:scene3d>
              <a:camera prst="orthographicFront"/>
              <a:lightRig rig="threePt" dir="t"/>
            </a:scene3d>
            <a:sp3d contourW="12700"/>
          </a:bodyPr>
          <a:p>
            <a:r>
              <a:rPr lang="en-US" altLang="zh-CN" sz="1400" dirty="0"/>
              <a:t>   </a:t>
            </a:r>
            <a:r>
              <a:rPr lang="en-US" altLang="zh-CN" sz="1400" dirty="0" err="1"/>
              <a:t>bfs</a:t>
            </a:r>
            <a:r>
              <a:rPr lang="en-US" altLang="zh-CN" sz="1400" dirty="0"/>
              <a:t>(s)</a:t>
            </a:r>
            <a:endParaRPr lang="en-US" altLang="zh-CN" sz="1400" dirty="0"/>
          </a:p>
          <a:p>
            <a:r>
              <a:rPr lang="en-US" altLang="zh-CN" sz="1400" dirty="0"/>
              <a:t> </a:t>
            </a:r>
            <a:r>
              <a:rPr lang="en-US" altLang="zh-CN" sz="1400" dirty="0" smtClean="0"/>
              <a:t>     dq = new de</a:t>
            </a:r>
            <a:r>
              <a:rPr lang="en-US" altLang="zh-CN" sz="1400" dirty="0"/>
              <a:t>que()</a:t>
            </a:r>
            <a:endParaRPr lang="en-US" altLang="zh-CN" sz="1400" dirty="0"/>
          </a:p>
          <a:p>
            <a:r>
              <a:rPr lang="en-US" altLang="zh-CN" sz="1400" dirty="0" smtClean="0"/>
              <a:t>      </a:t>
            </a:r>
            <a:r>
              <a:rPr lang="en-US" altLang="zh-CN" sz="1400" dirty="0" err="1" smtClean="0"/>
              <a:t>vis.set</a:t>
            </a:r>
            <a:r>
              <a:rPr lang="en-US" altLang="zh-CN" sz="1400" dirty="0" smtClean="0"/>
              <a:t>(false</a:t>
            </a:r>
            <a:r>
              <a:rPr lang="en-US" altLang="zh-CN" sz="1400" dirty="0"/>
              <a:t>)</a:t>
            </a:r>
            <a:endParaRPr lang="en-US" altLang="zh-CN" sz="1400" dirty="0"/>
          </a:p>
          <a:p>
            <a:r>
              <a:rPr lang="en-US" altLang="zh-CN" sz="1400" dirty="0"/>
              <a:t>      d</a:t>
            </a:r>
            <a:r>
              <a:rPr lang="en-US" altLang="zh-CN" sz="1400" dirty="0" err="1" smtClean="0"/>
              <a:t>q.push</a:t>
            </a:r>
            <a:r>
              <a:rPr lang="en-US" altLang="zh-CN" sz="1400" dirty="0" smtClean="0"/>
              <a:t>(s</a:t>
            </a:r>
            <a:r>
              <a:rPr lang="en-US" altLang="zh-CN" sz="1400" dirty="0"/>
              <a:t>)</a:t>
            </a:r>
            <a:endParaRPr lang="en-US" altLang="zh-CN" sz="1400" dirty="0"/>
          </a:p>
          <a:p>
            <a:r>
              <a:rPr lang="en-US" altLang="zh-CN" sz="1400" dirty="0"/>
              <a:t> </a:t>
            </a:r>
            <a:r>
              <a:rPr lang="en-US" altLang="zh-CN" sz="1400" dirty="0" smtClean="0"/>
              <a:t>     while </a:t>
            </a:r>
            <a:r>
              <a:rPr lang="en-US" altLang="zh-CN" sz="1400" dirty="0"/>
              <a:t>(!</a:t>
            </a:r>
            <a:r>
              <a:rPr lang="en-US" altLang="zh-CN" sz="1400" dirty="0" err="1"/>
              <a:t>q.empty</a:t>
            </a:r>
            <a:r>
              <a:rPr lang="en-US" altLang="zh-CN" sz="1400" dirty="0"/>
              <a:t>())</a:t>
            </a:r>
            <a:endParaRPr lang="en-US" altLang="zh-CN" sz="1400" dirty="0"/>
          </a:p>
          <a:p>
            <a:r>
              <a:rPr lang="en-US" altLang="zh-CN" sz="1400" dirty="0" smtClean="0"/>
              <a:t>          u = </a:t>
            </a:r>
            <a:r>
              <a:rPr lang="en-US" altLang="zh-CN" sz="1400" dirty="0" err="1" smtClean="0"/>
              <a:t>q.pop</a:t>
            </a:r>
            <a:r>
              <a:rPr lang="en-US" altLang="zh-CN" sz="1400" dirty="0"/>
              <a:t>()</a:t>
            </a:r>
            <a:endParaRPr lang="en-US" altLang="zh-CN" sz="1400" dirty="0"/>
          </a:p>
          <a:p>
            <a:r>
              <a:rPr lang="en-US" altLang="zh-CN" sz="1400" dirty="0"/>
              <a:t>          vis[u] = true</a:t>
            </a:r>
            <a:endParaRPr lang="en-US" altLang="zh-CN" sz="1400" dirty="0"/>
          </a:p>
          <a:p>
            <a:r>
              <a:rPr lang="en-US" altLang="zh-CN" sz="1400" dirty="0" smtClean="0"/>
              <a:t>          for </a:t>
            </a:r>
            <a:r>
              <a:rPr lang="en-US" altLang="zh-CN" sz="1400" dirty="0"/>
              <a:t>each edge(</a:t>
            </a:r>
            <a:r>
              <a:rPr lang="en-US" altLang="zh-CN" sz="1400" dirty="0" err="1"/>
              <a:t>u, v</a:t>
            </a:r>
            <a:r>
              <a:rPr lang="en-US" altLang="zh-CN" sz="1400" dirty="0"/>
              <a:t>)</a:t>
            </a:r>
            <a:endParaRPr lang="en-US" altLang="zh-CN" sz="1400" dirty="0"/>
          </a:p>
          <a:p>
            <a:r>
              <a:rPr lang="en-US" altLang="zh-CN" sz="1400" dirty="0" smtClean="0"/>
              <a:t>              if </a:t>
            </a:r>
            <a:r>
              <a:rPr lang="en-US" altLang="zh-CN" sz="1400" dirty="0"/>
              <a:t>(!</a:t>
            </a:r>
            <a:r>
              <a:rPr lang="en-US" altLang="zh-CN" sz="1400" dirty="0" err="1"/>
              <a:t>vis</a:t>
            </a:r>
            <a:r>
              <a:rPr lang="en-US" altLang="zh-CN" sz="1400" dirty="0"/>
              <a:t>[v])</a:t>
            </a:r>
            <a:endParaRPr lang="en-US" altLang="zh-CN" sz="1400" dirty="0"/>
          </a:p>
          <a:p>
            <a:r>
              <a:rPr lang="en-US" altLang="zh-CN" sz="1400" dirty="0"/>
              <a:t>                if ( step == 0 )</a:t>
            </a:r>
            <a:endParaRPr lang="en-US" altLang="zh-CN" sz="1400" dirty="0"/>
          </a:p>
          <a:p>
            <a:r>
              <a:rPr lang="en-US" altLang="zh-CN" sz="1400" dirty="0"/>
              <a:t>                     dq.push_front(v)</a:t>
            </a:r>
            <a:endParaRPr lang="en-US" altLang="zh-CN" sz="1400" dirty="0"/>
          </a:p>
          <a:p>
            <a:r>
              <a:rPr lang="en-US" altLang="zh-CN" sz="1400" dirty="0"/>
              <a:t>                else dq.push_back(v)</a:t>
            </a:r>
            <a:endParaRPr lang="en-US" altLang="zh-CN" sz="1400" dirty="0" smtClean="0"/>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4"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90675" y="558165"/>
            <a:ext cx="10515600" cy="973455"/>
          </a:xfrm>
        </p:spPr>
        <p:txBody>
          <a:bodyPr/>
          <a:p>
            <a:r>
              <a:rPr lang="en-US" altLang="zh-CN" sz="2400"/>
              <a:t>P4667  Switch the Lamp On </a:t>
            </a:r>
            <a:r>
              <a:rPr lang="zh-CN" altLang="en-US" sz="2400"/>
              <a:t>电路维修</a:t>
            </a:r>
            <a:endParaRPr lang="zh-CN" altLang="en-US" sz="2400"/>
          </a:p>
        </p:txBody>
      </p:sp>
      <p:pic>
        <p:nvPicPr>
          <p:cNvPr id="4" name="内容占位符 3"/>
          <p:cNvPicPr>
            <a:picLocks noChangeAspect="1"/>
          </p:cNvPicPr>
          <p:nvPr>
            <p:ph idx="1"/>
          </p:nvPr>
        </p:nvPicPr>
        <p:blipFill>
          <a:blip r:embed="rId1"/>
          <a:stretch>
            <a:fillRect/>
          </a:stretch>
        </p:blipFill>
        <p:spPr>
          <a:xfrm>
            <a:off x="1466850" y="1428750"/>
            <a:ext cx="7267575" cy="3752850"/>
          </a:xfrm>
          <a:prstGeom prst="rect">
            <a:avLst/>
          </a:prstGeom>
        </p:spPr>
      </p:pic>
      <p:pic>
        <p:nvPicPr>
          <p:cNvPr id="5" name="图片 4"/>
          <p:cNvPicPr>
            <a:picLocks noChangeAspect="1"/>
          </p:cNvPicPr>
          <p:nvPr/>
        </p:nvPicPr>
        <p:blipFill>
          <a:blip r:embed="rId2"/>
          <a:stretch>
            <a:fillRect/>
          </a:stretch>
        </p:blipFill>
        <p:spPr>
          <a:xfrm>
            <a:off x="6096000" y="2348230"/>
            <a:ext cx="4010025" cy="2743200"/>
          </a:xfrm>
          <a:prstGeom prst="rect">
            <a:avLst/>
          </a:prstGeom>
        </p:spPr>
      </p:pic>
      <p:pic>
        <p:nvPicPr>
          <p:cNvPr id="6" name="图片 5"/>
          <p:cNvPicPr>
            <a:picLocks noChangeAspect="1"/>
          </p:cNvPicPr>
          <p:nvPr/>
        </p:nvPicPr>
        <p:blipFill>
          <a:blip r:embed="rId3"/>
          <a:stretch>
            <a:fillRect/>
          </a:stretch>
        </p:blipFill>
        <p:spPr>
          <a:xfrm>
            <a:off x="1466850" y="5367655"/>
            <a:ext cx="7448550" cy="6286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746760" y="885190"/>
            <a:ext cx="3762375" cy="2400300"/>
          </a:xfrm>
          <a:prstGeom prst="rect">
            <a:avLst/>
          </a:prstGeom>
        </p:spPr>
      </p:pic>
      <p:sp>
        <p:nvSpPr>
          <p:cNvPr id="5" name="文本框 4"/>
          <p:cNvSpPr txBox="1"/>
          <p:nvPr/>
        </p:nvSpPr>
        <p:spPr>
          <a:xfrm>
            <a:off x="4929505" y="1412240"/>
            <a:ext cx="6010275" cy="645160"/>
          </a:xfrm>
          <a:prstGeom prst="rect">
            <a:avLst/>
          </a:prstGeom>
          <a:noFill/>
        </p:spPr>
        <p:txBody>
          <a:bodyPr wrap="square" rtlCol="0">
            <a:spAutoFit/>
          </a:bodyPr>
          <a:p>
            <a:r>
              <a:rPr lang="zh-CN" altLang="en-US"/>
              <a:t>建</a:t>
            </a:r>
            <a:r>
              <a:rPr lang="en-US" altLang="zh-CN"/>
              <a:t> (n + 1) </a:t>
            </a:r>
            <a:r>
              <a:rPr lang="en-US" altLang="en-US"/>
              <a:t>×</a:t>
            </a:r>
            <a:r>
              <a:rPr lang="en-US" altLang="zh-CN"/>
              <a:t> (m + 1) </a:t>
            </a:r>
            <a:r>
              <a:rPr lang="zh-CN" altLang="en-US"/>
              <a:t>个点，表示网格图的每个格点。</a:t>
            </a:r>
            <a:endParaRPr lang="zh-CN" altLang="en-US"/>
          </a:p>
          <a:p>
            <a:endParaRPr lang="zh-CN" altLang="en-US"/>
          </a:p>
        </p:txBody>
      </p:sp>
      <p:sp>
        <p:nvSpPr>
          <p:cNvPr id="6" name="文本框 5"/>
          <p:cNvSpPr txBox="1"/>
          <p:nvPr/>
        </p:nvSpPr>
        <p:spPr>
          <a:xfrm>
            <a:off x="4929505" y="2860675"/>
            <a:ext cx="6120765" cy="645160"/>
          </a:xfrm>
          <a:prstGeom prst="rect">
            <a:avLst/>
          </a:prstGeom>
          <a:noFill/>
        </p:spPr>
        <p:txBody>
          <a:bodyPr wrap="square" rtlCol="0">
            <a:spAutoFit/>
          </a:bodyPr>
          <a:p>
            <a:r>
              <a:rPr lang="zh-CN" altLang="en-US"/>
              <a:t>对于每个元件的每条对角线，若已经连通则连边权为</a:t>
            </a:r>
            <a:r>
              <a:rPr lang="en-US" altLang="zh-CN"/>
              <a:t> 0 </a:t>
            </a:r>
            <a:r>
              <a:rPr lang="zh-CN" altLang="en-US"/>
              <a:t>的</a:t>
            </a:r>
            <a:endParaRPr lang="zh-CN" altLang="en-US"/>
          </a:p>
          <a:p>
            <a:r>
              <a:rPr lang="zh-CN" altLang="en-US"/>
              <a:t>边，否则连边权为</a:t>
            </a:r>
            <a:r>
              <a:rPr lang="en-US" altLang="zh-CN"/>
              <a:t> 1 </a:t>
            </a:r>
            <a:r>
              <a:rPr lang="zh-CN" altLang="en-US"/>
              <a:t>的边，表示需要操作一次。</a:t>
            </a:r>
            <a:endParaRPr lang="zh-CN" altLang="en-US"/>
          </a:p>
        </p:txBody>
      </p:sp>
      <p:sp>
        <p:nvSpPr>
          <p:cNvPr id="7" name="文本框 6"/>
          <p:cNvSpPr txBox="1"/>
          <p:nvPr/>
        </p:nvSpPr>
        <p:spPr>
          <a:xfrm>
            <a:off x="4929505" y="4367530"/>
            <a:ext cx="5739130" cy="645160"/>
          </a:xfrm>
          <a:prstGeom prst="rect">
            <a:avLst/>
          </a:prstGeom>
          <a:noFill/>
        </p:spPr>
        <p:txBody>
          <a:bodyPr wrap="square" rtlCol="0">
            <a:spAutoFit/>
          </a:bodyPr>
          <a:p>
            <a:r>
              <a:rPr lang="zh-CN" altLang="en-US"/>
              <a:t>然后直接跑双向</a:t>
            </a:r>
            <a:r>
              <a:rPr lang="en-US" altLang="zh-CN"/>
              <a:t> bfs </a:t>
            </a:r>
            <a:r>
              <a:rPr lang="zh-CN" altLang="en-US"/>
              <a:t>求出</a:t>
            </a:r>
            <a:r>
              <a:rPr lang="en-US" altLang="zh-CN"/>
              <a:t> (1, 1) </a:t>
            </a:r>
            <a:r>
              <a:rPr lang="zh-CN" altLang="en-US"/>
              <a:t>到</a:t>
            </a:r>
            <a:r>
              <a:rPr lang="en-US" altLang="zh-CN"/>
              <a:t> (n + 1, m + 1) </a:t>
            </a:r>
            <a:r>
              <a:rPr lang="zh-CN" altLang="en-US"/>
              <a:t>的最短路</a:t>
            </a:r>
            <a:endParaRPr lang="zh-CN" altLang="en-US"/>
          </a:p>
          <a:p>
            <a:r>
              <a:rPr lang="zh-CN" altLang="en-US"/>
              <a:t>即可</a:t>
            </a:r>
            <a:endParaRPr lang="zh-CN" altLang="en-US"/>
          </a:p>
        </p:txBody>
      </p:sp>
      <p:pic>
        <p:nvPicPr>
          <p:cNvPr id="8" name="图片 7"/>
          <p:cNvPicPr>
            <a:picLocks noChangeAspect="1"/>
          </p:cNvPicPr>
          <p:nvPr/>
        </p:nvPicPr>
        <p:blipFill>
          <a:blip r:embed="rId2"/>
          <a:stretch>
            <a:fillRect/>
          </a:stretch>
        </p:blipFill>
        <p:spPr>
          <a:xfrm>
            <a:off x="622935" y="3550285"/>
            <a:ext cx="4010025" cy="274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1" cstate="email"/>
          <a:srcRect/>
          <a:stretch>
            <a:fillRect/>
          </a:stretch>
        </p:blipFill>
        <p:spPr>
          <a:xfrm>
            <a:off x="10197363" y="4506451"/>
            <a:ext cx="1994638" cy="2351549"/>
          </a:xfrm>
          <a:prstGeom prst="rect">
            <a:avLst/>
          </a:prstGeom>
        </p:spPr>
      </p:pic>
      <p:pic>
        <p:nvPicPr>
          <p:cNvPr id="37" name="图片 36"/>
          <p:cNvPicPr>
            <a:picLocks noChangeAspect="1"/>
          </p:cNvPicPr>
          <p:nvPr/>
        </p:nvPicPr>
        <p:blipFill rotWithShape="1">
          <a:blip r:embed="rId2" cstate="email"/>
          <a:srcRect/>
          <a:stretch>
            <a:fill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9429777" y="177223"/>
            <a:ext cx="2809488" cy="369332"/>
          </a:xfrm>
          <a:prstGeom prst="rect">
            <a:avLst/>
          </a:prstGeom>
          <a:noFill/>
        </p:spPr>
        <p:txBody>
          <a:bodyPr wrap="none" rtlCol="0">
            <a:spAutoFit/>
            <a:scene3d>
              <a:camera prst="orthographicFront"/>
              <a:lightRig rig="threePt" dir="t"/>
            </a:scene3d>
            <a:sp3d extrusionH="12700"/>
          </a:bodyPr>
          <a:lstStyle/>
          <a:p>
            <a:pPr algn="ctr"/>
            <a:r>
              <a:rPr lang="en-US" altLang="zh-CN" dirty="0" smtClean="0">
                <a:solidFill>
                  <a:schemeClr val="bg1"/>
                </a:solidFill>
                <a:effectLst>
                  <a:outerShdw blurRad="203200" dist="38100" dir="5400000" algn="t" rotWithShape="0">
                    <a:prstClr val="black">
                      <a:alpha val="83000"/>
                    </a:prstClr>
                  </a:outerShdw>
                </a:effectLst>
                <a:cs typeface="+mn-ea"/>
                <a:sym typeface="+mn-lt"/>
              </a:rPr>
              <a:t>P1948 Telephone Lines S</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1754326"/>
          </a:xfrm>
          <a:prstGeom prst="rect">
            <a:avLst/>
          </a:prstGeom>
        </p:spPr>
        <p:txBody>
          <a:bodyPr wrap="square">
            <a:spAutoFit/>
            <a:scene3d>
              <a:camera prst="orthographicFront"/>
              <a:lightRig rig="threePt" dir="t"/>
            </a:scene3d>
            <a:sp3d contourW="12700"/>
          </a:bodyPr>
          <a:lstStyle/>
          <a:p>
            <a:pPr algn="ctr"/>
            <a:r>
              <a:rPr lang="en-US" altLang="zh-CN" b="1" dirty="0" smtClean="0"/>
              <a:t>Telephone Lines S</a:t>
            </a:r>
            <a:endParaRPr lang="zh-CN" altLang="zh-CN" dirty="0"/>
          </a:p>
          <a:p>
            <a:r>
              <a:rPr lang="zh-CN" altLang="zh-CN" b="1" dirty="0"/>
              <a:t>【题目描述】</a:t>
            </a:r>
            <a:endParaRPr lang="zh-CN" altLang="zh-CN" dirty="0"/>
          </a:p>
          <a:p>
            <a:r>
              <a:rPr lang="zh-CN" altLang="en-US" dirty="0" smtClean="0"/>
              <a:t>    给定一张</a:t>
            </a:r>
            <a:r>
              <a:rPr lang="en-US" altLang="zh-CN" dirty="0" smtClean="0"/>
              <a:t>n</a:t>
            </a:r>
            <a:r>
              <a:rPr lang="zh-CN" altLang="en-US" dirty="0" smtClean="0"/>
              <a:t>个点，</a:t>
            </a:r>
            <a:r>
              <a:rPr lang="en-US" altLang="zh-CN" dirty="0" smtClean="0"/>
              <a:t>m</a:t>
            </a:r>
            <a:r>
              <a:rPr lang="zh-CN" altLang="en-US" dirty="0" smtClean="0"/>
              <a:t>条边的无向带权图。求一条从</a:t>
            </a:r>
            <a:r>
              <a:rPr lang="en-US" altLang="zh-CN" dirty="0" smtClean="0"/>
              <a:t>1</a:t>
            </a:r>
            <a:r>
              <a:rPr lang="zh-CN" altLang="en-US" dirty="0" smtClean="0"/>
              <a:t>到</a:t>
            </a:r>
            <a:r>
              <a:rPr lang="en-US" altLang="zh-CN" dirty="0" smtClean="0"/>
              <a:t>n</a:t>
            </a:r>
            <a:r>
              <a:rPr lang="zh-CN" altLang="en-US" dirty="0" smtClean="0"/>
              <a:t>的路径，满足这条路径上第</a:t>
            </a:r>
            <a:r>
              <a:rPr lang="en-US" altLang="zh-CN" dirty="0" smtClean="0"/>
              <a:t>k+1</a:t>
            </a:r>
            <a:r>
              <a:rPr lang="zh-CN" altLang="en-US" dirty="0" smtClean="0"/>
              <a:t>大的边权最小。</a:t>
            </a:r>
            <a:endParaRPr lang="en-US" altLang="zh-CN" dirty="0" smtClean="0"/>
          </a:p>
          <a:p>
            <a:r>
              <a:rPr lang="en-US" altLang="zh-CN" dirty="0" smtClean="0"/>
              <a:t>1&lt;=</a:t>
            </a:r>
            <a:r>
              <a:rPr lang="en-US" altLang="zh-CN" dirty="0" err="1" smtClean="0"/>
              <a:t>n,k</a:t>
            </a:r>
            <a:r>
              <a:rPr lang="en-US" altLang="zh-CN" dirty="0" smtClean="0"/>
              <a:t>&lt;=</a:t>
            </a:r>
            <a:r>
              <a:rPr lang="en-US" altLang="zh-CN" dirty="0" smtClean="0"/>
              <a:t>10</a:t>
            </a:r>
            <a:r>
              <a:rPr lang="en-US" altLang="zh-CN" dirty="0" smtClean="0"/>
              <a:t>00</a:t>
            </a:r>
            <a:r>
              <a:rPr lang="zh-CN" altLang="en-US" dirty="0" smtClean="0"/>
              <a:t>，</a:t>
            </a:r>
            <a:r>
              <a:rPr lang="en-US" altLang="zh-CN" dirty="0" smtClean="0"/>
              <a:t>1&lt;=m&lt;=10</a:t>
            </a:r>
            <a:r>
              <a:rPr lang="en-US" altLang="zh-CN" baseline="30000" dirty="0" smtClean="0"/>
              <a:t>4</a:t>
            </a:r>
            <a:r>
              <a:rPr lang="zh-CN" altLang="en-US" dirty="0" smtClean="0"/>
              <a:t>，</a:t>
            </a:r>
            <a:r>
              <a:rPr lang="en-US" altLang="zh-CN" dirty="0" smtClean="0"/>
              <a:t>1&lt;=w&lt;=10</a:t>
            </a:r>
            <a:r>
              <a:rPr lang="en-US" altLang="zh-CN" baseline="30000" dirty="0" smtClean="0"/>
              <a:t>6</a:t>
            </a:r>
            <a:r>
              <a:rPr lang="zh-CN" altLang="en-US" dirty="0" smtClean="0"/>
              <a:t>。</a:t>
            </a:r>
            <a:endParaRPr lang="zh-CN" altLang="zh-CN" dirty="0"/>
          </a:p>
        </p:txBody>
      </p:sp>
      <p:sp>
        <p:nvSpPr>
          <p:cNvPr id="15" name="矩形 14"/>
          <p:cNvSpPr/>
          <p:nvPr/>
        </p:nvSpPr>
        <p:spPr>
          <a:xfrm>
            <a:off x="5671226" y="3091228"/>
            <a:ext cx="4964872" cy="2584450"/>
          </a:xfrm>
          <a:prstGeom prst="rect">
            <a:avLst/>
          </a:prstGeom>
        </p:spPr>
        <p:txBody>
          <a:bodyPr wrap="square">
            <a:spAutoFit/>
            <a:scene3d>
              <a:camera prst="orthographicFront"/>
              <a:lightRig rig="threePt" dir="t"/>
            </a:scene3d>
            <a:sp3d contourW="12700"/>
          </a:bodyPr>
          <a:lstStyle/>
          <a:p>
            <a:r>
              <a:rPr lang="zh-CN" altLang="zh-CN" b="1" dirty="0"/>
              <a:t>【</a:t>
            </a:r>
            <a:r>
              <a:rPr lang="zh-CN" altLang="en-US" b="1" dirty="0"/>
              <a:t>算法分析</a:t>
            </a:r>
            <a:r>
              <a:rPr lang="zh-CN" altLang="zh-CN" b="1" dirty="0"/>
              <a:t>】</a:t>
            </a:r>
            <a:endParaRPr lang="zh-CN" altLang="zh-CN" b="1" dirty="0"/>
          </a:p>
          <a:p>
            <a:r>
              <a:rPr lang="zh-CN" altLang="zh-CN" strike="sngStrike" dirty="0">
                <a:solidFill>
                  <a:schemeClr val="tx1"/>
                </a:solidFill>
                <a:uFillTx/>
              </a:rPr>
              <a:t>我会分层图！</a:t>
            </a:r>
            <a:endParaRPr lang="zh-CN" altLang="zh-CN" dirty="0"/>
          </a:p>
          <a:p>
            <a:r>
              <a:rPr lang="zh-CN" altLang="en-US" dirty="0"/>
              <a:t>    </a:t>
            </a:r>
            <a:r>
              <a:rPr lang="en-US" altLang="zh-CN" dirty="0" smtClean="0"/>
              <a:t>“</a:t>
            </a:r>
            <a:r>
              <a:rPr lang="zh-CN" altLang="en-US" dirty="0" smtClean="0"/>
              <a:t>最大值最小</a:t>
            </a:r>
            <a:r>
              <a:rPr lang="en-US" altLang="zh-CN" dirty="0" smtClean="0"/>
              <a:t>”</a:t>
            </a:r>
            <a:r>
              <a:rPr lang="zh-CN" altLang="en-US" dirty="0" smtClean="0"/>
              <a:t>，考虑二分答案</a:t>
            </a:r>
            <a:r>
              <a:rPr lang="en-US" altLang="zh-CN" dirty="0" smtClean="0"/>
              <a:t>mid</a:t>
            </a:r>
            <a:r>
              <a:rPr lang="zh-CN" altLang="en-US" dirty="0" smtClean="0"/>
              <a:t>，对于边权</a:t>
            </a:r>
            <a:r>
              <a:rPr lang="en-US" altLang="zh-CN" dirty="0" smtClean="0"/>
              <a:t>&gt;=mid</a:t>
            </a:r>
            <a:r>
              <a:rPr lang="zh-CN" altLang="en-US" dirty="0" smtClean="0"/>
              <a:t>，设为前</a:t>
            </a:r>
            <a:r>
              <a:rPr lang="en-US" altLang="zh-CN" dirty="0" smtClean="0"/>
              <a:t>k</a:t>
            </a:r>
            <a:r>
              <a:rPr lang="zh-CN" altLang="en-US" dirty="0" smtClean="0"/>
              <a:t>大的边，建立新图，边权为</a:t>
            </a:r>
            <a:r>
              <a:rPr lang="en-US" altLang="zh-CN" dirty="0" smtClean="0"/>
              <a:t>1</a:t>
            </a:r>
            <a:r>
              <a:rPr lang="zh-CN" altLang="en-US" dirty="0" smtClean="0"/>
              <a:t>；对于边权</a:t>
            </a:r>
            <a:r>
              <a:rPr lang="en-US" altLang="zh-CN" dirty="0" smtClean="0"/>
              <a:t>&lt;mid</a:t>
            </a:r>
            <a:r>
              <a:rPr lang="zh-CN" altLang="en-US" dirty="0" smtClean="0"/>
              <a:t>，建立新图边权为</a:t>
            </a:r>
            <a:r>
              <a:rPr lang="en-US" altLang="zh-CN" dirty="0" smtClean="0"/>
              <a:t>0</a:t>
            </a:r>
            <a:r>
              <a:rPr lang="zh-CN" altLang="en-US" dirty="0" smtClean="0"/>
              <a:t>。</a:t>
            </a:r>
            <a:endParaRPr lang="en-US" altLang="zh-CN" dirty="0" smtClean="0"/>
          </a:p>
          <a:p>
            <a:r>
              <a:rPr lang="en-US" altLang="zh-CN" dirty="0"/>
              <a:t> </a:t>
            </a:r>
            <a:r>
              <a:rPr lang="en-US" altLang="zh-CN" dirty="0" smtClean="0"/>
              <a:t>   </a:t>
            </a:r>
            <a:r>
              <a:rPr lang="zh-CN" altLang="en-US" dirty="0" smtClean="0"/>
              <a:t>新图上跑双端队列</a:t>
            </a:r>
            <a:r>
              <a:rPr lang="en-US" altLang="zh-CN" dirty="0" smtClean="0"/>
              <a:t>BFS</a:t>
            </a:r>
            <a:r>
              <a:rPr lang="zh-CN" altLang="en-US" dirty="0" smtClean="0"/>
              <a:t>，求</a:t>
            </a:r>
            <a:r>
              <a:rPr lang="en-US" altLang="zh-CN" dirty="0" smtClean="0"/>
              <a:t>1</a:t>
            </a:r>
            <a:r>
              <a:rPr lang="zh-CN" altLang="en-US" dirty="0" smtClean="0"/>
              <a:t>到</a:t>
            </a:r>
            <a:r>
              <a:rPr lang="en-US" altLang="zh-CN" dirty="0" smtClean="0"/>
              <a:t>n</a:t>
            </a:r>
            <a:r>
              <a:rPr lang="zh-CN" altLang="en-US" dirty="0" smtClean="0"/>
              <a:t>最少经过要多少条设为前</a:t>
            </a:r>
            <a:r>
              <a:rPr lang="en-US" altLang="zh-CN" dirty="0" smtClean="0"/>
              <a:t>k</a:t>
            </a:r>
            <a:r>
              <a:rPr lang="zh-CN" altLang="en-US" dirty="0" smtClean="0"/>
              <a:t>大的边，如果数量</a:t>
            </a:r>
            <a:r>
              <a:rPr lang="en-US" altLang="zh-CN" dirty="0" smtClean="0"/>
              <a:t>&gt;=k</a:t>
            </a:r>
            <a:r>
              <a:rPr lang="zh-CN" altLang="en-US" dirty="0" smtClean="0"/>
              <a:t>，</a:t>
            </a:r>
            <a:r>
              <a:rPr lang="en-US" altLang="zh-CN" dirty="0" smtClean="0"/>
              <a:t>r=mid</a:t>
            </a:r>
            <a:r>
              <a:rPr lang="zh-CN" altLang="en-US" dirty="0" smtClean="0"/>
              <a:t>，否则</a:t>
            </a:r>
            <a:r>
              <a:rPr lang="en-US" altLang="zh-CN" dirty="0" smtClean="0"/>
              <a:t>l=mid+1</a:t>
            </a:r>
            <a:r>
              <a:rPr lang="zh-CN" altLang="en-US" dirty="0" smtClean="0"/>
              <a:t>。</a:t>
            </a:r>
            <a:endParaRPr lang="en-US" altLang="zh-CN" dirty="0" smtClean="0"/>
          </a:p>
          <a:p>
            <a:r>
              <a:rPr lang="en-US" altLang="zh-CN" dirty="0" smtClean="0"/>
              <a:t>    </a:t>
            </a:r>
            <a:r>
              <a:rPr lang="zh-CN" altLang="en-US" dirty="0" smtClean="0"/>
              <a:t>时间复杂度</a:t>
            </a:r>
            <a:r>
              <a:rPr lang="en-US" altLang="zh-CN" dirty="0" smtClean="0"/>
              <a:t>O(</a:t>
            </a:r>
            <a:r>
              <a:rPr lang="en-US" altLang="zh-CN" dirty="0" err="1" smtClean="0"/>
              <a:t>nmlogw</a:t>
            </a:r>
            <a:r>
              <a:rPr lang="en-US" altLang="zh-CN" dirty="0" smtClean="0"/>
              <a:t>)</a:t>
            </a:r>
            <a:r>
              <a:rPr lang="zh-CN" altLang="en-US" strike="sngStrike" dirty="0" smtClean="0">
                <a:solidFill>
                  <a:schemeClr val="tx1"/>
                </a:solidFill>
                <a:uFillTx/>
              </a:rPr>
              <a:t>，吊打分层图</a:t>
            </a:r>
            <a:r>
              <a:rPr lang="en-US" altLang="zh-CN" strike="sngStrike" dirty="0" smtClean="0">
                <a:solidFill>
                  <a:schemeClr val="tx1"/>
                </a:solidFill>
                <a:uFillTx/>
              </a:rPr>
              <a:t>O(nmk)</a:t>
            </a:r>
            <a:r>
              <a:rPr lang="zh-CN" altLang="en-US" dirty="0" smtClean="0"/>
              <a:t>。</a:t>
            </a:r>
            <a:endParaRPr lang="en-US" altLang="zh-CN" dirty="0" smtClean="0"/>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056101" y="177223"/>
            <a:ext cx="1556837"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双端队列</a:t>
            </a:r>
            <a:r>
              <a:rPr lang="en-US" altLang="zh-CN" dirty="0" smtClean="0">
                <a:solidFill>
                  <a:schemeClr val="bg1"/>
                </a:solidFill>
                <a:effectLst>
                  <a:outerShdw blurRad="203200" dist="38100" dir="5400000" algn="t" rotWithShape="0">
                    <a:prstClr val="black">
                      <a:alpha val="83000"/>
                    </a:prstClr>
                  </a:outerShdw>
                </a:effectLst>
                <a:cs typeface="+mn-ea"/>
                <a:sym typeface="+mn-lt"/>
              </a:rPr>
              <a:t>BFS</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5" name="矩形 14"/>
          <p:cNvSpPr/>
          <p:nvPr/>
        </p:nvSpPr>
        <p:spPr>
          <a:xfrm>
            <a:off x="2006962" y="1313914"/>
            <a:ext cx="7327819"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a:latin typeface="苏新诗古印宋简" pitchFamily="49" charset="-122"/>
                <a:ea typeface="苏新诗古印宋简" pitchFamily="49" charset="-122"/>
                <a:cs typeface="+mn-ea"/>
              </a:rPr>
              <a:t>优先</a:t>
            </a:r>
            <a:r>
              <a:rPr lang="zh-CN" altLang="en-US" dirty="0" smtClean="0">
                <a:latin typeface="苏新诗古印宋简" pitchFamily="49" charset="-122"/>
                <a:ea typeface="苏新诗古印宋简" pitchFamily="49" charset="-122"/>
                <a:cs typeface="+mn-ea"/>
              </a:rPr>
              <a:t>队列</a:t>
            </a:r>
            <a:r>
              <a:rPr lang="en-US" altLang="zh-CN" dirty="0" smtClean="0">
                <a:latin typeface="苏新诗古印宋简" pitchFamily="49" charset="-122"/>
                <a:ea typeface="苏新诗古印宋简" pitchFamily="49" charset="-122"/>
                <a:cs typeface="+mn-ea"/>
              </a:rPr>
              <a:t>BFS</a:t>
            </a:r>
            <a:endParaRPr lang="en-US" altLang="zh-CN" dirty="0" smtClean="0">
              <a:latin typeface="苏新诗古印宋简" pitchFamily="49" charset="-122"/>
              <a:ea typeface="苏新诗古印宋简" pitchFamily="49" charset="-122"/>
              <a:cs typeface="+mn-ea"/>
            </a:endParaRPr>
          </a:p>
        </p:txBody>
      </p:sp>
      <p:sp>
        <p:nvSpPr>
          <p:cNvPr id="23" name="矩形 22"/>
          <p:cNvSpPr/>
          <p:nvPr/>
        </p:nvSpPr>
        <p:spPr>
          <a:xfrm>
            <a:off x="2006963" y="1738646"/>
            <a:ext cx="7327818" cy="755650"/>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dirty="0" smtClean="0">
                <a:cs typeface="+mn-ea"/>
              </a:rPr>
              <a:t>BFS</a:t>
            </a:r>
            <a:r>
              <a:rPr lang="zh-CN" altLang="en-US" dirty="0" smtClean="0">
                <a:cs typeface="+mn-ea"/>
              </a:rPr>
              <a:t>适用于边权都为</a:t>
            </a:r>
            <a:r>
              <a:rPr lang="en-US" altLang="zh-CN" dirty="0" smtClean="0">
                <a:cs typeface="+mn-ea"/>
              </a:rPr>
              <a:t>1</a:t>
            </a:r>
            <a:r>
              <a:rPr lang="zh-CN" altLang="en-US" dirty="0" smtClean="0">
                <a:cs typeface="+mn-ea"/>
              </a:rPr>
              <a:t>的图，双端队列</a:t>
            </a:r>
            <a:r>
              <a:rPr lang="en-US" altLang="zh-CN" dirty="0" smtClean="0">
                <a:cs typeface="+mn-ea"/>
              </a:rPr>
              <a:t>BFS</a:t>
            </a:r>
            <a:r>
              <a:rPr lang="zh-CN" altLang="en-US" dirty="0" smtClean="0">
                <a:cs typeface="+mn-ea"/>
              </a:rPr>
              <a:t>适用于边权为</a:t>
            </a:r>
            <a:r>
              <a:rPr lang="en-US" altLang="zh-CN" dirty="0" smtClean="0">
                <a:cs typeface="+mn-ea"/>
              </a:rPr>
              <a:t>0</a:t>
            </a:r>
            <a:r>
              <a:rPr lang="zh-CN" altLang="en-US" dirty="0" smtClean="0">
                <a:cs typeface="+mn-ea"/>
              </a:rPr>
              <a:t>或</a:t>
            </a:r>
            <a:r>
              <a:rPr lang="en-US" altLang="zh-CN" dirty="0" smtClean="0">
                <a:cs typeface="+mn-ea"/>
              </a:rPr>
              <a:t>1</a:t>
            </a:r>
            <a:r>
              <a:rPr lang="zh-CN" altLang="en-US" dirty="0" smtClean="0">
                <a:cs typeface="+mn-ea"/>
              </a:rPr>
              <a:t>的图，对于更普遍的情况，优先队列</a:t>
            </a:r>
            <a:r>
              <a:rPr lang="en-US" altLang="zh-CN" dirty="0" smtClean="0">
                <a:cs typeface="+mn-ea"/>
              </a:rPr>
              <a:t>BFS</a:t>
            </a:r>
            <a:r>
              <a:rPr lang="zh-CN" altLang="en-US" dirty="0" smtClean="0">
                <a:cs typeface="+mn-ea"/>
              </a:rPr>
              <a:t>适用于边权为任意非负数的图。</a:t>
            </a:r>
            <a:endParaRPr lang="en-US" altLang="zh-CN" dirty="0" smtClean="0">
              <a:cs typeface="+mn-ea"/>
            </a:endParaRPr>
          </a:p>
        </p:txBody>
      </p:sp>
      <p:sp>
        <p:nvSpPr>
          <p:cNvPr id="13" name="矩形 12"/>
          <p:cNvSpPr/>
          <p:nvPr/>
        </p:nvSpPr>
        <p:spPr>
          <a:xfrm>
            <a:off x="1996522" y="2495776"/>
            <a:ext cx="7327818"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为了维护边权任意非负数的单调性，应将</a:t>
            </a:r>
            <a:r>
              <a:rPr lang="en-US" altLang="zh-CN" dirty="0" err="1" smtClean="0">
                <a:cs typeface="+mn-ea"/>
              </a:rPr>
              <a:t>deque</a:t>
            </a:r>
            <a:r>
              <a:rPr lang="zh-CN" altLang="en-US" dirty="0" smtClean="0">
                <a:cs typeface="+mn-ea"/>
              </a:rPr>
              <a:t>换成</a:t>
            </a:r>
            <a:r>
              <a:rPr lang="en-US" altLang="zh-CN" dirty="0" err="1" smtClean="0">
                <a:cs typeface="+mn-ea"/>
              </a:rPr>
              <a:t>priority_queue</a:t>
            </a:r>
            <a:r>
              <a:rPr lang="zh-CN" altLang="en-US" dirty="0" smtClean="0">
                <a:cs typeface="+mn-ea"/>
              </a:rPr>
              <a:t>。</a:t>
            </a:r>
            <a:endParaRPr lang="en-US" altLang="zh-CN" dirty="0" smtClean="0">
              <a:cs typeface="+mn-ea"/>
            </a:endParaRPr>
          </a:p>
        </p:txBody>
      </p:sp>
      <p:sp>
        <p:nvSpPr>
          <p:cNvPr id="14" name="矩形 13"/>
          <p:cNvSpPr/>
          <p:nvPr/>
        </p:nvSpPr>
        <p:spPr>
          <a:xfrm>
            <a:off x="1996167" y="4095665"/>
            <a:ext cx="7327818" cy="75713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状态是</a:t>
            </a:r>
            <a:r>
              <a:rPr lang="zh-CN" altLang="en-US" b="1" dirty="0" smtClean="0">
                <a:cs typeface="+mn-ea"/>
              </a:rPr>
              <a:t>入队多次，出队一次，第一次出队</a:t>
            </a:r>
            <a:r>
              <a:rPr lang="zh-CN" altLang="en-US" dirty="0" smtClean="0">
                <a:cs typeface="+mn-ea"/>
              </a:rPr>
              <a:t>为最优解。图论算法中，优先队列</a:t>
            </a:r>
            <a:r>
              <a:rPr lang="en-US" altLang="zh-CN" dirty="0" smtClean="0">
                <a:cs typeface="+mn-ea"/>
              </a:rPr>
              <a:t>BFS</a:t>
            </a:r>
            <a:r>
              <a:rPr lang="zh-CN" altLang="en-US" dirty="0" smtClean="0">
                <a:cs typeface="+mn-ea"/>
              </a:rPr>
              <a:t>对应堆优化的</a:t>
            </a:r>
            <a:r>
              <a:rPr lang="en-US" altLang="zh-CN" dirty="0" err="1" smtClean="0">
                <a:cs typeface="+mn-ea"/>
              </a:rPr>
              <a:t>Dijkstra</a:t>
            </a:r>
            <a:r>
              <a:rPr lang="zh-CN" altLang="en-US" dirty="0" smtClean="0">
                <a:cs typeface="+mn-ea"/>
              </a:rPr>
              <a:t>，时间复杂度为</a:t>
            </a:r>
            <a:r>
              <a:rPr lang="en-US" altLang="zh-CN" dirty="0" smtClean="0">
                <a:cs typeface="+mn-ea"/>
              </a:rPr>
              <a:t>O(</a:t>
            </a:r>
            <a:r>
              <a:rPr lang="en-US" altLang="zh-CN" dirty="0" err="1" smtClean="0">
                <a:cs typeface="+mn-ea"/>
              </a:rPr>
              <a:t>mlogm</a:t>
            </a:r>
            <a:r>
              <a:rPr lang="en-US" altLang="zh-CN" dirty="0" smtClean="0">
                <a:cs typeface="+mn-ea"/>
              </a:rPr>
              <a:t>)</a:t>
            </a:r>
            <a:r>
              <a:rPr lang="zh-CN" altLang="en-US" dirty="0" smtClean="0">
                <a:cs typeface="+mn-ea"/>
              </a:rPr>
              <a:t>。</a:t>
            </a:r>
            <a:endParaRPr lang="en-US" altLang="zh-CN" dirty="0" smtClean="0">
              <a:cs typeface="+mn-ea"/>
            </a:endParaRPr>
          </a:p>
        </p:txBody>
      </p:sp>
      <p:sp>
        <p:nvSpPr>
          <p:cNvPr id="17" name="矩形 16"/>
          <p:cNvSpPr/>
          <p:nvPr/>
        </p:nvSpPr>
        <p:spPr>
          <a:xfrm>
            <a:off x="2007317" y="3130058"/>
            <a:ext cx="7327818" cy="75713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思路是每次从队首取出代价最小的节点进一步搜索，容易证明这个贪心思想正确，因为边权非负，后续代价更大的点不会更新这个点。</a:t>
            </a:r>
            <a:endParaRPr lang="en-US" altLang="zh-CN" dirty="0" smtClean="0">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email"/>
          <a:srcRect/>
          <a:stretch>
            <a:fillRect/>
          </a:stretch>
        </p:blipFill>
        <p:spPr>
          <a:xfrm>
            <a:off x="0" y="-1"/>
            <a:ext cx="2346266" cy="1738323"/>
          </a:xfrm>
          <a:prstGeom prst="rect">
            <a:avLst/>
          </a:prstGeom>
        </p:spPr>
      </p:pic>
      <p:pic>
        <p:nvPicPr>
          <p:cNvPr id="20" name="图片 19"/>
          <p:cNvPicPr>
            <a:picLocks noChangeAspect="1"/>
          </p:cNvPicPr>
          <p:nvPr/>
        </p:nvPicPr>
        <p:blipFill rotWithShape="1">
          <a:blip r:embed="rId2" cstate="email"/>
          <a:srcRect/>
          <a:stretch>
            <a:fill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accent3"/>
                </a:solidFill>
                <a:cs typeface="+mn-ea"/>
                <a:sym typeface="+mn-lt"/>
              </a:rPr>
              <a:t>Concept</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056101" y="177223"/>
            <a:ext cx="1556837"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双端队列</a:t>
            </a:r>
            <a:r>
              <a:rPr lang="en-US" altLang="zh-CN" dirty="0" smtClean="0">
                <a:solidFill>
                  <a:schemeClr val="bg1"/>
                </a:solidFill>
                <a:effectLst>
                  <a:outerShdw blurRad="203200" dist="38100" dir="5400000" algn="t" rotWithShape="0">
                    <a:prstClr val="black">
                      <a:alpha val="83000"/>
                    </a:prstClr>
                  </a:outerShdw>
                </a:effectLst>
                <a:cs typeface="+mn-ea"/>
                <a:sym typeface="+mn-lt"/>
              </a:rPr>
              <a:t>BFS</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3" name="矩形 22"/>
          <p:cNvSpPr/>
          <p:nvPr/>
        </p:nvSpPr>
        <p:spPr>
          <a:xfrm>
            <a:off x="1996803" y="1738646"/>
            <a:ext cx="7327818" cy="75565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sym typeface="+mn-ea"/>
              </a:rPr>
              <a:t>适用于边权为</a:t>
            </a:r>
            <a:r>
              <a:rPr lang="en-US" altLang="zh-CN" dirty="0" smtClean="0">
                <a:cs typeface="+mn-ea"/>
                <a:sym typeface="+mn-ea"/>
              </a:rPr>
              <a:t>0</a:t>
            </a:r>
            <a:r>
              <a:rPr lang="zh-CN" altLang="en-US" dirty="0" smtClean="0">
                <a:cs typeface="+mn-ea"/>
                <a:sym typeface="+mn-ea"/>
              </a:rPr>
              <a:t>或</a:t>
            </a:r>
            <a:r>
              <a:rPr lang="en-US" altLang="zh-CN" dirty="0" smtClean="0">
                <a:cs typeface="+mn-ea"/>
                <a:sym typeface="+mn-ea"/>
              </a:rPr>
              <a:t>1</a:t>
            </a:r>
            <a:r>
              <a:rPr lang="zh-CN" altLang="en-US" dirty="0" smtClean="0">
                <a:cs typeface="+mn-ea"/>
                <a:sym typeface="+mn-ea"/>
              </a:rPr>
              <a:t>的图，对于更普遍的情况，优先队列</a:t>
            </a:r>
            <a:r>
              <a:rPr lang="en-US" altLang="zh-CN" dirty="0" smtClean="0">
                <a:cs typeface="+mn-ea"/>
                <a:sym typeface="+mn-ea"/>
              </a:rPr>
              <a:t>BFS</a:t>
            </a:r>
            <a:r>
              <a:rPr lang="zh-CN" altLang="en-US" dirty="0" smtClean="0">
                <a:cs typeface="+mn-ea"/>
                <a:sym typeface="+mn-ea"/>
              </a:rPr>
              <a:t>适用于边权为任意非负数的图。</a:t>
            </a:r>
            <a:endParaRPr lang="en-US" altLang="zh-CN" dirty="0" smtClean="0">
              <a:cs typeface="+mn-ea"/>
            </a:endParaRPr>
          </a:p>
        </p:txBody>
      </p:sp>
      <p:sp>
        <p:nvSpPr>
          <p:cNvPr id="13" name="矩形 12"/>
          <p:cNvSpPr/>
          <p:nvPr/>
        </p:nvSpPr>
        <p:spPr>
          <a:xfrm>
            <a:off x="4798060" y="3070860"/>
            <a:ext cx="6472555" cy="42354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状态是</a:t>
            </a:r>
            <a:r>
              <a:rPr lang="zh-CN" altLang="en-US" b="1" dirty="0" smtClean="0">
                <a:cs typeface="+mn-ea"/>
              </a:rPr>
              <a:t>入队多次，出队一次，第一次出队</a:t>
            </a:r>
            <a:r>
              <a:rPr lang="zh-CN" altLang="en-US" dirty="0" smtClean="0">
                <a:cs typeface="+mn-ea"/>
              </a:rPr>
              <a:t>时为最优解。</a:t>
            </a:r>
            <a:endParaRPr lang="en-US" altLang="zh-CN" dirty="0" smtClean="0">
              <a:cs typeface="+mn-ea"/>
            </a:endParaRPr>
          </a:p>
        </p:txBody>
      </p:sp>
      <p:sp>
        <p:nvSpPr>
          <p:cNvPr id="14" name="矩形 13"/>
          <p:cNvSpPr/>
          <p:nvPr/>
        </p:nvSpPr>
        <p:spPr>
          <a:xfrm>
            <a:off x="4798060" y="3698240"/>
            <a:ext cx="6472555" cy="208407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rPr>
              <a:t>初始化起始状态，加入队列；</a:t>
            </a:r>
            <a:endParaRPr lang="zh-CN" altLang="en-US" dirty="0" smtClean="0">
              <a:cs typeface="+mn-ea"/>
            </a:endParaRPr>
          </a:p>
          <a:p>
            <a:pPr algn="just">
              <a:lnSpc>
                <a:spcPct val="120000"/>
              </a:lnSpc>
            </a:pPr>
            <a:endParaRPr lang="en-US" altLang="zh-CN" dirty="0" smtClean="0">
              <a:cs typeface="+mn-ea"/>
            </a:endParaRPr>
          </a:p>
          <a:p>
            <a:pPr algn="just">
              <a:lnSpc>
                <a:spcPct val="120000"/>
              </a:lnSpc>
            </a:pPr>
            <a:r>
              <a:rPr lang="zh-CN" altLang="en-US" dirty="0" smtClean="0">
                <a:cs typeface="+mn-ea"/>
              </a:rPr>
              <a:t>从队首取出一个没有扩展过的状态，将其标记为已经扩展过，扩展它可达的所有状态，将扩展到的状态加入优先队列</a:t>
            </a:r>
            <a:endParaRPr lang="zh-CN" altLang="en-US" dirty="0" smtClean="0">
              <a:cs typeface="+mn-ea"/>
            </a:endParaRPr>
          </a:p>
          <a:p>
            <a:pPr algn="just">
              <a:lnSpc>
                <a:spcPct val="120000"/>
              </a:lnSpc>
            </a:pPr>
            <a:endParaRPr lang="en-US" altLang="zh-CN" dirty="0" smtClean="0">
              <a:cs typeface="+mn-ea"/>
            </a:endParaRPr>
          </a:p>
          <a:p>
            <a:pPr algn="just">
              <a:lnSpc>
                <a:spcPct val="120000"/>
              </a:lnSpc>
            </a:pPr>
            <a:r>
              <a:rPr lang="zh-CN" altLang="en-US" dirty="0" smtClean="0">
                <a:cs typeface="+mn-ea"/>
              </a:rPr>
              <a:t>重复执行第</a:t>
            </a:r>
            <a:r>
              <a:rPr lang="en-US" altLang="zh-CN" dirty="0" smtClean="0">
                <a:cs typeface="+mn-ea"/>
              </a:rPr>
              <a:t>2</a:t>
            </a:r>
            <a:r>
              <a:rPr lang="zh-CN" altLang="en-US" dirty="0" smtClean="0">
                <a:cs typeface="+mn-ea"/>
              </a:rPr>
              <a:t>步，直到队列为空或找到答案。</a:t>
            </a:r>
            <a:endParaRPr lang="en-US" altLang="zh-CN" dirty="0" smtClean="0">
              <a:cs typeface="+mn-ea"/>
            </a:endParaRPr>
          </a:p>
        </p:txBody>
      </p:sp>
      <p:sp>
        <p:nvSpPr>
          <p:cNvPr id="16" name="矩形 15"/>
          <p:cNvSpPr/>
          <p:nvPr/>
        </p:nvSpPr>
        <p:spPr>
          <a:xfrm>
            <a:off x="1996802" y="2494075"/>
            <a:ext cx="7327818" cy="42354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dirty="0" smtClean="0">
                <a:cs typeface="+mn-ea"/>
                <a:sym typeface="+mn-ea"/>
              </a:rPr>
              <a:t>为了维护边权任意非负数的单调性，应将</a:t>
            </a:r>
            <a:r>
              <a:rPr lang="en-US" altLang="zh-CN" dirty="0" err="1" smtClean="0">
                <a:cs typeface="+mn-ea"/>
                <a:sym typeface="+mn-ea"/>
              </a:rPr>
              <a:t>deque</a:t>
            </a:r>
            <a:r>
              <a:rPr lang="zh-CN" altLang="en-US" dirty="0" smtClean="0">
                <a:cs typeface="+mn-ea"/>
                <a:sym typeface="+mn-ea"/>
              </a:rPr>
              <a:t>换成</a:t>
            </a:r>
            <a:r>
              <a:rPr lang="en-US" altLang="zh-CN" dirty="0" err="1" smtClean="0">
                <a:cs typeface="+mn-ea"/>
                <a:sym typeface="+mn-ea"/>
              </a:rPr>
              <a:t>priority_queue</a:t>
            </a:r>
            <a:r>
              <a:rPr lang="zh-CN" altLang="en-US" dirty="0" smtClean="0">
                <a:cs typeface="+mn-ea"/>
                <a:sym typeface="+mn-ea"/>
              </a:rPr>
              <a:t>。</a:t>
            </a:r>
            <a:endParaRPr lang="en-US" altLang="zh-CN" dirty="0" smtClean="0">
              <a:cs typeface="+mn-ea"/>
            </a:endParaRPr>
          </a:p>
        </p:txBody>
      </p:sp>
      <p:sp>
        <p:nvSpPr>
          <p:cNvPr id="2" name="矩形 1"/>
          <p:cNvSpPr/>
          <p:nvPr/>
        </p:nvSpPr>
        <p:spPr>
          <a:xfrm>
            <a:off x="1996802" y="1313914"/>
            <a:ext cx="7327819" cy="423545"/>
          </a:xfrm>
          <a:prstGeom prst="rect">
            <a:avLst/>
          </a:prstGeom>
        </p:spPr>
        <p:txBody>
          <a:bodyPr wrap="square">
            <a:spAutoFit/>
            <a:scene3d>
              <a:camera prst="orthographicFront"/>
              <a:lightRig rig="threePt" dir="t"/>
            </a:scene3d>
            <a:sp3d contourW="12700"/>
          </a:bodyPr>
          <a:p>
            <a:pPr algn="just">
              <a:lnSpc>
                <a:spcPct val="120000"/>
              </a:lnSpc>
            </a:pPr>
            <a:r>
              <a:rPr lang="zh-CN" altLang="en-US" dirty="0">
                <a:latin typeface="苏新诗古印宋简" pitchFamily="49" charset="-122"/>
                <a:ea typeface="苏新诗古印宋简" pitchFamily="49" charset="-122"/>
                <a:cs typeface="+mn-ea"/>
                <a:sym typeface="+mn-ea"/>
              </a:rPr>
              <a:t>优先</a:t>
            </a:r>
            <a:r>
              <a:rPr lang="zh-CN" altLang="en-US" dirty="0" smtClean="0">
                <a:latin typeface="苏新诗古印宋简" pitchFamily="49" charset="-122"/>
                <a:ea typeface="苏新诗古印宋简" pitchFamily="49" charset="-122"/>
                <a:cs typeface="+mn-ea"/>
                <a:sym typeface="+mn-ea"/>
              </a:rPr>
              <a:t>队列</a:t>
            </a:r>
            <a:r>
              <a:rPr lang="en-US" altLang="zh-CN" dirty="0" smtClean="0">
                <a:latin typeface="苏新诗古印宋简" pitchFamily="49" charset="-122"/>
                <a:ea typeface="苏新诗古印宋简" pitchFamily="49" charset="-122"/>
                <a:cs typeface="+mn-ea"/>
                <a:sym typeface="+mn-ea"/>
              </a:rPr>
              <a:t>BFS</a:t>
            </a:r>
            <a:endParaRPr lang="en-US" altLang="zh-CN" dirty="0" smtClean="0">
              <a:latin typeface="苏新诗古印宋简" pitchFamily="49" charset="-122"/>
              <a:ea typeface="苏新诗古印宋简" pitchFamily="49" charset="-122"/>
              <a:cs typeface="+mn-ea"/>
            </a:endParaRPr>
          </a:p>
        </p:txBody>
      </p:sp>
      <p:sp>
        <p:nvSpPr>
          <p:cNvPr id="17" name="矩形 16"/>
          <p:cNvSpPr/>
          <p:nvPr/>
        </p:nvSpPr>
        <p:spPr>
          <a:xfrm>
            <a:off x="1124585" y="3070860"/>
            <a:ext cx="3673475" cy="3107690"/>
          </a:xfrm>
          <a:prstGeom prst="rect">
            <a:avLst/>
          </a:prstGeom>
        </p:spPr>
        <p:txBody>
          <a:bodyPr wrap="square">
            <a:spAutoFit/>
            <a:scene3d>
              <a:camera prst="orthographicFront"/>
              <a:lightRig rig="threePt" dir="t"/>
            </a:scene3d>
            <a:sp3d contourW="12700"/>
          </a:bodyPr>
          <a:p>
            <a:r>
              <a:rPr lang="en-US" altLang="zh-CN" sz="1400" dirty="0"/>
              <a:t>   </a:t>
            </a:r>
            <a:r>
              <a:rPr lang="en-US" altLang="zh-CN" sz="1400" dirty="0" err="1"/>
              <a:t>bfs</a:t>
            </a:r>
            <a:r>
              <a:rPr lang="en-US" altLang="zh-CN" sz="1400" dirty="0"/>
              <a:t>(s)</a:t>
            </a:r>
            <a:endParaRPr lang="en-US" altLang="zh-CN" sz="1400" dirty="0"/>
          </a:p>
          <a:p>
            <a:r>
              <a:rPr lang="en-US" altLang="zh-CN" sz="1400" dirty="0"/>
              <a:t> </a:t>
            </a:r>
            <a:r>
              <a:rPr lang="en-US" altLang="zh-CN" sz="1400" dirty="0" smtClean="0"/>
              <a:t>     pq = new priority_</a:t>
            </a:r>
            <a:r>
              <a:rPr lang="en-US" altLang="zh-CN" sz="1400" dirty="0"/>
              <a:t>queue()</a:t>
            </a:r>
            <a:endParaRPr lang="en-US" altLang="zh-CN" sz="1400" dirty="0"/>
          </a:p>
          <a:p>
            <a:r>
              <a:rPr lang="en-US" altLang="zh-CN" sz="1400" dirty="0" smtClean="0"/>
              <a:t>      </a:t>
            </a:r>
            <a:r>
              <a:rPr lang="en-US" altLang="zh-CN" sz="1400" dirty="0" err="1" smtClean="0"/>
              <a:t>vis.set</a:t>
            </a:r>
            <a:r>
              <a:rPr lang="en-US" altLang="zh-CN" sz="1400" dirty="0" smtClean="0"/>
              <a:t>(false</a:t>
            </a:r>
            <a:r>
              <a:rPr lang="en-US" altLang="zh-CN" sz="1400" dirty="0"/>
              <a:t>)</a:t>
            </a:r>
            <a:endParaRPr lang="en-US" altLang="zh-CN" sz="1400" dirty="0"/>
          </a:p>
          <a:p>
            <a:r>
              <a:rPr lang="en-US" altLang="zh-CN" sz="1400" dirty="0"/>
              <a:t>      dis.set(INF)</a:t>
            </a:r>
            <a:endParaRPr lang="en-US" altLang="zh-CN" sz="1400" dirty="0"/>
          </a:p>
          <a:p>
            <a:r>
              <a:rPr lang="en-US" altLang="zh-CN" sz="1400" dirty="0"/>
              <a:t>      dis[s] = 0</a:t>
            </a:r>
            <a:endParaRPr lang="en-US" altLang="zh-CN" sz="1400" dirty="0"/>
          </a:p>
          <a:p>
            <a:r>
              <a:rPr lang="en-US" altLang="zh-CN" sz="1400" dirty="0"/>
              <a:t>      p</a:t>
            </a:r>
            <a:r>
              <a:rPr lang="en-US" altLang="zh-CN" sz="1400" dirty="0" err="1" smtClean="0"/>
              <a:t>q.push</a:t>
            </a:r>
            <a:r>
              <a:rPr lang="en-US" altLang="zh-CN" sz="1400" dirty="0" smtClean="0"/>
              <a:t>(make_pair(0,s)</a:t>
            </a:r>
            <a:r>
              <a:rPr lang="en-US" altLang="zh-CN" sz="1400" dirty="0"/>
              <a:t>)</a:t>
            </a:r>
            <a:endParaRPr lang="en-US" altLang="zh-CN" sz="1400" dirty="0"/>
          </a:p>
          <a:p>
            <a:r>
              <a:rPr lang="en-US" altLang="zh-CN" sz="1400" dirty="0"/>
              <a:t> </a:t>
            </a:r>
            <a:r>
              <a:rPr lang="en-US" altLang="zh-CN" sz="1400" dirty="0" smtClean="0"/>
              <a:t>     while </a:t>
            </a:r>
            <a:r>
              <a:rPr lang="en-US" altLang="zh-CN" sz="1400" dirty="0"/>
              <a:t>(!p</a:t>
            </a:r>
            <a:r>
              <a:rPr lang="en-US" altLang="zh-CN" sz="1400" dirty="0" err="1"/>
              <a:t>q.empty</a:t>
            </a:r>
            <a:r>
              <a:rPr lang="en-US" altLang="zh-CN" sz="1400" dirty="0"/>
              <a:t>())</a:t>
            </a:r>
            <a:endParaRPr lang="en-US" altLang="zh-CN" sz="1400" dirty="0"/>
          </a:p>
          <a:p>
            <a:r>
              <a:rPr lang="en-US" altLang="zh-CN" sz="1400" dirty="0" smtClean="0"/>
              <a:t>          u = </a:t>
            </a:r>
            <a:r>
              <a:rPr lang="en-US" altLang="zh-CN" sz="1400" dirty="0" err="1" smtClean="0"/>
              <a:t>q.top().second</a:t>
            </a:r>
            <a:endParaRPr lang="en-US" altLang="zh-CN" sz="1400" dirty="0" err="1" smtClean="0"/>
          </a:p>
          <a:p>
            <a:r>
              <a:rPr lang="en-US" altLang="zh-CN" sz="1400" dirty="0" err="1" smtClean="0"/>
              <a:t>          if (vis[u]) continue</a:t>
            </a:r>
            <a:endParaRPr lang="en-US" altLang="zh-CN" sz="1400" dirty="0"/>
          </a:p>
          <a:p>
            <a:r>
              <a:rPr lang="en-US" altLang="zh-CN" sz="1400" dirty="0"/>
              <a:t>          vis[u] = true</a:t>
            </a:r>
            <a:endParaRPr lang="en-US" altLang="zh-CN" sz="1400" dirty="0"/>
          </a:p>
          <a:p>
            <a:r>
              <a:rPr lang="en-US" altLang="zh-CN" sz="1400" dirty="0" smtClean="0"/>
              <a:t>          for </a:t>
            </a:r>
            <a:r>
              <a:rPr lang="en-US" altLang="zh-CN" sz="1400" dirty="0"/>
              <a:t>each edge(</a:t>
            </a:r>
            <a:r>
              <a:rPr lang="en-US" altLang="zh-CN" sz="1400" dirty="0" err="1"/>
              <a:t>u, v</a:t>
            </a:r>
            <a:r>
              <a:rPr lang="en-US" altLang="zh-CN" sz="1400" dirty="0"/>
              <a:t>)</a:t>
            </a:r>
            <a:endParaRPr lang="en-US" altLang="zh-CN" sz="1400" dirty="0"/>
          </a:p>
          <a:p>
            <a:r>
              <a:rPr lang="en-US" altLang="zh-CN" sz="1400" dirty="0" smtClean="0"/>
              <a:t>              if </a:t>
            </a:r>
            <a:r>
              <a:rPr lang="en-US" altLang="zh-CN" sz="1400" dirty="0"/>
              <a:t>(!</a:t>
            </a:r>
            <a:r>
              <a:rPr lang="en-US" altLang="zh-CN" sz="1400" dirty="0" err="1"/>
              <a:t>vis</a:t>
            </a:r>
            <a:r>
              <a:rPr lang="en-US" altLang="zh-CN" sz="1400" dirty="0"/>
              <a:t>[v] and dis[u] + w &lt; dis[v])</a:t>
            </a:r>
            <a:endParaRPr lang="en-US" altLang="zh-CN" sz="1400" dirty="0"/>
          </a:p>
          <a:p>
            <a:r>
              <a:rPr lang="en-US" altLang="zh-CN" sz="1400" dirty="0"/>
              <a:t>                dis[v] = dis[u] + w</a:t>
            </a:r>
            <a:endParaRPr lang="en-US" altLang="zh-CN" sz="1400" dirty="0"/>
          </a:p>
          <a:p>
            <a:r>
              <a:rPr lang="en-US" altLang="zh-CN" sz="1400" dirty="0"/>
              <a:t>                pq.push(make_pair(dis[v],v))</a:t>
            </a:r>
            <a:endParaRPr lang="en-US" altLang="zh-CN" sz="1400" dirty="0" smtClean="0"/>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4" grpId="0"/>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cstate="email"/>
          <a:srcRect/>
          <a:stretch>
            <a:fillRect/>
          </a:stretch>
        </p:blipFill>
        <p:spPr>
          <a:xfrm>
            <a:off x="0" y="-1"/>
            <a:ext cx="12192000" cy="6858001"/>
          </a:xfrm>
          <a:prstGeom prst="rect">
            <a:avLst/>
          </a:prstGeom>
        </p:spPr>
      </p:pic>
      <p:pic>
        <p:nvPicPr>
          <p:cNvPr id="2919" name="图片 2918"/>
          <p:cNvPicPr>
            <a:picLocks noChangeAspect="1"/>
          </p:cNvPicPr>
          <p:nvPr/>
        </p:nvPicPr>
        <p:blipFill rotWithShape="1">
          <a:blip r:embed="rId2" cstate="email"/>
          <a:srcRect/>
          <a:stretch>
            <a:fillRect/>
          </a:stretch>
        </p:blipFill>
        <p:spPr>
          <a:xfrm>
            <a:off x="3289300" y="622299"/>
            <a:ext cx="5613400" cy="5613400"/>
          </a:xfrm>
          <a:prstGeom prst="ellipse">
            <a:avLst/>
          </a:prstGeom>
          <a:effectLst>
            <a:outerShdw blurRad="482600" sx="102000" sy="102000" algn="ctr" rotWithShape="0">
              <a:prstClr val="black">
                <a:alpha val="61000"/>
              </a:prstClr>
            </a:outerShdw>
          </a:effectLst>
        </p:spPr>
      </p:pic>
      <p:sp>
        <p:nvSpPr>
          <p:cNvPr id="2920" name="文本框 2919"/>
          <p:cNvSpPr txBox="1"/>
          <p:nvPr/>
        </p:nvSpPr>
        <p:spPr>
          <a:xfrm>
            <a:off x="4618676" y="2006600"/>
            <a:ext cx="2954656" cy="923330"/>
          </a:xfrm>
          <a:prstGeom prst="rect">
            <a:avLst/>
          </a:prstGeom>
          <a:noFill/>
        </p:spPr>
        <p:txBody>
          <a:bodyPr wrap="none" rtlCol="0">
            <a:spAutoFit/>
            <a:scene3d>
              <a:camera prst="orthographicFront"/>
              <a:lightRig rig="threePt" dir="t"/>
            </a:scene3d>
            <a:sp3d extrusionH="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rPr>
              <a:t>谢谢观看</a:t>
            </a:r>
            <a:endParaRPr kumimoji="0" lang="zh-CN" altLang="en-US" sz="54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endParaRPr>
          </a:p>
        </p:txBody>
      </p:sp>
      <p:sp>
        <p:nvSpPr>
          <p:cNvPr id="2921" name="文本框 2920"/>
          <p:cNvSpPr txBox="1"/>
          <p:nvPr/>
        </p:nvSpPr>
        <p:spPr>
          <a:xfrm>
            <a:off x="4708440" y="3019922"/>
            <a:ext cx="2775119" cy="707886"/>
          </a:xfrm>
          <a:prstGeom prst="rect">
            <a:avLst/>
          </a:prstGeom>
          <a:noFill/>
        </p:spPr>
        <p:txBody>
          <a:bodyPr wrap="none" rtlCol="0">
            <a:spAutoFit/>
            <a:scene3d>
              <a:camera prst="orthographicFront"/>
              <a:lightRig rig="threePt" dir="t"/>
            </a:scene3d>
            <a:sp3d extrusionH="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000" dirty="0">
                <a:solidFill>
                  <a:srgbClr val="FFFFFF"/>
                </a:solidFill>
                <a:effectLst>
                  <a:outerShdw blurRad="203200" dist="38100" dir="5400000" algn="t" rotWithShape="0">
                    <a:prstClr val="black">
                      <a:alpha val="83000"/>
                    </a:prstClr>
                  </a:outerShdw>
                </a:effectLst>
                <a:cs typeface="+mn-ea"/>
                <a:sym typeface="+mn-lt"/>
              </a:rPr>
              <a:t>THANKS</a:t>
            </a:r>
            <a:r>
              <a:rPr lang="zh-CN" altLang="en-US" sz="4000" dirty="0">
                <a:solidFill>
                  <a:srgbClr val="FFFFFF"/>
                </a:solidFill>
                <a:effectLst>
                  <a:outerShdw blurRad="203200" dist="38100" dir="5400000" algn="t" rotWithShape="0">
                    <a:prstClr val="black">
                      <a:alpha val="83000"/>
                    </a:prstClr>
                  </a:outerShdw>
                </a:effectLst>
                <a:cs typeface="+mn-ea"/>
                <a:sym typeface="+mn-lt"/>
              </a:rPr>
              <a:t>！</a:t>
            </a:r>
            <a:endParaRPr kumimoji="0" lang="zh-CN" altLang="en-US" sz="40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endParaRPr>
          </a:p>
        </p:txBody>
      </p:sp>
      <p:cxnSp>
        <p:nvCxnSpPr>
          <p:cNvPr id="2923" name="直接连接符 2922"/>
          <p:cNvCxnSpPr/>
          <p:nvPr/>
        </p:nvCxnSpPr>
        <p:spPr>
          <a:xfrm>
            <a:off x="4849338" y="3962400"/>
            <a:ext cx="2493324" cy="0"/>
          </a:xfrm>
          <a:prstGeom prst="line">
            <a:avLst/>
          </a:prstGeom>
          <a:ln w="25400" cap="rnd">
            <a:solidFill>
              <a:schemeClr val="bg1"/>
            </a:solidFill>
            <a:round/>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24" name="矩形: 圆角 2923"/>
          <p:cNvSpPr/>
          <p:nvPr/>
        </p:nvSpPr>
        <p:spPr>
          <a:xfrm>
            <a:off x="5379720" y="4497425"/>
            <a:ext cx="1432560" cy="367031"/>
          </a:xfrm>
          <a:prstGeom prst="roundRect">
            <a:avLst>
              <a:gd name="adj" fmla="val 50000"/>
            </a:avLst>
          </a:prstGeom>
          <a:ln>
            <a:solidFill>
              <a:schemeClr val="bg1"/>
            </a:solidFill>
          </a:ln>
          <a:effectLst>
            <a:outerShdw blurRad="2032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smtClean="0">
                <a:ln>
                  <a:noFill/>
                </a:ln>
                <a:solidFill>
                  <a:srgbClr val="FFFFFF"/>
                </a:solidFill>
                <a:effectLst/>
                <a:uLnTx/>
                <a:uFillTx/>
                <a:cs typeface="+mn-ea"/>
                <a:sym typeface="+mn-lt"/>
              </a:rPr>
              <a:t>2026.02.02</a:t>
            </a: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advTm="4000">
        <p:random/>
      </p:transition>
    </mc:Choice>
    <mc:Fallback>
      <p:transition spd="slow" advTm="4000">
        <p:random/>
      </p:transition>
    </mc:Fallback>
  </mc:AlternateContent>
  <p:timing>
    <p:tnLst>
      <p:par>
        <p:cTn id="1" dur="indefinite" restart="never" nodeType="tmRoot"/>
      </p:par>
    </p:tnLst>
  </p:timing>
</p:sld>
</file>

<file path=ppt/tags/tag1.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第一PPT，www.1ppt.com">
  <a:themeElements>
    <a:clrScheme name="Office">
      <a:dk1>
        <a:srgbClr val="000000"/>
      </a:dk1>
      <a:lt1>
        <a:srgbClr val="FFFFFF"/>
      </a:lt1>
      <a:dk2>
        <a:srgbClr val="778495"/>
      </a:dk2>
      <a:lt2>
        <a:srgbClr val="F0F0F0"/>
      </a:lt2>
      <a:accent1>
        <a:srgbClr val="FF8100"/>
      </a:accent1>
      <a:accent2>
        <a:srgbClr val="FFA74C"/>
      </a:accent2>
      <a:accent3>
        <a:srgbClr val="FF5C00"/>
      </a:accent3>
      <a:accent4>
        <a:srgbClr val="FF9F00"/>
      </a:accent4>
      <a:accent5>
        <a:srgbClr val="FFC34D"/>
      </a:accent5>
      <a:accent6>
        <a:srgbClr val="B44010"/>
      </a:accent6>
      <a:hlink>
        <a:srgbClr val="FF8100"/>
      </a:hlink>
      <a:folHlink>
        <a:srgbClr val="BFBFBF"/>
      </a:folHlink>
    </a:clrScheme>
    <a:fontScheme name="wkbwvqjf">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FF8100"/>
    </a:accent1>
    <a:accent2>
      <a:srgbClr val="FFA74C"/>
    </a:accent2>
    <a:accent3>
      <a:srgbClr val="FF5C00"/>
    </a:accent3>
    <a:accent4>
      <a:srgbClr val="FF9F00"/>
    </a:accent4>
    <a:accent5>
      <a:srgbClr val="FFC34D"/>
    </a:accent5>
    <a:accent6>
      <a:srgbClr val="B44010"/>
    </a:accent6>
    <a:hlink>
      <a:srgbClr val="FF8100"/>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6268</Words>
  <Application>WPS 演示</Application>
  <PresentationFormat>自定义</PresentationFormat>
  <Paragraphs>408</Paragraphs>
  <Slides>25</Slides>
  <Notes>20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25</vt:i4>
      </vt:variant>
    </vt:vector>
  </HeadingPairs>
  <TitlesOfParts>
    <vt:vector size="37" baseType="lpstr">
      <vt:lpstr>Arial</vt:lpstr>
      <vt:lpstr>宋体</vt:lpstr>
      <vt:lpstr>Wingdings</vt:lpstr>
      <vt:lpstr>Calibri</vt:lpstr>
      <vt:lpstr>苏新诗古印宋简</vt:lpstr>
      <vt:lpstr>微软雅黑</vt:lpstr>
      <vt:lpstr>Arial Unicode MS</vt:lpstr>
      <vt:lpstr>等线</vt:lpstr>
      <vt:lpstr>第一PPT，www.1ppt.com</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P4667  Switch the Lamp On 电路维修</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创意水彩</dc:title>
  <dc:creator>第一PPT</dc:creator>
  <cp:keywords>www.1ppt.com</cp:keywords>
  <dc:description>www.1ppt.com</dc:description>
  <cp:lastModifiedBy>Kcm</cp:lastModifiedBy>
  <cp:revision>586</cp:revision>
  <dcterms:created xsi:type="dcterms:W3CDTF">2017-05-14T07:05:00Z</dcterms:created>
  <dcterms:modified xsi:type="dcterms:W3CDTF">2026-01-15T03:21:03Z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2052-11.8.2.10154</vt:lpwstr>
  </property>
</Properties>
</file>