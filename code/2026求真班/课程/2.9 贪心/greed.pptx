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6" r:id="rId5"/>
    <p:sldId id="317" r:id="rId6"/>
    <p:sldId id="318" r:id="rId7"/>
    <p:sldId id="319" r:id="rId8"/>
    <p:sldId id="320" r:id="rId9"/>
    <p:sldId id="321" r:id="rId10"/>
    <p:sldId id="322" r:id="rId11"/>
    <p:sldId id="323" r:id="rId12"/>
    <p:sldId id="324" r:id="rId13"/>
    <p:sldId id="325" r:id="rId14"/>
    <p:sldId id="315"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9EE"/>
    <a:srgbClr val="33E98A"/>
    <a:srgbClr val="ACF6CF"/>
    <a:srgbClr val="70F0AD"/>
    <a:srgbClr val="55F7F7"/>
    <a:srgbClr val="4AF80C"/>
    <a:srgbClr val="FC28D4"/>
    <a:srgbClr val="60EEA4"/>
    <a:srgbClr val="41E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67" autoAdjust="0"/>
    <p:restoredTop sz="93778" autoAdjust="0"/>
  </p:normalViewPr>
  <p:slideViewPr>
    <p:cSldViewPr snapToGrid="0" showGuides="1">
      <p:cViewPr varScale="1">
        <p:scale>
          <a:sx n="69" d="100"/>
          <a:sy n="69" d="100"/>
        </p:scale>
        <p:origin x="48" y="310"/>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2237E-A286-49FD-9984-05DBA88D669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D9CF8-F7EC-4A95-888B-BB5C40F63F2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073043"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758186"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8" name="矩形 7"/>
          <p:cNvSpPr/>
          <p:nvPr userDrawn="1"/>
        </p:nvSpPr>
        <p:spPr>
          <a:xfrm>
            <a:off x="8325228" y="6545425"/>
            <a:ext cx="775136"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1592798"/>
            <a:ext cx="12192000" cy="4523843"/>
          </a:xfrm>
          <a:custGeom>
            <a:avLst/>
            <a:gdLst>
              <a:gd name="connsiteX0" fmla="*/ 0 w 12192000"/>
              <a:gd name="connsiteY0" fmla="*/ 0 h 4523843"/>
              <a:gd name="connsiteX1" fmla="*/ 12192000 w 12192000"/>
              <a:gd name="connsiteY1" fmla="*/ 0 h 4523843"/>
              <a:gd name="connsiteX2" fmla="*/ 12192000 w 12192000"/>
              <a:gd name="connsiteY2" fmla="*/ 4523843 h 4523843"/>
              <a:gd name="connsiteX3" fmla="*/ 0 w 12192000"/>
              <a:gd name="connsiteY3" fmla="*/ 4523843 h 4523843"/>
            </a:gdLst>
            <a:ahLst/>
            <a:cxnLst>
              <a:cxn ang="0">
                <a:pos x="connsiteX0" y="connsiteY0"/>
              </a:cxn>
              <a:cxn ang="0">
                <a:pos x="connsiteX1" y="connsiteY1"/>
              </a:cxn>
              <a:cxn ang="0">
                <a:pos x="connsiteX2" y="connsiteY2"/>
              </a:cxn>
              <a:cxn ang="0">
                <a:pos x="connsiteX3" y="connsiteY3"/>
              </a:cxn>
            </a:cxnLst>
            <a:rect l="l" t="t" r="r" b="b"/>
            <a:pathLst>
              <a:path w="12192000" h="4523843">
                <a:moveTo>
                  <a:pt x="0" y="0"/>
                </a:moveTo>
                <a:lnTo>
                  <a:pt x="12192000" y="0"/>
                </a:lnTo>
                <a:lnTo>
                  <a:pt x="12192000" y="4523843"/>
                </a:lnTo>
                <a:lnTo>
                  <a:pt x="0" y="4523843"/>
                </a:ln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 y="1370014"/>
            <a:ext cx="12192002" cy="4829175"/>
          </a:xfrm>
          <a:custGeom>
            <a:avLst/>
            <a:gdLst>
              <a:gd name="connsiteX0" fmla="*/ 7747119 w 12192002"/>
              <a:gd name="connsiteY0" fmla="*/ 0 h 4829175"/>
              <a:gd name="connsiteX1" fmla="*/ 12192002 w 12192002"/>
              <a:gd name="connsiteY1" fmla="*/ 0 h 4829175"/>
              <a:gd name="connsiteX2" fmla="*/ 12192002 w 12192002"/>
              <a:gd name="connsiteY2" fmla="*/ 4829175 h 4829175"/>
              <a:gd name="connsiteX3" fmla="*/ 7747119 w 12192002"/>
              <a:gd name="connsiteY3" fmla="*/ 4829175 h 4829175"/>
              <a:gd name="connsiteX4" fmla="*/ 0 w 12192002"/>
              <a:gd name="connsiteY4" fmla="*/ 0 h 4829175"/>
              <a:gd name="connsiteX5" fmla="*/ 6095999 w 12192002"/>
              <a:gd name="connsiteY5" fmla="*/ 0 h 4829175"/>
              <a:gd name="connsiteX6" fmla="*/ 6095999 w 12192002"/>
              <a:gd name="connsiteY6" fmla="*/ 4829175 h 4829175"/>
              <a:gd name="connsiteX7" fmla="*/ 0 w 12192002"/>
              <a:gd name="connsiteY7" fmla="*/ 4829175 h 482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4829175">
                <a:moveTo>
                  <a:pt x="7747119" y="0"/>
                </a:moveTo>
                <a:lnTo>
                  <a:pt x="12192002" y="0"/>
                </a:lnTo>
                <a:lnTo>
                  <a:pt x="12192002" y="4829175"/>
                </a:lnTo>
                <a:lnTo>
                  <a:pt x="7747119" y="4829175"/>
                </a:lnTo>
                <a:close/>
                <a:moveTo>
                  <a:pt x="0" y="0"/>
                </a:moveTo>
                <a:lnTo>
                  <a:pt x="6095999" y="0"/>
                </a:lnTo>
                <a:lnTo>
                  <a:pt x="6095999" y="4829175"/>
                </a:lnTo>
                <a:lnTo>
                  <a:pt x="0" y="4829175"/>
                </a:lnTo>
                <a:close/>
              </a:path>
            </a:pathLst>
          </a:custGeom>
        </p:spPr>
        <p:txBody>
          <a:bodyPr wrap="square">
            <a:noAutofit/>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719137" y="1357274"/>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6234071" y="1357278"/>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4106" y="0"/>
            <a:ext cx="12187894" cy="3571540"/>
          </a:xfrm>
          <a:custGeom>
            <a:avLst/>
            <a:gdLst>
              <a:gd name="connsiteX0" fmla="*/ 0 w 12187894"/>
              <a:gd name="connsiteY0" fmla="*/ 0 h 3571540"/>
              <a:gd name="connsiteX1" fmla="*/ 12187894 w 12187894"/>
              <a:gd name="connsiteY1" fmla="*/ 0 h 3571540"/>
              <a:gd name="connsiteX2" fmla="*/ 12187894 w 12187894"/>
              <a:gd name="connsiteY2" fmla="*/ 3571540 h 3571540"/>
              <a:gd name="connsiteX3" fmla="*/ 0 w 12187894"/>
              <a:gd name="connsiteY3" fmla="*/ 3571540 h 3571540"/>
            </a:gdLst>
            <a:ahLst/>
            <a:cxnLst>
              <a:cxn ang="0">
                <a:pos x="connsiteX0" y="connsiteY0"/>
              </a:cxn>
              <a:cxn ang="0">
                <a:pos x="connsiteX1" y="connsiteY1"/>
              </a:cxn>
              <a:cxn ang="0">
                <a:pos x="connsiteX2" y="connsiteY2"/>
              </a:cxn>
              <a:cxn ang="0">
                <a:pos x="connsiteX3" y="connsiteY3"/>
              </a:cxn>
            </a:cxnLst>
            <a:rect l="l" t="t" r="r" b="b"/>
            <a:pathLst>
              <a:path w="12187894" h="3571540">
                <a:moveTo>
                  <a:pt x="0" y="0"/>
                </a:moveTo>
                <a:lnTo>
                  <a:pt x="12187894" y="0"/>
                </a:lnTo>
                <a:lnTo>
                  <a:pt x="12187894" y="3571540"/>
                </a:lnTo>
                <a:lnTo>
                  <a:pt x="0" y="3571540"/>
                </a:ln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234798"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
        <p:nvSpPr>
          <p:cNvPr id="16" name="图片占位符 15"/>
          <p:cNvSpPr>
            <a:spLocks noGrp="1"/>
          </p:cNvSpPr>
          <p:nvPr>
            <p:ph type="pic" sz="quarter" idx="11"/>
          </p:nvPr>
        </p:nvSpPr>
        <p:spPr>
          <a:xfrm>
            <a:off x="3720984"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7" name="图片占位符 16"/>
          <p:cNvSpPr>
            <a:spLocks noGrp="1"/>
          </p:cNvSpPr>
          <p:nvPr>
            <p:ph type="pic" sz="quarter" idx="12"/>
          </p:nvPr>
        </p:nvSpPr>
        <p:spPr>
          <a:xfrm>
            <a:off x="6198835"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8693352"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1CE03-90C0-4E22-B7FA-3A1ECBAF6F4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1176E6-63FA-43A7-8DE8-B4DDEC857A2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email"/>
          <a:srcRect/>
          <a:stretch>
            <a:fillRect/>
          </a:stretch>
        </p:blipFill>
        <p:spPr>
          <a:xfrm>
            <a:off x="0" y="-1"/>
            <a:ext cx="12192000" cy="6858001"/>
          </a:xfrm>
          <a:prstGeom prst="rect">
            <a:avLst/>
          </a:prstGeom>
        </p:spPr>
      </p:pic>
      <p:pic>
        <p:nvPicPr>
          <p:cNvPr id="2919" name="图片 2918"/>
          <p:cNvPicPr>
            <a:picLocks noChangeAspect="1"/>
          </p:cNvPicPr>
          <p:nvPr/>
        </p:nvPicPr>
        <p:blipFill rotWithShape="1">
          <a:blip r:embed="rId2" cstate="email"/>
          <a:srcRect/>
          <a:stretch>
            <a:fill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964923" y="2006600"/>
            <a:ext cx="2262159" cy="923330"/>
          </a:xfrm>
          <a:prstGeom prst="rect">
            <a:avLst/>
          </a:prstGeom>
          <a:noFill/>
        </p:spPr>
        <p:txBody>
          <a:bodyPr wrap="none" rtlCol="0">
            <a:spAutoFit/>
            <a:scene3d>
              <a:camera prst="orthographicFront"/>
              <a:lightRig rig="threePt" dir="t"/>
            </a:scene3d>
            <a:sp3d extrusionH="12700"/>
          </a:bodyPr>
          <a:lstStyle/>
          <a:p>
            <a:pPr algn="ctr"/>
            <a:r>
              <a:rPr lang="zh-CN" altLang="en-US" sz="5400" dirty="0">
                <a:solidFill>
                  <a:schemeClr val="bg1"/>
                </a:solidFill>
                <a:effectLst>
                  <a:outerShdw blurRad="203200" dist="38100" dir="5400000" algn="t" rotWithShape="0">
                    <a:prstClr val="black">
                      <a:alpha val="83000"/>
                    </a:prstClr>
                  </a:outerShdw>
                </a:effectLst>
                <a:cs typeface="+mn-ea"/>
                <a:sym typeface="+mn-lt"/>
              </a:rPr>
              <a:t>第六章</a:t>
            </a:r>
            <a:endParaRPr lang="zh-CN" altLang="en-US" sz="5400" dirty="0">
              <a:solidFill>
                <a:schemeClr val="bg1"/>
              </a:solidFill>
              <a:effectLst>
                <a:outerShdw blurRad="203200" dist="38100" dir="5400000" algn="t" rotWithShape="0">
                  <a:prstClr val="black">
                    <a:alpha val="83000"/>
                  </a:prstClr>
                </a:outerShdw>
              </a:effectLst>
              <a:cs typeface="+mn-ea"/>
              <a:sym typeface="+mn-lt"/>
            </a:endParaRPr>
          </a:p>
        </p:txBody>
      </p:sp>
      <p:sp>
        <p:nvSpPr>
          <p:cNvPr id="2921" name="文本框 2920"/>
          <p:cNvSpPr txBox="1"/>
          <p:nvPr/>
        </p:nvSpPr>
        <p:spPr>
          <a:xfrm>
            <a:off x="4977745" y="3019922"/>
            <a:ext cx="2236510" cy="707886"/>
          </a:xfrm>
          <a:prstGeom prst="rect">
            <a:avLst/>
          </a:prstGeom>
          <a:noFill/>
        </p:spPr>
        <p:txBody>
          <a:bodyPr wrap="none" rtlCol="0">
            <a:spAutoFit/>
            <a:scene3d>
              <a:camera prst="orthographicFront"/>
              <a:lightRig rig="threePt" dir="t"/>
            </a:scene3d>
            <a:sp3d extrusionH="12700"/>
          </a:bodyPr>
          <a:lstStyle/>
          <a:p>
            <a:pPr algn="ctr"/>
            <a:r>
              <a:rPr lang="zh-CN" altLang="en-US" sz="4000" dirty="0">
                <a:solidFill>
                  <a:schemeClr val="bg1"/>
                </a:solidFill>
                <a:effectLst>
                  <a:outerShdw blurRad="203200" dist="38100" dir="5400000" algn="t" rotWithShape="0">
                    <a:prstClr val="black">
                      <a:alpha val="83000"/>
                    </a:prstClr>
                  </a:outerShdw>
                </a:effectLst>
                <a:cs typeface="+mn-ea"/>
                <a:sym typeface="+mn-lt"/>
              </a:rPr>
              <a:t>贪心算法</a:t>
            </a:r>
            <a:endParaRPr lang="zh-CN" altLang="en-US" sz="4000" dirty="0">
              <a:solidFill>
                <a:schemeClr val="bg1"/>
              </a:solidFill>
              <a:effectLst>
                <a:outerShdw blurRad="203200" dist="38100" dir="5400000" algn="t" rotWithShape="0">
                  <a:prstClr val="black">
                    <a:alpha val="83000"/>
                  </a:prstClr>
                </a:outerShdw>
              </a:effectLst>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cs typeface="+mn-ea"/>
                <a:sym typeface="+mn-lt"/>
              </a:rPr>
              <a:t>2026.02.09</a:t>
            </a:r>
            <a:endParaRPr lang="zh-CN" altLang="en-US" sz="1400" dirty="0">
              <a:cs typeface="+mn-ea"/>
              <a:sym typeface="+mn-lt"/>
            </a:endParaRPr>
          </a:p>
        </p:txBody>
      </p:sp>
      <p:sp>
        <p:nvSpPr>
          <p:cNvPr id="9" name="文本框 2919"/>
          <p:cNvSpPr txBox="1"/>
          <p:nvPr/>
        </p:nvSpPr>
        <p:spPr>
          <a:xfrm>
            <a:off x="10013199" y="0"/>
            <a:ext cx="2095445"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第二部分 基础算法</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23" presetClass="entr" presetSubtype="288" fill="hold" nodeType="afterEffect">
                                  <p:stCondLst>
                                    <p:cond delay="0"/>
                                  </p:stCondLst>
                                  <p:childTnLst>
                                    <p:set>
                                      <p:cBhvr>
                                        <p:cTn id="15" dur="1" fill="hold">
                                          <p:stCondLst>
                                            <p:cond delay="0"/>
                                          </p:stCondLst>
                                        </p:cTn>
                                        <p:tgtEl>
                                          <p:spTgt spid="2919"/>
                                        </p:tgtEl>
                                        <p:attrNameLst>
                                          <p:attrName>style.visibility</p:attrName>
                                        </p:attrNameLst>
                                      </p:cBhvr>
                                      <p:to>
                                        <p:strVal val="visible"/>
                                      </p:to>
                                    </p:set>
                                    <p:anim calcmode="lin" valueType="num">
                                      <p:cBhvr>
                                        <p:cTn id="16" dur="500" fill="hold"/>
                                        <p:tgtEl>
                                          <p:spTgt spid="2919"/>
                                        </p:tgtEl>
                                        <p:attrNameLst>
                                          <p:attrName>ppt_w</p:attrName>
                                        </p:attrNameLst>
                                      </p:cBhvr>
                                      <p:tavLst>
                                        <p:tav tm="0">
                                          <p:val>
                                            <p:strVal val="4/3*#ppt_w"/>
                                          </p:val>
                                        </p:tav>
                                        <p:tav tm="100000">
                                          <p:val>
                                            <p:strVal val="#ppt_w"/>
                                          </p:val>
                                        </p:tav>
                                      </p:tavLst>
                                    </p:anim>
                                    <p:anim calcmode="lin" valueType="num">
                                      <p:cBhvr>
                                        <p:cTn id="17" dur="500" fill="hold"/>
                                        <p:tgtEl>
                                          <p:spTgt spid="2919"/>
                                        </p:tgtEl>
                                        <p:attrNameLst>
                                          <p:attrName>ppt_h</p:attrName>
                                        </p:attrNameLst>
                                      </p:cBhvr>
                                      <p:tavLst>
                                        <p:tav tm="0">
                                          <p:val>
                                            <p:strVal val="4/3*#ppt_h"/>
                                          </p:val>
                                        </p:tav>
                                        <p:tav tm="100000">
                                          <p:val>
                                            <p:strVal val="#ppt_h"/>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20"/>
                                        </p:tgtEl>
                                        <p:attrNameLst>
                                          <p:attrName>style.visibility</p:attrName>
                                        </p:attrNameLst>
                                      </p:cBhvr>
                                      <p:to>
                                        <p:strVal val="visible"/>
                                      </p:to>
                                    </p:set>
                                    <p:anim calcmode="lin" valueType="num">
                                      <p:cBhvr>
                                        <p:cTn id="21" dur="500" fill="hold"/>
                                        <p:tgtEl>
                                          <p:spTgt spid="2920"/>
                                        </p:tgtEl>
                                        <p:attrNameLst>
                                          <p:attrName>ppt_w</p:attrName>
                                        </p:attrNameLst>
                                      </p:cBhvr>
                                      <p:tavLst>
                                        <p:tav tm="0">
                                          <p:val>
                                            <p:fltVal val="0"/>
                                          </p:val>
                                        </p:tav>
                                        <p:tav tm="100000">
                                          <p:val>
                                            <p:strVal val="#ppt_w"/>
                                          </p:val>
                                        </p:tav>
                                      </p:tavLst>
                                    </p:anim>
                                    <p:anim calcmode="lin" valueType="num">
                                      <p:cBhvr>
                                        <p:cTn id="22" dur="500" fill="hold"/>
                                        <p:tgtEl>
                                          <p:spTgt spid="2920"/>
                                        </p:tgtEl>
                                        <p:attrNameLst>
                                          <p:attrName>ppt_h</p:attrName>
                                        </p:attrNameLst>
                                      </p:cBhvr>
                                      <p:tavLst>
                                        <p:tav tm="0">
                                          <p:val>
                                            <p:fltVal val="0"/>
                                          </p:val>
                                        </p:tav>
                                        <p:tav tm="100000">
                                          <p:val>
                                            <p:strVal val="#ppt_h"/>
                                          </p:val>
                                        </p:tav>
                                      </p:tavLst>
                                    </p:anim>
                                    <p:animEffect transition="in" filter="fade">
                                      <p:cBhvr>
                                        <p:cTn id="23" dur="500"/>
                                        <p:tgtEl>
                                          <p:spTgt spid="2920"/>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2921"/>
                                        </p:tgtEl>
                                        <p:attrNameLst>
                                          <p:attrName>style.visibility</p:attrName>
                                        </p:attrNameLst>
                                      </p:cBhvr>
                                      <p:to>
                                        <p:strVal val="visible"/>
                                      </p:to>
                                    </p:set>
                                    <p:animEffect transition="in" filter="fade">
                                      <p:cBhvr>
                                        <p:cTn id="27" dur="1000"/>
                                        <p:tgtEl>
                                          <p:spTgt spid="2921"/>
                                        </p:tgtEl>
                                      </p:cBhvr>
                                    </p:animEffect>
                                    <p:anim calcmode="lin" valueType="num">
                                      <p:cBhvr>
                                        <p:cTn id="28" dur="1000" fill="hold"/>
                                        <p:tgtEl>
                                          <p:spTgt spid="2921"/>
                                        </p:tgtEl>
                                        <p:attrNameLst>
                                          <p:attrName>ppt_x</p:attrName>
                                        </p:attrNameLst>
                                      </p:cBhvr>
                                      <p:tavLst>
                                        <p:tav tm="0">
                                          <p:val>
                                            <p:strVal val="#ppt_x"/>
                                          </p:val>
                                        </p:tav>
                                        <p:tav tm="100000">
                                          <p:val>
                                            <p:strVal val="#ppt_x"/>
                                          </p:val>
                                        </p:tav>
                                      </p:tavLst>
                                    </p:anim>
                                    <p:anim calcmode="lin" valueType="num">
                                      <p:cBhvr>
                                        <p:cTn id="29" dur="1000" fill="hold"/>
                                        <p:tgtEl>
                                          <p:spTgt spid="2921"/>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6" presetClass="entr" presetSubtype="21" fill="hold" nodeType="afterEffect">
                                  <p:stCondLst>
                                    <p:cond delay="0"/>
                                  </p:stCondLst>
                                  <p:childTnLst>
                                    <p:set>
                                      <p:cBhvr>
                                        <p:cTn id="32" dur="1" fill="hold">
                                          <p:stCondLst>
                                            <p:cond delay="0"/>
                                          </p:stCondLst>
                                        </p:cTn>
                                        <p:tgtEl>
                                          <p:spTgt spid="2923"/>
                                        </p:tgtEl>
                                        <p:attrNameLst>
                                          <p:attrName>style.visibility</p:attrName>
                                        </p:attrNameLst>
                                      </p:cBhvr>
                                      <p:to>
                                        <p:strVal val="visible"/>
                                      </p:to>
                                    </p:set>
                                    <p:animEffect transition="in" filter="barn(inVertical)">
                                      <p:cBhvr>
                                        <p:cTn id="33" dur="500"/>
                                        <p:tgtEl>
                                          <p:spTgt spid="29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924"/>
                                        </p:tgtEl>
                                        <p:attrNameLst>
                                          <p:attrName>style.visibility</p:attrName>
                                        </p:attrNameLst>
                                      </p:cBhvr>
                                      <p:to>
                                        <p:strVal val="visible"/>
                                      </p:to>
                                    </p:set>
                                    <p:animEffect transition="in" filter="fade">
                                      <p:cBhvr>
                                        <p:cTn id="37" dur="500"/>
                                        <p:tgtEl>
                                          <p:spTgt spid="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0" grpId="0"/>
      <p:bldP spid="2921" grpId="0"/>
      <p:bldP spid="2924"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grpSp>
        <p:nvGrpSpPr>
          <p:cNvPr id="28" name="组合 27"/>
          <p:cNvGrpSpPr/>
          <p:nvPr/>
        </p:nvGrpSpPr>
        <p:grpSpPr>
          <a:xfrm>
            <a:off x="1996803" y="1604342"/>
            <a:ext cx="6520774" cy="1374049"/>
            <a:chOff x="7692478" y="1678126"/>
            <a:chExt cx="3838453" cy="1151500"/>
          </a:xfrm>
        </p:grpSpPr>
        <p:sp>
          <p:nvSpPr>
            <p:cNvPr id="30" name="矩形 29"/>
            <p:cNvSpPr/>
            <p:nvPr/>
          </p:nvSpPr>
          <p:spPr>
            <a:xfrm>
              <a:off x="7692478" y="2030750"/>
              <a:ext cx="3838453" cy="79887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a:solidFill>
                    <a:schemeClr val="tx1">
                      <a:lumMod val="50000"/>
                      <a:lumOff val="50000"/>
                    </a:schemeClr>
                  </a:solidFill>
                  <a:cs typeface="+mn-ea"/>
                </a:rPr>
                <a:t>所谓贪心算法是指，在对问题求解时，总是做出在当前看来是最好的选择。也就是说，不从整体最优上加以考虑，他所做出的仅是在某种意义上的局部最优解。</a:t>
              </a:r>
              <a:endParaRPr lang="zh-CN" altLang="en-US" sz="1600" dirty="0">
                <a:solidFill>
                  <a:schemeClr val="tx1">
                    <a:lumMod val="50000"/>
                    <a:lumOff val="50000"/>
                  </a:schemeClr>
                </a:solidFill>
                <a:cs typeface="+mn-ea"/>
              </a:endParaRPr>
            </a:p>
          </p:txBody>
        </p:sp>
        <p:sp>
          <p:nvSpPr>
            <p:cNvPr id="31" name="矩形 30"/>
            <p:cNvSpPr/>
            <p:nvPr/>
          </p:nvSpPr>
          <p:spPr>
            <a:xfrm>
              <a:off x="7692479" y="1678126"/>
              <a:ext cx="224197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cs typeface="+mn-ea"/>
                  <a:sym typeface="+mn-lt"/>
                </a:rPr>
                <a:t>基本概念</a:t>
              </a:r>
              <a:endParaRPr lang="zh-CN" altLang="en-US" b="1" dirty="0">
                <a:solidFill>
                  <a:schemeClr val="tx1">
                    <a:lumMod val="65000"/>
                    <a:lumOff val="35000"/>
                  </a:schemeClr>
                </a:solidFill>
                <a:cs typeface="+mn-ea"/>
                <a:sym typeface="+mn-lt"/>
              </a:endParaRPr>
            </a:p>
          </p:txBody>
        </p:sp>
      </p:grpSp>
      <p:grpSp>
        <p:nvGrpSpPr>
          <p:cNvPr id="33" name="组合 32"/>
          <p:cNvGrpSpPr/>
          <p:nvPr/>
        </p:nvGrpSpPr>
        <p:grpSpPr>
          <a:xfrm>
            <a:off x="4313746" y="3399166"/>
            <a:ext cx="6520774" cy="1429842"/>
            <a:chOff x="7692478" y="1678126"/>
            <a:chExt cx="3838453" cy="1429842"/>
          </a:xfrm>
        </p:grpSpPr>
        <p:sp>
          <p:nvSpPr>
            <p:cNvPr id="35" name="矩形 34"/>
            <p:cNvSpPr/>
            <p:nvPr/>
          </p:nvSpPr>
          <p:spPr>
            <a:xfrm>
              <a:off x="7692478" y="2030750"/>
              <a:ext cx="3838453" cy="1077218"/>
            </a:xfrm>
            <a:prstGeom prst="rect">
              <a:avLst/>
            </a:prstGeom>
          </p:spPr>
          <p:txBody>
            <a:bodyPr wrap="square">
              <a:spAutoFit/>
              <a:scene3d>
                <a:camera prst="orthographicFront"/>
                <a:lightRig rig="threePt" dir="t"/>
              </a:scene3d>
              <a:sp3d contourW="12700"/>
            </a:bodyPr>
            <a:lstStyle/>
            <a:p>
              <a:pPr eaLnBrk="1" hangingPunct="1"/>
              <a:r>
                <a:rPr lang="en-US" altLang="zh-CN" sz="1600" dirty="0">
                  <a:solidFill>
                    <a:schemeClr val="tx1">
                      <a:lumMod val="50000"/>
                      <a:lumOff val="50000"/>
                    </a:schemeClr>
                  </a:solidFill>
                  <a:cs typeface="+mn-ea"/>
                </a:rPr>
                <a:t>1.</a:t>
              </a:r>
              <a:r>
                <a:rPr lang="zh-CN" altLang="en-US" sz="1600" dirty="0">
                  <a:solidFill>
                    <a:schemeClr val="tx1">
                      <a:lumMod val="50000"/>
                      <a:lumOff val="50000"/>
                    </a:schemeClr>
                  </a:solidFill>
                  <a:cs typeface="+mn-ea"/>
                </a:rPr>
                <a:t>建立数学模型来描述问题。</a:t>
              </a:r>
              <a:endParaRPr lang="zh-CN" altLang="en-US" sz="1600" dirty="0">
                <a:solidFill>
                  <a:schemeClr val="tx1">
                    <a:lumMod val="50000"/>
                    <a:lumOff val="50000"/>
                  </a:schemeClr>
                </a:solidFill>
                <a:cs typeface="+mn-ea"/>
              </a:endParaRPr>
            </a:p>
            <a:p>
              <a:pPr eaLnBrk="1" hangingPunct="1"/>
              <a:r>
                <a:rPr lang="en-US" altLang="zh-CN" sz="1600" dirty="0">
                  <a:solidFill>
                    <a:schemeClr val="tx1">
                      <a:lumMod val="50000"/>
                      <a:lumOff val="50000"/>
                    </a:schemeClr>
                  </a:solidFill>
                  <a:cs typeface="+mn-ea"/>
                </a:rPr>
                <a:t>2.</a:t>
              </a:r>
              <a:r>
                <a:rPr lang="zh-CN" altLang="en-US" sz="1600" dirty="0">
                  <a:solidFill>
                    <a:schemeClr val="tx1">
                      <a:lumMod val="50000"/>
                      <a:lumOff val="50000"/>
                    </a:schemeClr>
                  </a:solidFill>
                  <a:cs typeface="+mn-ea"/>
                </a:rPr>
                <a:t>把求解的问题分成若干个子问题。</a:t>
              </a:r>
              <a:endParaRPr lang="zh-CN" altLang="en-US" sz="1600" dirty="0">
                <a:solidFill>
                  <a:schemeClr val="tx1">
                    <a:lumMod val="50000"/>
                    <a:lumOff val="50000"/>
                  </a:schemeClr>
                </a:solidFill>
                <a:cs typeface="+mn-ea"/>
              </a:endParaRPr>
            </a:p>
            <a:p>
              <a:pPr eaLnBrk="1" hangingPunct="1"/>
              <a:r>
                <a:rPr lang="en-US" altLang="zh-CN" sz="1600" dirty="0">
                  <a:solidFill>
                    <a:schemeClr val="tx1">
                      <a:lumMod val="50000"/>
                      <a:lumOff val="50000"/>
                    </a:schemeClr>
                  </a:solidFill>
                  <a:cs typeface="+mn-ea"/>
                </a:rPr>
                <a:t>3.</a:t>
              </a:r>
              <a:r>
                <a:rPr lang="zh-CN" altLang="en-US" sz="1600" dirty="0">
                  <a:solidFill>
                    <a:schemeClr val="tx1">
                      <a:lumMod val="50000"/>
                      <a:lumOff val="50000"/>
                    </a:schemeClr>
                  </a:solidFill>
                  <a:cs typeface="+mn-ea"/>
                </a:rPr>
                <a:t>对每一子问题求解，得到子问题的局部最优解。</a:t>
              </a:r>
              <a:endParaRPr lang="zh-CN" altLang="en-US" sz="1600" dirty="0">
                <a:solidFill>
                  <a:schemeClr val="tx1">
                    <a:lumMod val="50000"/>
                    <a:lumOff val="50000"/>
                  </a:schemeClr>
                </a:solidFill>
                <a:cs typeface="+mn-ea"/>
              </a:endParaRPr>
            </a:p>
            <a:p>
              <a:pPr eaLnBrk="1" hangingPunct="1"/>
              <a:r>
                <a:rPr lang="en-US" altLang="zh-CN" sz="1600" dirty="0">
                  <a:solidFill>
                    <a:schemeClr val="tx1">
                      <a:lumMod val="50000"/>
                      <a:lumOff val="50000"/>
                    </a:schemeClr>
                  </a:solidFill>
                  <a:cs typeface="+mn-ea"/>
                </a:rPr>
                <a:t>4.</a:t>
              </a:r>
              <a:r>
                <a:rPr lang="zh-CN" altLang="en-US" sz="1600" dirty="0">
                  <a:solidFill>
                    <a:schemeClr val="tx1">
                      <a:lumMod val="50000"/>
                      <a:lumOff val="50000"/>
                    </a:schemeClr>
                  </a:solidFill>
                  <a:cs typeface="+mn-ea"/>
                </a:rPr>
                <a:t>把子问题的解局部最优解合成原来解问题的一个解。</a:t>
              </a:r>
              <a:endParaRPr lang="zh-CN" altLang="zh-CN" sz="1600" dirty="0">
                <a:solidFill>
                  <a:schemeClr val="tx1">
                    <a:lumMod val="50000"/>
                    <a:lumOff val="50000"/>
                  </a:schemeClr>
                </a:solidFill>
                <a:cs typeface="+mn-ea"/>
              </a:endParaRPr>
            </a:p>
          </p:txBody>
        </p:sp>
        <p:sp>
          <p:nvSpPr>
            <p:cNvPr id="36" name="矩形 35"/>
            <p:cNvSpPr/>
            <p:nvPr/>
          </p:nvSpPr>
          <p:spPr>
            <a:xfrm>
              <a:off x="7692480" y="1678126"/>
              <a:ext cx="763822"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cs typeface="+mn-ea"/>
                  <a:sym typeface="+mn-lt"/>
                </a:rPr>
                <a:t>基本思路</a:t>
              </a:r>
              <a:endParaRPr lang="zh-CN" altLang="en-US" b="1" dirty="0">
                <a:solidFill>
                  <a:schemeClr val="tx1">
                    <a:lumMod val="65000"/>
                    <a:lumOff val="35000"/>
                  </a:schemeClr>
                </a:solidFill>
                <a:cs typeface="+mn-ea"/>
                <a:sym typeface="+mn-lt"/>
              </a:endParaRPr>
            </a:p>
          </p:txBody>
        </p:sp>
      </p:grpSp>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算法</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a:solidFill>
                  <a:schemeClr val="accent3"/>
                </a:solidFill>
                <a:cs typeface="+mn-ea"/>
                <a:sym typeface="+mn-lt"/>
              </a:rPr>
              <a:t>Algorithm</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4" y="177223"/>
            <a:ext cx="646332"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贪心</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32" name="矩形 31"/>
          <p:cNvSpPr/>
          <p:nvPr/>
        </p:nvSpPr>
        <p:spPr>
          <a:xfrm>
            <a:off x="1996803" y="5003884"/>
            <a:ext cx="6520774" cy="584775"/>
          </a:xfrm>
          <a:prstGeom prst="rect">
            <a:avLst/>
          </a:prstGeom>
        </p:spPr>
        <p:txBody>
          <a:bodyPr wrap="square">
            <a:spAutoFit/>
            <a:scene3d>
              <a:camera prst="orthographicFront"/>
              <a:lightRig rig="threePt" dir="t"/>
            </a:scene3d>
            <a:sp3d contourW="12700"/>
          </a:bodyPr>
          <a:lstStyle/>
          <a:p>
            <a:pPr eaLnBrk="1" hangingPunct="1"/>
            <a:r>
              <a:rPr lang="en-US" altLang="zh-CN" sz="1600" dirty="0">
                <a:solidFill>
                  <a:schemeClr val="tx1">
                    <a:lumMod val="50000"/>
                    <a:lumOff val="50000"/>
                  </a:schemeClr>
                </a:solidFill>
                <a:cs typeface="+mn-ea"/>
              </a:rPr>
              <a:t>· </a:t>
            </a:r>
            <a:r>
              <a:rPr lang="zh-CN" altLang="en-US" sz="1600" dirty="0">
                <a:solidFill>
                  <a:schemeClr val="tx1">
                    <a:lumMod val="50000"/>
                    <a:lumOff val="50000"/>
                  </a:schemeClr>
                </a:solidFill>
                <a:cs typeface="+mn-ea"/>
              </a:rPr>
              <a:t>局部最优策略产生全局最优策略</a:t>
            </a:r>
            <a:endParaRPr lang="en-US" altLang="zh-CN" sz="1600" dirty="0">
              <a:solidFill>
                <a:schemeClr val="tx1">
                  <a:lumMod val="50000"/>
                  <a:lumOff val="50000"/>
                </a:schemeClr>
              </a:solidFill>
              <a:cs typeface="+mn-ea"/>
            </a:endParaRPr>
          </a:p>
          <a:p>
            <a:pPr eaLnBrk="1" hangingPunct="1"/>
            <a:r>
              <a:rPr lang="en-US" altLang="zh-CN" sz="1600" dirty="0">
                <a:solidFill>
                  <a:schemeClr val="tx1">
                    <a:lumMod val="50000"/>
                    <a:lumOff val="50000"/>
                  </a:schemeClr>
                </a:solidFill>
                <a:cs typeface="+mn-ea"/>
              </a:rPr>
              <a:t>·</a:t>
            </a:r>
            <a:r>
              <a:rPr lang="zh-CN" altLang="en-US" sz="1600" dirty="0">
                <a:solidFill>
                  <a:schemeClr val="tx1">
                    <a:lumMod val="50000"/>
                    <a:lumOff val="50000"/>
                  </a:schemeClr>
                </a:solidFill>
                <a:cs typeface="+mn-ea"/>
              </a:rPr>
              <a:t> 正确性证明</a:t>
            </a:r>
            <a:endParaRPr lang="zh-CN" altLang="zh-CN" sz="1600" dirty="0">
              <a:solidFill>
                <a:schemeClr val="tx1">
                  <a:lumMod val="50000"/>
                  <a:lumOff val="50000"/>
                </a:schemeClr>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2"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排队打水</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4" name="矩形 23"/>
          <p:cNvSpPr/>
          <p:nvPr/>
        </p:nvSpPr>
        <p:spPr>
          <a:xfrm>
            <a:off x="5789668" y="5484158"/>
            <a:ext cx="5044851"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tx1">
                    <a:lumMod val="65000"/>
                    <a:lumOff val="35000"/>
                  </a:schemeClr>
                </a:solidFill>
                <a:cs typeface="+mn-ea"/>
                <a:sym typeface="+mn-lt"/>
              </a:rPr>
              <a:t>原型：</a:t>
            </a:r>
            <a:r>
              <a:rPr lang="en-US" altLang="zh-CN" b="1" dirty="0">
                <a:solidFill>
                  <a:schemeClr val="tx1">
                    <a:lumMod val="65000"/>
                    <a:lumOff val="35000"/>
                  </a:schemeClr>
                </a:solidFill>
                <a:cs typeface="+mn-ea"/>
              </a:rPr>
              <a:t>[NOIP2010 </a:t>
            </a:r>
            <a:r>
              <a:rPr lang="zh-CN" altLang="en-US" b="1" dirty="0">
                <a:solidFill>
                  <a:schemeClr val="tx1">
                    <a:lumMod val="65000"/>
                    <a:lumOff val="35000"/>
                  </a:schemeClr>
                </a:solidFill>
                <a:cs typeface="+mn-ea"/>
              </a:rPr>
              <a:t>普及组</a:t>
            </a:r>
            <a:r>
              <a:rPr lang="en-US" altLang="zh-CN" b="1" dirty="0">
                <a:solidFill>
                  <a:schemeClr val="tx1">
                    <a:lumMod val="65000"/>
                    <a:lumOff val="35000"/>
                  </a:schemeClr>
                </a:solidFill>
                <a:cs typeface="+mn-ea"/>
              </a:rPr>
              <a:t>] </a:t>
            </a:r>
            <a:r>
              <a:rPr lang="zh-CN" altLang="en-US" b="1" dirty="0">
                <a:solidFill>
                  <a:schemeClr val="tx1">
                    <a:lumMod val="65000"/>
                    <a:lumOff val="35000"/>
                  </a:schemeClr>
                </a:solidFill>
                <a:cs typeface="+mn-ea"/>
              </a:rPr>
              <a:t>接水问题</a:t>
            </a:r>
            <a:endParaRPr lang="zh-CN" altLang="en-US" b="1" dirty="0">
              <a:solidFill>
                <a:schemeClr val="tx1">
                  <a:lumMod val="65000"/>
                  <a:lumOff val="35000"/>
                </a:schemeClr>
              </a:solidFill>
              <a:cs typeface="+mn-ea"/>
            </a:endParaRPr>
          </a:p>
        </p:txBody>
      </p:sp>
      <p:sp>
        <p:nvSpPr>
          <p:cNvPr id="13" name="矩形 12"/>
          <p:cNvSpPr/>
          <p:nvPr/>
        </p:nvSpPr>
        <p:spPr>
          <a:xfrm>
            <a:off x="706354" y="1507685"/>
            <a:ext cx="4964872" cy="2739211"/>
          </a:xfrm>
          <a:prstGeom prst="rect">
            <a:avLst/>
          </a:prstGeom>
        </p:spPr>
        <p:txBody>
          <a:bodyPr wrap="square">
            <a:spAutoFit/>
            <a:scene3d>
              <a:camera prst="orthographicFront"/>
              <a:lightRig rig="threePt" dir="t"/>
            </a:scene3d>
            <a:sp3d contourW="12700"/>
          </a:bodyPr>
          <a:lstStyle/>
          <a:p>
            <a:pPr algn="ctr"/>
            <a:r>
              <a:rPr lang="zh-CN" altLang="en-US" sz="1400" b="1" dirty="0"/>
              <a:t>排队打水问题</a:t>
            </a:r>
            <a:endParaRPr lang="zh-CN" altLang="zh-CN" sz="1400" dirty="0"/>
          </a:p>
          <a:p>
            <a:r>
              <a:rPr lang="zh-CN" altLang="zh-CN" sz="1400" b="1" dirty="0"/>
              <a:t>【题目描述】</a:t>
            </a:r>
            <a:endParaRPr lang="zh-CN" altLang="zh-CN" sz="1400" dirty="0"/>
          </a:p>
          <a:p>
            <a:r>
              <a:rPr lang="zh-CN" altLang="en-US" sz="1400" dirty="0"/>
              <a:t>    有N个人排队到R个水龙头去打水，他们装满水桶的时间为T</a:t>
            </a:r>
            <a:r>
              <a:rPr lang="zh-CN" altLang="en-US" sz="1400" baseline="-25000" dirty="0"/>
              <a:t>1</a:t>
            </a:r>
            <a:r>
              <a:rPr lang="zh-CN" altLang="en-US" sz="1400" dirty="0"/>
              <a:t>，T</a:t>
            </a:r>
            <a:r>
              <a:rPr lang="zh-CN" altLang="en-US" sz="1400" baseline="-25000" dirty="0"/>
              <a:t>2</a:t>
            </a:r>
            <a:r>
              <a:rPr lang="zh-CN" altLang="en-US" sz="1400" dirty="0"/>
              <a:t>，…，T</a:t>
            </a:r>
            <a:r>
              <a:rPr lang="zh-CN" altLang="en-US" sz="1400" baseline="-25000" dirty="0"/>
              <a:t>n</a:t>
            </a:r>
            <a:r>
              <a:rPr lang="zh-CN" altLang="en-US" sz="1400" dirty="0"/>
              <a:t>为整数且各不相等，应如何安排他们的打水顺序才能使他们花费的时间最少？</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zh-CN" altLang="en-US" sz="1400" dirty="0"/>
              <a:t>4  2                      //4人打水，2个水龙头</a:t>
            </a:r>
            <a:endParaRPr lang="zh-CN" altLang="en-US" sz="1400" dirty="0"/>
          </a:p>
          <a:p>
            <a:r>
              <a:rPr lang="zh-CN" altLang="en-US" sz="1400" dirty="0"/>
              <a:t>2  6  4  5              //每个打水时间</a:t>
            </a:r>
            <a:endParaRPr lang="zh-CN" altLang="en-US" sz="1400" dirty="0"/>
          </a:p>
          <a:p>
            <a:endParaRPr lang="zh-CN" altLang="zh-CN" sz="1400" dirty="0"/>
          </a:p>
          <a:p>
            <a:r>
              <a:rPr lang="zh-CN" altLang="zh-CN" sz="1400" b="1" dirty="0"/>
              <a:t>【样例输出】</a:t>
            </a:r>
            <a:endParaRPr lang="zh-CN" altLang="zh-CN" sz="1400" dirty="0"/>
          </a:p>
          <a:p>
            <a:r>
              <a:rPr lang="en-US" altLang="zh-CN" sz="1400" dirty="0"/>
              <a:t>23                      //</a:t>
            </a:r>
            <a:r>
              <a:rPr lang="zh-CN" altLang="en-US" sz="1400" dirty="0"/>
              <a:t>总共花费时间</a:t>
            </a:r>
            <a:endParaRPr lang="zh-CN" altLang="zh-CN" sz="1400" dirty="0"/>
          </a:p>
        </p:txBody>
      </p:sp>
      <p:sp>
        <p:nvSpPr>
          <p:cNvPr id="11" name="矩形 10"/>
          <p:cNvSpPr/>
          <p:nvPr/>
        </p:nvSpPr>
        <p:spPr>
          <a:xfrm>
            <a:off x="706354" y="4308452"/>
            <a:ext cx="4964872" cy="1815882"/>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zh-CN" altLang="en-US" sz="1400" dirty="0"/>
              <a:t>    由于排队时，越靠前面的被计算等待时间的次数越多，显然越小的排在越前面得出的结果越小（可以用数学方法简单证明，这里就不再赘述），所以这道题可以用贪心法解答，基本步骤：</a:t>
            </a:r>
            <a:endParaRPr lang="zh-CN" altLang="en-US" sz="1400" dirty="0"/>
          </a:p>
          <a:p>
            <a:r>
              <a:rPr lang="zh-CN" altLang="en-US" sz="1400" dirty="0"/>
              <a:t>     (1)将输入的时间按从小到大排序；</a:t>
            </a:r>
            <a:endParaRPr lang="zh-CN" altLang="en-US" sz="1400" dirty="0"/>
          </a:p>
          <a:p>
            <a:r>
              <a:rPr lang="zh-CN" altLang="en-US" sz="1400" dirty="0"/>
              <a:t>     (2)将排序后的时间按顺序依次放入每个水龙头的队列中；     </a:t>
            </a:r>
            <a:endParaRPr lang="zh-CN" altLang="en-US" sz="1400" dirty="0"/>
          </a:p>
          <a:p>
            <a:r>
              <a:rPr lang="zh-CN" altLang="en-US" sz="1400" dirty="0"/>
              <a:t>     (3)统计，输出答案。</a:t>
            </a:r>
            <a:endParaRPr lang="zh-CN" altLang="en-US" sz="1400" dirty="0"/>
          </a:p>
        </p:txBody>
      </p:sp>
      <p:sp>
        <p:nvSpPr>
          <p:cNvPr id="12" name="矩形 11"/>
          <p:cNvSpPr/>
          <p:nvPr/>
        </p:nvSpPr>
        <p:spPr>
          <a:xfrm>
            <a:off x="5789667" y="915397"/>
            <a:ext cx="5368017" cy="3108543"/>
          </a:xfrm>
          <a:prstGeom prst="rect">
            <a:avLst/>
          </a:prstGeom>
        </p:spPr>
        <p:txBody>
          <a:bodyPr wrap="square">
            <a:spAutoFit/>
            <a:scene3d>
              <a:camera prst="orthographicFront"/>
              <a:lightRig rig="threePt" dir="t"/>
            </a:scene3d>
            <a:sp3d contourW="12700"/>
          </a:bodyPr>
          <a:lstStyle/>
          <a:p>
            <a:r>
              <a:rPr lang="zh-CN" altLang="en-US" sz="1400" dirty="0"/>
              <a:t>   cin&gt;&gt;n&gt;&gt;r;</a:t>
            </a:r>
            <a:endParaRPr lang="en-US" altLang="zh-CN" sz="1400" dirty="0"/>
          </a:p>
          <a:p>
            <a:r>
              <a:rPr lang="en-US" altLang="zh-CN" sz="1400" dirty="0"/>
              <a:t>   for (i=1;i&lt;=</a:t>
            </a:r>
            <a:r>
              <a:rPr lang="en-US" altLang="zh-CN" sz="1400" dirty="0" err="1"/>
              <a:t>n;i</a:t>
            </a:r>
            <a:r>
              <a:rPr lang="en-US" altLang="zh-CN" sz="1400" dirty="0"/>
              <a:t>++) </a:t>
            </a:r>
            <a:r>
              <a:rPr lang="en-US" altLang="zh-CN" sz="1400" dirty="0" err="1"/>
              <a:t>cin</a:t>
            </a:r>
            <a:r>
              <a:rPr lang="en-US" altLang="zh-CN" sz="1400" dirty="0"/>
              <a:t>&gt;&gt;a[i];</a:t>
            </a:r>
            <a:endParaRPr lang="en-US" altLang="zh-CN" sz="1400" dirty="0"/>
          </a:p>
          <a:p>
            <a:r>
              <a:rPr lang="en-US" altLang="zh-CN" sz="1400" dirty="0"/>
              <a:t>   sort(&amp;a[1],&amp;a[n+1]);</a:t>
            </a:r>
            <a:endParaRPr lang="zh-CN" altLang="en-US" sz="1400" dirty="0"/>
          </a:p>
          <a:p>
            <a:r>
              <a:rPr lang="zh-CN" altLang="en-US" sz="1400" dirty="0"/>
              <a:t>   memset(s,0,sizeof(s));                  </a:t>
            </a:r>
            <a:r>
              <a:rPr lang="zh-CN" altLang="en-US" sz="1400" dirty="0">
                <a:solidFill>
                  <a:srgbClr val="3A69EE"/>
                </a:solidFill>
                <a:cs typeface="+mn-ea"/>
              </a:rPr>
              <a:t>//初始化</a:t>
            </a:r>
            <a:endParaRPr lang="zh-CN" altLang="en-US" sz="1400" dirty="0">
              <a:solidFill>
                <a:srgbClr val="3A69EE"/>
              </a:solidFill>
              <a:cs typeface="+mn-ea"/>
            </a:endParaRPr>
          </a:p>
          <a:p>
            <a:r>
              <a:rPr lang="zh-CN" altLang="en-US" sz="1400" dirty="0"/>
              <a:t>   j=0; minx=0;</a:t>
            </a:r>
            <a:endParaRPr lang="zh-CN" altLang="en-US" sz="1400" dirty="0"/>
          </a:p>
          <a:p>
            <a:r>
              <a:rPr lang="zh-CN" altLang="en-US" sz="1400" dirty="0"/>
              <a:t>   for (i=1;i&lt;=n;++i)                           </a:t>
            </a:r>
            <a:r>
              <a:rPr lang="zh-CN" altLang="en-US" sz="1400" dirty="0">
                <a:solidFill>
                  <a:srgbClr val="3A69EE"/>
                </a:solidFill>
                <a:cs typeface="+mn-ea"/>
              </a:rPr>
              <a:t>//用贪心法求解</a:t>
            </a:r>
            <a:endParaRPr lang="zh-CN" altLang="en-US" sz="1400" dirty="0">
              <a:solidFill>
                <a:srgbClr val="3A69EE"/>
              </a:solidFill>
              <a:cs typeface="+mn-ea"/>
            </a:endParaRPr>
          </a:p>
          <a:p>
            <a:r>
              <a:rPr lang="zh-CN" altLang="en-US" sz="1400" dirty="0"/>
              <a:t>    {</a:t>
            </a:r>
            <a:endParaRPr lang="zh-CN" altLang="en-US" sz="1400" dirty="0"/>
          </a:p>
          <a:p>
            <a:r>
              <a:rPr lang="zh-CN" altLang="en-US" sz="1400" dirty="0"/>
              <a:t>      j++;</a:t>
            </a:r>
            <a:endParaRPr lang="zh-CN" altLang="en-US" sz="1400" dirty="0"/>
          </a:p>
          <a:p>
            <a:r>
              <a:rPr lang="zh-CN" altLang="en-US" sz="1400" dirty="0"/>
              <a:t>      if (j==r+1) j=1; </a:t>
            </a:r>
            <a:r>
              <a:rPr lang="en-US" altLang="zh-CN" sz="1400" dirty="0"/>
              <a:t>                          </a:t>
            </a:r>
            <a:r>
              <a:rPr lang="en-US" altLang="zh-CN" sz="1400" b="1" dirty="0">
                <a:solidFill>
                  <a:srgbClr val="3A69EE"/>
                </a:solidFill>
                <a:cs typeface="+mn-ea"/>
              </a:rPr>
              <a:t>//</a:t>
            </a:r>
            <a:r>
              <a:rPr lang="zh-CN" altLang="en-US" sz="1400" b="1" dirty="0">
                <a:solidFill>
                  <a:srgbClr val="3A69EE"/>
                </a:solidFill>
                <a:cs typeface="+mn-ea"/>
              </a:rPr>
              <a:t>前</a:t>
            </a:r>
            <a:r>
              <a:rPr lang="en-US" altLang="zh-CN" sz="1400" b="1" dirty="0">
                <a:solidFill>
                  <a:srgbClr val="3A69EE"/>
                </a:solidFill>
                <a:cs typeface="+mn-ea"/>
              </a:rPr>
              <a:t>r</a:t>
            </a:r>
            <a:r>
              <a:rPr lang="zh-CN" altLang="en-US" sz="1400" b="1" dirty="0">
                <a:solidFill>
                  <a:srgbClr val="3A69EE"/>
                </a:solidFill>
                <a:cs typeface="+mn-ea"/>
              </a:rPr>
              <a:t>个人为一轮，按顺序第</a:t>
            </a:r>
            <a:r>
              <a:rPr lang="en-US" altLang="zh-CN" sz="1400" b="1" dirty="0">
                <a:solidFill>
                  <a:srgbClr val="3A69EE"/>
                </a:solidFill>
                <a:cs typeface="+mn-ea"/>
              </a:rPr>
              <a:t>r+1</a:t>
            </a:r>
            <a:r>
              <a:rPr lang="zh-CN" altLang="en-US" sz="1400" b="1" dirty="0">
                <a:solidFill>
                  <a:srgbClr val="3A69EE"/>
                </a:solidFill>
                <a:cs typeface="+mn-ea"/>
              </a:rPr>
              <a:t>个人时第一个水龙头最先空 </a:t>
            </a:r>
            <a:endParaRPr lang="zh-CN" altLang="en-US" sz="1400" b="1" dirty="0">
              <a:solidFill>
                <a:srgbClr val="3A69EE"/>
              </a:solidFill>
              <a:cs typeface="+mn-ea"/>
            </a:endParaRPr>
          </a:p>
          <a:p>
            <a:r>
              <a:rPr lang="zh-CN" altLang="en-US" sz="1400" dirty="0"/>
              <a:t>      s[j]+=a[i]; </a:t>
            </a:r>
            <a:r>
              <a:rPr lang="en-US" altLang="zh-CN" sz="1400" dirty="0"/>
              <a:t>                                  </a:t>
            </a:r>
            <a:r>
              <a:rPr lang="en-US" altLang="zh-CN" sz="1400" b="1" dirty="0">
                <a:solidFill>
                  <a:srgbClr val="3A69EE"/>
                </a:solidFill>
                <a:cs typeface="+mn-ea"/>
              </a:rPr>
              <a:t>//</a:t>
            </a:r>
            <a:r>
              <a:rPr lang="zh-CN" altLang="en-US" sz="1400" b="1" dirty="0">
                <a:solidFill>
                  <a:srgbClr val="3A69EE"/>
                </a:solidFill>
                <a:cs typeface="+mn-ea"/>
              </a:rPr>
              <a:t>加上等待时间 </a:t>
            </a:r>
            <a:endParaRPr lang="zh-CN" altLang="en-US" sz="1400" b="1" dirty="0">
              <a:solidFill>
                <a:srgbClr val="3A69EE"/>
              </a:solidFill>
              <a:cs typeface="+mn-ea"/>
            </a:endParaRPr>
          </a:p>
          <a:p>
            <a:r>
              <a:rPr lang="zh-CN" altLang="en-US" sz="1400" dirty="0"/>
              <a:t>      minx+=s[j];</a:t>
            </a:r>
            <a:endParaRPr lang="zh-CN" altLang="en-US" sz="1400" dirty="0"/>
          </a:p>
          <a:p>
            <a:r>
              <a:rPr lang="zh-CN" altLang="en-US" sz="1400" dirty="0"/>
              <a:t>    }</a:t>
            </a:r>
            <a:endParaRPr lang="zh-CN" altLang="en-US" sz="1400" dirty="0"/>
          </a:p>
          <a:p>
            <a:r>
              <a:rPr lang="zh-CN" altLang="en-US" sz="1400" dirty="0"/>
              <a:t>   cout&lt;&lt;minx;                                </a:t>
            </a:r>
            <a:r>
              <a:rPr lang="zh-CN" altLang="en-US" sz="1400" dirty="0">
                <a:solidFill>
                  <a:srgbClr val="3A69EE"/>
                </a:solidFill>
                <a:cs typeface="+mn-ea"/>
              </a:rPr>
              <a:t>//输出解答</a:t>
            </a:r>
            <a:endParaRPr lang="zh-CN" altLang="en-US" sz="1400" dirty="0">
              <a:solidFill>
                <a:srgbClr val="3A69EE"/>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24" grpId="0"/>
      <p:bldP spid="13"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2"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删数问题</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022366"/>
          </a:xfrm>
          <a:prstGeom prst="rect">
            <a:avLst/>
          </a:prstGeom>
        </p:spPr>
        <p:txBody>
          <a:bodyPr wrap="square">
            <a:spAutoFit/>
            <a:scene3d>
              <a:camera prst="orthographicFront"/>
              <a:lightRig rig="threePt" dir="t"/>
            </a:scene3d>
            <a:sp3d contourW="12700"/>
          </a:bodyPr>
          <a:lstStyle/>
          <a:p>
            <a:pPr algn="ctr"/>
            <a:r>
              <a:rPr lang="zh-CN" altLang="en-US" sz="1400" b="1" dirty="0"/>
              <a:t>删数问题</a:t>
            </a:r>
            <a:r>
              <a:rPr lang="zh-CN" altLang="zh-CN" sz="1400" b="1" dirty="0"/>
              <a:t>（</a:t>
            </a:r>
            <a:r>
              <a:rPr lang="en-US" altLang="zh-CN" sz="1400" dirty="0"/>
              <a:t>NOI 94</a:t>
            </a:r>
            <a:r>
              <a:rPr lang="zh-CN" altLang="zh-CN" sz="1400" b="1" dirty="0"/>
              <a:t>）</a:t>
            </a:r>
            <a:endParaRPr lang="zh-CN" altLang="zh-CN" sz="1400" dirty="0"/>
          </a:p>
          <a:p>
            <a:r>
              <a:rPr lang="zh-CN" altLang="zh-CN" sz="1400" b="1" dirty="0"/>
              <a:t>【题目描述】</a:t>
            </a:r>
            <a:endParaRPr lang="zh-CN" altLang="zh-CN" sz="1400" dirty="0"/>
          </a:p>
          <a:p>
            <a:r>
              <a:rPr lang="zh-CN" altLang="en-US" sz="1400" dirty="0"/>
              <a:t>    输入一个高精度的正整数</a:t>
            </a:r>
            <a:r>
              <a:rPr lang="zh-CN" altLang="zh-CN" sz="1400" dirty="0"/>
              <a:t>N</a:t>
            </a:r>
            <a:r>
              <a:rPr lang="zh-CN" altLang="en-US" sz="1400" dirty="0"/>
              <a:t>，去掉其中任意</a:t>
            </a:r>
            <a:r>
              <a:rPr lang="zh-CN" altLang="zh-CN" sz="1400" dirty="0"/>
              <a:t>S</a:t>
            </a:r>
            <a:r>
              <a:rPr lang="zh-CN" altLang="en-US" sz="1400" dirty="0"/>
              <a:t>个数字后剩下的数字按原左右次序组成一个新的正整数。编程对给定的</a:t>
            </a:r>
            <a:r>
              <a:rPr lang="zh-CN" altLang="zh-CN" sz="1400" dirty="0"/>
              <a:t>N</a:t>
            </a:r>
            <a:r>
              <a:rPr lang="zh-CN" altLang="en-US" sz="1400" dirty="0"/>
              <a:t>和</a:t>
            </a:r>
            <a:r>
              <a:rPr lang="zh-CN" altLang="zh-CN" sz="1400" dirty="0"/>
              <a:t>S</a:t>
            </a:r>
            <a:r>
              <a:rPr lang="zh-CN" altLang="en-US" sz="1400" dirty="0"/>
              <a:t>，寻找一种方案使得剩下的数字组成的新数最小。</a:t>
            </a:r>
            <a:endParaRPr lang="zh-CN" altLang="en-US" sz="1400" dirty="0"/>
          </a:p>
          <a:p>
            <a:pPr>
              <a:lnSpc>
                <a:spcPct val="90000"/>
              </a:lnSpc>
            </a:pPr>
            <a:r>
              <a:rPr lang="zh-CN" altLang="zh-CN" sz="1400" dirty="0"/>
              <a:t>       </a:t>
            </a:r>
            <a:r>
              <a:rPr lang="zh-CN" altLang="en-US" sz="1400" dirty="0"/>
              <a:t>输出新的正整数。（</a:t>
            </a:r>
            <a:r>
              <a:rPr lang="zh-CN" altLang="zh-CN" sz="1400" dirty="0"/>
              <a:t>N</a:t>
            </a:r>
            <a:r>
              <a:rPr lang="zh-CN" altLang="en-US" sz="1400" dirty="0"/>
              <a:t>不超过</a:t>
            </a:r>
            <a:r>
              <a:rPr lang="zh-CN" altLang="zh-CN" sz="1400" dirty="0"/>
              <a:t>240</a:t>
            </a:r>
            <a:r>
              <a:rPr lang="zh-CN" altLang="en-US" sz="1400" dirty="0"/>
              <a:t>位）输入数据均不需判错。</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pPr>
              <a:lnSpc>
                <a:spcPct val="90000"/>
              </a:lnSpc>
            </a:pPr>
            <a:r>
              <a:rPr lang="zh-CN" altLang="zh-CN" sz="1400" dirty="0"/>
              <a:t>175438</a:t>
            </a:r>
            <a:endParaRPr lang="zh-CN" altLang="zh-CN" sz="1400" dirty="0"/>
          </a:p>
          <a:p>
            <a:pPr>
              <a:lnSpc>
                <a:spcPct val="90000"/>
              </a:lnSpc>
            </a:pPr>
            <a:r>
              <a:rPr lang="zh-CN" altLang="zh-CN" sz="1400" dirty="0"/>
              <a:t>4</a:t>
            </a:r>
            <a:endParaRPr lang="zh-CN" altLang="zh-CN" sz="1400" dirty="0"/>
          </a:p>
          <a:p>
            <a:endParaRPr lang="zh-CN" altLang="zh-CN" sz="1400" dirty="0"/>
          </a:p>
          <a:p>
            <a:r>
              <a:rPr lang="zh-CN" altLang="zh-CN" sz="1400" b="1" dirty="0"/>
              <a:t>【样例输出】</a:t>
            </a:r>
            <a:endParaRPr lang="zh-CN" altLang="zh-CN" sz="1400" dirty="0"/>
          </a:p>
          <a:p>
            <a:r>
              <a:rPr lang="en-US" altLang="zh-CN" sz="1400" dirty="0"/>
              <a:t>13</a:t>
            </a:r>
            <a:endParaRPr lang="zh-CN" altLang="zh-CN" sz="1400" dirty="0"/>
          </a:p>
        </p:txBody>
      </p:sp>
      <p:sp>
        <p:nvSpPr>
          <p:cNvPr id="11" name="矩形 10"/>
          <p:cNvSpPr/>
          <p:nvPr/>
        </p:nvSpPr>
        <p:spPr>
          <a:xfrm>
            <a:off x="706354" y="4495297"/>
            <a:ext cx="4964872"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a:t>· </a:t>
            </a:r>
            <a:r>
              <a:rPr lang="zh-CN" altLang="en-US" sz="1400" dirty="0"/>
              <a:t>高精存储</a:t>
            </a:r>
            <a:endParaRPr lang="en-US" altLang="zh-CN" sz="1400" dirty="0"/>
          </a:p>
          <a:p>
            <a:r>
              <a:rPr lang="en-US" altLang="zh-CN" sz="1400" dirty="0"/>
              <a:t>· </a:t>
            </a:r>
            <a:r>
              <a:rPr lang="zh-CN" altLang="en-US" sz="1400" dirty="0"/>
              <a:t>是不是删除最大的</a:t>
            </a:r>
            <a:r>
              <a:rPr lang="en-US" altLang="zh-CN" sz="1400" dirty="0"/>
              <a:t>s</a:t>
            </a:r>
            <a:r>
              <a:rPr lang="zh-CN" altLang="en-US" sz="1400" dirty="0"/>
              <a:t>个数字？</a:t>
            </a:r>
            <a:endParaRPr lang="en-US" altLang="zh-CN" sz="1400" dirty="0"/>
          </a:p>
          <a:p>
            <a:r>
              <a:rPr lang="en-US" altLang="zh-CN" sz="1400" dirty="0"/>
              <a:t>· </a:t>
            </a:r>
            <a:r>
              <a:rPr lang="zh-CN" altLang="en-US" sz="1400" dirty="0"/>
              <a:t>先删高位，再删低位</a:t>
            </a:r>
            <a:endParaRPr lang="en-US" altLang="zh-CN" sz="1400" dirty="0"/>
          </a:p>
          <a:p>
            <a:r>
              <a:rPr lang="en-US" altLang="zh-CN" sz="1400" dirty="0"/>
              <a:t>· </a:t>
            </a:r>
            <a:r>
              <a:rPr lang="zh-CN" altLang="en-US" sz="1400" dirty="0"/>
              <a:t>先删递减，再删递增</a:t>
            </a:r>
            <a:endParaRPr lang="zh-CN" altLang="en-US" sz="1400" dirty="0"/>
          </a:p>
        </p:txBody>
      </p:sp>
      <p:sp>
        <p:nvSpPr>
          <p:cNvPr id="12" name="矩形 11"/>
          <p:cNvSpPr/>
          <p:nvPr/>
        </p:nvSpPr>
        <p:spPr>
          <a:xfrm>
            <a:off x="5789667" y="915397"/>
            <a:ext cx="5368017" cy="2462213"/>
          </a:xfrm>
          <a:prstGeom prst="rect">
            <a:avLst/>
          </a:prstGeom>
        </p:spPr>
        <p:txBody>
          <a:bodyPr wrap="square">
            <a:spAutoFit/>
            <a:scene3d>
              <a:camera prst="orthographicFront"/>
              <a:lightRig rig="threePt" dir="t"/>
            </a:scene3d>
            <a:sp3d contourW="12700"/>
          </a:bodyPr>
          <a:lstStyle/>
          <a:p>
            <a:r>
              <a:rPr lang="zh-CN" altLang="en-US" sz="1400" dirty="0"/>
              <a:t>    for (i=1;i&lt;=s;++i) {                  </a:t>
            </a:r>
            <a:r>
              <a:rPr lang="zh-CN" altLang="en-US" sz="1400" dirty="0">
                <a:solidFill>
                  <a:srgbClr val="3A69EE"/>
                </a:solidFill>
                <a:cs typeface="+mn-ea"/>
              </a:rPr>
              <a:t>//一共要删除s个字符</a:t>
            </a:r>
            <a:r>
              <a:rPr lang="zh-CN" altLang="en-US" sz="1400" dirty="0"/>
              <a:t>   </a:t>
            </a:r>
            <a:endParaRPr lang="zh-CN" altLang="en-US" sz="1400" dirty="0"/>
          </a:p>
          <a:p>
            <a:r>
              <a:rPr lang="zh-CN" altLang="en-US" sz="1400" dirty="0"/>
              <a:t>     for ( j=0;j&lt;len-1;++j )            </a:t>
            </a:r>
            <a:r>
              <a:rPr lang="zh-CN" altLang="en-US" sz="1400" dirty="0">
                <a:solidFill>
                  <a:srgbClr val="3A69EE"/>
                </a:solidFill>
                <a:cs typeface="+mn-ea"/>
              </a:rPr>
              <a:t>//从串首开始找，len是n的长度</a:t>
            </a:r>
            <a:endParaRPr lang="zh-CN" altLang="en-US" sz="1400" dirty="0">
              <a:solidFill>
                <a:srgbClr val="3A69EE"/>
              </a:solidFill>
              <a:cs typeface="+mn-ea"/>
            </a:endParaRPr>
          </a:p>
          <a:p>
            <a:r>
              <a:rPr lang="zh-CN" altLang="en-US" sz="1400" dirty="0"/>
              <a:t>      if ( n[j]&gt;n[j+1] ) {                  </a:t>
            </a:r>
            <a:r>
              <a:rPr lang="zh-CN" altLang="en-US" sz="1400" dirty="0">
                <a:solidFill>
                  <a:srgbClr val="3A69EE"/>
                </a:solidFill>
                <a:cs typeface="+mn-ea"/>
              </a:rPr>
              <a:t>//找到第一个符合条件的 </a:t>
            </a:r>
            <a:r>
              <a:rPr lang="zh-CN" altLang="en-US" sz="1400" dirty="0"/>
              <a:t> </a:t>
            </a:r>
            <a:endParaRPr lang="zh-CN" altLang="en-US" sz="1400" dirty="0"/>
          </a:p>
          <a:p>
            <a:r>
              <a:rPr lang="zh-CN" altLang="en-US" sz="1400" dirty="0"/>
              <a:t>        for ( k=j;k&lt;len-1;++k )       </a:t>
            </a:r>
            <a:r>
              <a:rPr lang="zh-CN" altLang="en-US" sz="1400" dirty="0">
                <a:solidFill>
                  <a:srgbClr val="3A69EE"/>
                </a:solidFill>
                <a:cs typeface="+mn-ea"/>
              </a:rPr>
              <a:t>//删除字符串n的第j个字符 ，后面字符往前整 </a:t>
            </a:r>
            <a:endParaRPr lang="zh-CN" altLang="en-US" sz="1400" dirty="0">
              <a:solidFill>
                <a:srgbClr val="3A69EE"/>
              </a:solidFill>
              <a:cs typeface="+mn-ea"/>
            </a:endParaRPr>
          </a:p>
          <a:p>
            <a:r>
              <a:rPr lang="zh-CN" altLang="en-US" sz="1400" dirty="0"/>
              <a:t>          n[k]=n[k+1];</a:t>
            </a:r>
            <a:endParaRPr lang="zh-CN" altLang="en-US" sz="1400" dirty="0"/>
          </a:p>
          <a:p>
            <a:r>
              <a:rPr lang="zh-CN" altLang="en-US" sz="1400" dirty="0"/>
              <a:t>       break;</a:t>
            </a:r>
            <a:endParaRPr lang="zh-CN" altLang="en-US" sz="1400" dirty="0"/>
          </a:p>
          <a:p>
            <a:r>
              <a:rPr lang="zh-CN" altLang="en-US" sz="1400" dirty="0"/>
              <a:t>      }</a:t>
            </a:r>
            <a:endParaRPr lang="zh-CN" altLang="en-US" sz="1400" dirty="0"/>
          </a:p>
          <a:p>
            <a:r>
              <a:rPr lang="zh-CN" altLang="en-US" sz="1400" dirty="0"/>
              <a:t>     --len;                                    </a:t>
            </a:r>
            <a:r>
              <a:rPr lang="zh-CN" altLang="en-US" sz="1400" dirty="0">
                <a:solidFill>
                  <a:srgbClr val="3A69EE"/>
                </a:solidFill>
                <a:cs typeface="+mn-ea"/>
              </a:rPr>
              <a:t>//长度减1 </a:t>
            </a:r>
            <a:endParaRPr lang="zh-CN" altLang="en-US" sz="1400" dirty="0">
              <a:solidFill>
                <a:srgbClr val="3A69EE"/>
              </a:solidFill>
              <a:cs typeface="+mn-ea"/>
            </a:endParaRPr>
          </a:p>
          <a:p>
            <a:r>
              <a:rPr lang="zh-CN" altLang="en-US" sz="1400" dirty="0"/>
              <a:t>    }</a:t>
            </a:r>
            <a:endParaRPr lang="zh-CN" altLang="en-US" sz="1400" dirty="0"/>
          </a:p>
          <a:p>
            <a:r>
              <a:rPr lang="zh-CN" altLang="en-US" sz="1400" dirty="0"/>
              <a:t>   输出n；                                 </a:t>
            </a:r>
            <a:r>
              <a:rPr lang="zh-CN" altLang="en-US" sz="1400" dirty="0">
                <a:solidFill>
                  <a:srgbClr val="3A69EE"/>
                </a:solidFill>
                <a:cs typeface="+mn-ea"/>
              </a:rPr>
              <a:t>//删去串首可能产生的无用零</a:t>
            </a:r>
            <a:endParaRPr lang="zh-CN" altLang="en-US" sz="1400" dirty="0">
              <a:solidFill>
                <a:srgbClr val="3A69EE"/>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1"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均分纸牌</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4616648"/>
          </a:xfrm>
          <a:prstGeom prst="rect">
            <a:avLst/>
          </a:prstGeom>
        </p:spPr>
        <p:txBody>
          <a:bodyPr wrap="square">
            <a:spAutoFit/>
            <a:scene3d>
              <a:camera prst="orthographicFront"/>
              <a:lightRig rig="threePt" dir="t"/>
            </a:scene3d>
            <a:sp3d contourW="12700"/>
          </a:bodyPr>
          <a:lstStyle/>
          <a:p>
            <a:pPr algn="ctr"/>
            <a:r>
              <a:rPr lang="zh-CN" altLang="en-US" sz="1400" b="1" dirty="0"/>
              <a:t>均分纸牌</a:t>
            </a:r>
            <a:r>
              <a:rPr lang="zh-CN" altLang="zh-CN" sz="1400" b="1" dirty="0"/>
              <a:t>（</a:t>
            </a:r>
            <a:r>
              <a:rPr lang="en-US" altLang="zh-CN" sz="1400" dirty="0"/>
              <a:t>NOIP 2002</a:t>
            </a:r>
            <a:r>
              <a:rPr lang="zh-CN" altLang="zh-CN" sz="1400" b="1" dirty="0"/>
              <a:t>）</a:t>
            </a:r>
            <a:endParaRPr lang="zh-CN" altLang="zh-CN" sz="1400" dirty="0"/>
          </a:p>
          <a:p>
            <a:r>
              <a:rPr lang="zh-CN" altLang="zh-CN" sz="1400" b="1" dirty="0"/>
              <a:t>【题目描述】</a:t>
            </a:r>
            <a:endParaRPr lang="zh-CN" altLang="zh-CN" sz="1400" dirty="0"/>
          </a:p>
          <a:p>
            <a:r>
              <a:rPr lang="zh-CN" altLang="en-US" sz="1400" dirty="0"/>
              <a:t>    有</a:t>
            </a:r>
            <a:r>
              <a:rPr lang="zh-CN" altLang="zh-CN" sz="1400" dirty="0"/>
              <a:t>N</a:t>
            </a:r>
            <a:r>
              <a:rPr lang="zh-CN" altLang="en-US" sz="1400" dirty="0"/>
              <a:t>堆纸牌，编号分别为</a:t>
            </a:r>
            <a:r>
              <a:rPr lang="zh-CN" altLang="zh-CN" sz="1400" dirty="0"/>
              <a:t>1</a:t>
            </a:r>
            <a:r>
              <a:rPr lang="zh-CN" altLang="en-US" sz="1400" dirty="0"/>
              <a:t>，</a:t>
            </a:r>
            <a:r>
              <a:rPr lang="zh-CN" altLang="zh-CN" sz="1400" dirty="0"/>
              <a:t>2</a:t>
            </a:r>
            <a:r>
              <a:rPr lang="zh-CN" altLang="en-US" sz="1400" dirty="0"/>
              <a:t>，</a:t>
            </a:r>
            <a:r>
              <a:rPr lang="zh-CN" altLang="zh-CN" sz="1400" dirty="0"/>
              <a:t>…,N</a:t>
            </a:r>
            <a:r>
              <a:rPr lang="zh-CN" altLang="en-US" sz="1400" dirty="0"/>
              <a:t>。每堆上有若干张，但纸牌总数必为</a:t>
            </a:r>
            <a:r>
              <a:rPr lang="zh-CN" altLang="zh-CN" sz="1400" dirty="0"/>
              <a:t>N</a:t>
            </a:r>
            <a:r>
              <a:rPr lang="zh-CN" altLang="en-US" sz="1400" dirty="0"/>
              <a:t>的倍数。可以在任一堆上取若干张纸牌，然后移动。</a:t>
            </a:r>
            <a:endParaRPr lang="zh-CN" altLang="en-US" sz="1400" dirty="0"/>
          </a:p>
          <a:p>
            <a:r>
              <a:rPr lang="en-US" altLang="zh-CN" sz="1400" dirty="0"/>
              <a:t>    </a:t>
            </a:r>
            <a:r>
              <a:rPr lang="zh-CN" altLang="en-US" sz="1400" dirty="0"/>
              <a:t>移牌规则为：在编号为</a:t>
            </a:r>
            <a:r>
              <a:rPr lang="zh-CN" altLang="zh-CN" sz="1400" dirty="0"/>
              <a:t>1</a:t>
            </a:r>
            <a:r>
              <a:rPr lang="zh-CN" altLang="en-US" sz="1400" dirty="0"/>
              <a:t>堆上取的纸牌，只能移到编号为</a:t>
            </a:r>
            <a:r>
              <a:rPr lang="zh-CN" altLang="zh-CN" sz="1400" dirty="0"/>
              <a:t>2</a:t>
            </a:r>
            <a:r>
              <a:rPr lang="zh-CN" altLang="en-US" sz="1400" dirty="0"/>
              <a:t>的堆上；在编号为</a:t>
            </a:r>
            <a:r>
              <a:rPr lang="zh-CN" altLang="zh-CN" sz="1400" dirty="0"/>
              <a:t>N</a:t>
            </a:r>
            <a:r>
              <a:rPr lang="zh-CN" altLang="en-US" sz="1400" dirty="0"/>
              <a:t>的堆上取的纸牌，只能移到编号为</a:t>
            </a:r>
            <a:r>
              <a:rPr lang="zh-CN" altLang="zh-CN" sz="1400" dirty="0"/>
              <a:t>N-1</a:t>
            </a:r>
            <a:r>
              <a:rPr lang="zh-CN" altLang="en-US" sz="1400" dirty="0"/>
              <a:t>的堆上；其他堆上取的纸牌，可以移到相邻左边或右边的堆上。</a:t>
            </a:r>
            <a:endParaRPr lang="zh-CN" altLang="en-US" sz="1400" dirty="0"/>
          </a:p>
          <a:p>
            <a:r>
              <a:rPr lang="en-US" altLang="zh-CN" sz="1400" dirty="0"/>
              <a:t>    </a:t>
            </a:r>
            <a:r>
              <a:rPr lang="zh-CN" altLang="en-US" sz="1400" dirty="0"/>
              <a:t>现在要求找出一种移动方法，用最少的移动次数使每堆上纸牌数都一样多。</a:t>
            </a:r>
            <a:endParaRPr lang="zh-CN" altLang="en-US" sz="1400" dirty="0"/>
          </a:p>
          <a:p>
            <a:r>
              <a:rPr lang="zh-CN" altLang="en-US" sz="1400" dirty="0"/>
              <a:t>    例如</a:t>
            </a:r>
            <a:r>
              <a:rPr lang="zh-CN" altLang="zh-CN" sz="1400" dirty="0"/>
              <a:t>N=4</a:t>
            </a:r>
            <a:r>
              <a:rPr lang="zh-CN" altLang="en-US" sz="1400" dirty="0"/>
              <a:t>，</a:t>
            </a:r>
            <a:r>
              <a:rPr lang="zh-CN" altLang="zh-CN" sz="1400" dirty="0"/>
              <a:t>4</a:t>
            </a:r>
            <a:r>
              <a:rPr lang="zh-CN" altLang="en-US" sz="1400" dirty="0"/>
              <a:t>堆纸牌数分别为：① </a:t>
            </a:r>
            <a:r>
              <a:rPr lang="zh-CN" altLang="zh-CN" sz="1400" dirty="0"/>
              <a:t>9</a:t>
            </a:r>
            <a:r>
              <a:rPr lang="zh-CN" altLang="en-US" sz="1400" dirty="0"/>
              <a:t> ② </a:t>
            </a:r>
            <a:r>
              <a:rPr lang="zh-CN" altLang="zh-CN" sz="1400" dirty="0"/>
              <a:t>8</a:t>
            </a:r>
            <a:r>
              <a:rPr lang="zh-CN" altLang="en-US" sz="1400" dirty="0"/>
              <a:t> ③ </a:t>
            </a:r>
            <a:r>
              <a:rPr lang="zh-CN" altLang="zh-CN" sz="1400" dirty="0"/>
              <a:t>17</a:t>
            </a:r>
            <a:r>
              <a:rPr lang="zh-CN" altLang="en-US" sz="1400" dirty="0"/>
              <a:t> ④ </a:t>
            </a:r>
            <a:r>
              <a:rPr lang="zh-CN" altLang="zh-CN" sz="1400" dirty="0"/>
              <a:t>6</a:t>
            </a:r>
            <a:endParaRPr lang="zh-CN" altLang="zh-CN" sz="1400" dirty="0"/>
          </a:p>
          <a:p>
            <a:r>
              <a:rPr lang="en-US" altLang="zh-CN" sz="1400" dirty="0"/>
              <a:t>    </a:t>
            </a:r>
            <a:r>
              <a:rPr lang="zh-CN" altLang="en-US" sz="1400" dirty="0"/>
              <a:t>移动</a:t>
            </a:r>
            <a:r>
              <a:rPr lang="zh-CN" altLang="zh-CN" sz="1400" dirty="0"/>
              <a:t>3</a:t>
            </a:r>
            <a:r>
              <a:rPr lang="zh-CN" altLang="en-US" sz="1400" dirty="0"/>
              <a:t>次可达到目的：</a:t>
            </a:r>
            <a:endParaRPr lang="zh-CN" altLang="en-US" sz="1400" dirty="0"/>
          </a:p>
          <a:p>
            <a:r>
              <a:rPr lang="en-US" altLang="zh-CN" sz="1400" dirty="0"/>
              <a:t>    </a:t>
            </a:r>
            <a:r>
              <a:rPr lang="zh-CN" altLang="en-US" sz="1400" dirty="0"/>
              <a:t>从③取</a:t>
            </a:r>
            <a:r>
              <a:rPr lang="zh-CN" altLang="zh-CN" sz="1400" dirty="0"/>
              <a:t>4</a:t>
            </a:r>
            <a:r>
              <a:rPr lang="zh-CN" altLang="en-US" sz="1400" dirty="0"/>
              <a:t>张牌放到④（</a:t>
            </a:r>
            <a:r>
              <a:rPr lang="zh-CN" altLang="zh-CN" sz="1400" dirty="0"/>
              <a:t>9 8 13 10</a:t>
            </a:r>
            <a:r>
              <a:rPr lang="zh-CN" altLang="en-US" sz="1400" dirty="0"/>
              <a:t>）</a:t>
            </a:r>
            <a:r>
              <a:rPr lang="zh-CN" altLang="zh-CN" sz="1400" dirty="0"/>
              <a:t>-&gt;</a:t>
            </a:r>
            <a:r>
              <a:rPr lang="zh-CN" altLang="en-US" sz="1400" dirty="0"/>
              <a:t>从③取</a:t>
            </a:r>
            <a:r>
              <a:rPr lang="zh-CN" altLang="zh-CN" sz="1400" dirty="0"/>
              <a:t>3</a:t>
            </a:r>
            <a:r>
              <a:rPr lang="zh-CN" altLang="en-US" sz="1400" dirty="0"/>
              <a:t>张牌放到②（</a:t>
            </a:r>
            <a:r>
              <a:rPr lang="zh-CN" altLang="zh-CN" sz="1400" dirty="0"/>
              <a:t>9 11 10 10</a:t>
            </a:r>
            <a:r>
              <a:rPr lang="zh-CN" altLang="en-US" sz="1400" dirty="0"/>
              <a:t>）</a:t>
            </a:r>
            <a:r>
              <a:rPr lang="zh-CN" altLang="zh-CN" sz="1400" dirty="0"/>
              <a:t>-&gt; </a:t>
            </a:r>
            <a:r>
              <a:rPr lang="zh-CN" altLang="en-US" sz="1400" dirty="0"/>
              <a:t>从②取</a:t>
            </a:r>
            <a:r>
              <a:rPr lang="zh-CN" altLang="zh-CN" sz="1400" dirty="0"/>
              <a:t>1</a:t>
            </a:r>
            <a:r>
              <a:rPr lang="zh-CN" altLang="en-US" sz="1400" dirty="0"/>
              <a:t>张牌放到①（</a:t>
            </a:r>
            <a:r>
              <a:rPr lang="zh-CN" altLang="zh-CN" sz="1400" dirty="0"/>
              <a:t>10 10 10 10</a:t>
            </a:r>
            <a:r>
              <a:rPr lang="zh-CN" altLang="en-US" sz="1400" dirty="0"/>
              <a:t>）。</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zh-CN" altLang="zh-CN" sz="1400" dirty="0"/>
              <a:t>4</a:t>
            </a:r>
            <a:endParaRPr lang="zh-CN" altLang="zh-CN" sz="1400" dirty="0"/>
          </a:p>
          <a:p>
            <a:r>
              <a:rPr lang="zh-CN" altLang="zh-CN" sz="1400" dirty="0"/>
              <a:t>9 8 17 6 </a:t>
            </a:r>
            <a:endParaRPr lang="zh-CN" altLang="zh-CN" sz="1400" dirty="0"/>
          </a:p>
          <a:p>
            <a:endParaRPr lang="zh-CN" altLang="zh-CN" sz="1400" dirty="0"/>
          </a:p>
          <a:p>
            <a:r>
              <a:rPr lang="zh-CN" altLang="zh-CN" sz="1400" b="1" dirty="0"/>
              <a:t>【样例输出】</a:t>
            </a:r>
            <a:endParaRPr lang="zh-CN" altLang="zh-CN" sz="1400" dirty="0"/>
          </a:p>
          <a:p>
            <a:r>
              <a:rPr lang="en-US" altLang="zh-CN" sz="1400" dirty="0"/>
              <a:t>3</a:t>
            </a:r>
            <a:endParaRPr lang="zh-CN" altLang="zh-CN" sz="1400" dirty="0"/>
          </a:p>
        </p:txBody>
      </p:sp>
      <p:sp>
        <p:nvSpPr>
          <p:cNvPr id="11" name="矩形 10"/>
          <p:cNvSpPr/>
          <p:nvPr/>
        </p:nvSpPr>
        <p:spPr>
          <a:xfrm>
            <a:off x="5671226" y="915397"/>
            <a:ext cx="4964872" cy="954107"/>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t>· </a:t>
            </a:r>
            <a:r>
              <a:rPr lang="zh-CN" altLang="en-US" sz="1400" dirty="0"/>
              <a:t>目标是</a:t>
            </a:r>
            <a:r>
              <a:rPr lang="en-US" altLang="zh-CN" sz="1400" dirty="0"/>
              <a:t>sum/N</a:t>
            </a:r>
            <a:endParaRPr lang="zh-CN" altLang="zh-CN" sz="1400" dirty="0"/>
          </a:p>
          <a:p>
            <a:r>
              <a:rPr lang="en-US" altLang="zh-CN" sz="1400" dirty="0"/>
              <a:t>· </a:t>
            </a:r>
            <a:r>
              <a:rPr lang="zh-CN" altLang="en-US" sz="1400" dirty="0"/>
              <a:t>操作先后可以合理</a:t>
            </a:r>
            <a:r>
              <a:rPr lang="en-US" altLang="zh-CN" sz="1400" dirty="0"/>
              <a:t>/</a:t>
            </a:r>
            <a:r>
              <a:rPr lang="zh-CN" altLang="en-US" sz="1400" dirty="0"/>
              <a:t>自然调整</a:t>
            </a:r>
            <a:endParaRPr lang="en-US" altLang="zh-CN" sz="1400" dirty="0"/>
          </a:p>
          <a:p>
            <a:r>
              <a:rPr lang="en-US" altLang="zh-CN" sz="1400" dirty="0"/>
              <a:t>· </a:t>
            </a:r>
            <a:r>
              <a:rPr lang="zh-CN" altLang="en-US" sz="1400" dirty="0"/>
              <a:t>部分操作是必然</a:t>
            </a:r>
            <a:endParaRPr lang="en-US" altLang="zh-CN" sz="1400" dirty="0"/>
          </a:p>
        </p:txBody>
      </p:sp>
      <p:sp>
        <p:nvSpPr>
          <p:cNvPr id="12" name="矩形 11"/>
          <p:cNvSpPr/>
          <p:nvPr/>
        </p:nvSpPr>
        <p:spPr>
          <a:xfrm>
            <a:off x="5789669" y="2197893"/>
            <a:ext cx="5368017" cy="3970318"/>
          </a:xfrm>
          <a:prstGeom prst="rect">
            <a:avLst/>
          </a:prstGeom>
        </p:spPr>
        <p:txBody>
          <a:bodyPr wrap="square">
            <a:spAutoFit/>
            <a:scene3d>
              <a:camera prst="orthographicFront"/>
              <a:lightRig rig="threePt" dir="t"/>
            </a:scene3d>
            <a:sp3d contourW="12700"/>
          </a:bodyPr>
          <a:lstStyle/>
          <a:p>
            <a:r>
              <a:rPr lang="en-US" altLang="zh-CN" sz="1400" dirty="0"/>
              <a:t>    </a:t>
            </a:r>
            <a:r>
              <a:rPr lang="zh-CN" altLang="en-US" sz="1400" dirty="0"/>
              <a:t>cin&gt;&gt;n;</a:t>
            </a:r>
            <a:endParaRPr lang="zh-CN" altLang="en-US" sz="1400" dirty="0"/>
          </a:p>
          <a:p>
            <a:r>
              <a:rPr lang="zh-CN" altLang="en-US" sz="1400" dirty="0"/>
              <a:t>　ave=0;step=0; </a:t>
            </a:r>
            <a:endParaRPr lang="zh-CN" altLang="en-US" sz="1400" dirty="0"/>
          </a:p>
          <a:p>
            <a:r>
              <a:rPr lang="zh-CN" altLang="en-US" sz="1400" dirty="0"/>
              <a:t>　for (i=1;i&lt;=n;++i)</a:t>
            </a:r>
            <a:endParaRPr lang="zh-CN" altLang="en-US" sz="1400" dirty="0"/>
          </a:p>
          <a:p>
            <a:r>
              <a:rPr lang="en-US" altLang="zh-CN" sz="1400" dirty="0"/>
              <a:t>        </a:t>
            </a:r>
            <a:r>
              <a:rPr lang="zh-CN" altLang="en-US" sz="1400" dirty="0"/>
              <a:t>cin&gt;&gt;a[i]; ave+=a[i];              </a:t>
            </a:r>
            <a:r>
              <a:rPr lang="zh-CN" altLang="en-US" sz="1400" dirty="0">
                <a:solidFill>
                  <a:srgbClr val="3A69EE"/>
                </a:solidFill>
                <a:cs typeface="+mn-ea"/>
              </a:rPr>
              <a:t>//读入各堆牌张数，求总张数ave</a:t>
            </a:r>
            <a:endParaRPr lang="zh-CN" altLang="en-US" sz="1400" dirty="0"/>
          </a:p>
          <a:p>
            <a:r>
              <a:rPr lang="zh-CN" altLang="en-US" sz="1400" dirty="0"/>
              <a:t>　ave/=n;                                          </a:t>
            </a:r>
            <a:r>
              <a:rPr lang="zh-CN" altLang="en-US" sz="1400" dirty="0">
                <a:solidFill>
                  <a:srgbClr val="3A69EE"/>
                </a:solidFill>
                <a:cs typeface="+mn-ea"/>
              </a:rPr>
              <a:t>//求牌的平均张数ave</a:t>
            </a:r>
            <a:endParaRPr lang="zh-CN" altLang="en-US" sz="1400" dirty="0">
              <a:solidFill>
                <a:srgbClr val="3A69EE"/>
              </a:solidFill>
              <a:cs typeface="+mn-ea"/>
            </a:endParaRPr>
          </a:p>
          <a:p>
            <a:r>
              <a:rPr lang="zh-CN" altLang="en-US" sz="1400" dirty="0"/>
              <a:t>　for (i=1;i&lt;=n;++i) a[i]-=ave;      </a:t>
            </a:r>
            <a:r>
              <a:rPr lang="zh-CN" altLang="en-US" sz="1400" dirty="0">
                <a:solidFill>
                  <a:srgbClr val="3A69EE"/>
                </a:solidFill>
                <a:cs typeface="+mn-ea"/>
              </a:rPr>
              <a:t>  </a:t>
            </a:r>
            <a:r>
              <a:rPr lang="zh-CN" altLang="en-US" sz="1400" dirty="0"/>
              <a:t> </a:t>
            </a:r>
            <a:r>
              <a:rPr lang="zh-CN" altLang="en-US" sz="1400" dirty="0">
                <a:solidFill>
                  <a:srgbClr val="3A69EE"/>
                </a:solidFill>
                <a:cs typeface="+mn-ea"/>
              </a:rPr>
              <a:t>//每堆牌的张数减去平均数</a:t>
            </a:r>
            <a:endParaRPr lang="zh-CN" altLang="en-US" sz="1400" dirty="0">
              <a:solidFill>
                <a:srgbClr val="3A69EE"/>
              </a:solidFill>
              <a:cs typeface="+mn-ea"/>
            </a:endParaRPr>
          </a:p>
          <a:p>
            <a:r>
              <a:rPr lang="zh-CN" altLang="en-US" sz="1400" dirty="0"/>
              <a:t>　i=1;j=n;</a:t>
            </a:r>
            <a:endParaRPr lang="zh-CN" altLang="en-US" sz="1400" dirty="0"/>
          </a:p>
          <a:p>
            <a:r>
              <a:rPr lang="zh-CN" altLang="en-US" sz="1400" dirty="0"/>
              <a:t>　while (a[i]==0&amp;&amp;i&lt;n) ++i;            </a:t>
            </a:r>
            <a:r>
              <a:rPr lang="zh-CN" altLang="en-US" sz="1400" dirty="0">
                <a:solidFill>
                  <a:srgbClr val="3A69EE"/>
                </a:solidFill>
                <a:cs typeface="+mn-ea"/>
              </a:rPr>
              <a:t>//过滤左边的0</a:t>
            </a:r>
            <a:endParaRPr lang="zh-CN" altLang="en-US" sz="1400" dirty="0">
              <a:solidFill>
                <a:srgbClr val="3A69EE"/>
              </a:solidFill>
              <a:cs typeface="+mn-ea"/>
            </a:endParaRPr>
          </a:p>
          <a:p>
            <a:r>
              <a:rPr lang="zh-CN" altLang="en-US" sz="1400" dirty="0"/>
              <a:t>　while (a[j]==0&amp;&amp;j&gt;1) --j;              </a:t>
            </a:r>
            <a:r>
              <a:rPr lang="zh-CN" altLang="en-US" sz="1400" dirty="0">
                <a:solidFill>
                  <a:srgbClr val="3A69EE"/>
                </a:solidFill>
                <a:cs typeface="+mn-ea"/>
              </a:rPr>
              <a:t>//过滤右边的0</a:t>
            </a:r>
            <a:endParaRPr lang="zh-CN" altLang="en-US" sz="1400" dirty="0">
              <a:solidFill>
                <a:srgbClr val="3A69EE"/>
              </a:solidFill>
              <a:cs typeface="+mn-ea"/>
            </a:endParaRPr>
          </a:p>
          <a:p>
            <a:r>
              <a:rPr lang="zh-CN" altLang="en-US" sz="1400" dirty="0"/>
              <a:t>　while (i&lt;j)</a:t>
            </a:r>
            <a:endParaRPr lang="zh-CN" altLang="en-US" sz="1400" dirty="0"/>
          </a:p>
          <a:p>
            <a:r>
              <a:rPr lang="zh-CN" altLang="en-US" sz="1400" dirty="0"/>
              <a:t>　{</a:t>
            </a:r>
            <a:endParaRPr lang="zh-CN" altLang="en-US" sz="1400" dirty="0"/>
          </a:p>
          <a:p>
            <a:r>
              <a:rPr lang="zh-CN" altLang="en-US" sz="1400" dirty="0"/>
              <a:t>　　a[i+1]+=a[i];                              </a:t>
            </a:r>
            <a:r>
              <a:rPr lang="zh-CN" altLang="en-US" sz="1400" dirty="0">
                <a:solidFill>
                  <a:srgbClr val="3A69EE"/>
                </a:solidFill>
                <a:cs typeface="+mn-ea"/>
              </a:rPr>
              <a:t>//将第i堆牌移到第i+1堆中去</a:t>
            </a:r>
            <a:endParaRPr lang="zh-CN" altLang="en-US" sz="1400" dirty="0">
              <a:solidFill>
                <a:srgbClr val="3A69EE"/>
              </a:solidFill>
              <a:cs typeface="+mn-ea"/>
            </a:endParaRPr>
          </a:p>
          <a:p>
            <a:r>
              <a:rPr lang="zh-CN" altLang="en-US" sz="1400" dirty="0"/>
              <a:t>　　a[i]=0;                                        </a:t>
            </a:r>
            <a:r>
              <a:rPr lang="zh-CN" altLang="en-US" sz="1400" dirty="0">
                <a:solidFill>
                  <a:srgbClr val="3A69EE"/>
                </a:solidFill>
                <a:cs typeface="+mn-ea"/>
              </a:rPr>
              <a:t>//第i堆牌移走后变为0</a:t>
            </a:r>
            <a:endParaRPr lang="zh-CN" altLang="en-US" sz="1400" dirty="0">
              <a:solidFill>
                <a:srgbClr val="3A69EE"/>
              </a:solidFill>
              <a:cs typeface="+mn-ea"/>
            </a:endParaRPr>
          </a:p>
          <a:p>
            <a:r>
              <a:rPr lang="zh-CN" altLang="en-US" sz="1400" dirty="0"/>
              <a:t>　　++step;                                      </a:t>
            </a:r>
            <a:r>
              <a:rPr lang="zh-CN" altLang="en-US" sz="1400" dirty="0">
                <a:solidFill>
                  <a:srgbClr val="3A69EE"/>
                </a:solidFill>
                <a:cs typeface="+mn-ea"/>
              </a:rPr>
              <a:t>//移牌步数计数 </a:t>
            </a:r>
            <a:endParaRPr lang="zh-CN" altLang="en-US" sz="1400" dirty="0">
              <a:solidFill>
                <a:srgbClr val="3A69EE"/>
              </a:solidFill>
              <a:cs typeface="+mn-ea"/>
            </a:endParaRPr>
          </a:p>
          <a:p>
            <a:r>
              <a:rPr lang="zh-CN" altLang="en-US" sz="1400" dirty="0"/>
              <a:t>　　++i;                                            </a:t>
            </a:r>
            <a:r>
              <a:rPr lang="zh-CN" altLang="en-US" sz="1400" dirty="0">
                <a:solidFill>
                  <a:srgbClr val="3A69EE"/>
                </a:solidFill>
                <a:cs typeface="+mn-ea"/>
              </a:rPr>
              <a:t>//对下一堆牌进行循环操作</a:t>
            </a:r>
            <a:endParaRPr lang="zh-CN" altLang="en-US" sz="1400" dirty="0">
              <a:solidFill>
                <a:srgbClr val="3A69EE"/>
              </a:solidFill>
              <a:cs typeface="+mn-ea"/>
            </a:endParaRPr>
          </a:p>
          <a:p>
            <a:r>
              <a:rPr lang="zh-CN" altLang="en-US" sz="1400" dirty="0"/>
              <a:t>　　while (a[i]==0&amp;&amp;i&lt;j) ++i;         </a:t>
            </a:r>
            <a:r>
              <a:rPr lang="zh-CN" altLang="en-US" sz="1400" dirty="0">
                <a:solidFill>
                  <a:srgbClr val="3A69EE"/>
                </a:solidFill>
                <a:cs typeface="+mn-ea"/>
              </a:rPr>
              <a:t> //过滤移牌过程中产生的0</a:t>
            </a:r>
            <a:endParaRPr lang="zh-CN" altLang="en-US" sz="1400" dirty="0">
              <a:solidFill>
                <a:srgbClr val="3A69EE"/>
              </a:solidFill>
              <a:cs typeface="+mn-ea"/>
            </a:endParaRPr>
          </a:p>
          <a:p>
            <a:r>
              <a:rPr lang="zh-CN" altLang="en-US" sz="1400" dirty="0"/>
              <a:t>　    } </a:t>
            </a:r>
            <a:endParaRPr lang="zh-CN" altLang="en-US" sz="1400" dirty="0"/>
          </a:p>
          <a:p>
            <a:r>
              <a:rPr lang="zh-CN" altLang="en-US" sz="1400" dirty="0"/>
              <a:t>　cout&lt;&lt;step&lt;&lt;endl; </a:t>
            </a:r>
            <a:endParaRPr lang="en-US" altLang="zh-CN" sz="1400"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1"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拦截导弹</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416320"/>
          </a:xfrm>
          <a:prstGeom prst="rect">
            <a:avLst/>
          </a:prstGeom>
        </p:spPr>
        <p:txBody>
          <a:bodyPr wrap="square">
            <a:spAutoFit/>
            <a:scene3d>
              <a:camera prst="orthographicFront"/>
              <a:lightRig rig="threePt" dir="t"/>
            </a:scene3d>
            <a:sp3d contourW="12700"/>
          </a:bodyPr>
          <a:lstStyle/>
          <a:p>
            <a:pPr algn="ctr"/>
            <a:r>
              <a:rPr lang="zh-CN" altLang="en-US" sz="1400" b="1" dirty="0"/>
              <a:t>拦截导弹</a:t>
            </a:r>
            <a:r>
              <a:rPr lang="zh-CN" altLang="zh-CN" sz="1400" b="1" dirty="0"/>
              <a:t>（</a:t>
            </a:r>
            <a:r>
              <a:rPr lang="en-US" altLang="zh-CN" sz="1400" dirty="0"/>
              <a:t>NOIP 1999</a:t>
            </a:r>
            <a:r>
              <a:rPr lang="zh-CN" altLang="zh-CN" sz="1400" b="1" dirty="0"/>
              <a:t>）</a:t>
            </a:r>
            <a:endParaRPr lang="zh-CN" altLang="zh-CN" sz="1400" dirty="0"/>
          </a:p>
          <a:p>
            <a:r>
              <a:rPr lang="zh-CN" altLang="zh-CN" sz="1400" b="1" dirty="0"/>
              <a:t>【题目描述】</a:t>
            </a:r>
            <a:endParaRPr lang="zh-CN" altLang="zh-CN" sz="1400" dirty="0"/>
          </a:p>
          <a:p>
            <a:r>
              <a:rPr lang="zh-CN" altLang="en-US" sz="1400" dirty="0"/>
              <a:t>    某国为了防御敌国的导弹袭击，开发出一种导弹拦截系统，但是这种拦截系统有一个缺陷：虽然它的第一发炮弹能够到达任意的高度，但是以后每一发炮弹都不能高于前一发的高度。某天，雷达捕捉到敌国的导弹来袭，由于该系统还在试用阶段。所以一套系统有可能不能拦截所有的导弹。</a:t>
            </a:r>
            <a:endParaRPr lang="zh-CN" altLang="en-US" sz="1400" dirty="0"/>
          </a:p>
          <a:p>
            <a:r>
              <a:rPr lang="en-US" altLang="zh-CN" sz="1400" dirty="0"/>
              <a:t>    </a:t>
            </a:r>
            <a:r>
              <a:rPr lang="zh-CN" altLang="en-US" sz="1400" dirty="0"/>
              <a:t>输入导弹</a:t>
            </a:r>
            <a:r>
              <a:rPr lang="en-US" altLang="zh-CN" sz="1400" dirty="0"/>
              <a:t>(n&lt;=1000)</a:t>
            </a:r>
            <a:r>
              <a:rPr lang="zh-CN" altLang="en-US" sz="1400" dirty="0"/>
              <a:t>依次飞来的高度（雷达给出的高度不大于</a:t>
            </a:r>
            <a:r>
              <a:rPr lang="zh-CN" altLang="zh-CN" sz="1400" dirty="0"/>
              <a:t>30000</a:t>
            </a:r>
            <a:r>
              <a:rPr lang="zh-CN" altLang="en-US" sz="1400" dirty="0"/>
              <a:t>的正整数）。计算要拦截所有导弹最小需要配备多少套这种导弹拦截系统。</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zh-CN" altLang="zh-CN" sz="1400" dirty="0"/>
              <a:t>389  207  155  300  299  170  158  65</a:t>
            </a:r>
            <a:endParaRPr lang="zh-CN" altLang="zh-CN" sz="1400" dirty="0"/>
          </a:p>
          <a:p>
            <a:r>
              <a:rPr lang="zh-CN" altLang="zh-CN" sz="1400" b="1" dirty="0"/>
              <a:t>【样例输出】</a:t>
            </a:r>
            <a:endParaRPr lang="zh-CN" altLang="zh-CN" sz="1400" dirty="0"/>
          </a:p>
          <a:p>
            <a:r>
              <a:rPr lang="en-US" altLang="zh-CN" sz="1400" dirty="0"/>
              <a:t>2</a:t>
            </a:r>
            <a:endParaRPr lang="zh-CN" altLang="zh-CN" sz="1400" dirty="0"/>
          </a:p>
        </p:txBody>
      </p:sp>
      <p:sp>
        <p:nvSpPr>
          <p:cNvPr id="11" name="矩形 10"/>
          <p:cNvSpPr/>
          <p:nvPr/>
        </p:nvSpPr>
        <p:spPr>
          <a:xfrm>
            <a:off x="5671226" y="915397"/>
            <a:ext cx="4964872" cy="738664"/>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t>· </a:t>
            </a:r>
            <a:r>
              <a:rPr lang="zh-CN" altLang="en-US" sz="1400" dirty="0"/>
              <a:t>当前系统有一颗新导弹怎样最优</a:t>
            </a:r>
            <a:endParaRPr lang="zh-CN" altLang="zh-CN" sz="1400" dirty="0"/>
          </a:p>
          <a:p>
            <a:r>
              <a:rPr lang="en-US" altLang="zh-CN" sz="1400" dirty="0"/>
              <a:t>· </a:t>
            </a:r>
            <a:r>
              <a:rPr lang="zh-CN" altLang="en-US" sz="1400" dirty="0"/>
              <a:t>每次找最低高度最小的导弹系统拦截</a:t>
            </a:r>
            <a:endParaRPr lang="en-US" altLang="zh-CN" sz="1400" dirty="0"/>
          </a:p>
        </p:txBody>
      </p:sp>
      <p:sp>
        <p:nvSpPr>
          <p:cNvPr id="12" name="矩形 11"/>
          <p:cNvSpPr/>
          <p:nvPr/>
        </p:nvSpPr>
        <p:spPr>
          <a:xfrm>
            <a:off x="5789669" y="2197893"/>
            <a:ext cx="5368017" cy="2893100"/>
          </a:xfrm>
          <a:prstGeom prst="rect">
            <a:avLst/>
          </a:prstGeom>
        </p:spPr>
        <p:txBody>
          <a:bodyPr wrap="square">
            <a:spAutoFit/>
            <a:scene3d>
              <a:camera prst="orthographicFront"/>
              <a:lightRig rig="threePt" dir="t"/>
            </a:scene3d>
            <a:sp3d contourW="12700"/>
          </a:bodyPr>
          <a:lstStyle/>
          <a:p>
            <a:r>
              <a:rPr lang="zh-CN" altLang="en-US" sz="1400" dirty="0"/>
              <a:t>  k=1;l[k]=导弹1的高度;</a:t>
            </a:r>
            <a:endParaRPr lang="zh-CN" altLang="en-US" sz="1400" dirty="0"/>
          </a:p>
          <a:p>
            <a:r>
              <a:rPr lang="zh-CN" altLang="en-US" sz="1400" dirty="0"/>
              <a:t>  for (i=2;i&lt;=n;++i)</a:t>
            </a:r>
            <a:endParaRPr lang="zh-CN" altLang="en-US" sz="1400" dirty="0"/>
          </a:p>
          <a:p>
            <a:r>
              <a:rPr lang="zh-CN" altLang="en-US" sz="1400" dirty="0"/>
              <a:t>  {</a:t>
            </a:r>
            <a:r>
              <a:rPr lang="en-US" altLang="zh-CN" sz="1400" dirty="0"/>
              <a:t>  </a:t>
            </a:r>
            <a:r>
              <a:rPr lang="zh-CN" altLang="en-US" sz="1400" dirty="0"/>
              <a:t>　p=0;</a:t>
            </a:r>
            <a:endParaRPr lang="zh-CN" altLang="en-US" sz="1400" dirty="0"/>
          </a:p>
          <a:p>
            <a:r>
              <a:rPr lang="zh-CN" altLang="en-US" sz="1400" dirty="0"/>
              <a:t>　　 for (j=1;j&lt;=k;++j)</a:t>
            </a:r>
            <a:endParaRPr lang="zh-CN" altLang="en-US" sz="1400" dirty="0"/>
          </a:p>
          <a:p>
            <a:r>
              <a:rPr lang="zh-CN" altLang="en-US" sz="1400" dirty="0"/>
              <a:t>           if (l[j]&gt;=导弹i的高度)</a:t>
            </a:r>
            <a:endParaRPr lang="en-US" altLang="zh-CN" sz="1400" dirty="0"/>
          </a:p>
          <a:p>
            <a:r>
              <a:rPr lang="en-US" altLang="zh-CN" sz="1400" dirty="0"/>
              <a:t>         </a:t>
            </a:r>
            <a:r>
              <a:rPr lang="zh-CN" altLang="en-US" sz="1400" dirty="0"/>
              <a:t> {  if (p==0) p=j; </a:t>
            </a:r>
            <a:endParaRPr lang="zh-CN" altLang="en-US" sz="1400" dirty="0"/>
          </a:p>
          <a:p>
            <a:r>
              <a:rPr lang="zh-CN" altLang="en-US" sz="1400" dirty="0"/>
              <a:t>　　　　　  else if (l[j]&lt;l[p]) p=j;</a:t>
            </a:r>
            <a:endParaRPr lang="en-US" altLang="zh-CN" sz="1400" dirty="0"/>
          </a:p>
          <a:p>
            <a:r>
              <a:rPr lang="en-US" altLang="zh-CN" sz="1400" dirty="0"/>
              <a:t>              </a:t>
            </a:r>
            <a:r>
              <a:rPr lang="zh-CN" altLang="en-US" sz="1400" dirty="0"/>
              <a:t>}</a:t>
            </a:r>
            <a:r>
              <a:rPr lang="en-US" altLang="zh-CN" sz="1400" dirty="0"/>
              <a:t>   </a:t>
            </a:r>
            <a:r>
              <a:rPr lang="zh-CN" altLang="en-US" sz="1400" dirty="0"/>
              <a:t> </a:t>
            </a:r>
            <a:r>
              <a:rPr lang="en-US" altLang="zh-CN" sz="1400" dirty="0">
                <a:solidFill>
                  <a:srgbClr val="3A69EE"/>
                </a:solidFill>
                <a:cs typeface="+mn-ea"/>
              </a:rPr>
              <a:t>//</a:t>
            </a:r>
            <a:r>
              <a:rPr lang="zh-CN" altLang="en-US" sz="1400" dirty="0">
                <a:solidFill>
                  <a:srgbClr val="3A69EE"/>
                </a:solidFill>
                <a:cs typeface="+mn-ea"/>
              </a:rPr>
              <a:t>贪心 </a:t>
            </a:r>
            <a:endParaRPr lang="zh-CN" altLang="en-US" sz="1400" dirty="0">
              <a:solidFill>
                <a:srgbClr val="3A69EE"/>
              </a:solidFill>
              <a:cs typeface="+mn-ea"/>
            </a:endParaRPr>
          </a:p>
          <a:p>
            <a:r>
              <a:rPr lang="zh-CN" altLang="en-US" sz="1400" dirty="0"/>
              <a:t>         if (p==0) { ++k;l[k]=导弹i的高度; }</a:t>
            </a:r>
            <a:r>
              <a:rPr lang="en-US" altLang="zh-CN" sz="1400" dirty="0"/>
              <a:t>               </a:t>
            </a:r>
            <a:r>
              <a:rPr lang="en-US" altLang="zh-CN" sz="1400" dirty="0">
                <a:solidFill>
                  <a:srgbClr val="3A69EE"/>
                </a:solidFill>
                <a:cs typeface="+mn-ea"/>
              </a:rPr>
              <a:t>//</a:t>
            </a:r>
            <a:r>
              <a:rPr lang="zh-CN" altLang="en-US" sz="1400" dirty="0">
                <a:solidFill>
                  <a:srgbClr val="3A69EE"/>
                </a:solidFill>
                <a:cs typeface="+mn-ea"/>
              </a:rPr>
              <a:t>增加一套新系统 </a:t>
            </a:r>
            <a:r>
              <a:rPr lang="en-US" altLang="zh-CN" sz="1400" dirty="0">
                <a:solidFill>
                  <a:srgbClr val="3A69EE"/>
                </a:solidFill>
                <a:cs typeface="+mn-ea"/>
              </a:rPr>
              <a:t>      </a:t>
            </a:r>
            <a:endParaRPr lang="zh-CN" altLang="en-US" sz="1400" dirty="0">
              <a:solidFill>
                <a:srgbClr val="3A69EE"/>
              </a:solidFill>
              <a:cs typeface="+mn-ea"/>
            </a:endParaRPr>
          </a:p>
          <a:p>
            <a:r>
              <a:rPr lang="zh-CN" altLang="en-US" sz="1400" dirty="0"/>
              <a:t>               else l[p]=导弹i的高度;                          </a:t>
            </a:r>
            <a:r>
              <a:rPr lang="en-US" altLang="zh-CN" sz="1400" dirty="0">
                <a:solidFill>
                  <a:srgbClr val="3A69EE"/>
                </a:solidFill>
                <a:cs typeface="+mn-ea"/>
              </a:rPr>
              <a:t>//</a:t>
            </a:r>
            <a:r>
              <a:rPr lang="zh-CN" altLang="en-US" sz="1400" dirty="0">
                <a:solidFill>
                  <a:srgbClr val="3A69EE"/>
                </a:solidFill>
                <a:cs typeface="+mn-ea"/>
              </a:rPr>
              <a:t>贪心</a:t>
            </a:r>
            <a:r>
              <a:rPr lang="en-US" altLang="zh-CN" sz="1400" dirty="0">
                <a:solidFill>
                  <a:srgbClr val="3A69EE"/>
                </a:solidFill>
                <a:cs typeface="+mn-ea"/>
              </a:rPr>
              <a:t>,</a:t>
            </a:r>
            <a:r>
              <a:rPr lang="zh-CN" altLang="en-US" sz="1400" dirty="0">
                <a:solidFill>
                  <a:srgbClr val="3A69EE"/>
                </a:solidFill>
                <a:cs typeface="+mn-ea"/>
              </a:rPr>
              <a:t>更新第</a:t>
            </a:r>
            <a:r>
              <a:rPr lang="en-US" altLang="zh-CN" sz="1400" dirty="0">
                <a:solidFill>
                  <a:srgbClr val="3A69EE"/>
                </a:solidFill>
                <a:cs typeface="+mn-ea"/>
              </a:rPr>
              <a:t>p</a:t>
            </a:r>
            <a:r>
              <a:rPr lang="zh-CN" altLang="en-US" sz="1400" dirty="0">
                <a:solidFill>
                  <a:srgbClr val="3A69EE"/>
                </a:solidFill>
                <a:cs typeface="+mn-ea"/>
              </a:rPr>
              <a:t>套系统的最低高度 </a:t>
            </a:r>
            <a:endParaRPr lang="zh-CN" altLang="en-US" sz="1400" dirty="0">
              <a:solidFill>
                <a:srgbClr val="3A69EE"/>
              </a:solidFill>
              <a:cs typeface="+mn-ea"/>
            </a:endParaRPr>
          </a:p>
          <a:p>
            <a:r>
              <a:rPr lang="zh-CN" altLang="en-US" sz="1400" dirty="0"/>
              <a:t>         }</a:t>
            </a:r>
            <a:endParaRPr lang="zh-CN" altLang="en-US" sz="1400" dirty="0"/>
          </a:p>
          <a:p>
            <a:r>
              <a:rPr lang="zh-CN" altLang="en-US" sz="1400" dirty="0"/>
              <a:t>输出应配备的最少系统数K。</a:t>
            </a:r>
            <a:endParaRPr lang="en-US" altLang="zh-CN" sz="1400"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1"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国王游戏</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5047536"/>
          </a:xfrm>
          <a:prstGeom prst="rect">
            <a:avLst/>
          </a:prstGeom>
        </p:spPr>
        <p:txBody>
          <a:bodyPr wrap="square">
            <a:spAutoFit/>
            <a:scene3d>
              <a:camera prst="orthographicFront"/>
              <a:lightRig rig="threePt" dir="t"/>
            </a:scene3d>
            <a:sp3d contourW="12700"/>
          </a:bodyPr>
          <a:lstStyle/>
          <a:p>
            <a:pPr algn="ctr"/>
            <a:r>
              <a:rPr lang="zh-CN" altLang="en-US" sz="1400" b="1" dirty="0"/>
              <a:t>国王游戏</a:t>
            </a:r>
            <a:r>
              <a:rPr lang="zh-CN" altLang="zh-CN" sz="1400" b="1" dirty="0"/>
              <a:t>（</a:t>
            </a:r>
            <a:r>
              <a:rPr lang="en-US" altLang="zh-CN" sz="1400" dirty="0"/>
              <a:t>NOIP 2012</a:t>
            </a:r>
            <a:r>
              <a:rPr lang="zh-CN" altLang="en-US" sz="1400" dirty="0"/>
              <a:t>提高</a:t>
            </a:r>
            <a:r>
              <a:rPr lang="zh-CN" altLang="zh-CN" sz="1400" b="1" dirty="0"/>
              <a:t>）</a:t>
            </a:r>
            <a:endParaRPr lang="zh-CN" altLang="zh-CN" sz="1400" dirty="0"/>
          </a:p>
          <a:p>
            <a:r>
              <a:rPr lang="zh-CN" altLang="zh-CN" sz="1400" b="1" dirty="0"/>
              <a:t>【题目描述】</a:t>
            </a:r>
            <a:endParaRPr lang="zh-CN" altLang="zh-CN" sz="1400" dirty="0"/>
          </a:p>
          <a:p>
            <a:r>
              <a:rPr lang="zh-CN" altLang="en-US" sz="1400" dirty="0"/>
              <a:t>    恰逢</a:t>
            </a:r>
            <a:r>
              <a:rPr lang="en-US" altLang="zh-CN" sz="1400" dirty="0"/>
              <a:t>H</a:t>
            </a:r>
            <a:r>
              <a:rPr lang="zh-CN" altLang="en-US" sz="1400" dirty="0"/>
              <a:t>国国庆，国王邀请</a:t>
            </a:r>
            <a:r>
              <a:rPr lang="en-US" altLang="zh-CN" sz="1400" dirty="0"/>
              <a:t>n</a:t>
            </a:r>
            <a:r>
              <a:rPr lang="zh-CN" altLang="en-US" sz="1400" dirty="0"/>
              <a:t>位大臣来玩一个有奖游戏。首先，他让每个大臣在左、右手上面分别写下一个整数，国王自己也在左、右手上各写一个整数。然后，让这</a:t>
            </a:r>
            <a:r>
              <a:rPr lang="en-US" altLang="zh-CN" sz="1400" dirty="0"/>
              <a:t>n</a:t>
            </a:r>
            <a:r>
              <a:rPr lang="zh-CN" altLang="en-US" sz="1400" dirty="0"/>
              <a:t>位大臣排成一排，国王站在队伍的最前面。排好队后，所有的大臣都会获得国王奖赏的若干金币，每位大臣获得的金币数分别是：排在该大臣前面的所有人的左手上的数的乘积除以他自己右手上的数，然后向下取整得到的结果。</a:t>
            </a:r>
            <a:endParaRPr lang="zh-CN" altLang="en-US" sz="1400" dirty="0"/>
          </a:p>
          <a:p>
            <a:r>
              <a:rPr lang="zh-CN" altLang="en-US" sz="1400" dirty="0"/>
              <a:t>    国王不希望某一个大臣获得特别多的奖赏，所以他想请你帮他重新安排一下队伍的顺序，使得获得奖赏最多的大臣，所获奖赏尽可能的少。注意，国王的位置始终在队伍的最前面。</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en-US" altLang="zh-CN" sz="1400" dirty="0"/>
              <a:t>3</a:t>
            </a:r>
            <a:endParaRPr lang="en-US" altLang="zh-CN" sz="1400" dirty="0"/>
          </a:p>
          <a:p>
            <a:r>
              <a:rPr lang="en-US" altLang="zh-CN" sz="1400" dirty="0"/>
              <a:t>1 1</a:t>
            </a:r>
            <a:endParaRPr lang="en-US" altLang="zh-CN" sz="1400" dirty="0"/>
          </a:p>
          <a:p>
            <a:r>
              <a:rPr lang="en-US" altLang="zh-CN" sz="1400" dirty="0"/>
              <a:t>2 3</a:t>
            </a:r>
            <a:endParaRPr lang="en-US" altLang="zh-CN" sz="1400" dirty="0"/>
          </a:p>
          <a:p>
            <a:r>
              <a:rPr lang="en-US" altLang="zh-CN" sz="1400" dirty="0"/>
              <a:t>7 4</a:t>
            </a:r>
            <a:endParaRPr lang="en-US" altLang="zh-CN" sz="1400" dirty="0"/>
          </a:p>
          <a:p>
            <a:r>
              <a:rPr lang="en-US" altLang="zh-CN" sz="1400" dirty="0"/>
              <a:t>4 6</a:t>
            </a:r>
            <a:endParaRPr lang="en-US" altLang="zh-CN" sz="1400" dirty="0"/>
          </a:p>
          <a:p>
            <a:endParaRPr lang="zh-CN" altLang="zh-CN" sz="1400" dirty="0"/>
          </a:p>
          <a:p>
            <a:r>
              <a:rPr lang="zh-CN" altLang="zh-CN" sz="1400" b="1" dirty="0"/>
              <a:t>【样例输出】</a:t>
            </a:r>
            <a:endParaRPr lang="zh-CN" altLang="zh-CN" sz="1400" dirty="0"/>
          </a:p>
          <a:p>
            <a:r>
              <a:rPr lang="en-US" altLang="zh-CN" sz="1400" dirty="0"/>
              <a:t>2</a:t>
            </a:r>
            <a:endParaRPr lang="zh-CN" altLang="zh-CN" sz="1400" dirty="0"/>
          </a:p>
        </p:txBody>
      </p:sp>
      <p:sp>
        <p:nvSpPr>
          <p:cNvPr id="11" name="矩形 10"/>
          <p:cNvSpPr/>
          <p:nvPr/>
        </p:nvSpPr>
        <p:spPr>
          <a:xfrm>
            <a:off x="5671226" y="915397"/>
            <a:ext cx="4964872" cy="2677656"/>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t>· </a:t>
            </a:r>
            <a:r>
              <a:rPr lang="zh-CN" altLang="en-US" sz="1400" dirty="0"/>
              <a:t>考虑对一合法大臣排列，交换</a:t>
            </a:r>
            <a:r>
              <a:rPr lang="en-US" altLang="zh-CN" sz="1400" dirty="0" err="1"/>
              <a:t>i</a:t>
            </a:r>
            <a:r>
              <a:rPr lang="zh-CN" altLang="en-US" sz="1400" dirty="0"/>
              <a:t>与</a:t>
            </a:r>
            <a:r>
              <a:rPr lang="en-US" altLang="zh-CN" sz="1400" dirty="0"/>
              <a:t>j(</a:t>
            </a:r>
            <a:r>
              <a:rPr lang="en-US" altLang="zh-CN" sz="1400" dirty="0" err="1"/>
              <a:t>i</a:t>
            </a:r>
            <a:r>
              <a:rPr lang="en-US" altLang="zh-CN" sz="1400" dirty="0"/>
              <a:t>&lt;j)</a:t>
            </a:r>
            <a:r>
              <a:rPr lang="zh-CN" altLang="en-US" sz="1400" dirty="0"/>
              <a:t>的位置，就能获得更优解</a:t>
            </a:r>
            <a:endParaRPr lang="en-US" altLang="zh-CN" sz="1400" dirty="0"/>
          </a:p>
          <a:p>
            <a:r>
              <a:rPr lang="en-US" altLang="zh-CN" sz="1400" dirty="0"/>
              <a:t>· </a:t>
            </a:r>
            <a:r>
              <a:rPr lang="zh-CN" altLang="en-US" sz="1400" dirty="0"/>
              <a:t>设</a:t>
            </a:r>
            <a:r>
              <a:rPr lang="en-US" altLang="zh-CN" sz="1400" dirty="0"/>
              <a:t>A</a:t>
            </a:r>
            <a:r>
              <a:rPr lang="en-US" altLang="zh-CN" sz="1400" baseline="-25000" dirty="0"/>
              <a:t>i</a:t>
            </a:r>
            <a:r>
              <a:rPr lang="en-US" altLang="zh-CN" sz="1400" dirty="0"/>
              <a:t>=a</a:t>
            </a:r>
            <a:r>
              <a:rPr lang="en-US" altLang="zh-CN" sz="1400" baseline="-25000" dirty="0"/>
              <a:t>1</a:t>
            </a:r>
            <a:r>
              <a:rPr lang="en-US" altLang="zh-CN" sz="1400" dirty="0"/>
              <a:t>·a</a:t>
            </a:r>
            <a:r>
              <a:rPr lang="en-US" altLang="zh-CN" sz="1400" baseline="-25000" dirty="0"/>
              <a:t>2</a:t>
            </a:r>
            <a:r>
              <a:rPr lang="en-US" altLang="zh-CN" sz="1400" dirty="0"/>
              <a:t>·…·a</a:t>
            </a:r>
            <a:r>
              <a:rPr lang="en-US" altLang="zh-CN" sz="1400" baseline="-25000" dirty="0"/>
              <a:t>i</a:t>
            </a:r>
            <a:endParaRPr lang="zh-CN" altLang="zh-CN" sz="1400" baseline="-25000" dirty="0"/>
          </a:p>
          <a:p>
            <a:r>
              <a:rPr lang="en-US" altLang="zh-CN" sz="1400" dirty="0"/>
              <a:t>· </a:t>
            </a:r>
            <a:r>
              <a:rPr lang="zh-CN" altLang="en-US" sz="1400" dirty="0"/>
              <a:t>交换前</a:t>
            </a:r>
            <a:r>
              <a:rPr lang="en-US" altLang="zh-CN" sz="1400" dirty="0"/>
              <a:t>Ans1=Max(A</a:t>
            </a:r>
            <a:r>
              <a:rPr lang="en-US" altLang="zh-CN" sz="1400" baseline="-25000" dirty="0"/>
              <a:t>i-1</a:t>
            </a:r>
            <a:r>
              <a:rPr lang="en-US" altLang="zh-CN" sz="1400" dirty="0"/>
              <a:t>/b</a:t>
            </a:r>
            <a:r>
              <a:rPr lang="en-US" altLang="zh-CN" sz="1400" baseline="-25000" dirty="0"/>
              <a:t>i</a:t>
            </a:r>
            <a:r>
              <a:rPr lang="en-US" altLang="zh-CN" sz="1400" dirty="0"/>
              <a:t>,A</a:t>
            </a:r>
            <a:r>
              <a:rPr lang="en-US" altLang="zh-CN" sz="1400" baseline="-25000" dirty="0"/>
              <a:t>j-1</a:t>
            </a:r>
            <a:r>
              <a:rPr lang="en-US" altLang="zh-CN" sz="1400" dirty="0"/>
              <a:t>/</a:t>
            </a:r>
            <a:r>
              <a:rPr lang="en-US" altLang="zh-CN" sz="1400" dirty="0" err="1"/>
              <a:t>b</a:t>
            </a:r>
            <a:r>
              <a:rPr lang="en-US" altLang="zh-CN" sz="1400" baseline="-25000" dirty="0" err="1"/>
              <a:t>j</a:t>
            </a:r>
            <a:r>
              <a:rPr lang="en-US" altLang="zh-CN" sz="1400" dirty="0"/>
              <a:t>)</a:t>
            </a:r>
            <a:endParaRPr lang="en-US" altLang="zh-CN" sz="1400" dirty="0"/>
          </a:p>
          <a:p>
            <a:r>
              <a:rPr lang="en-US" altLang="zh-CN" sz="1400" dirty="0"/>
              <a:t>· </a:t>
            </a:r>
            <a:r>
              <a:rPr lang="zh-CN" altLang="en-US" sz="1400" dirty="0"/>
              <a:t>交换后</a:t>
            </a:r>
            <a:r>
              <a:rPr lang="en-US" altLang="zh-CN" sz="1400" dirty="0"/>
              <a:t>Ans2=Max(A</a:t>
            </a:r>
            <a:r>
              <a:rPr lang="en-US" altLang="zh-CN" sz="1400" baseline="-25000" dirty="0"/>
              <a:t>i-1</a:t>
            </a:r>
            <a:r>
              <a:rPr lang="en-US" altLang="zh-CN" sz="1400" dirty="0"/>
              <a:t>/b</a:t>
            </a:r>
            <a:r>
              <a:rPr lang="en-US" altLang="zh-CN" sz="1400" baseline="-25000" dirty="0"/>
              <a:t>j</a:t>
            </a:r>
            <a:r>
              <a:rPr lang="en-US" altLang="zh-CN" sz="1400" dirty="0"/>
              <a:t>,A</a:t>
            </a:r>
            <a:r>
              <a:rPr lang="en-US" altLang="zh-CN" sz="1400" baseline="-25000" dirty="0"/>
              <a:t>j-1</a:t>
            </a:r>
            <a:r>
              <a:rPr lang="en-US" altLang="zh-CN" sz="1400" dirty="0"/>
              <a:t>*</a:t>
            </a:r>
            <a:r>
              <a:rPr lang="en-US" altLang="zh-CN" sz="1400" dirty="0" err="1"/>
              <a:t>a</a:t>
            </a:r>
            <a:r>
              <a:rPr lang="en-US" altLang="zh-CN" sz="1400" baseline="-25000" dirty="0" err="1"/>
              <a:t>j</a:t>
            </a:r>
            <a:r>
              <a:rPr lang="en-US" altLang="zh-CN" sz="1400" dirty="0"/>
              <a:t>/a</a:t>
            </a:r>
            <a:r>
              <a:rPr lang="en-US" altLang="zh-CN" sz="1400" baseline="-25000" dirty="0"/>
              <a:t>i</a:t>
            </a:r>
            <a:r>
              <a:rPr lang="en-US" altLang="zh-CN" sz="1400" dirty="0"/>
              <a:t>/b</a:t>
            </a:r>
            <a:r>
              <a:rPr lang="en-US" altLang="zh-CN" sz="1400" baseline="-25000" dirty="0"/>
              <a:t>i</a:t>
            </a:r>
            <a:r>
              <a:rPr lang="en-US" altLang="zh-CN" sz="1400" dirty="0"/>
              <a:t>)</a:t>
            </a:r>
            <a:endParaRPr lang="en-US" altLang="zh-CN" sz="1400" dirty="0"/>
          </a:p>
          <a:p>
            <a:r>
              <a:rPr lang="en-US" altLang="zh-CN" sz="1400" dirty="0"/>
              <a:t>· </a:t>
            </a:r>
            <a:r>
              <a:rPr lang="zh-CN" altLang="en-US" sz="1400" dirty="0"/>
              <a:t>需满足</a:t>
            </a:r>
            <a:r>
              <a:rPr lang="en-US" altLang="zh-CN" sz="1400" dirty="0"/>
              <a:t>Ans1&gt;Ans2</a:t>
            </a:r>
            <a:r>
              <a:rPr lang="zh-CN" altLang="en-US" sz="1400" dirty="0"/>
              <a:t>才需交换</a:t>
            </a:r>
            <a:endParaRPr lang="en-US" altLang="zh-CN" sz="1400" dirty="0"/>
          </a:p>
          <a:p>
            <a:r>
              <a:rPr lang="zh-CN" altLang="en-US" sz="1400" dirty="0"/>
              <a:t>由</a:t>
            </a:r>
            <a:r>
              <a:rPr lang="en-US" altLang="zh-CN" sz="1400" dirty="0"/>
              <a:t>A</a:t>
            </a:r>
            <a:r>
              <a:rPr lang="en-US" altLang="zh-CN" sz="1400" baseline="-25000" dirty="0"/>
              <a:t>i-1</a:t>
            </a:r>
            <a:r>
              <a:rPr lang="en-US" altLang="zh-CN" sz="1400" dirty="0"/>
              <a:t>/b</a:t>
            </a:r>
            <a:r>
              <a:rPr lang="en-US" altLang="zh-CN" sz="1400" baseline="-25000" dirty="0"/>
              <a:t>i </a:t>
            </a:r>
            <a:r>
              <a:rPr lang="en-US" altLang="zh-CN" sz="1400" dirty="0"/>
              <a:t>&lt; A</a:t>
            </a:r>
            <a:r>
              <a:rPr lang="en-US" altLang="zh-CN" sz="1400" baseline="-25000" dirty="0"/>
              <a:t>j-1</a:t>
            </a:r>
            <a:r>
              <a:rPr lang="en-US" altLang="zh-CN" sz="1400" dirty="0"/>
              <a:t>*</a:t>
            </a:r>
            <a:r>
              <a:rPr lang="en-US" altLang="zh-CN" sz="1400" dirty="0" err="1"/>
              <a:t>a</a:t>
            </a:r>
            <a:r>
              <a:rPr lang="en-US" altLang="zh-CN" sz="1400" baseline="-25000" dirty="0" err="1"/>
              <a:t>j</a:t>
            </a:r>
            <a:r>
              <a:rPr lang="en-US" altLang="zh-CN" sz="1400" dirty="0"/>
              <a:t>/a</a:t>
            </a:r>
            <a:r>
              <a:rPr lang="en-US" altLang="zh-CN" sz="1400" baseline="-25000" dirty="0"/>
              <a:t>i</a:t>
            </a:r>
            <a:r>
              <a:rPr lang="en-US" altLang="zh-CN" sz="1400" dirty="0"/>
              <a:t>/b</a:t>
            </a:r>
            <a:r>
              <a:rPr lang="en-US" altLang="zh-CN" sz="1400" baseline="-25000" dirty="0"/>
              <a:t>i </a:t>
            </a:r>
            <a:r>
              <a:rPr lang="zh-CN" altLang="en-US" sz="1400" dirty="0"/>
              <a:t>；</a:t>
            </a:r>
            <a:r>
              <a:rPr lang="en-US" altLang="zh-CN" sz="1400" dirty="0"/>
              <a:t> A</a:t>
            </a:r>
            <a:r>
              <a:rPr lang="en-US" altLang="zh-CN" sz="1400" baseline="-25000" dirty="0"/>
              <a:t>j-1</a:t>
            </a:r>
            <a:r>
              <a:rPr lang="en-US" altLang="zh-CN" sz="1400" dirty="0"/>
              <a:t>/</a:t>
            </a:r>
            <a:r>
              <a:rPr lang="en-US" altLang="zh-CN" sz="1400" dirty="0" err="1"/>
              <a:t>b</a:t>
            </a:r>
            <a:r>
              <a:rPr lang="en-US" altLang="zh-CN" sz="1400" baseline="-25000" dirty="0" err="1"/>
              <a:t>j</a:t>
            </a:r>
            <a:r>
              <a:rPr lang="en-US" altLang="zh-CN" sz="1400" baseline="-25000" dirty="0"/>
              <a:t> </a:t>
            </a:r>
            <a:r>
              <a:rPr lang="en-US" altLang="zh-CN" sz="1400" dirty="0"/>
              <a:t>&gt; A</a:t>
            </a:r>
            <a:r>
              <a:rPr lang="en-US" altLang="zh-CN" sz="1400" baseline="-25000" dirty="0"/>
              <a:t>i-1</a:t>
            </a:r>
            <a:r>
              <a:rPr lang="en-US" altLang="zh-CN" sz="1400" dirty="0"/>
              <a:t>/</a:t>
            </a:r>
            <a:r>
              <a:rPr lang="en-US" altLang="zh-CN" sz="1400" dirty="0" err="1"/>
              <a:t>b</a:t>
            </a:r>
            <a:r>
              <a:rPr lang="en-US" altLang="zh-CN" sz="1400" baseline="-25000" dirty="0" err="1"/>
              <a:t>j</a:t>
            </a:r>
            <a:r>
              <a:rPr lang="en-US" altLang="zh-CN" sz="1400" baseline="-25000" dirty="0"/>
              <a:t> </a:t>
            </a:r>
            <a:r>
              <a:rPr lang="zh-CN" altLang="en-US" sz="1400" dirty="0"/>
              <a:t>，可知，若等式成立，则</a:t>
            </a:r>
            <a:endParaRPr lang="en-US" altLang="zh-CN" sz="1400" dirty="0"/>
          </a:p>
          <a:p>
            <a:r>
              <a:rPr lang="en-US" altLang="zh-CN" sz="1400" dirty="0"/>
              <a:t>· </a:t>
            </a:r>
            <a:r>
              <a:rPr lang="zh-CN" altLang="en-US" sz="1400" dirty="0"/>
              <a:t>必然满足</a:t>
            </a:r>
            <a:r>
              <a:rPr lang="en-US" altLang="zh-CN" sz="1400" dirty="0"/>
              <a:t>A</a:t>
            </a:r>
            <a:r>
              <a:rPr lang="en-US" altLang="zh-CN" sz="1400" baseline="-25000" dirty="0"/>
              <a:t>j-1</a:t>
            </a:r>
            <a:r>
              <a:rPr lang="en-US" altLang="zh-CN" sz="1400" dirty="0"/>
              <a:t>/</a:t>
            </a:r>
            <a:r>
              <a:rPr lang="en-US" altLang="zh-CN" sz="1400" dirty="0" err="1"/>
              <a:t>b</a:t>
            </a:r>
            <a:r>
              <a:rPr lang="en-US" altLang="zh-CN" sz="1400" baseline="-25000" dirty="0" err="1"/>
              <a:t>j</a:t>
            </a:r>
            <a:r>
              <a:rPr lang="en-US" altLang="zh-CN" sz="1400" baseline="-25000" dirty="0"/>
              <a:t> </a:t>
            </a:r>
            <a:r>
              <a:rPr lang="en-US" altLang="zh-CN" sz="1400" dirty="0"/>
              <a:t>&gt; A</a:t>
            </a:r>
            <a:r>
              <a:rPr lang="en-US" altLang="zh-CN" sz="1400" baseline="-25000" dirty="0"/>
              <a:t>j-1</a:t>
            </a:r>
            <a:r>
              <a:rPr lang="en-US" altLang="zh-CN" sz="1400" dirty="0"/>
              <a:t>*</a:t>
            </a:r>
            <a:r>
              <a:rPr lang="en-US" altLang="zh-CN" sz="1400" dirty="0" err="1"/>
              <a:t>a</a:t>
            </a:r>
            <a:r>
              <a:rPr lang="en-US" altLang="zh-CN" sz="1400" baseline="-25000" dirty="0" err="1"/>
              <a:t>j</a:t>
            </a:r>
            <a:r>
              <a:rPr lang="en-US" altLang="zh-CN" sz="1400" dirty="0"/>
              <a:t>/a</a:t>
            </a:r>
            <a:r>
              <a:rPr lang="en-US" altLang="zh-CN" sz="1400" baseline="-25000" dirty="0"/>
              <a:t>i</a:t>
            </a:r>
            <a:r>
              <a:rPr lang="en-US" altLang="zh-CN" sz="1400" dirty="0"/>
              <a:t>/b</a:t>
            </a:r>
            <a:r>
              <a:rPr lang="en-US" altLang="zh-CN" sz="1400" baseline="-25000" dirty="0"/>
              <a:t>i</a:t>
            </a:r>
            <a:endParaRPr lang="en-US" altLang="zh-CN" sz="1400" baseline="-25000" dirty="0"/>
          </a:p>
          <a:p>
            <a:r>
              <a:rPr lang="en-US" altLang="zh-CN" sz="1400" dirty="0"/>
              <a:t>· </a:t>
            </a:r>
            <a:r>
              <a:rPr lang="zh-CN" altLang="en-US" sz="1400" dirty="0"/>
              <a:t>即</a:t>
            </a:r>
            <a:r>
              <a:rPr lang="en-US" altLang="zh-CN" sz="1400" dirty="0" err="1"/>
              <a:t>a</a:t>
            </a:r>
            <a:r>
              <a:rPr lang="en-US" altLang="zh-CN" sz="1400" baseline="-25000" dirty="0" err="1"/>
              <a:t>i</a:t>
            </a:r>
            <a:r>
              <a:rPr lang="en-US" altLang="zh-CN" sz="1400" dirty="0" err="1"/>
              <a:t>·b</a:t>
            </a:r>
            <a:r>
              <a:rPr lang="en-US" altLang="zh-CN" sz="1400" baseline="-25000" dirty="0" err="1"/>
              <a:t>i</a:t>
            </a:r>
            <a:r>
              <a:rPr lang="en-US" altLang="zh-CN" sz="1400" dirty="0"/>
              <a:t>&gt;</a:t>
            </a:r>
            <a:r>
              <a:rPr lang="en-US" altLang="zh-CN" sz="1400" dirty="0" err="1"/>
              <a:t>a</a:t>
            </a:r>
            <a:r>
              <a:rPr lang="en-US" altLang="zh-CN" sz="1400" baseline="-25000" dirty="0" err="1"/>
              <a:t>j</a:t>
            </a:r>
            <a:r>
              <a:rPr lang="en-US" altLang="zh-CN" sz="1400" dirty="0" err="1"/>
              <a:t>·b</a:t>
            </a:r>
            <a:r>
              <a:rPr lang="en-US" altLang="zh-CN" sz="1400" baseline="-25000" dirty="0" err="1"/>
              <a:t>j</a:t>
            </a:r>
            <a:endParaRPr lang="en-US" altLang="zh-CN" sz="1400" baseline="-25000" dirty="0"/>
          </a:p>
          <a:p>
            <a:r>
              <a:rPr lang="en-US" altLang="zh-CN" sz="1400" dirty="0"/>
              <a:t>· </a:t>
            </a:r>
            <a:r>
              <a:rPr lang="zh-CN" altLang="en-US" sz="1400" dirty="0"/>
              <a:t>以此排序即可获得最优排列顺序</a:t>
            </a:r>
            <a:endParaRPr lang="en-US" altLang="zh-CN" sz="1400"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049688" y="177223"/>
            <a:ext cx="1569660"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加工生产调度</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754874"/>
          </a:xfrm>
          <a:prstGeom prst="rect">
            <a:avLst/>
          </a:prstGeom>
        </p:spPr>
        <p:txBody>
          <a:bodyPr wrap="square">
            <a:spAutoFit/>
            <a:scene3d>
              <a:camera prst="orthographicFront"/>
              <a:lightRig rig="threePt" dir="t"/>
            </a:scene3d>
            <a:sp3d contourW="12700"/>
          </a:bodyPr>
          <a:lstStyle/>
          <a:p>
            <a:pPr algn="ctr"/>
            <a:r>
              <a:rPr lang="zh-CN" altLang="en-US" sz="1400" b="1" dirty="0"/>
              <a:t>加工生产调度</a:t>
            </a:r>
            <a:endParaRPr lang="zh-CN" altLang="zh-CN" sz="1400" dirty="0"/>
          </a:p>
          <a:p>
            <a:r>
              <a:rPr lang="zh-CN" altLang="zh-CN" sz="1400" b="1" dirty="0"/>
              <a:t>【题目描述】</a:t>
            </a:r>
            <a:endParaRPr lang="zh-CN" altLang="zh-CN" sz="1400" dirty="0"/>
          </a:p>
          <a:p>
            <a:r>
              <a:rPr lang="zh-CN" altLang="en-US" sz="1400" dirty="0"/>
              <a:t>    某工厂收到了</a:t>
            </a:r>
            <a:r>
              <a:rPr lang="en-US" altLang="zh-CN" sz="1400" dirty="0"/>
              <a:t>n</a:t>
            </a:r>
            <a:r>
              <a:rPr lang="zh-CN" altLang="en-US" sz="1400" dirty="0"/>
              <a:t>个产品的订单，这</a:t>
            </a:r>
            <a:r>
              <a:rPr lang="en-US" altLang="zh-CN" sz="1400" dirty="0"/>
              <a:t>n</a:t>
            </a:r>
            <a:r>
              <a:rPr lang="zh-CN" altLang="en-US" sz="1400" dirty="0"/>
              <a:t>个产品分别在</a:t>
            </a:r>
            <a:r>
              <a:rPr lang="en-US" altLang="zh-CN" sz="1400" dirty="0"/>
              <a:t>A</a:t>
            </a:r>
            <a:r>
              <a:rPr lang="zh-CN" altLang="en-US" sz="1400" dirty="0"/>
              <a:t>、</a:t>
            </a:r>
            <a:r>
              <a:rPr lang="en-US" altLang="zh-CN" sz="1400" dirty="0"/>
              <a:t>B</a:t>
            </a:r>
            <a:r>
              <a:rPr lang="zh-CN" altLang="en-US" sz="1400" dirty="0"/>
              <a:t>两个车间加工，并且必须先在</a:t>
            </a:r>
            <a:r>
              <a:rPr lang="en-US" altLang="zh-CN" sz="1400" dirty="0"/>
              <a:t>A</a:t>
            </a:r>
            <a:r>
              <a:rPr lang="zh-CN" altLang="en-US" sz="1400" dirty="0"/>
              <a:t>车间加工后才可以到</a:t>
            </a:r>
            <a:r>
              <a:rPr lang="en-US" altLang="zh-CN" sz="1400" dirty="0"/>
              <a:t>B</a:t>
            </a:r>
            <a:r>
              <a:rPr lang="zh-CN" altLang="en-US" sz="1400" dirty="0"/>
              <a:t>车间加工。</a:t>
            </a:r>
            <a:endParaRPr lang="zh-CN" altLang="en-US" sz="1400" dirty="0"/>
          </a:p>
          <a:p>
            <a:r>
              <a:rPr lang="zh-CN" altLang="en-US" sz="1400" dirty="0"/>
              <a:t>    某个产品</a:t>
            </a:r>
            <a:r>
              <a:rPr lang="en-US" altLang="zh-CN" sz="1400" dirty="0" err="1"/>
              <a:t>i</a:t>
            </a:r>
            <a:r>
              <a:rPr lang="zh-CN" altLang="en-US" sz="1400" dirty="0"/>
              <a:t>在</a:t>
            </a:r>
            <a:r>
              <a:rPr lang="en-US" altLang="zh-CN" sz="1400" dirty="0"/>
              <a:t>A</a:t>
            </a:r>
            <a:r>
              <a:rPr lang="zh-CN" altLang="en-US" sz="1400" dirty="0"/>
              <a:t>、</a:t>
            </a:r>
            <a:r>
              <a:rPr lang="en-US" altLang="zh-CN" sz="1400" dirty="0"/>
              <a:t>B</a:t>
            </a:r>
            <a:r>
              <a:rPr lang="zh-CN" altLang="en-US" sz="1400" dirty="0"/>
              <a:t>两车间加工的时间分别为</a:t>
            </a:r>
            <a:r>
              <a:rPr lang="en-US" altLang="zh-CN" sz="1400" dirty="0" err="1"/>
              <a:t>A</a:t>
            </a:r>
            <a:r>
              <a:rPr lang="en-US" altLang="zh-CN" sz="1400" baseline="-25000" dirty="0" err="1"/>
              <a:t>i</a:t>
            </a:r>
            <a:r>
              <a:rPr lang="en-US" altLang="zh-CN" sz="1400" dirty="0" err="1"/>
              <a:t>,B</a:t>
            </a:r>
            <a:r>
              <a:rPr lang="en-US" altLang="zh-CN" sz="1400" baseline="-25000" dirty="0" err="1"/>
              <a:t>i</a:t>
            </a:r>
            <a:r>
              <a:rPr lang="zh-CN" altLang="en-US" sz="1400" dirty="0"/>
              <a:t>。怎样安排这</a:t>
            </a:r>
            <a:r>
              <a:rPr lang="en-US" altLang="zh-CN" sz="1400" dirty="0"/>
              <a:t>n</a:t>
            </a:r>
            <a:r>
              <a:rPr lang="zh-CN" altLang="en-US" sz="1400" dirty="0"/>
              <a:t>个产品的加工顺序，才能使总的加工时间最短。</a:t>
            </a:r>
            <a:endParaRPr lang="zh-CN" altLang="en-US" sz="1400" dirty="0"/>
          </a:p>
          <a:p>
            <a:r>
              <a:rPr lang="zh-CN" altLang="en-US" sz="1400" dirty="0"/>
              <a:t>    这里所说的加工时间是指：从开始加工第一个产品到最后所有的产品都已在</a:t>
            </a:r>
            <a:r>
              <a:rPr lang="en-US" altLang="zh-CN" sz="1400" dirty="0"/>
              <a:t>A</a:t>
            </a:r>
            <a:r>
              <a:rPr lang="zh-CN" altLang="en-US" sz="1400" dirty="0"/>
              <a:t>、</a:t>
            </a:r>
            <a:r>
              <a:rPr lang="en-US" altLang="zh-CN" sz="1400" dirty="0"/>
              <a:t>B</a:t>
            </a:r>
            <a:r>
              <a:rPr lang="zh-CN" altLang="en-US" sz="1400" dirty="0"/>
              <a:t>两车间加工完毕的时间。</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en-US" altLang="zh-CN" sz="1400" dirty="0"/>
              <a:t>5</a:t>
            </a:r>
            <a:endParaRPr lang="en-US" altLang="zh-CN" sz="1400" dirty="0"/>
          </a:p>
          <a:p>
            <a:r>
              <a:rPr lang="en-US" altLang="zh-CN" sz="1400" dirty="0"/>
              <a:t>3 5 8 7 10</a:t>
            </a:r>
            <a:endParaRPr lang="en-US" altLang="zh-CN" sz="1400" dirty="0"/>
          </a:p>
          <a:p>
            <a:r>
              <a:rPr lang="en-US" altLang="zh-CN" sz="1400" dirty="0"/>
              <a:t>6 2 1 4 9</a:t>
            </a:r>
            <a:endParaRPr lang="en-US" altLang="zh-CN" sz="1400" dirty="0"/>
          </a:p>
          <a:p>
            <a:endParaRPr lang="zh-CN" altLang="zh-CN" sz="1400" dirty="0"/>
          </a:p>
          <a:p>
            <a:r>
              <a:rPr lang="zh-CN" altLang="zh-CN" sz="1400" b="1" dirty="0"/>
              <a:t>【样例输出】</a:t>
            </a:r>
            <a:endParaRPr lang="zh-CN" altLang="zh-CN" sz="1400" dirty="0"/>
          </a:p>
          <a:p>
            <a:r>
              <a:rPr lang="en-US" altLang="zh-CN" sz="1400" dirty="0"/>
              <a:t>34</a:t>
            </a:r>
            <a:endParaRPr lang="en-US" altLang="zh-CN" sz="1400" dirty="0"/>
          </a:p>
          <a:p>
            <a:r>
              <a:rPr lang="en-US" altLang="zh-CN" sz="1400" dirty="0"/>
              <a:t>1 5 4 2 3</a:t>
            </a:r>
            <a:endParaRPr lang="zh-CN" altLang="zh-CN" sz="1400" dirty="0"/>
          </a:p>
        </p:txBody>
      </p:sp>
      <p:sp>
        <p:nvSpPr>
          <p:cNvPr id="11" name="矩形 10"/>
          <p:cNvSpPr/>
          <p:nvPr/>
        </p:nvSpPr>
        <p:spPr>
          <a:xfrm>
            <a:off x="5671226" y="915397"/>
            <a:ext cx="4964872" cy="3539430"/>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t>    </a:t>
            </a:r>
            <a:r>
              <a:rPr lang="zh-CN" altLang="zh-CN" sz="1400" dirty="0"/>
              <a:t>首先明确，每个产品都要被加工。则</a:t>
            </a:r>
            <a:r>
              <a:rPr lang="en-US" altLang="zh-CN" sz="1400" dirty="0"/>
              <a:t>A</a:t>
            </a:r>
            <a:r>
              <a:rPr lang="zh-CN" altLang="zh-CN" sz="1400" dirty="0"/>
              <a:t>车间的总时间是可以确定的就是</a:t>
            </a:r>
            <a:r>
              <a:rPr lang="en-US" altLang="zh-CN" sz="1400" dirty="0"/>
              <a:t>sum(a</a:t>
            </a:r>
            <a:r>
              <a:rPr lang="en-US" altLang="zh-CN" sz="1400" baseline="-25000" dirty="0"/>
              <a:t>i</a:t>
            </a:r>
            <a:r>
              <a:rPr lang="en-US" altLang="zh-CN" sz="1400" dirty="0"/>
              <a:t>)</a:t>
            </a:r>
            <a:r>
              <a:rPr lang="zh-CN" altLang="zh-CN" sz="1400" dirty="0"/>
              <a:t>，影响结束时间的，是最终</a:t>
            </a:r>
            <a:r>
              <a:rPr lang="en-US" altLang="zh-CN" sz="1400" dirty="0"/>
              <a:t>B</a:t>
            </a:r>
            <a:r>
              <a:rPr lang="zh-CN" altLang="zh-CN" sz="1400" dirty="0"/>
              <a:t>车间何时结束。可以想到，使得</a:t>
            </a:r>
            <a:r>
              <a:rPr lang="en-US" altLang="zh-CN" sz="1400" dirty="0"/>
              <a:t>B</a:t>
            </a:r>
            <a:r>
              <a:rPr lang="zh-CN" altLang="zh-CN" sz="1400" dirty="0"/>
              <a:t>车间加工时间大于</a:t>
            </a:r>
            <a:r>
              <a:rPr lang="en-US" altLang="zh-CN" sz="1400" dirty="0"/>
              <a:t>sum(b</a:t>
            </a:r>
            <a:r>
              <a:rPr lang="en-US" altLang="zh-CN" sz="1400" baseline="-25000" dirty="0"/>
              <a:t>i</a:t>
            </a:r>
            <a:r>
              <a:rPr lang="en-US" altLang="zh-CN" sz="1400" dirty="0"/>
              <a:t>)</a:t>
            </a:r>
            <a:r>
              <a:rPr lang="zh-CN" altLang="zh-CN" sz="1400" dirty="0"/>
              <a:t>的有两个因素：第一个产品</a:t>
            </a:r>
            <a:r>
              <a:rPr lang="en-US" altLang="zh-CN" sz="1400" dirty="0"/>
              <a:t>A</a:t>
            </a:r>
            <a:r>
              <a:rPr lang="zh-CN" altLang="zh-CN" sz="1400" dirty="0"/>
              <a:t>车间加工结束后，</a:t>
            </a:r>
            <a:r>
              <a:rPr lang="en-US" altLang="zh-CN" sz="1400" dirty="0"/>
              <a:t>B</a:t>
            </a:r>
            <a:r>
              <a:rPr lang="zh-CN" altLang="zh-CN" sz="1400" dirty="0"/>
              <a:t>车间才开始加工，</a:t>
            </a:r>
            <a:r>
              <a:rPr lang="en-US" altLang="zh-CN" sz="1400" dirty="0"/>
              <a:t>B</a:t>
            </a:r>
            <a:r>
              <a:rPr lang="zh-CN" altLang="zh-CN" sz="1400" dirty="0"/>
              <a:t>车间一开始有一段等待时间；</a:t>
            </a:r>
            <a:r>
              <a:rPr lang="en-US" altLang="zh-CN" sz="1400" dirty="0"/>
              <a:t>B</a:t>
            </a:r>
            <a:r>
              <a:rPr lang="zh-CN" altLang="zh-CN" sz="1400" dirty="0"/>
              <a:t>车间产品加工完毕，下一个产品还在</a:t>
            </a:r>
            <a:r>
              <a:rPr lang="en-US" altLang="zh-CN" sz="1400" dirty="0"/>
              <a:t>A</a:t>
            </a:r>
            <a:r>
              <a:rPr lang="zh-CN" altLang="zh-CN" sz="1400" dirty="0"/>
              <a:t>车间加工，</a:t>
            </a:r>
            <a:r>
              <a:rPr lang="en-US" altLang="zh-CN" sz="1400" dirty="0"/>
              <a:t>B</a:t>
            </a:r>
            <a:r>
              <a:rPr lang="zh-CN" altLang="zh-CN" sz="1400" dirty="0"/>
              <a:t>车间产品加工之间是可能存在等待时间的。</a:t>
            </a:r>
            <a:endParaRPr lang="zh-CN" altLang="zh-CN" sz="1400" dirty="0"/>
          </a:p>
          <a:p>
            <a:r>
              <a:rPr lang="en-US" altLang="zh-CN" sz="1400" dirty="0"/>
              <a:t>    </a:t>
            </a:r>
            <a:r>
              <a:rPr lang="zh-CN" altLang="zh-CN" sz="1400" dirty="0"/>
              <a:t>所以总体思路应该是使</a:t>
            </a:r>
            <a:r>
              <a:rPr lang="en-US" altLang="zh-CN" sz="1400" dirty="0"/>
              <a:t>B</a:t>
            </a:r>
            <a:r>
              <a:rPr lang="zh-CN" altLang="zh-CN" sz="1400" dirty="0"/>
              <a:t>车间第一个产品加工时间尽可能提前，且产品之间的等待时间尽可能减少。所以可以想到，应该让</a:t>
            </a:r>
            <a:r>
              <a:rPr lang="en-US" altLang="zh-CN" sz="1400" dirty="0"/>
              <a:t>A</a:t>
            </a:r>
            <a:r>
              <a:rPr lang="zh-CN" altLang="zh-CN" sz="1400" dirty="0"/>
              <a:t>车间加工时间最短的产品先加工，</a:t>
            </a:r>
            <a:r>
              <a:rPr lang="en-US" altLang="zh-CN" sz="1400" dirty="0"/>
              <a:t>B</a:t>
            </a:r>
            <a:r>
              <a:rPr lang="zh-CN" altLang="zh-CN" sz="1400" dirty="0"/>
              <a:t>车间加工时间最短的产品要尽可能放在最后加工，时间长的放在前面加工。</a:t>
            </a:r>
            <a:endParaRPr lang="zh-CN" altLang="zh-CN" sz="1400" dirty="0"/>
          </a:p>
          <a:p>
            <a:r>
              <a:rPr lang="en-US" altLang="zh-CN" sz="1400" dirty="0"/>
              <a:t>    </a:t>
            </a:r>
            <a:r>
              <a:rPr lang="zh-CN" altLang="zh-CN" sz="1400" dirty="0"/>
              <a:t>设</a:t>
            </a:r>
            <a:r>
              <a:rPr lang="en-US" altLang="zh-CN" sz="1400" dirty="0"/>
              <a:t>c</a:t>
            </a:r>
            <a:r>
              <a:rPr lang="en-US" altLang="zh-CN" sz="1400" baseline="-25000" dirty="0"/>
              <a:t>i</a:t>
            </a:r>
            <a:r>
              <a:rPr lang="en-US" altLang="zh-CN" sz="1400" dirty="0"/>
              <a:t>=min(</a:t>
            </a:r>
            <a:r>
              <a:rPr lang="en-US" altLang="zh-CN" sz="1400" dirty="0" err="1"/>
              <a:t>a</a:t>
            </a:r>
            <a:r>
              <a:rPr lang="en-US" altLang="zh-CN" sz="1400" baseline="-25000" dirty="0" err="1"/>
              <a:t>i</a:t>
            </a:r>
            <a:r>
              <a:rPr lang="en-US" altLang="zh-CN" sz="1400" dirty="0" err="1"/>
              <a:t>,b</a:t>
            </a:r>
            <a:r>
              <a:rPr lang="en-US" altLang="zh-CN" sz="1400" baseline="-25000" dirty="0" err="1"/>
              <a:t>i</a:t>
            </a:r>
            <a:r>
              <a:rPr lang="en-US" altLang="zh-CN" sz="1400" dirty="0"/>
              <a:t>)</a:t>
            </a:r>
            <a:r>
              <a:rPr lang="zh-CN" altLang="zh-CN" sz="1400" dirty="0"/>
              <a:t>，对产品</a:t>
            </a:r>
            <a:r>
              <a:rPr lang="en-US" altLang="zh-CN" sz="1400" dirty="0"/>
              <a:t>c</a:t>
            </a:r>
            <a:r>
              <a:rPr lang="en-US" altLang="zh-CN" sz="1400" baseline="-25000" dirty="0"/>
              <a:t>i</a:t>
            </a:r>
            <a:r>
              <a:rPr lang="zh-CN" altLang="zh-CN" sz="1400" dirty="0"/>
              <a:t>从小到大排序。对于</a:t>
            </a:r>
            <a:r>
              <a:rPr lang="en-US" altLang="zh-CN" sz="1400" dirty="0"/>
              <a:t>a</a:t>
            </a:r>
            <a:r>
              <a:rPr lang="en-US" altLang="zh-CN" sz="1400" baseline="-25000" dirty="0"/>
              <a:t>i</a:t>
            </a:r>
            <a:r>
              <a:rPr lang="en-US" altLang="zh-CN" sz="1400" dirty="0"/>
              <a:t>&lt;b</a:t>
            </a:r>
            <a:r>
              <a:rPr lang="en-US" altLang="zh-CN" sz="1400" baseline="-25000" dirty="0"/>
              <a:t>i</a:t>
            </a:r>
            <a:r>
              <a:rPr lang="zh-CN" altLang="zh-CN" sz="1400" dirty="0"/>
              <a:t>，可见放在开始，</a:t>
            </a:r>
            <a:r>
              <a:rPr lang="en-US" altLang="zh-CN" sz="1400" dirty="0"/>
              <a:t>B</a:t>
            </a:r>
            <a:r>
              <a:rPr lang="zh-CN" altLang="zh-CN" sz="1400" dirty="0"/>
              <a:t>车间加工时间赶不上</a:t>
            </a:r>
            <a:r>
              <a:rPr lang="en-US" altLang="zh-CN" sz="1400" dirty="0"/>
              <a:t>A</a:t>
            </a:r>
            <a:r>
              <a:rPr lang="zh-CN" altLang="zh-CN" sz="1400" dirty="0"/>
              <a:t>车间加工时间，就不会出现</a:t>
            </a:r>
            <a:r>
              <a:rPr lang="en-US" altLang="zh-CN" sz="1400" dirty="0"/>
              <a:t>B</a:t>
            </a:r>
            <a:r>
              <a:rPr lang="zh-CN" altLang="zh-CN" sz="1400" dirty="0"/>
              <a:t>车间等待的情况；对于</a:t>
            </a:r>
            <a:r>
              <a:rPr lang="en-US" altLang="zh-CN" sz="1400"/>
              <a:t>a</a:t>
            </a:r>
            <a:r>
              <a:rPr lang="en-US" altLang="zh-CN" sz="1400" baseline="-25000"/>
              <a:t>i</a:t>
            </a:r>
            <a:r>
              <a:rPr lang="en-US" altLang="zh-CN" sz="1400"/>
              <a:t>&gt;b</a:t>
            </a:r>
            <a:r>
              <a:rPr lang="en-US" altLang="zh-CN" sz="1400" baseline="-25000"/>
              <a:t>i</a:t>
            </a:r>
            <a:r>
              <a:rPr lang="zh-CN" altLang="zh-CN" sz="1400" dirty="0"/>
              <a:t>，可见放在结尾，</a:t>
            </a:r>
            <a:r>
              <a:rPr lang="en-US" altLang="zh-CN" sz="1400" dirty="0"/>
              <a:t>A</a:t>
            </a:r>
            <a:r>
              <a:rPr lang="zh-CN" altLang="zh-CN" sz="1400" dirty="0"/>
              <a:t>车间加工时间赶不上</a:t>
            </a:r>
            <a:r>
              <a:rPr lang="en-US" altLang="zh-CN" sz="1400" dirty="0"/>
              <a:t>B</a:t>
            </a:r>
            <a:r>
              <a:rPr lang="zh-CN" altLang="zh-CN" sz="1400" dirty="0"/>
              <a:t>车间加工时间，就能使</a:t>
            </a:r>
            <a:r>
              <a:rPr lang="en-US" altLang="zh-CN" sz="1400" dirty="0"/>
              <a:t>B</a:t>
            </a:r>
            <a:r>
              <a:rPr lang="zh-CN" altLang="zh-CN" sz="1400" dirty="0"/>
              <a:t>车间等待队列更早地结束。</a:t>
            </a:r>
            <a:endParaRPr lang="zh-CN" altLang="zh-CN" sz="1400"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80521"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合并果子</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2677656"/>
          </a:xfrm>
          <a:prstGeom prst="rect">
            <a:avLst/>
          </a:prstGeom>
        </p:spPr>
        <p:txBody>
          <a:bodyPr wrap="square">
            <a:spAutoFit/>
            <a:scene3d>
              <a:camera prst="orthographicFront"/>
              <a:lightRig rig="threePt" dir="t"/>
            </a:scene3d>
            <a:sp3d contourW="12700"/>
          </a:bodyPr>
          <a:lstStyle/>
          <a:p>
            <a:pPr algn="ctr"/>
            <a:r>
              <a:rPr lang="zh-CN" altLang="en-US" sz="1400" b="1" dirty="0"/>
              <a:t>合并果子</a:t>
            </a:r>
            <a:endParaRPr lang="zh-CN" altLang="zh-CN" sz="1400" dirty="0"/>
          </a:p>
          <a:p>
            <a:r>
              <a:rPr lang="zh-CN" altLang="zh-CN" sz="1400" b="1" dirty="0"/>
              <a:t>【题目描述】</a:t>
            </a:r>
            <a:endParaRPr lang="zh-CN" altLang="zh-CN" sz="1400" dirty="0"/>
          </a:p>
          <a:p>
            <a:r>
              <a:rPr lang="en-US" altLang="zh-CN" sz="1400" dirty="0"/>
              <a:t>    </a:t>
            </a:r>
            <a:r>
              <a:rPr lang="zh-CN" altLang="zh-CN" sz="1400" dirty="0"/>
              <a:t>给出 </a:t>
            </a:r>
            <a:r>
              <a:rPr lang="en-US" altLang="zh-CN" sz="1400" dirty="0"/>
              <a:t>n </a:t>
            </a:r>
            <a:r>
              <a:rPr lang="zh-CN" altLang="en-US" sz="1400" dirty="0"/>
              <a:t>个数，每次可以选择两个数合并成一个新的数，代价为这两个数的和，求将所有数合并为一个数的最小代价。</a:t>
            </a:r>
            <a:endParaRPr lang="zh-CN" altLang="en-US" sz="1400" dirty="0"/>
          </a:p>
          <a:p>
            <a:r>
              <a:rPr lang="en-US" altLang="zh-CN" sz="1400" dirty="0">
                <a:sym typeface="+mn-ea"/>
              </a:rPr>
              <a:t>    n≤10</a:t>
            </a:r>
            <a:r>
              <a:rPr lang="en-US" altLang="zh-CN" sz="1400" baseline="30000" dirty="0">
                <a:sym typeface="+mn-ea"/>
              </a:rPr>
              <a:t>6</a:t>
            </a:r>
            <a:r>
              <a:rPr lang="zh-CN" altLang="en-US" sz="1400" dirty="0">
                <a:sym typeface="+mn-ea"/>
              </a:rPr>
              <a:t>。</a:t>
            </a:r>
            <a:endParaRPr lang="zh-CN" altLang="zh-CN" sz="1400" dirty="0"/>
          </a:p>
          <a:p>
            <a:r>
              <a:rPr lang="en-US" altLang="zh-CN" sz="1400" dirty="0"/>
              <a:t> </a:t>
            </a:r>
            <a:endParaRPr lang="zh-CN" altLang="zh-CN" sz="1400" dirty="0"/>
          </a:p>
          <a:p>
            <a:r>
              <a:rPr lang="zh-CN" altLang="zh-CN" sz="1400" b="1" dirty="0"/>
              <a:t>【样例输入】</a:t>
            </a:r>
            <a:endParaRPr lang="zh-CN" altLang="zh-CN" sz="1400" dirty="0"/>
          </a:p>
          <a:p>
            <a:r>
              <a:rPr lang="en-US" altLang="zh-CN" sz="1400" dirty="0"/>
              <a:t>3</a:t>
            </a:r>
            <a:endParaRPr lang="en-US" altLang="zh-CN" sz="1400" dirty="0"/>
          </a:p>
          <a:p>
            <a:r>
              <a:rPr lang="en-US" altLang="zh-CN" sz="1400" dirty="0"/>
              <a:t>1 2 9</a:t>
            </a:r>
            <a:endParaRPr lang="en-US" altLang="zh-CN" sz="1400" dirty="0"/>
          </a:p>
          <a:p>
            <a:endParaRPr lang="zh-CN" altLang="zh-CN" sz="1400" dirty="0"/>
          </a:p>
          <a:p>
            <a:r>
              <a:rPr lang="zh-CN" altLang="zh-CN" sz="1400" b="1" dirty="0"/>
              <a:t>【样例输出】</a:t>
            </a:r>
            <a:endParaRPr lang="zh-CN" altLang="zh-CN" sz="1400" dirty="0"/>
          </a:p>
          <a:p>
            <a:r>
              <a:rPr lang="en-US" altLang="zh-CN" sz="1400" dirty="0"/>
              <a:t>15</a:t>
            </a:r>
            <a:endParaRPr lang="zh-CN" altLang="zh-CN" sz="1400" dirty="0"/>
          </a:p>
        </p:txBody>
      </p:sp>
      <p:sp>
        <p:nvSpPr>
          <p:cNvPr id="11" name="矩形 10"/>
          <p:cNvSpPr/>
          <p:nvPr/>
        </p:nvSpPr>
        <p:spPr>
          <a:xfrm>
            <a:off x="5671226" y="2477181"/>
            <a:ext cx="4964872" cy="738664"/>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sym typeface="+mn-ea"/>
              </a:rPr>
              <a:t>· </a:t>
            </a:r>
            <a:r>
              <a:rPr lang="zh-CN" altLang="en-US" sz="1400" dirty="0">
                <a:sym typeface="+mn-ea"/>
              </a:rPr>
              <a:t>显然每次合并当前最小的两个数是最优的。</a:t>
            </a:r>
            <a:endParaRPr lang="zh-CN" altLang="en-US" sz="1400" dirty="0"/>
          </a:p>
          <a:p>
            <a:r>
              <a:rPr lang="en-US" altLang="zh-CN" sz="1400" dirty="0">
                <a:sym typeface="+mn-ea"/>
              </a:rPr>
              <a:t>· </a:t>
            </a:r>
            <a:r>
              <a:rPr lang="zh-CN" altLang="en-US" sz="1400" dirty="0">
                <a:sym typeface="+mn-ea"/>
              </a:rPr>
              <a:t>最小的两个数可以用堆维护。</a:t>
            </a:r>
            <a:endParaRPr lang="zh-CN" altLang="en-US" sz="1400"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417321" y="177223"/>
            <a:ext cx="834396" cy="369332"/>
          </a:xfrm>
          <a:prstGeom prst="rect">
            <a:avLst/>
          </a:prstGeom>
          <a:noFill/>
        </p:spPr>
        <p:txBody>
          <a:bodyPr wrap="none" rtlCol="0">
            <a:spAutoFit/>
            <a:scene3d>
              <a:camera prst="orthographicFront"/>
              <a:lightRig rig="threePt" dir="t"/>
            </a:scene3d>
            <a:sp3d extrusionH="12700"/>
          </a:bodyPr>
          <a:lstStyle/>
          <a:p>
            <a:pPr algn="ctr"/>
            <a:r>
              <a:rPr lang="en-US" altLang="zh-CN" dirty="0">
                <a:solidFill>
                  <a:schemeClr val="bg1"/>
                </a:solidFill>
                <a:effectLst>
                  <a:outerShdw blurRad="203200" dist="38100" dir="5400000" algn="t" rotWithShape="0">
                    <a:prstClr val="black">
                      <a:alpha val="83000"/>
                    </a:prstClr>
                  </a:outerShdw>
                </a:effectLst>
                <a:cs typeface="+mn-ea"/>
                <a:sym typeface="+mn-lt"/>
              </a:rPr>
              <a:t>P4411</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754874"/>
          </a:xfrm>
          <a:prstGeom prst="rect">
            <a:avLst/>
          </a:prstGeom>
        </p:spPr>
        <p:txBody>
          <a:bodyPr wrap="square">
            <a:spAutoFit/>
            <a:scene3d>
              <a:camera prst="orthographicFront"/>
              <a:lightRig rig="threePt" dir="t"/>
            </a:scene3d>
            <a:sp3d contourW="12700"/>
          </a:bodyPr>
          <a:lstStyle/>
          <a:p>
            <a:pPr algn="ctr"/>
            <a:r>
              <a:rPr lang="en-US" altLang="zh-CN" sz="1400" b="1" dirty="0"/>
              <a:t>[BJWC2010] </a:t>
            </a:r>
            <a:r>
              <a:rPr lang="zh-CN" altLang="en-US" sz="1400" b="1" dirty="0"/>
              <a:t>取数游戏</a:t>
            </a:r>
            <a:endParaRPr lang="zh-CN" altLang="zh-CN" sz="1400" dirty="0"/>
          </a:p>
          <a:p>
            <a:r>
              <a:rPr lang="zh-CN" altLang="zh-CN" sz="1400" b="1" dirty="0"/>
              <a:t>【题目描述】</a:t>
            </a:r>
            <a:endParaRPr lang="zh-CN" altLang="zh-CN" sz="1400" dirty="0"/>
          </a:p>
          <a:p>
            <a:r>
              <a:rPr lang="zh-CN" altLang="en-US" sz="1400" dirty="0"/>
              <a:t>    在一个</a:t>
            </a:r>
            <a:r>
              <a:rPr lang="en-US" altLang="zh-CN" sz="1400" dirty="0"/>
              <a:t>n</a:t>
            </a:r>
            <a:r>
              <a:rPr lang="zh-CN" altLang="en-US" sz="1400" dirty="0"/>
              <a:t>行</a:t>
            </a:r>
            <a:r>
              <a:rPr lang="en-US" altLang="zh-CN" sz="1400" dirty="0"/>
              <a:t>m</a:t>
            </a:r>
            <a:r>
              <a:rPr lang="zh-CN" altLang="en-US" sz="1400" dirty="0"/>
              <a:t>列的数阵中，你须在每一行取一个数（共</a:t>
            </a:r>
            <a:r>
              <a:rPr lang="en-US" altLang="zh-CN" sz="1400" dirty="0"/>
              <a:t>n</a:t>
            </a:r>
            <a:r>
              <a:rPr lang="zh-CN" altLang="en-US" sz="1400" dirty="0"/>
              <a:t>个数），并将它们相加得到一个和。对于给定的数阵，请你输出和前</a:t>
            </a:r>
            <a:r>
              <a:rPr lang="en-US" altLang="zh-CN" sz="1400" dirty="0"/>
              <a:t>k</a:t>
            </a:r>
            <a:r>
              <a:rPr lang="zh-CN" altLang="en-US" sz="1400" dirty="0"/>
              <a:t>小的取数方法。</a:t>
            </a:r>
            <a:endParaRPr lang="zh-CN" altLang="zh-CN" sz="1400" dirty="0"/>
          </a:p>
          <a:p>
            <a:endParaRPr lang="zh-CN" altLang="zh-CN" sz="1400" dirty="0"/>
          </a:p>
          <a:p>
            <a:r>
              <a:rPr lang="zh-CN" altLang="zh-CN" sz="1400" b="1" dirty="0"/>
              <a:t>【样例输入】</a:t>
            </a:r>
            <a:endParaRPr lang="zh-CN" altLang="zh-CN" sz="1400" dirty="0"/>
          </a:p>
          <a:p>
            <a:r>
              <a:rPr lang="en-US" altLang="zh-CN" sz="1400" dirty="0"/>
              <a:t>3 3 2</a:t>
            </a:r>
            <a:endParaRPr lang="en-US" altLang="zh-CN" sz="1400" dirty="0"/>
          </a:p>
          <a:p>
            <a:r>
              <a:rPr lang="en-US" altLang="zh-CN" sz="1400" dirty="0"/>
              <a:t>1 2 3</a:t>
            </a:r>
            <a:endParaRPr lang="en-US" altLang="zh-CN" sz="1400" dirty="0"/>
          </a:p>
          <a:p>
            <a:r>
              <a:rPr lang="en-US" altLang="zh-CN" sz="1400" dirty="0"/>
              <a:t>6 3 5</a:t>
            </a:r>
            <a:endParaRPr lang="en-US" altLang="zh-CN" sz="1400" dirty="0"/>
          </a:p>
          <a:p>
            <a:r>
              <a:rPr lang="en-US" altLang="zh-CN" sz="1400" dirty="0"/>
              <a:t>4 1 2</a:t>
            </a:r>
            <a:endParaRPr lang="en-US" altLang="zh-CN" sz="1400" dirty="0"/>
          </a:p>
          <a:p>
            <a:endParaRPr lang="zh-CN" altLang="zh-CN" sz="1400" dirty="0"/>
          </a:p>
          <a:p>
            <a:r>
              <a:rPr lang="zh-CN" altLang="zh-CN" sz="1400" b="1" dirty="0"/>
              <a:t>【样例输出】</a:t>
            </a:r>
            <a:endParaRPr lang="zh-CN" altLang="zh-CN" sz="1400" dirty="0"/>
          </a:p>
          <a:p>
            <a:r>
              <a:rPr lang="en-US" altLang="zh-CN" sz="1400" dirty="0"/>
              <a:t>5 6</a:t>
            </a:r>
            <a:endParaRPr lang="en-US" altLang="zh-CN" sz="1400" dirty="0"/>
          </a:p>
          <a:p>
            <a:endParaRPr lang="en-US" altLang="zh-CN" sz="1400" dirty="0"/>
          </a:p>
          <a:p>
            <a:r>
              <a:rPr lang="zh-CN" altLang="zh-CN" sz="1400" b="1" dirty="0"/>
              <a:t>【</a:t>
            </a:r>
            <a:r>
              <a:rPr lang="zh-CN" altLang="en-US" sz="1400" b="1" dirty="0"/>
              <a:t>数据范围</a:t>
            </a:r>
            <a:r>
              <a:rPr lang="zh-CN" altLang="zh-CN" sz="1400" b="1" dirty="0"/>
              <a:t>】</a:t>
            </a:r>
            <a:endParaRPr lang="en-US" altLang="zh-CN" sz="1400" dirty="0"/>
          </a:p>
          <a:p>
            <a:r>
              <a:rPr lang="en-US" altLang="zh-CN" sz="1400" dirty="0"/>
              <a:t>n≤800</a:t>
            </a:r>
            <a:r>
              <a:rPr lang="zh-CN" altLang="en-US" sz="1400" dirty="0"/>
              <a:t>，</a:t>
            </a:r>
            <a:r>
              <a:rPr lang="en-US" altLang="zh-CN" sz="1400" dirty="0"/>
              <a:t>k≤m≤800</a:t>
            </a:r>
            <a:endParaRPr lang="zh-CN" altLang="zh-CN" sz="1400" dirty="0"/>
          </a:p>
        </p:txBody>
      </p:sp>
      <p:sp>
        <p:nvSpPr>
          <p:cNvPr id="11" name="矩形 10"/>
          <p:cNvSpPr/>
          <p:nvPr/>
        </p:nvSpPr>
        <p:spPr>
          <a:xfrm>
            <a:off x="5671226" y="1053897"/>
            <a:ext cx="4964872" cy="2246769"/>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sym typeface="+mn-ea"/>
              </a:rPr>
              <a:t>· </a:t>
            </a:r>
            <a:r>
              <a:rPr lang="zh-CN" altLang="en-US" sz="1400" dirty="0">
                <a:sym typeface="+mn-ea"/>
              </a:rPr>
              <a:t>先缩小思考范围，仅考虑</a:t>
            </a:r>
            <a:r>
              <a:rPr lang="en-US" altLang="zh-CN" sz="1400" dirty="0">
                <a:sym typeface="+mn-ea"/>
              </a:rPr>
              <a:t>n=2</a:t>
            </a:r>
            <a:r>
              <a:rPr lang="zh-CN" altLang="en-US" sz="1400" dirty="0">
                <a:sym typeface="+mn-ea"/>
              </a:rPr>
              <a:t>的情况。</a:t>
            </a:r>
            <a:endParaRPr lang="en-US" altLang="zh-CN" sz="1400" dirty="0">
              <a:sym typeface="+mn-ea"/>
            </a:endParaRPr>
          </a:p>
          <a:p>
            <a:r>
              <a:rPr lang="en-US" altLang="zh-CN" sz="1400" dirty="0">
                <a:sym typeface="+mn-ea"/>
              </a:rPr>
              <a:t>· </a:t>
            </a:r>
            <a:r>
              <a:rPr lang="zh-CN" altLang="en-US" sz="1400" dirty="0">
                <a:sym typeface="+mn-ea"/>
              </a:rPr>
              <a:t>每行可自行增序排序</a:t>
            </a:r>
            <a:endParaRPr lang="en-US" altLang="zh-CN" sz="1400" dirty="0">
              <a:sym typeface="+mn-ea"/>
            </a:endParaRPr>
          </a:p>
          <a:p>
            <a:r>
              <a:rPr lang="en-US" altLang="zh-CN" sz="1400" dirty="0">
                <a:sym typeface="+mn-ea"/>
              </a:rPr>
              <a:t>· </a:t>
            </a:r>
            <a:r>
              <a:rPr lang="zh-CN" altLang="en-US" sz="1400" dirty="0">
                <a:sym typeface="+mn-ea"/>
              </a:rPr>
              <a:t>枚举第</a:t>
            </a:r>
            <a:r>
              <a:rPr lang="en-US" altLang="zh-CN" sz="1400" dirty="0">
                <a:sym typeface="+mn-ea"/>
              </a:rPr>
              <a:t>1,2,3,…,k</a:t>
            </a:r>
            <a:r>
              <a:rPr lang="zh-CN" altLang="en-US" sz="1400" dirty="0">
                <a:sym typeface="+mn-ea"/>
              </a:rPr>
              <a:t>小的数，第</a:t>
            </a:r>
            <a:r>
              <a:rPr lang="en-US" altLang="zh-CN" sz="1400" dirty="0">
                <a:sym typeface="+mn-ea"/>
              </a:rPr>
              <a:t>1</a:t>
            </a:r>
            <a:r>
              <a:rPr lang="zh-CN" altLang="en-US" sz="1400" dirty="0">
                <a:sym typeface="+mn-ea"/>
              </a:rPr>
              <a:t>小由</a:t>
            </a:r>
            <a:r>
              <a:rPr lang="en-US" altLang="zh-CN" sz="1400" dirty="0">
                <a:sym typeface="+mn-ea"/>
              </a:rPr>
              <a:t>a</a:t>
            </a:r>
            <a:r>
              <a:rPr lang="en-US" altLang="zh-CN" sz="1400" baseline="-25000" dirty="0">
                <a:sym typeface="+mn-ea"/>
              </a:rPr>
              <a:t>11</a:t>
            </a:r>
            <a:r>
              <a:rPr lang="en-US" altLang="zh-CN" sz="1400" dirty="0">
                <a:sym typeface="+mn-ea"/>
              </a:rPr>
              <a:t>+a</a:t>
            </a:r>
            <a:r>
              <a:rPr lang="en-US" altLang="zh-CN" sz="1400" baseline="-25000" dirty="0">
                <a:sym typeface="+mn-ea"/>
              </a:rPr>
              <a:t>21</a:t>
            </a:r>
            <a:r>
              <a:rPr lang="zh-CN" altLang="en-US" sz="1400" dirty="0">
                <a:sym typeface="+mn-ea"/>
              </a:rPr>
              <a:t>开始</a:t>
            </a:r>
            <a:endParaRPr lang="en-US" altLang="zh-CN" sz="1400" dirty="0">
              <a:sym typeface="+mn-ea"/>
            </a:endParaRPr>
          </a:p>
          <a:p>
            <a:r>
              <a:rPr lang="en-US" altLang="zh-CN" sz="1400" dirty="0">
                <a:sym typeface="+mn-ea"/>
              </a:rPr>
              <a:t>· </a:t>
            </a:r>
            <a:r>
              <a:rPr lang="zh-CN" altLang="en-US" sz="1400" dirty="0">
                <a:sym typeface="+mn-ea"/>
              </a:rPr>
              <a:t>若第</a:t>
            </a:r>
            <a:r>
              <a:rPr lang="en-US" altLang="zh-CN" sz="1400" dirty="0">
                <a:sym typeface="+mn-ea"/>
              </a:rPr>
              <a:t>k</a:t>
            </a:r>
            <a:r>
              <a:rPr lang="zh-CN" altLang="en-US" sz="1400" dirty="0">
                <a:sym typeface="+mn-ea"/>
              </a:rPr>
              <a:t>小为</a:t>
            </a:r>
            <a:r>
              <a:rPr lang="en-US" altLang="zh-CN" sz="1400" dirty="0">
                <a:sym typeface="+mn-ea"/>
              </a:rPr>
              <a:t>a</a:t>
            </a:r>
            <a:r>
              <a:rPr lang="en-US" altLang="zh-CN" sz="1400" baseline="-25000" dirty="0">
                <a:sym typeface="+mn-ea"/>
              </a:rPr>
              <a:t>1i</a:t>
            </a:r>
            <a:r>
              <a:rPr lang="en-US" altLang="zh-CN" sz="1400" dirty="0">
                <a:sym typeface="+mn-ea"/>
              </a:rPr>
              <a:t>+a</a:t>
            </a:r>
            <a:r>
              <a:rPr lang="en-US" altLang="zh-CN" sz="1400" baseline="-25000" dirty="0">
                <a:sym typeface="+mn-ea"/>
              </a:rPr>
              <a:t>2j</a:t>
            </a:r>
            <a:r>
              <a:rPr lang="zh-CN" altLang="en-US" sz="1400" dirty="0">
                <a:sym typeface="+mn-ea"/>
              </a:rPr>
              <a:t>，则</a:t>
            </a:r>
            <a:r>
              <a:rPr lang="en-US" altLang="zh-CN" sz="1400" dirty="0">
                <a:sym typeface="+mn-ea"/>
              </a:rPr>
              <a:t>a</a:t>
            </a:r>
            <a:r>
              <a:rPr lang="en-US" altLang="zh-CN" sz="1400" baseline="-25000" dirty="0">
                <a:sym typeface="+mn-ea"/>
              </a:rPr>
              <a:t>1i+1</a:t>
            </a:r>
            <a:r>
              <a:rPr lang="en-US" altLang="zh-CN" sz="1400" dirty="0">
                <a:sym typeface="+mn-ea"/>
              </a:rPr>
              <a:t>+a</a:t>
            </a:r>
            <a:r>
              <a:rPr lang="en-US" altLang="zh-CN" sz="1400" baseline="-25000" dirty="0">
                <a:sym typeface="+mn-ea"/>
              </a:rPr>
              <a:t>2j</a:t>
            </a:r>
            <a:r>
              <a:rPr lang="zh-CN" altLang="en-US" sz="1400" dirty="0">
                <a:sym typeface="+mn-ea"/>
              </a:rPr>
              <a:t>、</a:t>
            </a:r>
            <a:r>
              <a:rPr lang="en-US" altLang="zh-CN" sz="1400" dirty="0">
                <a:sym typeface="+mn-ea"/>
              </a:rPr>
              <a:t>a</a:t>
            </a:r>
            <a:r>
              <a:rPr lang="en-US" altLang="zh-CN" sz="1400" baseline="-25000" dirty="0">
                <a:sym typeface="+mn-ea"/>
              </a:rPr>
              <a:t>1i</a:t>
            </a:r>
            <a:r>
              <a:rPr lang="en-US" altLang="zh-CN" sz="1400" dirty="0">
                <a:sym typeface="+mn-ea"/>
              </a:rPr>
              <a:t>+a</a:t>
            </a:r>
            <a:r>
              <a:rPr lang="en-US" altLang="zh-CN" sz="1400" baseline="-25000" dirty="0">
                <a:sym typeface="+mn-ea"/>
              </a:rPr>
              <a:t>2j+1</a:t>
            </a:r>
            <a:r>
              <a:rPr lang="zh-CN" altLang="en-US" sz="1400" dirty="0">
                <a:sym typeface="+mn-ea"/>
              </a:rPr>
              <a:t>要纳入第</a:t>
            </a:r>
            <a:r>
              <a:rPr lang="en-US" altLang="zh-CN" sz="1400" dirty="0">
                <a:sym typeface="+mn-ea"/>
              </a:rPr>
              <a:t>k+1</a:t>
            </a:r>
            <a:r>
              <a:rPr lang="zh-CN" altLang="en-US" sz="1400" dirty="0">
                <a:sym typeface="+mn-ea"/>
              </a:rPr>
              <a:t>小的考虑行列</a:t>
            </a:r>
            <a:endParaRPr lang="en-US" altLang="zh-CN" sz="1400" dirty="0">
              <a:sym typeface="+mn-ea"/>
            </a:endParaRPr>
          </a:p>
          <a:p>
            <a:r>
              <a:rPr lang="en-US" altLang="zh-CN" sz="1400" dirty="0">
                <a:sym typeface="+mn-ea"/>
              </a:rPr>
              <a:t>· </a:t>
            </a:r>
            <a:r>
              <a:rPr lang="zh-CN" altLang="en-US" sz="1400" dirty="0">
                <a:sym typeface="+mn-ea"/>
              </a:rPr>
              <a:t>显然待考虑项可用堆维护</a:t>
            </a:r>
            <a:endParaRPr lang="en-US" altLang="zh-CN" sz="1400" dirty="0">
              <a:sym typeface="+mn-ea"/>
            </a:endParaRPr>
          </a:p>
          <a:p>
            <a:endParaRPr lang="en-US" altLang="zh-CN" sz="1400" dirty="0">
              <a:sym typeface="+mn-ea"/>
            </a:endParaRPr>
          </a:p>
          <a:p>
            <a:r>
              <a:rPr lang="zh-CN" altLang="en-US" sz="1400" dirty="0">
                <a:sym typeface="+mn-ea"/>
              </a:rPr>
              <a:t>考虑由</a:t>
            </a:r>
            <a:r>
              <a:rPr lang="en-US" altLang="zh-CN" sz="1400" dirty="0" err="1">
                <a:sym typeface="+mn-ea"/>
              </a:rPr>
              <a:t>i</a:t>
            </a:r>
            <a:r>
              <a:rPr lang="zh-CN" altLang="en-US" sz="1400" dirty="0">
                <a:sym typeface="+mn-ea"/>
              </a:rPr>
              <a:t>行扩展至</a:t>
            </a:r>
            <a:r>
              <a:rPr lang="en-US" altLang="zh-CN" sz="1400" dirty="0">
                <a:sym typeface="+mn-ea"/>
              </a:rPr>
              <a:t>i+1</a:t>
            </a:r>
            <a:r>
              <a:rPr lang="zh-CN" altLang="en-US" sz="1400" dirty="0">
                <a:sym typeface="+mn-ea"/>
              </a:rPr>
              <a:t>行，</a:t>
            </a:r>
            <a:endParaRPr lang="en-US" altLang="zh-CN" sz="1400" dirty="0">
              <a:sym typeface="+mn-ea"/>
            </a:endParaRPr>
          </a:p>
          <a:p>
            <a:r>
              <a:rPr lang="zh-CN" altLang="en-US" sz="1400" dirty="0">
                <a:sym typeface="+mn-ea"/>
              </a:rPr>
              <a:t>先求出前</a:t>
            </a:r>
            <a:r>
              <a:rPr lang="en-US" altLang="zh-CN" sz="1400" dirty="0" err="1">
                <a:sym typeface="+mn-ea"/>
              </a:rPr>
              <a:t>i</a:t>
            </a:r>
            <a:r>
              <a:rPr lang="zh-CN" altLang="en-US" sz="1400" dirty="0">
                <a:sym typeface="+mn-ea"/>
              </a:rPr>
              <a:t>行的最小</a:t>
            </a:r>
            <a:r>
              <a:rPr lang="en-US" altLang="zh-CN" sz="1400" dirty="0">
                <a:sym typeface="+mn-ea"/>
              </a:rPr>
              <a:t>k</a:t>
            </a:r>
            <a:r>
              <a:rPr lang="zh-CN" altLang="en-US" sz="1400" dirty="0">
                <a:sym typeface="+mn-ea"/>
              </a:rPr>
              <a:t>项和，维护第</a:t>
            </a:r>
            <a:r>
              <a:rPr lang="en-US" altLang="zh-CN" sz="1400" dirty="0">
                <a:sym typeface="+mn-ea"/>
              </a:rPr>
              <a:t>i+1</a:t>
            </a:r>
            <a:r>
              <a:rPr lang="zh-CN" altLang="en-US" sz="1400" dirty="0">
                <a:sym typeface="+mn-ea"/>
              </a:rPr>
              <a:t>行与其组合的前</a:t>
            </a:r>
            <a:r>
              <a:rPr lang="en-US" altLang="zh-CN" sz="1400">
                <a:sym typeface="+mn-ea"/>
              </a:rPr>
              <a:t>k</a:t>
            </a:r>
            <a:r>
              <a:rPr lang="zh-CN" altLang="en-US" sz="1400">
                <a:sym typeface="+mn-ea"/>
              </a:rPr>
              <a:t>值</a:t>
            </a:r>
            <a:r>
              <a:rPr lang="zh-CN" altLang="en-US" sz="1400" dirty="0">
                <a:sym typeface="+mn-ea"/>
              </a:rPr>
              <a:t>即可</a:t>
            </a:r>
            <a:endParaRPr lang="en-US" altLang="zh-CN" sz="1400"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74723" y="177223"/>
            <a:ext cx="1319592"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二进制</a:t>
            </a:r>
            <a:r>
              <a:rPr lang="en-US" altLang="zh-CN" dirty="0">
                <a:solidFill>
                  <a:schemeClr val="bg1"/>
                </a:solidFill>
                <a:effectLst>
                  <a:outerShdw blurRad="203200" dist="38100" dir="5400000" algn="t" rotWithShape="0">
                    <a:prstClr val="black">
                      <a:alpha val="83000"/>
                    </a:prstClr>
                  </a:outerShdw>
                </a:effectLst>
                <a:cs typeface="+mn-ea"/>
                <a:sym typeface="+mn-lt"/>
              </a:rPr>
              <a:t>A+B</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4401205"/>
          </a:xfrm>
          <a:prstGeom prst="rect">
            <a:avLst/>
          </a:prstGeom>
        </p:spPr>
        <p:txBody>
          <a:bodyPr wrap="square">
            <a:spAutoFit/>
            <a:scene3d>
              <a:camera prst="orthographicFront"/>
              <a:lightRig rig="threePt" dir="t"/>
            </a:scene3d>
            <a:sp3d contourW="12700"/>
          </a:bodyPr>
          <a:lstStyle/>
          <a:p>
            <a:pPr algn="ctr"/>
            <a:r>
              <a:rPr lang="zh-CN" altLang="en-US" sz="1400" b="1" dirty="0"/>
              <a:t>二进制</a:t>
            </a:r>
            <a:r>
              <a:rPr lang="en-US" altLang="zh-CN" sz="1400" b="1" dirty="0"/>
              <a:t>A+B</a:t>
            </a:r>
            <a:endParaRPr lang="zh-CN" altLang="zh-CN" sz="1400" dirty="0"/>
          </a:p>
          <a:p>
            <a:r>
              <a:rPr lang="zh-CN" altLang="zh-CN" sz="1400" b="1" dirty="0"/>
              <a:t>【题目描述】</a:t>
            </a:r>
            <a:endParaRPr lang="zh-CN" altLang="zh-CN" sz="1400" dirty="0"/>
          </a:p>
          <a:p>
            <a:r>
              <a:rPr lang="zh-CN" altLang="en-US" sz="1400" dirty="0"/>
              <a:t>    输入三个整数</a:t>
            </a:r>
            <a:r>
              <a:rPr lang="en-US" altLang="zh-CN" sz="1400" dirty="0" err="1"/>
              <a:t>a,b,c</a:t>
            </a:r>
            <a:r>
              <a:rPr lang="zh-CN" altLang="en-US" sz="1400" dirty="0"/>
              <a:t>，把它们写成无前导</a:t>
            </a:r>
            <a:r>
              <a:rPr lang="en-US" altLang="zh-CN" sz="1400" dirty="0"/>
              <a:t>0</a:t>
            </a:r>
            <a:r>
              <a:rPr lang="zh-CN" altLang="en-US" sz="1400" dirty="0"/>
              <a:t>的二进制整数。 比如</a:t>
            </a:r>
            <a:r>
              <a:rPr lang="en-US" altLang="zh-CN" sz="1400" dirty="0"/>
              <a:t>a=7,b=6,c=9</a:t>
            </a:r>
            <a:r>
              <a:rPr lang="zh-CN" altLang="en-US" sz="1400" dirty="0"/>
              <a:t>，写成二进制为</a:t>
            </a:r>
            <a:r>
              <a:rPr lang="en-US" altLang="zh-CN" sz="1400" dirty="0"/>
              <a:t>a=111,b=110,c=1001</a:t>
            </a:r>
            <a:r>
              <a:rPr lang="zh-CN" altLang="en-US" sz="1400" dirty="0"/>
              <a:t>。</a:t>
            </a:r>
            <a:endParaRPr lang="zh-CN" altLang="en-US" sz="1400" dirty="0"/>
          </a:p>
          <a:p>
            <a:r>
              <a:rPr lang="zh-CN" altLang="en-US" sz="1400" dirty="0"/>
              <a:t>    接下来以位数最多的为基准，其他整数在前面添加前导</a:t>
            </a:r>
            <a:r>
              <a:rPr lang="en-US" altLang="zh-CN" sz="1400" dirty="0"/>
              <a:t>0</a:t>
            </a:r>
            <a:r>
              <a:rPr lang="zh-CN" altLang="en-US" sz="1400" dirty="0"/>
              <a:t>，使得</a:t>
            </a:r>
            <a:r>
              <a:rPr lang="en-US" altLang="zh-CN" sz="1400" dirty="0" err="1"/>
              <a:t>a,b,c</a:t>
            </a:r>
            <a:r>
              <a:rPr lang="zh-CN" altLang="en-US" sz="1400" dirty="0"/>
              <a:t>拥有相同的位数。比如在刚才的例子中，添加完前导</a:t>
            </a:r>
            <a:r>
              <a:rPr lang="en-US" altLang="zh-CN" sz="1400" dirty="0"/>
              <a:t>0</a:t>
            </a:r>
            <a:r>
              <a:rPr lang="zh-CN" altLang="en-US" sz="1400" dirty="0"/>
              <a:t>后为</a:t>
            </a:r>
            <a:r>
              <a:rPr lang="en-US" altLang="zh-CN" sz="1400" dirty="0"/>
              <a:t>a=0111,b=0110,c=1001</a:t>
            </a:r>
            <a:r>
              <a:rPr lang="zh-CN" altLang="en-US" sz="1400" dirty="0"/>
              <a:t>。</a:t>
            </a:r>
            <a:endParaRPr lang="zh-CN" altLang="en-US" sz="1400" dirty="0"/>
          </a:p>
          <a:p>
            <a:r>
              <a:rPr lang="zh-CN" altLang="en-US" sz="1400" dirty="0"/>
              <a:t>    最后，把</a:t>
            </a:r>
            <a:r>
              <a:rPr lang="en-US" altLang="zh-CN" sz="1400" dirty="0" err="1"/>
              <a:t>a,b,c</a:t>
            </a:r>
            <a:r>
              <a:rPr lang="zh-CN" altLang="en-US" sz="1400" dirty="0"/>
              <a:t>的各位进行重排，得到</a:t>
            </a:r>
            <a:r>
              <a:rPr lang="en-US" altLang="zh-CN" sz="1400" dirty="0"/>
              <a:t>a’, b’, c’</a:t>
            </a:r>
            <a:r>
              <a:rPr lang="zh-CN" altLang="en-US" sz="1400" dirty="0"/>
              <a:t>，使得</a:t>
            </a:r>
            <a:r>
              <a:rPr lang="en-US" altLang="zh-CN" sz="1400" dirty="0" err="1"/>
              <a:t>a’+b</a:t>
            </a:r>
            <a:r>
              <a:rPr lang="en-US" altLang="zh-CN" sz="1400" dirty="0"/>
              <a:t>’=c’</a:t>
            </a:r>
            <a:r>
              <a:rPr lang="zh-CN" altLang="en-US" sz="1400" dirty="0"/>
              <a:t>。比如在刚才的例子中，可以这样重排：</a:t>
            </a:r>
            <a:r>
              <a:rPr lang="en-US" altLang="zh-CN" sz="1400" dirty="0"/>
              <a:t>a’=0111, b’=0011, c’=1010</a:t>
            </a:r>
            <a:r>
              <a:rPr lang="zh-CN" altLang="en-US" sz="1400" dirty="0"/>
              <a:t>。</a:t>
            </a:r>
            <a:endParaRPr lang="zh-CN" altLang="en-US" sz="1400" dirty="0"/>
          </a:p>
          <a:p>
            <a:r>
              <a:rPr lang="zh-CN" altLang="en-US" sz="1400" dirty="0"/>
              <a:t>    你的任务是让</a:t>
            </a:r>
            <a:r>
              <a:rPr lang="en-US" altLang="zh-CN" sz="1400" dirty="0"/>
              <a:t>c’</a:t>
            </a:r>
            <a:r>
              <a:rPr lang="zh-CN" altLang="en-US" sz="1400" dirty="0"/>
              <a:t>最小。如果无解，输出</a:t>
            </a:r>
            <a:r>
              <a:rPr lang="en-US" altLang="zh-CN" sz="1400" dirty="0"/>
              <a:t>-1</a:t>
            </a:r>
            <a:r>
              <a:rPr lang="zh-CN" altLang="en-US" sz="1400" dirty="0"/>
              <a:t>。</a:t>
            </a:r>
            <a:endParaRPr lang="zh-CN" altLang="zh-CN" sz="1400" dirty="0"/>
          </a:p>
          <a:p>
            <a:endParaRPr lang="zh-CN" altLang="zh-CN" sz="1400" dirty="0"/>
          </a:p>
          <a:p>
            <a:r>
              <a:rPr lang="zh-CN" altLang="zh-CN" sz="1400" b="1" dirty="0"/>
              <a:t>【样例输入】</a:t>
            </a:r>
            <a:endParaRPr lang="zh-CN" altLang="zh-CN" sz="1400" dirty="0"/>
          </a:p>
          <a:p>
            <a:r>
              <a:rPr lang="en-US" altLang="zh-CN" sz="1400" dirty="0"/>
              <a:t>7 6 9</a:t>
            </a:r>
            <a:endParaRPr lang="en-US" altLang="zh-CN" sz="1400" dirty="0"/>
          </a:p>
          <a:p>
            <a:endParaRPr lang="zh-CN" altLang="zh-CN" sz="1400" dirty="0"/>
          </a:p>
          <a:p>
            <a:r>
              <a:rPr lang="zh-CN" altLang="zh-CN" sz="1400" b="1" dirty="0"/>
              <a:t>【样例输出】</a:t>
            </a:r>
            <a:endParaRPr lang="zh-CN" altLang="zh-CN" sz="1400" dirty="0"/>
          </a:p>
          <a:p>
            <a:r>
              <a:rPr lang="en-US" altLang="zh-CN" sz="1400" dirty="0"/>
              <a:t>10</a:t>
            </a:r>
            <a:endParaRPr lang="en-US" altLang="zh-CN" sz="1400" dirty="0"/>
          </a:p>
          <a:p>
            <a:endParaRPr lang="en-US" altLang="zh-CN" sz="1400" dirty="0"/>
          </a:p>
          <a:p>
            <a:r>
              <a:rPr lang="zh-CN" altLang="zh-CN" sz="1400" b="1" dirty="0"/>
              <a:t>【</a:t>
            </a:r>
            <a:r>
              <a:rPr lang="zh-CN" altLang="en-US" sz="1400" b="1" dirty="0"/>
              <a:t>数据范围</a:t>
            </a:r>
            <a:r>
              <a:rPr lang="zh-CN" altLang="zh-CN" sz="1400" b="1" dirty="0"/>
              <a:t>】</a:t>
            </a:r>
            <a:endParaRPr lang="en-US" altLang="zh-CN" sz="1400" dirty="0"/>
          </a:p>
          <a:p>
            <a:r>
              <a:rPr lang="en-US" altLang="zh-CN" sz="1400" dirty="0"/>
              <a:t> a,b,c≤2</a:t>
            </a:r>
            <a:r>
              <a:rPr lang="en-US" altLang="zh-CN" sz="1400" baseline="30000" dirty="0"/>
              <a:t>30</a:t>
            </a:r>
            <a:endParaRPr lang="zh-CN" altLang="zh-CN" sz="1400" baseline="30000" dirty="0"/>
          </a:p>
        </p:txBody>
      </p:sp>
      <p:sp>
        <p:nvSpPr>
          <p:cNvPr id="11" name="矩形 10"/>
          <p:cNvSpPr/>
          <p:nvPr/>
        </p:nvSpPr>
        <p:spPr>
          <a:xfrm>
            <a:off x="5671226" y="1053897"/>
            <a:ext cx="4964872" cy="1815882"/>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en-US" altLang="zh-CN" sz="1400" b="1" dirty="0"/>
          </a:p>
          <a:p>
            <a:r>
              <a:rPr lang="en-US" altLang="zh-CN" sz="1400" dirty="0">
                <a:sym typeface="+mn-ea"/>
              </a:rPr>
              <a:t>· </a:t>
            </a:r>
            <a:r>
              <a:rPr lang="zh-CN" altLang="en-US" sz="1400" dirty="0">
                <a:sym typeface="+mn-ea"/>
              </a:rPr>
              <a:t>设</a:t>
            </a:r>
            <a:r>
              <a:rPr lang="en-US" altLang="zh-CN" sz="1400" dirty="0">
                <a:sym typeface="+mn-ea"/>
              </a:rPr>
              <a:t>A</a:t>
            </a:r>
            <a:r>
              <a:rPr lang="zh-CN" altLang="en-US" sz="1400" dirty="0">
                <a:sym typeface="+mn-ea"/>
              </a:rPr>
              <a:t>为</a:t>
            </a:r>
            <a:r>
              <a:rPr lang="en-US" altLang="zh-CN" sz="1400" dirty="0">
                <a:sym typeface="+mn-ea"/>
              </a:rPr>
              <a:t>a</a:t>
            </a:r>
            <a:r>
              <a:rPr lang="zh-CN" altLang="en-US" sz="1400" dirty="0">
                <a:sym typeface="+mn-ea"/>
              </a:rPr>
              <a:t>中</a:t>
            </a:r>
            <a:r>
              <a:rPr lang="en-US" altLang="zh-CN" sz="1400" dirty="0">
                <a:sym typeface="+mn-ea"/>
              </a:rPr>
              <a:t>1</a:t>
            </a:r>
            <a:r>
              <a:rPr lang="zh-CN" altLang="en-US" sz="1400" dirty="0">
                <a:sym typeface="+mn-ea"/>
              </a:rPr>
              <a:t>的个数，</a:t>
            </a:r>
            <a:r>
              <a:rPr lang="en-US" altLang="zh-CN" sz="1400" dirty="0">
                <a:sym typeface="+mn-ea"/>
              </a:rPr>
              <a:t>B</a:t>
            </a:r>
            <a:r>
              <a:rPr lang="zh-CN" altLang="en-US" sz="1400" dirty="0">
                <a:sym typeface="+mn-ea"/>
              </a:rPr>
              <a:t>、</a:t>
            </a:r>
            <a:r>
              <a:rPr lang="en-US" altLang="zh-CN" sz="1400" dirty="0">
                <a:sym typeface="+mn-ea"/>
              </a:rPr>
              <a:t>C</a:t>
            </a:r>
            <a:r>
              <a:rPr lang="zh-CN" altLang="en-US" sz="1400" dirty="0">
                <a:sym typeface="+mn-ea"/>
              </a:rPr>
              <a:t>同理，</a:t>
            </a:r>
            <a:r>
              <a:rPr lang="en-US" altLang="zh-CN" sz="1400" dirty="0">
                <a:sym typeface="+mn-ea"/>
              </a:rPr>
              <a:t>a</a:t>
            </a:r>
            <a:r>
              <a:rPr lang="zh-CN" altLang="en-US" sz="1400" dirty="0">
                <a:sym typeface="+mn-ea"/>
              </a:rPr>
              <a:t>、</a:t>
            </a:r>
            <a:r>
              <a:rPr lang="en-US" altLang="zh-CN" sz="1400" dirty="0">
                <a:sym typeface="+mn-ea"/>
              </a:rPr>
              <a:t>b</a:t>
            </a:r>
            <a:r>
              <a:rPr lang="zh-CN" altLang="en-US" sz="1400" dirty="0">
                <a:sym typeface="+mn-ea"/>
              </a:rPr>
              <a:t>、</a:t>
            </a:r>
            <a:r>
              <a:rPr lang="en-US" altLang="zh-CN" sz="1400" dirty="0">
                <a:sym typeface="+mn-ea"/>
              </a:rPr>
              <a:t>c</a:t>
            </a:r>
            <a:r>
              <a:rPr lang="zh-CN" altLang="en-US" sz="1400" dirty="0">
                <a:sym typeface="+mn-ea"/>
              </a:rPr>
              <a:t>最大长度为</a:t>
            </a:r>
            <a:r>
              <a:rPr lang="en-US" altLang="zh-CN" sz="1400" dirty="0">
                <a:sym typeface="+mn-ea"/>
              </a:rPr>
              <a:t>L</a:t>
            </a:r>
            <a:endParaRPr lang="en-US" altLang="zh-CN" sz="1400" dirty="0">
              <a:sym typeface="+mn-ea"/>
            </a:endParaRPr>
          </a:p>
          <a:p>
            <a:r>
              <a:rPr lang="en-US" altLang="zh-CN" sz="1400" dirty="0">
                <a:sym typeface="+mn-ea"/>
              </a:rPr>
              <a:t>· </a:t>
            </a:r>
            <a:r>
              <a:rPr lang="zh-CN" altLang="en-US" sz="1400" dirty="0">
                <a:sym typeface="+mn-ea"/>
              </a:rPr>
              <a:t>若</a:t>
            </a:r>
            <a:r>
              <a:rPr lang="en-US" altLang="zh-CN" sz="1400" dirty="0">
                <a:sym typeface="+mn-ea"/>
              </a:rPr>
              <a:t>A+B&lt;C</a:t>
            </a:r>
            <a:r>
              <a:rPr lang="zh-CN" altLang="en-US" sz="1400" dirty="0">
                <a:sym typeface="+mn-ea"/>
              </a:rPr>
              <a:t>，显然</a:t>
            </a:r>
            <a:r>
              <a:rPr lang="en-US" altLang="zh-CN" sz="1400" dirty="0">
                <a:sym typeface="+mn-ea"/>
              </a:rPr>
              <a:t>-1</a:t>
            </a:r>
            <a:endParaRPr lang="en-US" altLang="zh-CN" sz="1400" dirty="0">
              <a:sym typeface="+mn-ea"/>
            </a:endParaRPr>
          </a:p>
          <a:p>
            <a:r>
              <a:rPr lang="en-US" altLang="zh-CN" sz="1400" dirty="0">
                <a:sym typeface="+mn-ea"/>
              </a:rPr>
              <a:t>· </a:t>
            </a:r>
            <a:r>
              <a:rPr lang="zh-CN" altLang="en-US" sz="1400" dirty="0">
                <a:sym typeface="+mn-ea"/>
              </a:rPr>
              <a:t>若</a:t>
            </a:r>
            <a:r>
              <a:rPr lang="en-US" altLang="zh-CN" sz="1400" dirty="0">
                <a:sym typeface="+mn-ea"/>
              </a:rPr>
              <a:t>A+B==C</a:t>
            </a:r>
            <a:r>
              <a:rPr lang="zh-CN" altLang="en-US" sz="1400" dirty="0">
                <a:sym typeface="+mn-ea"/>
              </a:rPr>
              <a:t>，显然</a:t>
            </a:r>
            <a:r>
              <a:rPr lang="en-US" altLang="zh-CN" sz="1400" dirty="0">
                <a:sym typeface="+mn-ea"/>
              </a:rPr>
              <a:t>c’</a:t>
            </a:r>
            <a:r>
              <a:rPr lang="zh-CN" altLang="en-US" sz="1400" dirty="0">
                <a:sym typeface="+mn-ea"/>
              </a:rPr>
              <a:t>有</a:t>
            </a:r>
            <a:r>
              <a:rPr lang="en-US" altLang="zh-CN" sz="1400" dirty="0">
                <a:sym typeface="+mn-ea"/>
              </a:rPr>
              <a:t>C</a:t>
            </a:r>
            <a:r>
              <a:rPr lang="zh-CN" altLang="en-US" sz="1400" dirty="0">
                <a:sym typeface="+mn-ea"/>
              </a:rPr>
              <a:t>个</a:t>
            </a:r>
            <a:r>
              <a:rPr lang="en-US" altLang="zh-CN" sz="1400" dirty="0">
                <a:sym typeface="+mn-ea"/>
              </a:rPr>
              <a:t>1</a:t>
            </a:r>
            <a:r>
              <a:rPr lang="zh-CN" altLang="en-US" sz="1400" dirty="0">
                <a:sym typeface="+mn-ea"/>
              </a:rPr>
              <a:t>组成，拼成连续</a:t>
            </a:r>
            <a:r>
              <a:rPr lang="en-US" altLang="zh-CN" sz="1400" dirty="0">
                <a:sym typeface="+mn-ea"/>
              </a:rPr>
              <a:t>C</a:t>
            </a:r>
            <a:r>
              <a:rPr lang="zh-CN" altLang="en-US" sz="1400" dirty="0">
                <a:sym typeface="+mn-ea"/>
              </a:rPr>
              <a:t>个</a:t>
            </a:r>
            <a:r>
              <a:rPr lang="en-US" altLang="zh-CN" sz="1400" dirty="0">
                <a:sym typeface="+mn-ea"/>
              </a:rPr>
              <a:t>1</a:t>
            </a:r>
            <a:r>
              <a:rPr lang="zh-CN" altLang="en-US" sz="1400" dirty="0">
                <a:sym typeface="+mn-ea"/>
              </a:rPr>
              <a:t>的数</a:t>
            </a:r>
            <a:r>
              <a:rPr lang="en-US" altLang="zh-CN" sz="1400" dirty="0">
                <a:sym typeface="+mn-ea"/>
              </a:rPr>
              <a:t>(C&lt;=L)</a:t>
            </a:r>
            <a:endParaRPr lang="en-US" altLang="zh-CN" sz="1400" dirty="0">
              <a:sym typeface="+mn-ea"/>
            </a:endParaRPr>
          </a:p>
          <a:p>
            <a:r>
              <a:rPr lang="en-US" altLang="zh-CN" sz="1400" dirty="0">
                <a:sym typeface="+mn-ea"/>
              </a:rPr>
              <a:t>· </a:t>
            </a:r>
            <a:r>
              <a:rPr lang="zh-CN" altLang="en-US" sz="1400" dirty="0">
                <a:sym typeface="+mn-ea"/>
              </a:rPr>
              <a:t>若</a:t>
            </a:r>
            <a:r>
              <a:rPr lang="en-US" altLang="zh-CN" sz="1400" dirty="0">
                <a:sym typeface="+mn-ea"/>
              </a:rPr>
              <a:t>A+B&gt;C</a:t>
            </a:r>
            <a:endParaRPr lang="en-US" altLang="zh-CN" sz="1400" dirty="0">
              <a:sym typeface="+mn-ea"/>
            </a:endParaRPr>
          </a:p>
          <a:p>
            <a:r>
              <a:rPr lang="en-US" altLang="zh-CN" sz="1400" dirty="0">
                <a:sym typeface="+mn-ea"/>
              </a:rPr>
              <a:t>· </a:t>
            </a:r>
            <a:r>
              <a:rPr lang="zh-CN" altLang="en-US" sz="1400" dirty="0">
                <a:sym typeface="+mn-ea"/>
              </a:rPr>
              <a:t>显然</a:t>
            </a:r>
            <a:r>
              <a:rPr lang="en-US" altLang="zh-CN" sz="1400" dirty="0">
                <a:sym typeface="+mn-ea"/>
              </a:rPr>
              <a:t>A+B-C</a:t>
            </a:r>
            <a:r>
              <a:rPr lang="zh-CN" altLang="en-US" sz="1400" dirty="0">
                <a:sym typeface="+mn-ea"/>
              </a:rPr>
              <a:t>多出的</a:t>
            </a:r>
            <a:r>
              <a:rPr lang="en-US" altLang="zh-CN" sz="1400" dirty="0">
                <a:sym typeface="+mn-ea"/>
              </a:rPr>
              <a:t>1</a:t>
            </a:r>
            <a:r>
              <a:rPr lang="zh-CN" altLang="en-US" sz="1400" dirty="0">
                <a:sym typeface="+mn-ea"/>
              </a:rPr>
              <a:t>都通过进位消除</a:t>
            </a:r>
            <a:endParaRPr lang="en-US" altLang="zh-CN" sz="1400" dirty="0">
              <a:sym typeface="+mn-ea"/>
            </a:endParaRPr>
          </a:p>
          <a:p>
            <a:r>
              <a:rPr lang="en-US" altLang="zh-CN" sz="1400" dirty="0">
                <a:sym typeface="+mn-ea"/>
              </a:rPr>
              <a:t>· </a:t>
            </a:r>
            <a:r>
              <a:rPr lang="zh-CN" altLang="en-US" sz="1400" dirty="0">
                <a:sym typeface="+mn-ea"/>
              </a:rPr>
              <a:t>小的数的一部分可以填充在</a:t>
            </a:r>
            <a:r>
              <a:rPr lang="en-US" altLang="zh-CN" sz="1400" dirty="0">
                <a:sym typeface="+mn-ea"/>
              </a:rPr>
              <a:t>10000…</a:t>
            </a:r>
            <a:r>
              <a:rPr lang="zh-CN" altLang="en-US" sz="1400" dirty="0">
                <a:sym typeface="+mn-ea"/>
              </a:rPr>
              <a:t>中</a:t>
            </a:r>
            <a:endParaRPr lang="en-US" altLang="zh-CN" sz="1400" dirty="0">
              <a:sym typeface="+mn-ea"/>
            </a:endParaRPr>
          </a:p>
          <a:p>
            <a:r>
              <a:rPr lang="en-US" altLang="zh-CN" sz="1400" dirty="0">
                <a:sym typeface="+mn-ea"/>
              </a:rPr>
              <a:t>· </a:t>
            </a:r>
            <a:r>
              <a:rPr lang="zh-CN" altLang="en-US" sz="1400" dirty="0">
                <a:sym typeface="+mn-ea"/>
              </a:rPr>
              <a:t>多余的填充在低位较优</a:t>
            </a:r>
            <a:endParaRPr lang="en-US" altLang="zh-CN" sz="1400"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email"/>
          <a:srcRect/>
          <a:stretch>
            <a:fillRect/>
          </a:stretch>
        </p:blipFill>
        <p:spPr>
          <a:xfrm>
            <a:off x="0" y="-1"/>
            <a:ext cx="12192000" cy="6858001"/>
          </a:xfrm>
          <a:prstGeom prst="rect">
            <a:avLst/>
          </a:prstGeom>
        </p:spPr>
      </p:pic>
      <p:pic>
        <p:nvPicPr>
          <p:cNvPr id="2919" name="图片 2918"/>
          <p:cNvPicPr>
            <a:picLocks noChangeAspect="1"/>
          </p:cNvPicPr>
          <p:nvPr/>
        </p:nvPicPr>
        <p:blipFill rotWithShape="1">
          <a:blip r:embed="rId2" cstate="email"/>
          <a:srcRect/>
          <a:stretch>
            <a:fill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618676" y="2006600"/>
            <a:ext cx="2954656" cy="923330"/>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rPr>
              <a:t>谢谢观看</a:t>
            </a:r>
            <a:endPar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sp>
        <p:nvSpPr>
          <p:cNvPr id="2921" name="文本框 2920"/>
          <p:cNvSpPr txBox="1"/>
          <p:nvPr/>
        </p:nvSpPr>
        <p:spPr>
          <a:xfrm>
            <a:off x="4708440" y="3019922"/>
            <a:ext cx="2775119" cy="707886"/>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dirty="0">
                <a:solidFill>
                  <a:srgbClr val="FFFFFF"/>
                </a:solidFill>
                <a:effectLst>
                  <a:outerShdw blurRad="203200" dist="38100" dir="5400000" algn="t" rotWithShape="0">
                    <a:prstClr val="black">
                      <a:alpha val="83000"/>
                    </a:prstClr>
                  </a:outerShdw>
                </a:effectLst>
                <a:cs typeface="+mn-ea"/>
                <a:sym typeface="+mn-lt"/>
              </a:rPr>
              <a:t>THANKS</a:t>
            </a:r>
            <a:r>
              <a:rPr lang="zh-CN" altLang="en-US" sz="4000" dirty="0">
                <a:solidFill>
                  <a:srgbClr val="FFFFFF"/>
                </a:solidFill>
                <a:effectLst>
                  <a:outerShdw blurRad="203200" dist="38100" dir="5400000" algn="t" rotWithShape="0">
                    <a:prstClr val="black">
                      <a:alpha val="83000"/>
                    </a:prstClr>
                  </a:outerShdw>
                </a:effectLst>
                <a:cs typeface="+mn-ea"/>
                <a:sym typeface="+mn-lt"/>
              </a:rPr>
              <a:t>！</a:t>
            </a:r>
            <a:endParaRPr kumimoji="0" lang="zh-CN" altLang="en-US" sz="40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FFFFF"/>
                </a:solidFill>
                <a:effectLst/>
                <a:uLnTx/>
                <a:uFillTx/>
                <a:cs typeface="+mn-ea"/>
                <a:sym typeface="+mn-lt"/>
              </a:rPr>
              <a:t>2026.02.09</a:t>
            </a: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sld>
</file>

<file path=ppt/tags/tag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fontScheme name="wkbwvqj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5593</Words>
  <Application>WPS 演示</Application>
  <PresentationFormat>宽屏</PresentationFormat>
  <Paragraphs>330</Paragraphs>
  <Slides>12</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Calibri</vt:lpstr>
      <vt:lpstr>微软雅黑</vt:lpstr>
      <vt:lpstr>Arial Unicode MS</vt:lpstr>
      <vt:lpstr>等线</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创意水彩</dc:title>
  <dc:creator>第一PPT</dc:creator>
  <cp:keywords>www.1ppt.com</cp:keywords>
  <dc:description>www.1ppt.com</dc:description>
  <cp:lastModifiedBy>Kcm</cp:lastModifiedBy>
  <cp:revision>420</cp:revision>
  <dcterms:created xsi:type="dcterms:W3CDTF">2017-05-14T07:05:00Z</dcterms:created>
  <dcterms:modified xsi:type="dcterms:W3CDTF">2026-01-14T03:29:19Z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2052-11.8.2.10154</vt:lpwstr>
  </property>
</Properties>
</file>