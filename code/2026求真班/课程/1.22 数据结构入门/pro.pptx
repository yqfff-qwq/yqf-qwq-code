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40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69EE"/>
    <a:srgbClr val="33E98A"/>
    <a:srgbClr val="ACF6CF"/>
    <a:srgbClr val="70F0AD"/>
    <a:srgbClr val="55F7F7"/>
    <a:srgbClr val="4AF80C"/>
    <a:srgbClr val="FC28D4"/>
    <a:srgbClr val="60EEA4"/>
    <a:srgbClr val="41EB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67" autoAdjust="0"/>
    <p:restoredTop sz="93778" autoAdjust="0"/>
  </p:normalViewPr>
  <p:slideViewPr>
    <p:cSldViewPr snapToGrid="0" showGuides="1">
      <p:cViewPr varScale="1">
        <p:scale>
          <a:sx n="84" d="100"/>
          <a:sy n="84" d="100"/>
        </p:scale>
        <p:origin x="-480" y="-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32237E-A286-49FD-9984-05DBA88D6692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D9CF8-F7EC-4A95-888B-BB5C40F63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095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5D9CF8-F7EC-4A95-888B-BB5C40F63F2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910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187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0"/>
          </p:nvPr>
        </p:nvSpPr>
        <p:spPr>
          <a:xfrm>
            <a:off x="1073043" y="1960358"/>
            <a:ext cx="2111018" cy="2111018"/>
          </a:xfrm>
          <a:custGeom>
            <a:avLst/>
            <a:gdLst>
              <a:gd name="connsiteX0" fmla="*/ 1055509 w 2111018"/>
              <a:gd name="connsiteY0" fmla="*/ 0 h 2111018"/>
              <a:gd name="connsiteX1" fmla="*/ 2111018 w 2111018"/>
              <a:gd name="connsiteY1" fmla="*/ 1055509 h 2111018"/>
              <a:gd name="connsiteX2" fmla="*/ 1055509 w 2111018"/>
              <a:gd name="connsiteY2" fmla="*/ 2111018 h 2111018"/>
              <a:gd name="connsiteX3" fmla="*/ 0 w 2111018"/>
              <a:gd name="connsiteY3" fmla="*/ 1055509 h 2111018"/>
              <a:gd name="connsiteX4" fmla="*/ 1055509 w 2111018"/>
              <a:gd name="connsiteY4" fmla="*/ 0 h 2111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11018" h="2111018">
                <a:moveTo>
                  <a:pt x="1055509" y="0"/>
                </a:moveTo>
                <a:cubicBezTo>
                  <a:pt x="1638451" y="0"/>
                  <a:pt x="2111018" y="472567"/>
                  <a:pt x="2111018" y="1055509"/>
                </a:cubicBezTo>
                <a:cubicBezTo>
                  <a:pt x="2111018" y="1638451"/>
                  <a:pt x="1638451" y="2111018"/>
                  <a:pt x="1055509" y="2111018"/>
                </a:cubicBezTo>
                <a:cubicBezTo>
                  <a:pt x="472567" y="2111018"/>
                  <a:pt x="0" y="1638451"/>
                  <a:pt x="0" y="1055509"/>
                </a:cubicBezTo>
                <a:cubicBezTo>
                  <a:pt x="0" y="472567"/>
                  <a:pt x="472567" y="0"/>
                  <a:pt x="105550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1"/>
          </p:nvPr>
        </p:nvSpPr>
        <p:spPr>
          <a:xfrm>
            <a:off x="3758186" y="1960358"/>
            <a:ext cx="2111018" cy="2111018"/>
          </a:xfrm>
          <a:custGeom>
            <a:avLst/>
            <a:gdLst>
              <a:gd name="connsiteX0" fmla="*/ 1055509 w 2111018"/>
              <a:gd name="connsiteY0" fmla="*/ 0 h 2111018"/>
              <a:gd name="connsiteX1" fmla="*/ 2111018 w 2111018"/>
              <a:gd name="connsiteY1" fmla="*/ 1055509 h 2111018"/>
              <a:gd name="connsiteX2" fmla="*/ 1055509 w 2111018"/>
              <a:gd name="connsiteY2" fmla="*/ 2111018 h 2111018"/>
              <a:gd name="connsiteX3" fmla="*/ 0 w 2111018"/>
              <a:gd name="connsiteY3" fmla="*/ 1055509 h 2111018"/>
              <a:gd name="connsiteX4" fmla="*/ 1055509 w 2111018"/>
              <a:gd name="connsiteY4" fmla="*/ 0 h 2111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11018" h="2111018">
                <a:moveTo>
                  <a:pt x="1055509" y="0"/>
                </a:moveTo>
                <a:cubicBezTo>
                  <a:pt x="1638451" y="0"/>
                  <a:pt x="2111018" y="472567"/>
                  <a:pt x="2111018" y="1055509"/>
                </a:cubicBezTo>
                <a:cubicBezTo>
                  <a:pt x="2111018" y="1638451"/>
                  <a:pt x="1638451" y="2111018"/>
                  <a:pt x="1055509" y="2111018"/>
                </a:cubicBezTo>
                <a:cubicBezTo>
                  <a:pt x="472567" y="2111018"/>
                  <a:pt x="0" y="1638451"/>
                  <a:pt x="0" y="1055509"/>
                </a:cubicBezTo>
                <a:cubicBezTo>
                  <a:pt x="0" y="472567"/>
                  <a:pt x="472567" y="0"/>
                  <a:pt x="105550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4280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图片占位符 16"/>
          <p:cNvSpPr>
            <a:spLocks noGrp="1"/>
          </p:cNvSpPr>
          <p:nvPr>
            <p:ph type="pic" sz="quarter" idx="10"/>
          </p:nvPr>
        </p:nvSpPr>
        <p:spPr>
          <a:xfrm>
            <a:off x="1" y="2441574"/>
            <a:ext cx="6013449" cy="3438524"/>
          </a:xfrm>
          <a:custGeom>
            <a:avLst/>
            <a:gdLst>
              <a:gd name="connsiteX0" fmla="*/ 0 w 6013449"/>
              <a:gd name="connsiteY0" fmla="*/ 0 h 3438524"/>
              <a:gd name="connsiteX1" fmla="*/ 6013449 w 6013449"/>
              <a:gd name="connsiteY1" fmla="*/ 0 h 3438524"/>
              <a:gd name="connsiteX2" fmla="*/ 6013449 w 6013449"/>
              <a:gd name="connsiteY2" fmla="*/ 3438524 h 3438524"/>
              <a:gd name="connsiteX3" fmla="*/ 0 w 6013449"/>
              <a:gd name="connsiteY3" fmla="*/ 3438524 h 3438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13449" h="3438524">
                <a:moveTo>
                  <a:pt x="0" y="0"/>
                </a:moveTo>
                <a:lnTo>
                  <a:pt x="6013449" y="0"/>
                </a:lnTo>
                <a:lnTo>
                  <a:pt x="6013449" y="3438524"/>
                </a:lnTo>
                <a:lnTo>
                  <a:pt x="0" y="343852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8" name="图片占位符 17"/>
          <p:cNvSpPr>
            <a:spLocks noGrp="1"/>
          </p:cNvSpPr>
          <p:nvPr>
            <p:ph type="pic" sz="quarter" idx="11"/>
          </p:nvPr>
        </p:nvSpPr>
        <p:spPr>
          <a:xfrm>
            <a:off x="6207127" y="2441575"/>
            <a:ext cx="2895601" cy="1631951"/>
          </a:xfrm>
          <a:custGeom>
            <a:avLst/>
            <a:gdLst>
              <a:gd name="connsiteX0" fmla="*/ 0 w 2895601"/>
              <a:gd name="connsiteY0" fmla="*/ 0 h 1631951"/>
              <a:gd name="connsiteX1" fmla="*/ 2895601 w 2895601"/>
              <a:gd name="connsiteY1" fmla="*/ 0 h 1631951"/>
              <a:gd name="connsiteX2" fmla="*/ 2895601 w 2895601"/>
              <a:gd name="connsiteY2" fmla="*/ 1631951 h 1631951"/>
              <a:gd name="connsiteX3" fmla="*/ 0 w 2895601"/>
              <a:gd name="connsiteY3" fmla="*/ 1631951 h 1631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5601" h="1631951">
                <a:moveTo>
                  <a:pt x="0" y="0"/>
                </a:moveTo>
                <a:lnTo>
                  <a:pt x="2895601" y="0"/>
                </a:lnTo>
                <a:lnTo>
                  <a:pt x="2895601" y="1631951"/>
                </a:lnTo>
                <a:lnTo>
                  <a:pt x="0" y="16319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9" name="图片占位符 18"/>
          <p:cNvSpPr>
            <a:spLocks noGrp="1"/>
          </p:cNvSpPr>
          <p:nvPr>
            <p:ph type="pic" sz="quarter" idx="12"/>
          </p:nvPr>
        </p:nvSpPr>
        <p:spPr>
          <a:xfrm>
            <a:off x="9296400" y="2441575"/>
            <a:ext cx="2895600" cy="1631951"/>
          </a:xfrm>
          <a:custGeom>
            <a:avLst/>
            <a:gdLst>
              <a:gd name="connsiteX0" fmla="*/ 0 w 2895600"/>
              <a:gd name="connsiteY0" fmla="*/ 0 h 1631951"/>
              <a:gd name="connsiteX1" fmla="*/ 2895600 w 2895600"/>
              <a:gd name="connsiteY1" fmla="*/ 0 h 1631951"/>
              <a:gd name="connsiteX2" fmla="*/ 2895600 w 2895600"/>
              <a:gd name="connsiteY2" fmla="*/ 1631951 h 1631951"/>
              <a:gd name="connsiteX3" fmla="*/ 0 w 2895600"/>
              <a:gd name="connsiteY3" fmla="*/ 1631951 h 1631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5600" h="1631951">
                <a:moveTo>
                  <a:pt x="0" y="0"/>
                </a:moveTo>
                <a:lnTo>
                  <a:pt x="2895600" y="0"/>
                </a:lnTo>
                <a:lnTo>
                  <a:pt x="2895600" y="1631951"/>
                </a:lnTo>
                <a:lnTo>
                  <a:pt x="0" y="16319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图片占位符 20"/>
          <p:cNvSpPr>
            <a:spLocks noGrp="1"/>
          </p:cNvSpPr>
          <p:nvPr>
            <p:ph type="pic" sz="quarter" idx="13"/>
          </p:nvPr>
        </p:nvSpPr>
        <p:spPr>
          <a:xfrm>
            <a:off x="9296400" y="4248151"/>
            <a:ext cx="2895600" cy="1631951"/>
          </a:xfrm>
          <a:custGeom>
            <a:avLst/>
            <a:gdLst>
              <a:gd name="connsiteX0" fmla="*/ 0 w 2895600"/>
              <a:gd name="connsiteY0" fmla="*/ 0 h 1631951"/>
              <a:gd name="connsiteX1" fmla="*/ 2895600 w 2895600"/>
              <a:gd name="connsiteY1" fmla="*/ 0 h 1631951"/>
              <a:gd name="connsiteX2" fmla="*/ 2895600 w 2895600"/>
              <a:gd name="connsiteY2" fmla="*/ 1631951 h 1631951"/>
              <a:gd name="connsiteX3" fmla="*/ 0 w 2895600"/>
              <a:gd name="connsiteY3" fmla="*/ 1631951 h 1631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5600" h="1631951">
                <a:moveTo>
                  <a:pt x="0" y="0"/>
                </a:moveTo>
                <a:lnTo>
                  <a:pt x="2895600" y="0"/>
                </a:lnTo>
                <a:lnTo>
                  <a:pt x="2895600" y="1631951"/>
                </a:lnTo>
                <a:lnTo>
                  <a:pt x="0" y="16319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0" name="图片占位符 19"/>
          <p:cNvSpPr>
            <a:spLocks noGrp="1"/>
          </p:cNvSpPr>
          <p:nvPr>
            <p:ph type="pic" sz="quarter" idx="14"/>
          </p:nvPr>
        </p:nvSpPr>
        <p:spPr>
          <a:xfrm>
            <a:off x="6207127" y="4248151"/>
            <a:ext cx="2895601" cy="1631951"/>
          </a:xfrm>
          <a:custGeom>
            <a:avLst/>
            <a:gdLst>
              <a:gd name="connsiteX0" fmla="*/ 0 w 2895601"/>
              <a:gd name="connsiteY0" fmla="*/ 0 h 1631951"/>
              <a:gd name="connsiteX1" fmla="*/ 2895601 w 2895601"/>
              <a:gd name="connsiteY1" fmla="*/ 0 h 1631951"/>
              <a:gd name="connsiteX2" fmla="*/ 2895601 w 2895601"/>
              <a:gd name="connsiteY2" fmla="*/ 1631951 h 1631951"/>
              <a:gd name="connsiteX3" fmla="*/ 0 w 2895601"/>
              <a:gd name="connsiteY3" fmla="*/ 1631951 h 1631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5601" h="1631951">
                <a:moveTo>
                  <a:pt x="0" y="0"/>
                </a:moveTo>
                <a:lnTo>
                  <a:pt x="2895601" y="0"/>
                </a:lnTo>
                <a:lnTo>
                  <a:pt x="2895601" y="1631951"/>
                </a:lnTo>
                <a:lnTo>
                  <a:pt x="0" y="16319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539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图片占位符 16"/>
          <p:cNvSpPr>
            <a:spLocks noGrp="1"/>
          </p:cNvSpPr>
          <p:nvPr>
            <p:ph type="pic" sz="quarter" idx="10"/>
          </p:nvPr>
        </p:nvSpPr>
        <p:spPr>
          <a:xfrm>
            <a:off x="1" y="2441574"/>
            <a:ext cx="6013449" cy="3438524"/>
          </a:xfrm>
          <a:custGeom>
            <a:avLst/>
            <a:gdLst>
              <a:gd name="connsiteX0" fmla="*/ 0 w 6013449"/>
              <a:gd name="connsiteY0" fmla="*/ 0 h 3438524"/>
              <a:gd name="connsiteX1" fmla="*/ 6013449 w 6013449"/>
              <a:gd name="connsiteY1" fmla="*/ 0 h 3438524"/>
              <a:gd name="connsiteX2" fmla="*/ 6013449 w 6013449"/>
              <a:gd name="connsiteY2" fmla="*/ 3438524 h 3438524"/>
              <a:gd name="connsiteX3" fmla="*/ 0 w 6013449"/>
              <a:gd name="connsiteY3" fmla="*/ 3438524 h 3438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13449" h="3438524">
                <a:moveTo>
                  <a:pt x="0" y="0"/>
                </a:moveTo>
                <a:lnTo>
                  <a:pt x="6013449" y="0"/>
                </a:lnTo>
                <a:lnTo>
                  <a:pt x="6013449" y="3438524"/>
                </a:lnTo>
                <a:lnTo>
                  <a:pt x="0" y="343852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8" name="图片占位符 17"/>
          <p:cNvSpPr>
            <a:spLocks noGrp="1"/>
          </p:cNvSpPr>
          <p:nvPr>
            <p:ph type="pic" sz="quarter" idx="11"/>
          </p:nvPr>
        </p:nvSpPr>
        <p:spPr>
          <a:xfrm>
            <a:off x="6207127" y="2441575"/>
            <a:ext cx="2895601" cy="1631951"/>
          </a:xfrm>
          <a:custGeom>
            <a:avLst/>
            <a:gdLst>
              <a:gd name="connsiteX0" fmla="*/ 0 w 2895601"/>
              <a:gd name="connsiteY0" fmla="*/ 0 h 1631951"/>
              <a:gd name="connsiteX1" fmla="*/ 2895601 w 2895601"/>
              <a:gd name="connsiteY1" fmla="*/ 0 h 1631951"/>
              <a:gd name="connsiteX2" fmla="*/ 2895601 w 2895601"/>
              <a:gd name="connsiteY2" fmla="*/ 1631951 h 1631951"/>
              <a:gd name="connsiteX3" fmla="*/ 0 w 2895601"/>
              <a:gd name="connsiteY3" fmla="*/ 1631951 h 1631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5601" h="1631951">
                <a:moveTo>
                  <a:pt x="0" y="0"/>
                </a:moveTo>
                <a:lnTo>
                  <a:pt x="2895601" y="0"/>
                </a:lnTo>
                <a:lnTo>
                  <a:pt x="2895601" y="1631951"/>
                </a:lnTo>
                <a:lnTo>
                  <a:pt x="0" y="16319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9" name="图片占位符 18"/>
          <p:cNvSpPr>
            <a:spLocks noGrp="1"/>
          </p:cNvSpPr>
          <p:nvPr>
            <p:ph type="pic" sz="quarter" idx="12"/>
          </p:nvPr>
        </p:nvSpPr>
        <p:spPr>
          <a:xfrm>
            <a:off x="9296400" y="2441575"/>
            <a:ext cx="2895600" cy="1631951"/>
          </a:xfrm>
          <a:custGeom>
            <a:avLst/>
            <a:gdLst>
              <a:gd name="connsiteX0" fmla="*/ 0 w 2895600"/>
              <a:gd name="connsiteY0" fmla="*/ 0 h 1631951"/>
              <a:gd name="connsiteX1" fmla="*/ 2895600 w 2895600"/>
              <a:gd name="connsiteY1" fmla="*/ 0 h 1631951"/>
              <a:gd name="connsiteX2" fmla="*/ 2895600 w 2895600"/>
              <a:gd name="connsiteY2" fmla="*/ 1631951 h 1631951"/>
              <a:gd name="connsiteX3" fmla="*/ 0 w 2895600"/>
              <a:gd name="connsiteY3" fmla="*/ 1631951 h 1631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5600" h="1631951">
                <a:moveTo>
                  <a:pt x="0" y="0"/>
                </a:moveTo>
                <a:lnTo>
                  <a:pt x="2895600" y="0"/>
                </a:lnTo>
                <a:lnTo>
                  <a:pt x="2895600" y="1631951"/>
                </a:lnTo>
                <a:lnTo>
                  <a:pt x="0" y="16319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图片占位符 20"/>
          <p:cNvSpPr>
            <a:spLocks noGrp="1"/>
          </p:cNvSpPr>
          <p:nvPr>
            <p:ph type="pic" sz="quarter" idx="13"/>
          </p:nvPr>
        </p:nvSpPr>
        <p:spPr>
          <a:xfrm>
            <a:off x="9296400" y="4248151"/>
            <a:ext cx="2895600" cy="1631951"/>
          </a:xfrm>
          <a:custGeom>
            <a:avLst/>
            <a:gdLst>
              <a:gd name="connsiteX0" fmla="*/ 0 w 2895600"/>
              <a:gd name="connsiteY0" fmla="*/ 0 h 1631951"/>
              <a:gd name="connsiteX1" fmla="*/ 2895600 w 2895600"/>
              <a:gd name="connsiteY1" fmla="*/ 0 h 1631951"/>
              <a:gd name="connsiteX2" fmla="*/ 2895600 w 2895600"/>
              <a:gd name="connsiteY2" fmla="*/ 1631951 h 1631951"/>
              <a:gd name="connsiteX3" fmla="*/ 0 w 2895600"/>
              <a:gd name="connsiteY3" fmla="*/ 1631951 h 1631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5600" h="1631951">
                <a:moveTo>
                  <a:pt x="0" y="0"/>
                </a:moveTo>
                <a:lnTo>
                  <a:pt x="2895600" y="0"/>
                </a:lnTo>
                <a:lnTo>
                  <a:pt x="2895600" y="1631951"/>
                </a:lnTo>
                <a:lnTo>
                  <a:pt x="0" y="16319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0" name="图片占位符 19"/>
          <p:cNvSpPr>
            <a:spLocks noGrp="1"/>
          </p:cNvSpPr>
          <p:nvPr>
            <p:ph type="pic" sz="quarter" idx="14"/>
          </p:nvPr>
        </p:nvSpPr>
        <p:spPr>
          <a:xfrm>
            <a:off x="6207127" y="4248151"/>
            <a:ext cx="2895601" cy="1631951"/>
          </a:xfrm>
          <a:custGeom>
            <a:avLst/>
            <a:gdLst>
              <a:gd name="connsiteX0" fmla="*/ 0 w 2895601"/>
              <a:gd name="connsiteY0" fmla="*/ 0 h 1631951"/>
              <a:gd name="connsiteX1" fmla="*/ 2895601 w 2895601"/>
              <a:gd name="connsiteY1" fmla="*/ 0 h 1631951"/>
              <a:gd name="connsiteX2" fmla="*/ 2895601 w 2895601"/>
              <a:gd name="connsiteY2" fmla="*/ 1631951 h 1631951"/>
              <a:gd name="connsiteX3" fmla="*/ 0 w 2895601"/>
              <a:gd name="connsiteY3" fmla="*/ 1631951 h 1631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5601" h="1631951">
                <a:moveTo>
                  <a:pt x="0" y="0"/>
                </a:moveTo>
                <a:lnTo>
                  <a:pt x="2895601" y="0"/>
                </a:lnTo>
                <a:lnTo>
                  <a:pt x="2895601" y="1631951"/>
                </a:lnTo>
                <a:lnTo>
                  <a:pt x="0" y="16319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8325228" y="6545425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00599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0" y="1592798"/>
            <a:ext cx="12192000" cy="4523843"/>
          </a:xfrm>
          <a:custGeom>
            <a:avLst/>
            <a:gdLst>
              <a:gd name="connsiteX0" fmla="*/ 0 w 12192000"/>
              <a:gd name="connsiteY0" fmla="*/ 0 h 4523843"/>
              <a:gd name="connsiteX1" fmla="*/ 12192000 w 12192000"/>
              <a:gd name="connsiteY1" fmla="*/ 0 h 4523843"/>
              <a:gd name="connsiteX2" fmla="*/ 12192000 w 12192000"/>
              <a:gd name="connsiteY2" fmla="*/ 4523843 h 4523843"/>
              <a:gd name="connsiteX3" fmla="*/ 0 w 12192000"/>
              <a:gd name="connsiteY3" fmla="*/ 4523843 h 4523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523843">
                <a:moveTo>
                  <a:pt x="0" y="0"/>
                </a:moveTo>
                <a:lnTo>
                  <a:pt x="12192000" y="0"/>
                </a:lnTo>
                <a:lnTo>
                  <a:pt x="12192000" y="4523843"/>
                </a:lnTo>
                <a:lnTo>
                  <a:pt x="0" y="452384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460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0"/>
          </p:nvPr>
        </p:nvSpPr>
        <p:spPr>
          <a:xfrm>
            <a:off x="-1" y="1370014"/>
            <a:ext cx="12192002" cy="4829175"/>
          </a:xfrm>
          <a:custGeom>
            <a:avLst/>
            <a:gdLst>
              <a:gd name="connsiteX0" fmla="*/ 7747119 w 12192002"/>
              <a:gd name="connsiteY0" fmla="*/ 0 h 4829175"/>
              <a:gd name="connsiteX1" fmla="*/ 12192002 w 12192002"/>
              <a:gd name="connsiteY1" fmla="*/ 0 h 4829175"/>
              <a:gd name="connsiteX2" fmla="*/ 12192002 w 12192002"/>
              <a:gd name="connsiteY2" fmla="*/ 4829175 h 4829175"/>
              <a:gd name="connsiteX3" fmla="*/ 7747119 w 12192002"/>
              <a:gd name="connsiteY3" fmla="*/ 4829175 h 4829175"/>
              <a:gd name="connsiteX4" fmla="*/ 0 w 12192002"/>
              <a:gd name="connsiteY4" fmla="*/ 0 h 4829175"/>
              <a:gd name="connsiteX5" fmla="*/ 6095999 w 12192002"/>
              <a:gd name="connsiteY5" fmla="*/ 0 h 4829175"/>
              <a:gd name="connsiteX6" fmla="*/ 6095999 w 12192002"/>
              <a:gd name="connsiteY6" fmla="*/ 4829175 h 4829175"/>
              <a:gd name="connsiteX7" fmla="*/ 0 w 12192002"/>
              <a:gd name="connsiteY7" fmla="*/ 4829175 h 4829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2" h="4829175">
                <a:moveTo>
                  <a:pt x="7747119" y="0"/>
                </a:moveTo>
                <a:lnTo>
                  <a:pt x="12192002" y="0"/>
                </a:lnTo>
                <a:lnTo>
                  <a:pt x="12192002" y="4829175"/>
                </a:lnTo>
                <a:lnTo>
                  <a:pt x="7747119" y="4829175"/>
                </a:lnTo>
                <a:close/>
                <a:moveTo>
                  <a:pt x="0" y="0"/>
                </a:moveTo>
                <a:lnTo>
                  <a:pt x="6095999" y="0"/>
                </a:lnTo>
                <a:lnTo>
                  <a:pt x="6095999" y="4829175"/>
                </a:lnTo>
                <a:lnTo>
                  <a:pt x="0" y="48291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660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419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0"/>
          </p:nvPr>
        </p:nvSpPr>
        <p:spPr>
          <a:xfrm>
            <a:off x="719137" y="1357274"/>
            <a:ext cx="5238792" cy="2683795"/>
          </a:xfrm>
          <a:custGeom>
            <a:avLst/>
            <a:gdLst>
              <a:gd name="connsiteX0" fmla="*/ 0 w 5238792"/>
              <a:gd name="connsiteY0" fmla="*/ 0 h 2683795"/>
              <a:gd name="connsiteX1" fmla="*/ 5238792 w 5238792"/>
              <a:gd name="connsiteY1" fmla="*/ 0 h 2683795"/>
              <a:gd name="connsiteX2" fmla="*/ 5238792 w 5238792"/>
              <a:gd name="connsiteY2" fmla="*/ 2683795 h 2683795"/>
              <a:gd name="connsiteX3" fmla="*/ 0 w 5238792"/>
              <a:gd name="connsiteY3" fmla="*/ 2683795 h 2683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38792" h="2683795">
                <a:moveTo>
                  <a:pt x="0" y="0"/>
                </a:moveTo>
                <a:lnTo>
                  <a:pt x="5238792" y="0"/>
                </a:lnTo>
                <a:lnTo>
                  <a:pt x="5238792" y="2683795"/>
                </a:lnTo>
                <a:lnTo>
                  <a:pt x="0" y="268379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1"/>
          </p:nvPr>
        </p:nvSpPr>
        <p:spPr>
          <a:xfrm>
            <a:off x="6234071" y="1357278"/>
            <a:ext cx="5238792" cy="2683795"/>
          </a:xfrm>
          <a:custGeom>
            <a:avLst/>
            <a:gdLst>
              <a:gd name="connsiteX0" fmla="*/ 0 w 5238792"/>
              <a:gd name="connsiteY0" fmla="*/ 0 h 2683795"/>
              <a:gd name="connsiteX1" fmla="*/ 5238792 w 5238792"/>
              <a:gd name="connsiteY1" fmla="*/ 0 h 2683795"/>
              <a:gd name="connsiteX2" fmla="*/ 5238792 w 5238792"/>
              <a:gd name="connsiteY2" fmla="*/ 2683795 h 2683795"/>
              <a:gd name="connsiteX3" fmla="*/ 0 w 5238792"/>
              <a:gd name="connsiteY3" fmla="*/ 2683795 h 2683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38792" h="2683795">
                <a:moveTo>
                  <a:pt x="0" y="0"/>
                </a:moveTo>
                <a:lnTo>
                  <a:pt x="5238792" y="0"/>
                </a:lnTo>
                <a:lnTo>
                  <a:pt x="5238792" y="2683795"/>
                </a:lnTo>
                <a:lnTo>
                  <a:pt x="0" y="268379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056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4106" y="0"/>
            <a:ext cx="12187894" cy="3571540"/>
          </a:xfrm>
          <a:custGeom>
            <a:avLst/>
            <a:gdLst>
              <a:gd name="connsiteX0" fmla="*/ 0 w 12187894"/>
              <a:gd name="connsiteY0" fmla="*/ 0 h 3571540"/>
              <a:gd name="connsiteX1" fmla="*/ 12187894 w 12187894"/>
              <a:gd name="connsiteY1" fmla="*/ 0 h 3571540"/>
              <a:gd name="connsiteX2" fmla="*/ 12187894 w 12187894"/>
              <a:gd name="connsiteY2" fmla="*/ 3571540 h 3571540"/>
              <a:gd name="connsiteX3" fmla="*/ 0 w 12187894"/>
              <a:gd name="connsiteY3" fmla="*/ 3571540 h 3571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7894" h="3571540">
                <a:moveTo>
                  <a:pt x="0" y="0"/>
                </a:moveTo>
                <a:lnTo>
                  <a:pt x="12187894" y="0"/>
                </a:lnTo>
                <a:lnTo>
                  <a:pt x="12187894" y="3571540"/>
                </a:lnTo>
                <a:lnTo>
                  <a:pt x="0" y="35715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881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图片占位符 14"/>
          <p:cNvSpPr>
            <a:spLocks noGrp="1"/>
          </p:cNvSpPr>
          <p:nvPr>
            <p:ph type="pic" sz="quarter" idx="10"/>
          </p:nvPr>
        </p:nvSpPr>
        <p:spPr>
          <a:xfrm>
            <a:off x="1234798" y="2528900"/>
            <a:ext cx="2263853" cy="3264506"/>
          </a:xfrm>
          <a:custGeom>
            <a:avLst/>
            <a:gdLst>
              <a:gd name="connsiteX0" fmla="*/ 0 w 2263853"/>
              <a:gd name="connsiteY0" fmla="*/ 0 h 3264506"/>
              <a:gd name="connsiteX1" fmla="*/ 2263853 w 2263853"/>
              <a:gd name="connsiteY1" fmla="*/ 0 h 3264506"/>
              <a:gd name="connsiteX2" fmla="*/ 2263853 w 2263853"/>
              <a:gd name="connsiteY2" fmla="*/ 3264506 h 3264506"/>
              <a:gd name="connsiteX3" fmla="*/ 0 w 2263853"/>
              <a:gd name="connsiteY3" fmla="*/ 3264506 h 32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3853" h="3264506">
                <a:moveTo>
                  <a:pt x="0" y="0"/>
                </a:moveTo>
                <a:lnTo>
                  <a:pt x="2263853" y="0"/>
                </a:lnTo>
                <a:lnTo>
                  <a:pt x="2263853" y="3264506"/>
                </a:lnTo>
                <a:lnTo>
                  <a:pt x="0" y="32645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sz="quarter" idx="11"/>
          </p:nvPr>
        </p:nvSpPr>
        <p:spPr>
          <a:xfrm>
            <a:off x="3720984" y="2528900"/>
            <a:ext cx="2272185" cy="3264506"/>
          </a:xfrm>
          <a:custGeom>
            <a:avLst/>
            <a:gdLst>
              <a:gd name="connsiteX0" fmla="*/ 0 w 2272185"/>
              <a:gd name="connsiteY0" fmla="*/ 0 h 3264506"/>
              <a:gd name="connsiteX1" fmla="*/ 2272185 w 2272185"/>
              <a:gd name="connsiteY1" fmla="*/ 0 h 3264506"/>
              <a:gd name="connsiteX2" fmla="*/ 2272185 w 2272185"/>
              <a:gd name="connsiteY2" fmla="*/ 3264506 h 3264506"/>
              <a:gd name="connsiteX3" fmla="*/ 0 w 2272185"/>
              <a:gd name="connsiteY3" fmla="*/ 3264506 h 32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2185" h="3264506">
                <a:moveTo>
                  <a:pt x="0" y="0"/>
                </a:moveTo>
                <a:lnTo>
                  <a:pt x="2272185" y="0"/>
                </a:lnTo>
                <a:lnTo>
                  <a:pt x="2272185" y="3264506"/>
                </a:lnTo>
                <a:lnTo>
                  <a:pt x="0" y="32645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2"/>
          </p:nvPr>
        </p:nvSpPr>
        <p:spPr>
          <a:xfrm>
            <a:off x="6198835" y="2528900"/>
            <a:ext cx="2272185" cy="3264506"/>
          </a:xfrm>
          <a:custGeom>
            <a:avLst/>
            <a:gdLst>
              <a:gd name="connsiteX0" fmla="*/ 0 w 2272185"/>
              <a:gd name="connsiteY0" fmla="*/ 0 h 3264506"/>
              <a:gd name="connsiteX1" fmla="*/ 2272185 w 2272185"/>
              <a:gd name="connsiteY1" fmla="*/ 0 h 3264506"/>
              <a:gd name="connsiteX2" fmla="*/ 2272185 w 2272185"/>
              <a:gd name="connsiteY2" fmla="*/ 3264506 h 3264506"/>
              <a:gd name="connsiteX3" fmla="*/ 0 w 2272185"/>
              <a:gd name="connsiteY3" fmla="*/ 3264506 h 32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2185" h="3264506">
                <a:moveTo>
                  <a:pt x="0" y="0"/>
                </a:moveTo>
                <a:lnTo>
                  <a:pt x="2272185" y="0"/>
                </a:lnTo>
                <a:lnTo>
                  <a:pt x="2272185" y="3264506"/>
                </a:lnTo>
                <a:lnTo>
                  <a:pt x="0" y="32645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8" name="图片占位符 17"/>
          <p:cNvSpPr>
            <a:spLocks noGrp="1"/>
          </p:cNvSpPr>
          <p:nvPr>
            <p:ph type="pic" sz="quarter" idx="13"/>
          </p:nvPr>
        </p:nvSpPr>
        <p:spPr>
          <a:xfrm>
            <a:off x="8693352" y="2528900"/>
            <a:ext cx="2263853" cy="3264506"/>
          </a:xfrm>
          <a:custGeom>
            <a:avLst/>
            <a:gdLst>
              <a:gd name="connsiteX0" fmla="*/ 0 w 2263853"/>
              <a:gd name="connsiteY0" fmla="*/ 0 h 3264506"/>
              <a:gd name="connsiteX1" fmla="*/ 2263853 w 2263853"/>
              <a:gd name="connsiteY1" fmla="*/ 0 h 3264506"/>
              <a:gd name="connsiteX2" fmla="*/ 2263853 w 2263853"/>
              <a:gd name="connsiteY2" fmla="*/ 3264506 h 3264506"/>
              <a:gd name="connsiteX3" fmla="*/ 0 w 2263853"/>
              <a:gd name="connsiteY3" fmla="*/ 3264506 h 32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3853" h="3264506">
                <a:moveTo>
                  <a:pt x="0" y="0"/>
                </a:moveTo>
                <a:lnTo>
                  <a:pt x="2263853" y="0"/>
                </a:lnTo>
                <a:lnTo>
                  <a:pt x="2263853" y="3264506"/>
                </a:lnTo>
                <a:lnTo>
                  <a:pt x="0" y="32645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438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667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1CE03-90C0-4E22-B7FA-3A1ECBAF6F4F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176E6-63FA-43A7-8DE8-B4DDEC857A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591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4" r:id="rId2"/>
    <p:sldLayoutId id="2147483663" r:id="rId3"/>
    <p:sldLayoutId id="2147483665" r:id="rId4"/>
    <p:sldLayoutId id="2147483662" r:id="rId5"/>
    <p:sldLayoutId id="2147483661" r:id="rId6"/>
    <p:sldLayoutId id="2147483660" r:id="rId7"/>
    <p:sldLayoutId id="2147483659" r:id="rId8"/>
    <p:sldLayoutId id="2147483658" r:id="rId9"/>
    <p:sldLayoutId id="2147483657" r:id="rId10"/>
    <p:sldLayoutId id="214748365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97363" y="4506451"/>
            <a:ext cx="1994638" cy="2351549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2346266" cy="1738323"/>
          </a:xfrm>
          <a:prstGeom prst="rect">
            <a:avLst/>
          </a:prstGeom>
        </p:spPr>
      </p:pic>
      <p:sp>
        <p:nvSpPr>
          <p:cNvPr id="38" name="文本框 29"/>
          <p:cNvSpPr txBox="1"/>
          <p:nvPr/>
        </p:nvSpPr>
        <p:spPr>
          <a:xfrm>
            <a:off x="1996803" y="254168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例题</a:t>
            </a:r>
          </a:p>
        </p:txBody>
      </p:sp>
      <p:sp>
        <p:nvSpPr>
          <p:cNvPr id="39" name="矩形 38"/>
          <p:cNvSpPr/>
          <p:nvPr/>
        </p:nvSpPr>
        <p:spPr>
          <a:xfrm>
            <a:off x="1996803" y="776898"/>
            <a:ext cx="3792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cs typeface="+mn-ea"/>
                <a:sym typeface="+mn-lt"/>
              </a:rPr>
              <a:t>Examples</a:t>
            </a:r>
            <a:endParaRPr kumimoji="0" lang="zh-CN" altLang="en-US" sz="120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5671226" y="622570"/>
            <a:ext cx="6520774" cy="0"/>
          </a:xfrm>
          <a:prstGeom prst="line">
            <a:avLst/>
          </a:prstGeom>
          <a:ln w="50800" cmpd="thickThin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2919"/>
          <p:cNvSpPr txBox="1"/>
          <p:nvPr/>
        </p:nvSpPr>
        <p:spPr>
          <a:xfrm>
            <a:off x="10274113" y="177223"/>
            <a:ext cx="1120821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cs typeface="+mn-ea"/>
                <a:sym typeface="+mn-lt"/>
              </a:rPr>
              <a:t>LOJ6515</a:t>
            </a:r>
            <a:endParaRPr lang="zh-CN" altLang="en-US" dirty="0">
              <a:solidFill>
                <a:schemeClr val="bg1"/>
              </a:solidFill>
              <a:effectLst>
                <a:outerShdw blurRad="203200" dist="38100" dir="5400000" algn="t" rotWithShape="0">
                  <a:prstClr val="black">
                    <a:alpha val="83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06354" y="1507685"/>
            <a:ext cx="4964872" cy="526297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400" b="1" dirty="0" smtClean="0"/>
              <a:t>【LOJ6515】</a:t>
            </a:r>
            <a:r>
              <a:rPr lang="zh-CN" altLang="en-US" sz="1400" b="1" dirty="0" smtClean="0"/>
              <a:t>「</a:t>
            </a:r>
            <a:r>
              <a:rPr lang="zh-CN" altLang="en-US" sz="1400" b="1" dirty="0"/>
              <a:t>雅礼集训 </a:t>
            </a:r>
            <a:r>
              <a:rPr lang="en-US" altLang="zh-CN" sz="1400" b="1" dirty="0"/>
              <a:t>2018 Day10</a:t>
            </a:r>
            <a:r>
              <a:rPr lang="zh-CN" altLang="en-US" sz="1400" b="1" dirty="0"/>
              <a:t>」贪玩蓝</a:t>
            </a:r>
            <a:r>
              <a:rPr lang="zh-CN" altLang="en-US" sz="1400" b="1" dirty="0" smtClean="0"/>
              <a:t>月</a:t>
            </a:r>
            <a:endParaRPr lang="zh-CN" altLang="zh-CN" sz="1400" dirty="0"/>
          </a:p>
          <a:p>
            <a:r>
              <a:rPr lang="zh-CN" altLang="zh-CN" sz="1400" b="1" dirty="0" smtClean="0"/>
              <a:t>【题目描述】</a:t>
            </a:r>
            <a:endParaRPr lang="zh-CN" altLang="zh-CN" sz="1400" dirty="0"/>
          </a:p>
          <a:p>
            <a:r>
              <a:rPr lang="zh-CN" altLang="en-US" sz="1400" dirty="0" smtClean="0"/>
              <a:t>    现在</a:t>
            </a:r>
            <a:r>
              <a:rPr lang="zh-CN" altLang="en-US" sz="1400" dirty="0"/>
              <a:t>我们有若干种事件和询问，如下所示：</a:t>
            </a:r>
          </a:p>
          <a:p>
            <a:r>
              <a:rPr lang="en-US" altLang="zh-CN" sz="1400" dirty="0" smtClean="0"/>
              <a:t>    IF </a:t>
            </a:r>
            <a:r>
              <a:rPr lang="en-US" altLang="zh-CN" sz="1400" dirty="0"/>
              <a:t>w v</a:t>
            </a:r>
            <a:r>
              <a:rPr lang="zh-CN" altLang="en-US" sz="1400" dirty="0"/>
              <a:t>：在前端加入一件特征值为 </a:t>
            </a:r>
            <a:r>
              <a:rPr lang="en-US" altLang="zh-CN" sz="1400" dirty="0"/>
              <a:t>w </a:t>
            </a:r>
            <a:r>
              <a:rPr lang="zh-CN" altLang="en-US" sz="1400" dirty="0"/>
              <a:t>战斗力为 </a:t>
            </a:r>
            <a:r>
              <a:rPr lang="en-US" altLang="zh-CN" sz="1400" dirty="0"/>
              <a:t>v </a:t>
            </a:r>
            <a:r>
              <a:rPr lang="zh-CN" altLang="en-US" sz="1400" dirty="0"/>
              <a:t>的装备</a:t>
            </a:r>
          </a:p>
          <a:p>
            <a:r>
              <a:rPr lang="en-US" altLang="zh-CN" sz="1400" dirty="0" smtClean="0"/>
              <a:t>    IG </a:t>
            </a:r>
            <a:r>
              <a:rPr lang="en-US" altLang="zh-CN" sz="1400" dirty="0"/>
              <a:t>w v</a:t>
            </a:r>
            <a:r>
              <a:rPr lang="zh-CN" altLang="en-US" sz="1400" dirty="0"/>
              <a:t>：在后端加入一件特征值为 </a:t>
            </a:r>
            <a:r>
              <a:rPr lang="en-US" altLang="zh-CN" sz="1400" dirty="0"/>
              <a:t>w </a:t>
            </a:r>
            <a:r>
              <a:rPr lang="zh-CN" altLang="en-US" sz="1400" dirty="0"/>
              <a:t>战斗力为 </a:t>
            </a:r>
            <a:r>
              <a:rPr lang="en-US" altLang="zh-CN" sz="1400" dirty="0"/>
              <a:t>v </a:t>
            </a:r>
            <a:r>
              <a:rPr lang="zh-CN" altLang="en-US" sz="1400" dirty="0"/>
              <a:t>的装备</a:t>
            </a:r>
          </a:p>
          <a:p>
            <a:r>
              <a:rPr lang="en-US" altLang="zh-CN" sz="1400" dirty="0" smtClean="0"/>
              <a:t>    DF</a:t>
            </a:r>
            <a:r>
              <a:rPr lang="zh-CN" altLang="en-US" sz="1400" dirty="0"/>
              <a:t>：删除最前端的装备</a:t>
            </a:r>
          </a:p>
          <a:p>
            <a:r>
              <a:rPr lang="en-US" altLang="zh-CN" sz="1400" dirty="0" smtClean="0"/>
              <a:t>    DG</a:t>
            </a:r>
            <a:r>
              <a:rPr lang="zh-CN" altLang="en-US" sz="1400" dirty="0"/>
              <a:t>：删除最后端的装备</a:t>
            </a:r>
          </a:p>
          <a:p>
            <a:r>
              <a:rPr lang="en-US" altLang="zh-CN" sz="1400" dirty="0" smtClean="0"/>
              <a:t>    QU </a:t>
            </a:r>
            <a:r>
              <a:rPr lang="en-US" altLang="zh-CN" sz="1400" dirty="0"/>
              <a:t>l r</a:t>
            </a:r>
            <a:r>
              <a:rPr lang="zh-CN" altLang="en-US" sz="1400" dirty="0"/>
              <a:t>：在当前的装备中选取若干装备，他们的和对 </a:t>
            </a:r>
            <a:r>
              <a:rPr lang="en-US" altLang="zh-CN" sz="1400" dirty="0"/>
              <a:t>p </a:t>
            </a:r>
            <a:r>
              <a:rPr lang="zh-CN" altLang="en-US" sz="1400" dirty="0"/>
              <a:t>取模后在 </a:t>
            </a:r>
            <a:r>
              <a:rPr lang="en-US" altLang="zh-CN" sz="1400" dirty="0"/>
              <a:t>[l, r] </a:t>
            </a:r>
            <a:r>
              <a:rPr lang="zh-CN" altLang="en-US" sz="1400" dirty="0"/>
              <a:t>中，使得这些装备的战斗力之</a:t>
            </a:r>
            <a:r>
              <a:rPr lang="zh-CN" altLang="en-US" sz="1400"/>
              <a:t>和</a:t>
            </a:r>
            <a:r>
              <a:rPr lang="zh-CN" altLang="en-US" sz="1400" smtClean="0"/>
              <a:t>最大。</a:t>
            </a:r>
            <a:endParaRPr lang="zh-CN" altLang="zh-CN" sz="1400" dirty="0"/>
          </a:p>
          <a:p>
            <a:endParaRPr lang="zh-CN" altLang="zh-CN" sz="1400" dirty="0"/>
          </a:p>
          <a:p>
            <a:r>
              <a:rPr lang="zh-CN" altLang="zh-CN" sz="1400" b="1" dirty="0"/>
              <a:t>【样例输入】</a:t>
            </a:r>
            <a:endParaRPr lang="zh-CN" altLang="zh-CN" sz="1400" dirty="0"/>
          </a:p>
          <a:p>
            <a:r>
              <a:rPr lang="en-US" altLang="zh-CN" sz="1400" dirty="0" smtClean="0"/>
              <a:t>0</a:t>
            </a:r>
            <a:endParaRPr lang="en-US" altLang="zh-CN" sz="1400" dirty="0"/>
          </a:p>
          <a:p>
            <a:r>
              <a:rPr lang="en-US" altLang="zh-CN" sz="1400" dirty="0"/>
              <a:t>11 10</a:t>
            </a:r>
          </a:p>
          <a:p>
            <a:r>
              <a:rPr lang="en-US" altLang="zh-CN" sz="1400" dirty="0"/>
              <a:t>QU 0 0</a:t>
            </a:r>
          </a:p>
          <a:p>
            <a:r>
              <a:rPr lang="en-US" altLang="zh-CN" sz="1400" dirty="0"/>
              <a:t>QU 1 9</a:t>
            </a:r>
          </a:p>
          <a:p>
            <a:r>
              <a:rPr lang="en-US" altLang="zh-CN" sz="1400" dirty="0"/>
              <a:t>IG 14 7</a:t>
            </a:r>
          </a:p>
          <a:p>
            <a:r>
              <a:rPr lang="en-US" altLang="zh-CN" sz="1400" dirty="0"/>
              <a:t>IF 3 5</a:t>
            </a:r>
          </a:p>
          <a:p>
            <a:r>
              <a:rPr lang="en-US" altLang="zh-CN" sz="1400" dirty="0"/>
              <a:t>QU 0 9</a:t>
            </a:r>
          </a:p>
          <a:p>
            <a:r>
              <a:rPr lang="en-US" altLang="zh-CN" sz="1400" dirty="0"/>
              <a:t>IG 1 8</a:t>
            </a:r>
          </a:p>
          <a:p>
            <a:r>
              <a:rPr lang="en-US" altLang="zh-CN" sz="1400" dirty="0"/>
              <a:t>DF</a:t>
            </a:r>
          </a:p>
          <a:p>
            <a:r>
              <a:rPr lang="en-US" altLang="zh-CN" sz="1400" dirty="0"/>
              <a:t>QU 0 4</a:t>
            </a:r>
          </a:p>
          <a:p>
            <a:r>
              <a:rPr lang="en-US" altLang="zh-CN" sz="1400" dirty="0"/>
              <a:t>IF 1 2</a:t>
            </a:r>
          </a:p>
          <a:p>
            <a:r>
              <a:rPr lang="en-US" altLang="zh-CN" sz="1400" dirty="0"/>
              <a:t>DG</a:t>
            </a:r>
          </a:p>
          <a:p>
            <a:r>
              <a:rPr lang="en-US" altLang="zh-CN" sz="1400" dirty="0"/>
              <a:t>QU 2 </a:t>
            </a:r>
            <a:r>
              <a:rPr lang="en-US" altLang="zh-CN" sz="1400" dirty="0" smtClean="0"/>
              <a:t>9</a:t>
            </a:r>
            <a:endParaRPr lang="en-US" altLang="zh-CN" sz="1400" dirty="0"/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7169A55A-483D-4542-B072-E8C204367D45}"/>
              </a:ext>
            </a:extLst>
          </p:cNvPr>
          <p:cNvSpPr/>
          <p:nvPr/>
        </p:nvSpPr>
        <p:spPr>
          <a:xfrm>
            <a:off x="5892262" y="934530"/>
            <a:ext cx="5368017" cy="440120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zh-CN" sz="1400" b="1" dirty="0"/>
              <a:t>【</a:t>
            </a:r>
            <a:r>
              <a:rPr lang="zh-CN" altLang="en-US" sz="1400" b="1" dirty="0"/>
              <a:t>算法分析</a:t>
            </a:r>
            <a:r>
              <a:rPr lang="zh-CN" altLang="zh-CN" sz="1400" b="1" dirty="0"/>
              <a:t>】</a:t>
            </a:r>
            <a:endParaRPr lang="zh-CN" altLang="zh-CN" sz="1400" dirty="0"/>
          </a:p>
          <a:p>
            <a:r>
              <a:rPr lang="zh-CN" altLang="en-US" sz="1400" dirty="0"/>
              <a:t>    </a:t>
            </a:r>
            <a:r>
              <a:rPr lang="zh-CN" altLang="en-US" sz="1400" dirty="0" smtClean="0"/>
              <a:t>题目模型是双端队列，因为操作只产生在两端，可以考虑将队列分成两个栈来维护各一端的操作：定一个队列的</a:t>
            </a:r>
            <a:r>
              <a:rPr lang="en-US" altLang="zh-CN" sz="1400" dirty="0" smtClean="0"/>
              <a:t>mid</a:t>
            </a:r>
            <a:r>
              <a:rPr lang="zh-CN" altLang="en-US" sz="1400" dirty="0" smtClean="0"/>
              <a:t>，将队列分成左右两个栈。</a:t>
            </a:r>
            <a:endParaRPr lang="en-US" altLang="zh-CN" sz="1400" dirty="0" smtClean="0"/>
          </a:p>
          <a:p>
            <a:r>
              <a:rPr lang="en-US" altLang="zh-CN" sz="1400" dirty="0"/>
              <a:t> </a:t>
            </a:r>
            <a:r>
              <a:rPr lang="en-US" altLang="zh-CN" sz="1400" dirty="0" smtClean="0"/>
              <a:t>   </a:t>
            </a:r>
            <a:r>
              <a:rPr lang="zh-CN" altLang="en-US" sz="1400" dirty="0" smtClean="0"/>
              <a:t>从栈底到栈顶维护背包</a:t>
            </a:r>
            <a:r>
              <a:rPr lang="en-US" altLang="zh-CN" sz="1400" dirty="0" smtClean="0"/>
              <a:t>f[u][i][k]</a:t>
            </a:r>
            <a:r>
              <a:rPr lang="zh-CN" altLang="en-US" sz="1400" dirty="0" smtClean="0"/>
              <a:t>表示</a:t>
            </a:r>
            <a:r>
              <a:rPr lang="en-US" altLang="zh-CN" sz="1400" dirty="0" smtClean="0"/>
              <a:t>u</a:t>
            </a:r>
            <a:r>
              <a:rPr lang="zh-CN" altLang="en-US" sz="1400" dirty="0" smtClean="0"/>
              <a:t>号栈栈顶</a:t>
            </a:r>
            <a:r>
              <a:rPr lang="en-US" altLang="zh-CN" sz="1400" dirty="0" smtClean="0"/>
              <a:t>i</a:t>
            </a:r>
            <a:r>
              <a:rPr lang="zh-CN" altLang="en-US" sz="1400" dirty="0" smtClean="0"/>
              <a:t>加入物品后取模特征和为</a:t>
            </a:r>
            <a:r>
              <a:rPr lang="en-US" altLang="zh-CN" sz="1400" dirty="0" smtClean="0"/>
              <a:t>k</a:t>
            </a:r>
            <a:r>
              <a:rPr lang="zh-CN" altLang="en-US" sz="1400" dirty="0" smtClean="0"/>
              <a:t>时的最大战斗力。</a:t>
            </a:r>
            <a:endParaRPr lang="en-US" altLang="zh-CN" sz="1400" dirty="0" smtClean="0"/>
          </a:p>
          <a:p>
            <a:r>
              <a:rPr lang="en-US" altLang="zh-CN" sz="1400" dirty="0"/>
              <a:t> </a:t>
            </a:r>
            <a:r>
              <a:rPr lang="en-US" altLang="zh-CN" sz="1400" dirty="0" smtClean="0"/>
              <a:t>   </a:t>
            </a:r>
            <a:r>
              <a:rPr lang="zh-CN" altLang="en-US" sz="1400" dirty="0" smtClean="0"/>
              <a:t>加入装备时维护栈顶加入物品，就是对</a:t>
            </a:r>
            <a:r>
              <a:rPr lang="en-US" altLang="zh-CN" sz="1400" dirty="0" smtClean="0"/>
              <a:t>f[]</a:t>
            </a:r>
            <a:r>
              <a:rPr lang="zh-CN" altLang="en-US" sz="1400" dirty="0" smtClean="0"/>
              <a:t>做一遍</a:t>
            </a:r>
            <a:r>
              <a:rPr lang="en-US" altLang="zh-CN" sz="1400" dirty="0" smtClean="0"/>
              <a:t>01</a:t>
            </a:r>
            <a:r>
              <a:rPr lang="zh-CN" altLang="en-US" sz="1400" dirty="0" smtClean="0"/>
              <a:t>背包；删除时栈顶指针</a:t>
            </a:r>
            <a:r>
              <a:rPr lang="en-US" altLang="zh-CN" sz="1400" dirty="0" smtClean="0"/>
              <a:t>top--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f[]</a:t>
            </a:r>
            <a:r>
              <a:rPr lang="zh-CN" altLang="en-US" sz="1400" dirty="0" smtClean="0"/>
              <a:t>维护的这一层状态自然就被忽略</a:t>
            </a:r>
            <a:r>
              <a:rPr lang="en-US" altLang="zh-CN" sz="1400" dirty="0" smtClean="0"/>
              <a:t>(</a:t>
            </a:r>
            <a:r>
              <a:rPr lang="zh-CN" altLang="en-US" sz="1400" dirty="0" smtClean="0"/>
              <a:t>删除</a:t>
            </a:r>
            <a:r>
              <a:rPr lang="en-US" altLang="zh-CN" sz="1400" dirty="0" smtClean="0"/>
              <a:t>)</a:t>
            </a:r>
            <a:r>
              <a:rPr lang="zh-CN" altLang="en-US" sz="1400" dirty="0" smtClean="0"/>
              <a:t>了。</a:t>
            </a:r>
            <a:endParaRPr lang="en-US" altLang="zh-CN" sz="1400" dirty="0" smtClean="0"/>
          </a:p>
          <a:p>
            <a:r>
              <a:rPr lang="en-US" altLang="zh-CN" sz="1400" dirty="0"/>
              <a:t> </a:t>
            </a:r>
            <a:r>
              <a:rPr lang="en-US" altLang="zh-CN" sz="1400" dirty="0" smtClean="0"/>
              <a:t>   </a:t>
            </a:r>
            <a:r>
              <a:rPr lang="zh-CN" altLang="en-US" sz="1400" dirty="0" smtClean="0"/>
              <a:t>如果删除出现删除空栈的情况，根据题意，另一个栈必然不为空，将另一个栈的所有元素当做原来的双端队列重新拆分成两个栈，做一次重构。设</a:t>
            </a:r>
            <a:r>
              <a:rPr lang="en-US" altLang="zh-CN" sz="1400" dirty="0" smtClean="0"/>
              <a:t>w</a:t>
            </a:r>
            <a:r>
              <a:rPr lang="zh-CN" altLang="en-US" sz="1400" dirty="0" smtClean="0"/>
              <a:t>表示两栈大小之差，一个栈空意味着另一个栈大小就是</a:t>
            </a:r>
            <a:r>
              <a:rPr lang="en-US" altLang="zh-CN" sz="1400" dirty="0" smtClean="0"/>
              <a:t>w</a:t>
            </a:r>
            <a:r>
              <a:rPr lang="zh-CN" altLang="en-US" sz="1400" dirty="0" smtClean="0"/>
              <a:t>，此时重构就是让</a:t>
            </a:r>
            <a:r>
              <a:rPr lang="en-US" altLang="zh-CN" sz="1400" dirty="0" smtClean="0"/>
              <a:t>w</a:t>
            </a:r>
            <a:r>
              <a:rPr lang="zh-CN" altLang="en-US" sz="1400" dirty="0" smtClean="0"/>
              <a:t>个物品重新入栈，栈重构复杂度</a:t>
            </a:r>
            <a:r>
              <a:rPr lang="en-US" altLang="zh-CN" sz="1400" dirty="0" smtClean="0"/>
              <a:t>O(w)</a:t>
            </a:r>
            <a:r>
              <a:rPr lang="zh-CN" altLang="en-US" sz="1400" dirty="0" smtClean="0"/>
              <a:t>，背包重构复杂度</a:t>
            </a:r>
            <a:r>
              <a:rPr lang="en-US" altLang="zh-CN" sz="1400" dirty="0" smtClean="0"/>
              <a:t>O(</a:t>
            </a:r>
            <a:r>
              <a:rPr lang="en-US" altLang="zh-CN" sz="1400" dirty="0" err="1" smtClean="0"/>
              <a:t>wp</a:t>
            </a:r>
            <a:r>
              <a:rPr lang="en-US" altLang="zh-CN" sz="1400" dirty="0" smtClean="0"/>
              <a:t>)</a:t>
            </a:r>
            <a:r>
              <a:rPr lang="zh-CN" altLang="en-US" sz="1400" dirty="0" smtClean="0"/>
              <a:t>。由于重构后</a:t>
            </a:r>
            <a:r>
              <a:rPr lang="en-US" altLang="zh-CN" sz="1400" dirty="0" smtClean="0"/>
              <a:t>w=0</a:t>
            </a:r>
            <a:r>
              <a:rPr lang="zh-CN" altLang="en-US" sz="1400" dirty="0" smtClean="0"/>
              <a:t>，要让两栈之间有一次</a:t>
            </a:r>
            <a:r>
              <a:rPr lang="en-US" altLang="zh-CN" sz="1400" dirty="0" smtClean="0"/>
              <a:t>w</a:t>
            </a:r>
            <a:r>
              <a:rPr lang="zh-CN" altLang="en-US" sz="1400" dirty="0" smtClean="0"/>
              <a:t>的差，就得经过至少</a:t>
            </a:r>
            <a:r>
              <a:rPr lang="en-US" altLang="zh-CN" sz="1400" dirty="0" smtClean="0"/>
              <a:t>w</a:t>
            </a:r>
            <a:r>
              <a:rPr lang="zh-CN" altLang="en-US" sz="1400" dirty="0" smtClean="0"/>
              <a:t>次插入</a:t>
            </a:r>
            <a:r>
              <a:rPr lang="en-US" altLang="zh-CN" sz="1400" dirty="0" smtClean="0"/>
              <a:t>/</a:t>
            </a:r>
            <a:r>
              <a:rPr lang="zh-CN" altLang="en-US" sz="1400" dirty="0" smtClean="0"/>
              <a:t>删除操作，所以最多每间隔</a:t>
            </a:r>
            <a:r>
              <a:rPr lang="en-US" altLang="zh-CN" sz="1400" dirty="0" smtClean="0"/>
              <a:t>w</a:t>
            </a:r>
            <a:r>
              <a:rPr lang="zh-CN" altLang="en-US" sz="1400" dirty="0" smtClean="0"/>
              <a:t>次进行</a:t>
            </a:r>
            <a:r>
              <a:rPr lang="en-US" altLang="zh-CN" sz="1400" dirty="0" smtClean="0"/>
              <a:t>w</a:t>
            </a:r>
            <a:r>
              <a:rPr lang="zh-CN" altLang="en-US" sz="1400" dirty="0" smtClean="0"/>
              <a:t>规模的重构，总复杂度是</a:t>
            </a:r>
            <a:r>
              <a:rPr lang="en-US" altLang="zh-CN" sz="1400" dirty="0" smtClean="0"/>
              <a:t>O(Q/</a:t>
            </a:r>
            <a:r>
              <a:rPr lang="en-US" altLang="zh-CN" sz="1400" dirty="0" err="1" smtClean="0"/>
              <a:t>w×w×p</a:t>
            </a:r>
            <a:r>
              <a:rPr lang="en-US" altLang="zh-CN" sz="1400" dirty="0" smtClean="0"/>
              <a:t>)=O(</a:t>
            </a:r>
            <a:r>
              <a:rPr lang="en-US" altLang="zh-CN" sz="1400" dirty="0" err="1" smtClean="0"/>
              <a:t>Qp</a:t>
            </a:r>
            <a:r>
              <a:rPr lang="en-US" altLang="zh-CN" sz="1400" dirty="0" smtClean="0"/>
              <a:t>)</a:t>
            </a:r>
            <a:r>
              <a:rPr lang="zh-CN" altLang="en-US" sz="1400" dirty="0" smtClean="0"/>
              <a:t>。</a:t>
            </a:r>
            <a:endParaRPr lang="en-US" altLang="zh-CN" sz="1400" dirty="0" smtClean="0"/>
          </a:p>
          <a:p>
            <a:r>
              <a:rPr lang="en-US" altLang="zh-CN" sz="1400" dirty="0"/>
              <a:t> </a:t>
            </a:r>
            <a:r>
              <a:rPr lang="en-US" altLang="zh-CN" sz="1400" dirty="0" smtClean="0"/>
              <a:t>    </a:t>
            </a:r>
            <a:r>
              <a:rPr lang="zh-CN" altLang="en-US" sz="1400" dirty="0" smtClean="0"/>
              <a:t>查询操作是</a:t>
            </a:r>
            <a:r>
              <a:rPr lang="en-US" altLang="zh-CN" sz="1400" dirty="0" smtClean="0"/>
              <a:t>O(q)</a:t>
            </a:r>
            <a:r>
              <a:rPr lang="zh-CN" altLang="en-US" sz="1400" dirty="0" smtClean="0"/>
              <a:t>枚举其中一个栈某一特征和对应的最大战斗力，在另一个栈查询减去该特征和对应区间</a:t>
            </a:r>
            <a:r>
              <a:rPr lang="en-US" altLang="zh-CN" sz="1400" dirty="0" smtClean="0"/>
              <a:t>[</a:t>
            </a:r>
            <a:r>
              <a:rPr lang="en-US" altLang="zh-CN" sz="1400" dirty="0" err="1" smtClean="0"/>
              <a:t>l,r</a:t>
            </a:r>
            <a:r>
              <a:rPr lang="en-US" altLang="zh-CN" sz="1400" dirty="0" smtClean="0"/>
              <a:t>]</a:t>
            </a:r>
            <a:r>
              <a:rPr lang="zh-CN" altLang="en-US" sz="1400" dirty="0" smtClean="0"/>
              <a:t>的最大战斗力。查询区间最大值可以用数据结构维护。考虑仅用当前讲课内容处理，枚举</a:t>
            </a:r>
            <a:r>
              <a:rPr lang="en-US" altLang="zh-CN" sz="1400" dirty="0" smtClean="0"/>
              <a:t>q</a:t>
            </a:r>
            <a:r>
              <a:rPr lang="zh-CN" altLang="en-US" sz="1400" dirty="0" smtClean="0"/>
              <a:t>的过程时，对应区间</a:t>
            </a:r>
            <a:r>
              <a:rPr lang="en-US" altLang="zh-CN" sz="1400" dirty="0" smtClean="0"/>
              <a:t>[</a:t>
            </a:r>
            <a:r>
              <a:rPr lang="en-US" altLang="zh-CN" sz="1400" dirty="0" err="1" smtClean="0"/>
              <a:t>l,r</a:t>
            </a:r>
            <a:r>
              <a:rPr lang="en-US" altLang="zh-CN" sz="1400" dirty="0" smtClean="0"/>
              <a:t>]</a:t>
            </a:r>
            <a:r>
              <a:rPr lang="zh-CN" altLang="en-US" sz="1400" dirty="0" smtClean="0"/>
              <a:t>是一个滑动区间查询的问题，可以用单调队列维护，时间复杂度</a:t>
            </a:r>
            <a:r>
              <a:rPr lang="en-US" altLang="zh-CN" sz="1400" dirty="0" smtClean="0"/>
              <a:t>O(q)</a:t>
            </a:r>
            <a:r>
              <a:rPr lang="zh-CN" altLang="en-US" sz="1400" dirty="0" smtClean="0"/>
              <a:t>。</a:t>
            </a:r>
            <a:endParaRPr lang="en-US" altLang="zh-CN" sz="1400" dirty="0" smtClean="0"/>
          </a:p>
        </p:txBody>
      </p:sp>
      <p:sp>
        <p:nvSpPr>
          <p:cNvPr id="10" name="矩形 9"/>
          <p:cNvSpPr/>
          <p:nvPr/>
        </p:nvSpPr>
        <p:spPr>
          <a:xfrm>
            <a:off x="3002206" y="3635639"/>
            <a:ext cx="1781416" cy="224676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zh-CN" sz="1400" b="1" dirty="0" smtClean="0"/>
              <a:t>【样例输出】</a:t>
            </a:r>
            <a:endParaRPr lang="zh-CN" altLang="zh-CN" sz="1400" dirty="0"/>
          </a:p>
          <a:p>
            <a:r>
              <a:rPr lang="en-US" altLang="zh-CN" sz="1400" dirty="0" smtClean="0"/>
              <a:t>0</a:t>
            </a:r>
            <a:endParaRPr lang="en-US" altLang="zh-CN" sz="1400" dirty="0"/>
          </a:p>
          <a:p>
            <a:r>
              <a:rPr lang="en-US" altLang="zh-CN" sz="1400" dirty="0"/>
              <a:t>-1</a:t>
            </a:r>
          </a:p>
          <a:p>
            <a:r>
              <a:rPr lang="en-US" altLang="zh-CN" sz="1400" dirty="0"/>
              <a:t>12</a:t>
            </a:r>
          </a:p>
          <a:p>
            <a:r>
              <a:rPr lang="en-US" altLang="zh-CN" sz="1400" dirty="0"/>
              <a:t>8</a:t>
            </a:r>
          </a:p>
          <a:p>
            <a:r>
              <a:rPr lang="en-US" altLang="zh-CN" sz="1400" dirty="0" smtClean="0"/>
              <a:t>9</a:t>
            </a:r>
          </a:p>
          <a:p>
            <a:endParaRPr lang="en-US" altLang="zh-CN" sz="1400" dirty="0"/>
          </a:p>
          <a:p>
            <a:endParaRPr lang="en-US" altLang="zh-CN" sz="1400" dirty="0" smtClean="0"/>
          </a:p>
          <a:p>
            <a:endParaRPr lang="en-US" altLang="zh-CN" sz="1400" dirty="0"/>
          </a:p>
          <a:p>
            <a:r>
              <a:rPr lang="en-US" altLang="zh-CN" sz="1400" dirty="0" smtClean="0"/>
              <a:t>Q&lt;=50000,p&lt;=500</a:t>
            </a:r>
            <a:endParaRPr lang="zh-CN" altLang="zh-CN" sz="1400" dirty="0"/>
          </a:p>
        </p:txBody>
      </p:sp>
    </p:spTree>
    <p:extLst>
      <p:ext uri="{BB962C8B-B14F-4D97-AF65-F5344CB8AC3E}">
        <p14:creationId xmlns:p14="http://schemas.microsoft.com/office/powerpoint/2010/main" val="315804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000">
        <p:random/>
      </p:transition>
    </mc:Choice>
    <mc:Fallback xmlns="">
      <p:transition spd="slow" advTm="4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1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FF8100"/>
      </a:accent1>
      <a:accent2>
        <a:srgbClr val="FFA74C"/>
      </a:accent2>
      <a:accent3>
        <a:srgbClr val="FF5C00"/>
      </a:accent3>
      <a:accent4>
        <a:srgbClr val="FF9F00"/>
      </a:accent4>
      <a:accent5>
        <a:srgbClr val="FFC34D"/>
      </a:accent5>
      <a:accent6>
        <a:srgbClr val="B44010"/>
      </a:accent6>
      <a:hlink>
        <a:srgbClr val="FF8100"/>
      </a:hlink>
      <a:folHlink>
        <a:srgbClr val="BFBFBF"/>
      </a:folHlink>
    </a:clrScheme>
    <a:fontScheme name="wkbwvqjf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31598</TotalTime>
  <Words>412</Words>
  <Application>Microsoft Office PowerPoint</Application>
  <PresentationFormat>自定义</PresentationFormat>
  <Paragraphs>43</Paragraphs>
  <Slides>1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第一PPT，www.1ppt.com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创意水彩</dc:title>
  <dc:creator>第一PPT</dc:creator>
  <cp:keywords>www.1ppt.com</cp:keywords>
  <dc:description>www.1ppt.com</dc:description>
  <cp:lastModifiedBy>huweiya007</cp:lastModifiedBy>
  <cp:revision>810</cp:revision>
  <dcterms:created xsi:type="dcterms:W3CDTF">2017-05-14T07:05:11Z</dcterms:created>
  <dcterms:modified xsi:type="dcterms:W3CDTF">2025-01-16T05:51:37Z</dcterms:modified>
</cp:coreProperties>
</file>